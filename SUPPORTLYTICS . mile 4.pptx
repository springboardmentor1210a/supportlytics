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Dela Gothic One" panose="020B0604020202020204" charset="-128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DM Sans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68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-1-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-1-3.svg"/><Relationship Id="rId4" Type="http://schemas.openxmlformats.org/officeDocument/2006/relationships/image" Target="../media/image-1-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image" Target="../media/image10.jpeg"/><Relationship Id="rId7" Type="http://schemas.openxmlformats.org/officeDocument/2006/relationships/image" Target="../media/image-3-5.sv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-3-9.svg"/><Relationship Id="rId5" Type="http://schemas.openxmlformats.org/officeDocument/2006/relationships/image" Target="../media/image-3-3.sv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-3-7.svg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5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6.svg"/><Relationship Id="rId13" Type="http://schemas.openxmlformats.org/officeDocument/2006/relationships/image" Target="../media/image32.png"/><Relationship Id="rId3" Type="http://schemas.openxmlformats.org/officeDocument/2006/relationships/image" Target="../media/image28.jpeg"/><Relationship Id="rId7" Type="http://schemas.openxmlformats.org/officeDocument/2006/relationships/image" Target="../media/image30.png"/><Relationship Id="rId12" Type="http://schemas.openxmlformats.org/officeDocument/2006/relationships/image" Target="../media/image-6-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4.svg"/><Relationship Id="rId11" Type="http://schemas.openxmlformats.org/officeDocument/2006/relationships/image" Target="../media/image-6-10.svg"/><Relationship Id="rId5" Type="http://schemas.openxmlformats.org/officeDocument/2006/relationships/image" Target="../media/image29.png"/><Relationship Id="rId15" Type="http://schemas.openxmlformats.org/officeDocument/2006/relationships/image" Target="../media/image33.png"/><Relationship Id="rId10" Type="http://schemas.openxmlformats.org/officeDocument/2006/relationships/image" Target="../media/image31.png"/><Relationship Id="rId4" Type="http://schemas.openxmlformats.org/officeDocument/2006/relationships/image" Target="../media/image6.png"/><Relationship Id="rId9" Type="http://schemas.openxmlformats.org/officeDocument/2006/relationships/image" Target="../media/image-6-4.svg"/><Relationship Id="rId14" Type="http://schemas.openxmlformats.org/officeDocument/2006/relationships/image" Target="../media/image-6-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sp>
        <p:nvSpPr>
          <p:cNvPr id="4" name="Text 1"/>
          <p:cNvSpPr/>
          <p:nvPr/>
        </p:nvSpPr>
        <p:spPr>
          <a:xfrm>
            <a:off x="631908" y="558602"/>
            <a:ext cx="6355993" cy="1603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SUPPORTLYTICS — IT Support Performance Dashboard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31908" y="2381349"/>
            <a:ext cx="6965577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Milestone 4 | Module 7: Dashboard &amp; Report Preparation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31908" y="2792809"/>
            <a:ext cx="3104874" cy="19271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86865" y="2914650"/>
            <a:ext cx="194960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13375" y="3442692"/>
            <a:ext cx="2741941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Dataset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13375" y="3797598"/>
            <a:ext cx="2741941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200,000 customer support tickets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882928" y="2792809"/>
            <a:ext cx="3104973" cy="19271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37885" y="2914650"/>
            <a:ext cx="194960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064394" y="3442692"/>
            <a:ext cx="2742040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Dashboard Focus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4064394" y="3797598"/>
            <a:ext cx="2742040" cy="74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Workload analysis · Resolution performance · Cluster intelligence · Operational insights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31908" y="4866084"/>
            <a:ext cx="6355993" cy="14332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12425" y="4987925"/>
            <a:ext cx="194960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13375" y="5515967"/>
            <a:ext cx="5993059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Tools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813375" y="5870873"/>
            <a:ext cx="5993059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· Machine Learning · Power BI</a:t>
            </a:r>
            <a:endParaRPr lang="en-US" sz="12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7485" y="-37234"/>
            <a:ext cx="4685641" cy="70522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3817" y="576755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Dashboard Overview &amp; </a:t>
            </a:r>
            <a:endParaRPr lang="en-US" sz="3350" dirty="0" smtClean="0">
              <a:solidFill>
                <a:srgbClr val="FAEBEB"/>
              </a:solidFill>
              <a:latin typeface="Dela Gothic One" pitchFamily="34" charset="0"/>
              <a:ea typeface="Dela Gothic One" pitchFamily="34" charset="-122"/>
              <a:cs typeface="Dela Gothic One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3350" dirty="0" smtClean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KPIs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226805" y="2285367"/>
            <a:ext cx="5265705" cy="987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Power BI dashboard integrates analytic results into an interactive performance monitoring system, providing a quick overview of workload, service performance, clustering quality and customer experience.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434616" y="3595735"/>
            <a:ext cx="5265705" cy="1439168"/>
          </a:xfrm>
          <a:prstGeom prst="rect">
            <a:avLst/>
          </a:prstGeom>
          <a:noFill/>
          <a:ln/>
        </p:spPr>
        <p:txBody>
          <a:bodyPr wrap="square" lIns="0" tIns="64997" rIns="0" bIns="0" rtlCol="0" anchor="t">
            <a:normAutofit/>
          </a:bodyPr>
          <a:lstStyle/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Tickets: 200,000</a:t>
            </a:r>
            <a:endParaRPr lang="en-US" sz="1250" dirty="0"/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Resolution Time: 120.54 hours</a:t>
            </a:r>
            <a:endParaRPr lang="en-US" sz="1250" dirty="0"/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Cluster Similarity: 0.68</a:t>
            </a:r>
            <a:endParaRPr lang="en-US" sz="1250" dirty="0"/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Customer Satisfaction: 3.00</a:t>
            </a:r>
            <a:endParaRPr lang="en-US" sz="1250" dirty="0"/>
          </a:p>
          <a:p>
            <a:pPr marL="254000" indent="-254000" algn="l">
              <a:lnSpc>
                <a:spcPct val="1270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High‑Priority Unresolved Tickets: ~80K*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88561" y="5257107"/>
            <a:ext cx="5265705" cy="591245"/>
          </a:xfrm>
          <a:prstGeom prst="roundRect">
            <a:avLst>
              <a:gd name="adj" fmla="val 11543"/>
            </a:avLst>
          </a:prstGeom>
          <a:solidFill>
            <a:srgbClr val="740B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720" y="5495816"/>
            <a:ext cx="203096" cy="1624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9342" y="5429251"/>
            <a:ext cx="5184943" cy="246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exact values shown in your corrected dashboard.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751" y="1436291"/>
            <a:ext cx="4739065" cy="47391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751" y="1335069"/>
            <a:ext cx="2950019" cy="4840406"/>
          </a:xfrm>
          <a:prstGeom prst="rect">
            <a:avLst/>
          </a:prstGeom>
        </p:spPr>
      </p:pic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968" y="84034"/>
            <a:ext cx="4409568" cy="6614517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740B0B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368" y="236434"/>
            <a:ext cx="4409568" cy="6614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/>
          <a:srcRect l="72822" r="2473"/>
          <a:stretch/>
        </p:blipFill>
        <p:spPr>
          <a:xfrm>
            <a:off x="-15788" y="-60079"/>
            <a:ext cx="1021823" cy="7621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63575"/>
            <a:ext cx="10927878" cy="5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Executive Overview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r="587" b="3181"/>
          <a:stretch/>
        </p:blipFill>
        <p:spPr>
          <a:xfrm>
            <a:off x="127694" y="2062993"/>
            <a:ext cx="4951584" cy="26855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59147" y="1510705"/>
            <a:ext cx="3138211" cy="1747143"/>
          </a:xfrm>
          <a:prstGeom prst="roundRect">
            <a:avLst>
              <a:gd name="adj" fmla="val 368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18885" y="1670447"/>
            <a:ext cx="460363" cy="460375"/>
          </a:xfrm>
          <a:prstGeom prst="ellipse">
            <a:avLst/>
          </a:prstGeom>
          <a:solidFill>
            <a:srgbClr val="C9131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445485" y="1797050"/>
            <a:ext cx="207164" cy="207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18885" y="2261195"/>
            <a:ext cx="2818734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Ticket Types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318885" y="2643882"/>
            <a:ext cx="2818734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 ≈ 80K; Requests ≈ 60K; Incidents ≈ 60K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427727" y="1510705"/>
            <a:ext cx="3138310" cy="1747143"/>
          </a:xfrm>
          <a:prstGeom prst="roundRect">
            <a:avLst>
              <a:gd name="adj" fmla="val 368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587466" y="1670447"/>
            <a:ext cx="460363" cy="460375"/>
          </a:xfrm>
          <a:prstGeom prst="ellipse">
            <a:avLst/>
          </a:prstGeom>
          <a:solidFill>
            <a:srgbClr val="C9131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714066" y="1797050"/>
            <a:ext cx="207164" cy="2071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87466" y="2261195"/>
            <a:ext cx="2818833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Priority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587466" y="2643882"/>
            <a:ext cx="2818833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Low, Medium, High, Urgent — almost evenly distributed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159147" y="3388221"/>
            <a:ext cx="3138211" cy="1747143"/>
          </a:xfrm>
          <a:prstGeom prst="roundRect">
            <a:avLst>
              <a:gd name="adj" fmla="val 368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18885" y="3547963"/>
            <a:ext cx="460363" cy="460375"/>
          </a:xfrm>
          <a:prstGeom prst="ellipse">
            <a:avLst/>
          </a:prstGeom>
          <a:solidFill>
            <a:srgbClr val="C9131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445485" y="3674566"/>
            <a:ext cx="207164" cy="2071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18885" y="4138712"/>
            <a:ext cx="2818734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Support Queue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318885" y="4521398"/>
            <a:ext cx="2818734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Management, Infrastructure, Billing Support handle highest volumes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427727" y="3388221"/>
            <a:ext cx="3138310" cy="1747143"/>
          </a:xfrm>
          <a:prstGeom prst="roundRect">
            <a:avLst>
              <a:gd name="adj" fmla="val 368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587466" y="3547963"/>
            <a:ext cx="460363" cy="460375"/>
          </a:xfrm>
          <a:prstGeom prst="ellipse">
            <a:avLst/>
          </a:prstGeom>
          <a:solidFill>
            <a:srgbClr val="C9131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14066" y="3674566"/>
            <a:ext cx="207164" cy="2071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87466" y="4138712"/>
            <a:ext cx="2818833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Category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8587466" y="4521398"/>
            <a:ext cx="2818833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categories ~20K tickets — workload is broad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159147" y="5282109"/>
            <a:ext cx="6406890" cy="765572"/>
          </a:xfrm>
          <a:prstGeom prst="roundRect">
            <a:avLst>
              <a:gd name="adj" fmla="val 8419"/>
            </a:avLst>
          </a:prstGeom>
          <a:solidFill>
            <a:srgbClr val="740B0B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2535" y="5481638"/>
            <a:ext cx="191785" cy="1533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657708" y="5437783"/>
            <a:ext cx="5754940" cy="45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 Problem tickets are the largest type and the workload is broadly distributed.</a:t>
            </a:r>
            <a:endParaRPr lang="en-US" sz="12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4044" y="6299171"/>
            <a:ext cx="1466925" cy="55882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14"/>
          <a:srcRect l="72822" r="2473"/>
          <a:stretch/>
        </p:blipFill>
        <p:spPr>
          <a:xfrm>
            <a:off x="11670057" y="-405123"/>
            <a:ext cx="1021823" cy="7621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45220"/>
            <a:ext cx="10927878" cy="564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Performance Analysis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139" t="2501" r="1041" b="1853"/>
          <a:stretch/>
        </p:blipFill>
        <p:spPr>
          <a:xfrm>
            <a:off x="631907" y="1604145"/>
            <a:ext cx="5297215" cy="2873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1444" y="2053332"/>
            <a:ext cx="5254692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Resolution performance is relatively stable across complexity, ticket type, priority and region, but differences exist that point to improvement opportunities.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311444" y="3039368"/>
            <a:ext cx="5254692" cy="914202"/>
          </a:xfrm>
          <a:prstGeom prst="roundRect">
            <a:avLst>
              <a:gd name="adj" fmla="val 7880"/>
            </a:avLst>
          </a:prstGeom>
          <a:solidFill>
            <a:srgbClr val="740B0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890" y="3285629"/>
            <a:ext cx="214307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643" y="3228876"/>
            <a:ext cx="4526048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 Use regional and ticket-level variance to target improvements.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1908" y="4773017"/>
            <a:ext cx="3429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31908" y="5045373"/>
            <a:ext cx="3533984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0" name="Text 6"/>
          <p:cNvSpPr/>
          <p:nvPr/>
        </p:nvSpPr>
        <p:spPr>
          <a:xfrm>
            <a:off x="631908" y="5169198"/>
            <a:ext cx="3533984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Issue Complexity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31908" y="5549007"/>
            <a:ext cx="353398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Resolution time shows no strong upward trend with complexity.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28806" y="4773017"/>
            <a:ext cx="3429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328806" y="5045373"/>
            <a:ext cx="3533984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4" name="Text 10"/>
          <p:cNvSpPr/>
          <p:nvPr/>
        </p:nvSpPr>
        <p:spPr>
          <a:xfrm>
            <a:off x="4328806" y="5169198"/>
            <a:ext cx="3533984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By Ticket Type &amp; Priority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328806" y="5549007"/>
            <a:ext cx="353398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Comparison highlights which types and priorities need more effort.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025703" y="4773017"/>
            <a:ext cx="3429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025703" y="5045373"/>
            <a:ext cx="3533984" cy="1905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8" name="Text 14"/>
          <p:cNvSpPr/>
          <p:nvPr/>
        </p:nvSpPr>
        <p:spPr>
          <a:xfrm>
            <a:off x="8025703" y="5169198"/>
            <a:ext cx="3533984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Regional Variation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8025703" y="5549007"/>
            <a:ext cx="3533984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Africa &amp; North America show lowest average resolution time; Europe the highest.</a:t>
            </a:r>
            <a:endParaRPr lang="en-US" sz="13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086" y="6296954"/>
            <a:ext cx="2209914" cy="78744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6"/>
          <a:srcRect l="72822" r="2473"/>
          <a:stretch/>
        </p:blipFill>
        <p:spPr>
          <a:xfrm>
            <a:off x="-475639" y="-60079"/>
            <a:ext cx="1021823" cy="762174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l="72822" r="2473"/>
          <a:stretch/>
        </p:blipFill>
        <p:spPr>
          <a:xfrm>
            <a:off x="11729049" y="-353795"/>
            <a:ext cx="1021823" cy="7621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4548"/>
            <a:ext cx="1092787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Cluster &amp; Issue Intelligence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899597" y="2010966"/>
            <a:ext cx="6666440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clustering identified five major issue clusters. Similarity analysis indicates most clusters are well-defined, with one notable exception.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899597" y="2406452"/>
            <a:ext cx="6666440" cy="350540"/>
          </a:xfrm>
          <a:prstGeom prst="roundRect">
            <a:avLst>
              <a:gd name="adj" fmla="val 14061"/>
            </a:avLst>
          </a:prstGeom>
          <a:solidFill>
            <a:srgbClr val="740B0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871" y="2523530"/>
            <a:ext cx="146642" cy="1172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0786" y="2504281"/>
            <a:ext cx="6777562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Overall cluster similarity: 0.68. Account &amp; Transaction Issues are dominant.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414" y="3971925"/>
            <a:ext cx="1364124" cy="90943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7075" y="4059734"/>
            <a:ext cx="1364124" cy="909439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736" y="3933924"/>
            <a:ext cx="1364124" cy="909439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369" y="4039072"/>
            <a:ext cx="1364124" cy="909439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8954" y="4102376"/>
            <a:ext cx="1364124" cy="909439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631908" y="5095081"/>
            <a:ext cx="10927878" cy="1270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14" name="Shape 5"/>
          <p:cNvSpPr/>
          <p:nvPr/>
        </p:nvSpPr>
        <p:spPr>
          <a:xfrm>
            <a:off x="1680128" y="5095032"/>
            <a:ext cx="12700" cy="234652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15" name="Shape 6"/>
          <p:cNvSpPr/>
          <p:nvPr/>
        </p:nvSpPr>
        <p:spPr>
          <a:xfrm>
            <a:off x="1642476" y="5051028"/>
            <a:ext cx="88005" cy="88007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16" name="Text 7"/>
          <p:cNvSpPr/>
          <p:nvPr/>
        </p:nvSpPr>
        <p:spPr>
          <a:xfrm>
            <a:off x="749182" y="5447109"/>
            <a:ext cx="1874691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Account &amp; Transaction Issues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749182" y="5878810"/>
            <a:ext cx="1874691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~100K tickets; similarity 0.46 — highest diversity; largest operational focus.</a:t>
            </a:r>
            <a:endParaRPr lang="en-US" sz="900" dirty="0"/>
          </a:p>
        </p:txBody>
      </p:sp>
      <p:sp>
        <p:nvSpPr>
          <p:cNvPr id="18" name="Shape 9"/>
          <p:cNvSpPr/>
          <p:nvPr/>
        </p:nvSpPr>
        <p:spPr>
          <a:xfrm>
            <a:off x="3884813" y="5095032"/>
            <a:ext cx="12700" cy="234652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19" name="Shape 10"/>
          <p:cNvSpPr/>
          <p:nvPr/>
        </p:nvSpPr>
        <p:spPr>
          <a:xfrm>
            <a:off x="3847160" y="5051028"/>
            <a:ext cx="88005" cy="88007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20" name="Text 11"/>
          <p:cNvSpPr/>
          <p:nvPr/>
        </p:nvSpPr>
        <p:spPr>
          <a:xfrm>
            <a:off x="2953768" y="5447109"/>
            <a:ext cx="1874791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Billing &amp; Subscription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2953768" y="5878810"/>
            <a:ext cx="1874791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~40K tickets; high similarity.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6089398" y="5095032"/>
            <a:ext cx="12700" cy="234652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23" name="Shape 14"/>
          <p:cNvSpPr/>
          <p:nvPr/>
        </p:nvSpPr>
        <p:spPr>
          <a:xfrm>
            <a:off x="6051746" y="5051028"/>
            <a:ext cx="88005" cy="88007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24" name="Text 15"/>
          <p:cNvSpPr/>
          <p:nvPr/>
        </p:nvSpPr>
        <p:spPr>
          <a:xfrm>
            <a:off x="5158452" y="5447109"/>
            <a:ext cx="1874691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Synchronization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5158452" y="5878810"/>
            <a:ext cx="1874691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~20K tickets.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294083" y="5095032"/>
            <a:ext cx="12700" cy="234652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27" name="Shape 18"/>
          <p:cNvSpPr/>
          <p:nvPr/>
        </p:nvSpPr>
        <p:spPr>
          <a:xfrm>
            <a:off x="8256431" y="5051028"/>
            <a:ext cx="88005" cy="88007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28" name="Text 19"/>
          <p:cNvSpPr/>
          <p:nvPr/>
        </p:nvSpPr>
        <p:spPr>
          <a:xfrm>
            <a:off x="7363038" y="5447109"/>
            <a:ext cx="1874791" cy="192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Application Errors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363038" y="5685830"/>
            <a:ext cx="1874791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~20K tickets.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10498669" y="5095032"/>
            <a:ext cx="12700" cy="234652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31" name="Shape 22"/>
          <p:cNvSpPr/>
          <p:nvPr/>
        </p:nvSpPr>
        <p:spPr>
          <a:xfrm>
            <a:off x="10461016" y="5051028"/>
            <a:ext cx="88005" cy="88007"/>
          </a:xfrm>
          <a:prstGeom prst="ellipse">
            <a:avLst/>
          </a:prstGeom>
          <a:solidFill>
            <a:srgbClr val="C91313"/>
          </a:solidFill>
          <a:ln/>
        </p:spPr>
      </p:sp>
      <p:sp>
        <p:nvSpPr>
          <p:cNvPr id="32" name="Text 23"/>
          <p:cNvSpPr/>
          <p:nvPr/>
        </p:nvSpPr>
        <p:spPr>
          <a:xfrm>
            <a:off x="9567722" y="5447109"/>
            <a:ext cx="1874691" cy="38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Software Bugs &amp; Updates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9567722" y="5878810"/>
            <a:ext cx="1874691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~20K tickets.</a:t>
            </a:r>
            <a:endParaRPr lang="en-US" sz="9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7722" y="6263054"/>
            <a:ext cx="2635385" cy="59058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448" y="1303705"/>
            <a:ext cx="4426850" cy="248250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11"/>
          <a:srcRect l="72822" r="2473"/>
          <a:stretch/>
        </p:blipFill>
        <p:spPr>
          <a:xfrm>
            <a:off x="-741541" y="-60079"/>
            <a:ext cx="1021823" cy="7621748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11"/>
          <a:srcRect l="72822" r="2473"/>
          <a:stretch/>
        </p:blipFill>
        <p:spPr>
          <a:xfrm>
            <a:off x="11776870" y="-569126"/>
            <a:ext cx="1021823" cy="7621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9687"/>
            <a:ext cx="10927878" cy="534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Operational Action Dashboard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l="1001" r="734"/>
          <a:stretch/>
        </p:blipFill>
        <p:spPr>
          <a:xfrm>
            <a:off x="631908" y="1308298"/>
            <a:ext cx="5109016" cy="2897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0431" y="1860252"/>
            <a:ext cx="5265705" cy="74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operational dashboard turns analytics into action by highlighting unresolved high‑priority tickets, regional performance, and cluster workload vs resolution time.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300431" y="2765623"/>
            <a:ext cx="5265705" cy="838200"/>
          </a:xfrm>
          <a:prstGeom prst="roundRect">
            <a:avLst>
              <a:gd name="adj" fmla="val 8142"/>
            </a:avLst>
          </a:prstGeom>
          <a:solidFill>
            <a:srgbClr val="740B0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848" y="2981623"/>
            <a:ext cx="203096" cy="1624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28361" y="2937768"/>
            <a:ext cx="4575358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 Dashboard provides actionable information for teams and management.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1908" y="4398169"/>
            <a:ext cx="3545196" cy="195014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2282669" y="4535884"/>
            <a:ext cx="243675" cy="24368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3375" y="5050830"/>
            <a:ext cx="3182263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High‑Priority Unresolved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813375" y="5405735"/>
            <a:ext cx="3182263" cy="740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tickets still open or in‑progress with ticket‑level details for rapid triage (~80K)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323250" y="4398169"/>
            <a:ext cx="3545196" cy="195014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5974010" y="4535884"/>
            <a:ext cx="243675" cy="24368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504716" y="5050830"/>
            <a:ext cx="3182263" cy="2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Regional Performance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4504716" y="5405735"/>
            <a:ext cx="3182263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Compares average resolution time to find faster and slower regions</a:t>
            </a:r>
            <a:endParaRPr lang="en-US" sz="12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014591" y="4398169"/>
            <a:ext cx="3545196" cy="1950145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665351" y="4535884"/>
            <a:ext cx="243675" cy="24368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196057" y="5050830"/>
            <a:ext cx="3182263" cy="534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Cluster Size vs Resolution</a:t>
            </a:r>
            <a:endParaRPr lang="en-US" sz="1650" dirty="0"/>
          </a:p>
        </p:txBody>
      </p:sp>
      <p:sp>
        <p:nvSpPr>
          <p:cNvPr id="19" name="Text 9"/>
          <p:cNvSpPr/>
          <p:nvPr/>
        </p:nvSpPr>
        <p:spPr>
          <a:xfrm>
            <a:off x="8196057" y="5672931"/>
            <a:ext cx="3182263" cy="49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Highlights high‑volume clusters needing operational attention</a:t>
            </a:r>
            <a:endParaRPr lang="en-US" sz="12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08325" y="6521432"/>
            <a:ext cx="1739989" cy="6731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16"/>
          <a:srcRect l="72822" r="2473"/>
          <a:stretch/>
        </p:blipFill>
        <p:spPr>
          <a:xfrm>
            <a:off x="-536061" y="-60079"/>
            <a:ext cx="1021823" cy="762174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16"/>
          <a:srcRect l="72822" r="2473"/>
          <a:stretch/>
        </p:blipFill>
        <p:spPr>
          <a:xfrm>
            <a:off x="11798124" y="-276896"/>
            <a:ext cx="1021823" cy="7621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4173"/>
            <a:ext cx="10927878" cy="44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Dashboard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31908" y="1172766"/>
            <a:ext cx="304594" cy="304602"/>
          </a:xfrm>
          <a:prstGeom prst="roundRect">
            <a:avLst>
              <a:gd name="adj" fmla="val 186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8001" y="1219299"/>
            <a:ext cx="10521786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Workload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8001" y="1502966"/>
            <a:ext cx="1052178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200K customer support tickets analysed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31908" y="1895673"/>
            <a:ext cx="304594" cy="304602"/>
          </a:xfrm>
          <a:prstGeom prst="roundRect">
            <a:avLst>
              <a:gd name="adj" fmla="val 186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001" y="1942207"/>
            <a:ext cx="10521786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8001" y="2225873"/>
            <a:ext cx="1052178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resolution time: 120.54 hours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1908" y="2618581"/>
            <a:ext cx="304594" cy="304602"/>
          </a:xfrm>
          <a:prstGeom prst="roundRect">
            <a:avLst>
              <a:gd name="adj" fmla="val 186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001" y="2665115"/>
            <a:ext cx="10521786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Frequent Issues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8001" y="2948781"/>
            <a:ext cx="1052178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Account &amp; Transaction Issues form the largest cluster (~100K)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1908" y="3341489"/>
            <a:ext cx="304594" cy="304602"/>
          </a:xfrm>
          <a:prstGeom prst="roundRect">
            <a:avLst>
              <a:gd name="adj" fmla="val 186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8001" y="3388023"/>
            <a:ext cx="10521786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8001" y="3671689"/>
            <a:ext cx="1052178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similarity score: 0.68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1908" y="4064397"/>
            <a:ext cx="304594" cy="304602"/>
          </a:xfrm>
          <a:prstGeom prst="roundRect">
            <a:avLst>
              <a:gd name="adj" fmla="val 186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8001" y="4110930"/>
            <a:ext cx="10521786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Customer Experience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8001" y="4394597"/>
            <a:ext cx="1052178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satisfaction score: 3.00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1908" y="4787305"/>
            <a:ext cx="304594" cy="304602"/>
          </a:xfrm>
          <a:prstGeom prst="roundRect">
            <a:avLst>
              <a:gd name="adj" fmla="val 186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8001" y="4833838"/>
            <a:ext cx="10521786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Regional Performance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8001" y="5117505"/>
            <a:ext cx="1052178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Africa &amp; North America show the lowest average resolution time; Europe the highest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1908" y="5510213"/>
            <a:ext cx="304594" cy="304602"/>
          </a:xfrm>
          <a:prstGeom prst="roundRect">
            <a:avLst>
              <a:gd name="adj" fmla="val 186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001" y="5556746"/>
            <a:ext cx="10521786" cy="222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Operational Focus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38001" y="5840413"/>
            <a:ext cx="10521786" cy="189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High‑priority unresolved tickets require immediate attention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1909" y="6144220"/>
            <a:ext cx="6589023" cy="41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Power BI dashboard delivers an interactive, single‑view environment for workload, performance</a:t>
            </a:r>
            <a:r>
              <a:rPr lang="en-US" sz="1050" dirty="0" smtClean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n-US" sz="1050" dirty="0" smtClean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intelligence and operational priorities.</a:t>
            </a:r>
            <a:endParaRPr lang="en-US" sz="105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85" y="-37234"/>
            <a:ext cx="4685641" cy="70522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523</Words>
  <Application>Microsoft Office PowerPoint</Application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Dela Gothic One</vt:lpstr>
      <vt:lpstr>Calibri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Aarmitha</dc:creator>
  <cp:lastModifiedBy>Aarmitha</cp:lastModifiedBy>
  <cp:revision>3</cp:revision>
  <dcterms:created xsi:type="dcterms:W3CDTF">2026-08-18T10:37:34Z</dcterms:created>
  <dcterms:modified xsi:type="dcterms:W3CDTF">2026-08-18T12:05:35Z</dcterms:modified>
</cp:coreProperties>
</file>