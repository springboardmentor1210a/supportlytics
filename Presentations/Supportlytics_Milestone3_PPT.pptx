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3E-412D-AFBB-0E424BBA8BA6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3E-412D-AFBB-0E424BBA8BA6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63E-412D-AFBB-0E424BBA8BA6}"/>
              </c:ext>
            </c:extLst>
          </c:dPt>
          <c:dPt>
            <c:idx val="3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63E-412D-AFBB-0E424BBA8BA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Low</c:v>
                </c:pt>
                <c:pt idx="3">
                  <c:v>Medium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47.59</c:v>
                </c:pt>
                <c:pt idx="1">
                  <c:v>47.61</c:v>
                </c:pt>
                <c:pt idx="2">
                  <c:v>47.96</c:v>
                </c:pt>
                <c:pt idx="3">
                  <c:v>49.37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3E-412D-AFBB-0E424BBA8B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47-461E-89DF-A7A067FFE5C2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47-461E-89DF-A7A067FFE5C2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47-461E-89DF-A7A067FFE5C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Problem</c:v>
                </c:pt>
                <c:pt idx="1">
                  <c:v>Incident</c:v>
                </c:pt>
                <c:pt idx="2">
                  <c:v>Request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47.51</c:v>
                </c:pt>
                <c:pt idx="1">
                  <c:v>48.33</c:v>
                </c:pt>
                <c:pt idx="2">
                  <c:v>48.57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47-461E-89DF-A7A067FFE5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Country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31-49DC-9AF8-1759F3C60DED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31-49DC-9AF8-1759F3C60DED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431-49DC-9AF8-1759F3C60DED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431-49DC-9AF8-1759F3C60DED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431-49DC-9AF8-1759F3C60D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Australia</c:v>
                </c:pt>
                <c:pt idx="1">
                  <c:v>Germany</c:v>
                </c:pt>
                <c:pt idx="2">
                  <c:v>USA</c:v>
                </c:pt>
                <c:pt idx="3">
                  <c:v>UK</c:v>
                </c:pt>
                <c:pt idx="4">
                  <c:v>India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46.9</c:v>
                </c:pt>
                <c:pt idx="1">
                  <c:v>47.7</c:v>
                </c:pt>
                <c:pt idx="2">
                  <c:v>47.9</c:v>
                </c:pt>
                <c:pt idx="3">
                  <c:v>48.2</c:v>
                </c:pt>
                <c:pt idx="4">
                  <c:v>50.02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431-49DC-9AF8-1759F3C60D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Team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7B-452D-ABCC-F65E27AF68AF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7B-452D-ABCC-F65E27AF68AF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7B-452D-ABCC-F65E27AF68AF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7B-452D-ABCC-F65E27AF68AF}"/>
              </c:ext>
            </c:extLst>
          </c:dPt>
          <c:dPt>
            <c:idx val="4"/>
            <c:invertIfNegative val="0"/>
            <c:bubble3D val="0"/>
            <c:spPr>
              <a:solidFill>
                <a:srgbClr val="0566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27B-452D-ABCC-F65E27AF68AF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Apps</c:v>
                </c:pt>
                <c:pt idx="1">
                  <c:v>L2</c:v>
                </c:pt>
                <c:pt idx="2">
                  <c:v>Security</c:v>
                </c:pt>
                <c:pt idx="3">
                  <c:v>Infra</c:v>
                </c:pt>
                <c:pt idx="4">
                  <c:v>L1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47.61</c:v>
                </c:pt>
                <c:pt idx="1">
                  <c:v>47.86</c:v>
                </c:pt>
                <c:pt idx="2">
                  <c:v>48.27</c:v>
                </c:pt>
                <c:pt idx="3">
                  <c:v>48.29</c:v>
                </c:pt>
                <c:pt idx="4">
                  <c:v>48.63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7B-452D-ABCC-F65E27AF68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E33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E33"/>
                </a:solidFill>
                <a:latin typeface="Arial"/>
              </a:rPr>
              <a:t>Unresolved by Priority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Unresolved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20-4663-98BF-810F8CF0E12A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20-4663-98BF-810F8CF0E12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Critical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828</c:v>
                </c:pt>
                <c:pt idx="1">
                  <c:v>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20-4663-98BF-810F8CF0E1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Unresolved by Team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5C6-4BD3-B18E-4B0EBF3843FC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C6-4BD3-B18E-4B0EBF3843FC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C6-4BD3-B18E-4B0EBF3843FC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5C6-4BD3-B18E-4B0EBF3843FC}"/>
              </c:ext>
            </c:extLst>
          </c:dPt>
          <c:dPt>
            <c:idx val="4"/>
            <c:invertIfNegative val="0"/>
            <c:bubble3D val="0"/>
            <c:spPr>
              <a:solidFill>
                <a:srgbClr val="5FAD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5C6-4BD3-B18E-4B0EBF3843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Security</c:v>
                </c:pt>
                <c:pt idx="1">
                  <c:v>L2</c:v>
                </c:pt>
                <c:pt idx="2">
                  <c:v>Apps</c:v>
                </c:pt>
                <c:pt idx="3">
                  <c:v>L1</c:v>
                </c:pt>
                <c:pt idx="4">
                  <c:v>Infra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337</c:v>
                </c:pt>
                <c:pt idx="1">
                  <c:v>333</c:v>
                </c:pt>
                <c:pt idx="2">
                  <c:v>327</c:v>
                </c:pt>
                <c:pt idx="3">
                  <c:v>326</c:v>
                </c:pt>
                <c:pt idx="4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5C6-4BD3-B18E-4B0EBF3843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342-439F-8196-7CDC6CA511C5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342-439F-8196-7CDC6CA511C5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342-439F-8196-7CDC6CA511C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Europe</c:v>
                </c:pt>
                <c:pt idx="1">
                  <c:v>APAC</c:v>
                </c:pt>
                <c:pt idx="2">
                  <c:v>North America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1994</c:v>
                </c:pt>
                <c:pt idx="1">
                  <c:v>1989</c:v>
                </c:pt>
                <c:pt idx="2">
                  <c:v>1017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42-439F-8196-7CDC6CA511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5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897681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·  SUPPORTLYTICS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37260" y="3458121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3: Module 5–6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4434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Trends &amp; Geographic Insights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325880" y="4754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6800" y="5369217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Performance Metrics Summary  ·  Geo-Visualizations &amp; Comparative Charts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480927" y="5925312"/>
            <a:ext cx="271107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 Gochipathala</a:t>
            </a:r>
            <a:endParaRPr lang="en-US" sz="1600" b="1" dirty="0"/>
          </a:p>
        </p:txBody>
      </p:sp>
      <p:sp>
        <p:nvSpPr>
          <p:cNvPr id="13" name="Text 9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F6EFEF-094F-C55B-0638-6471755911E2}"/>
              </a:ext>
            </a:extLst>
          </p:cNvPr>
          <p:cNvSpPr txBox="1"/>
          <p:nvPr/>
        </p:nvSpPr>
        <p:spPr>
          <a:xfrm>
            <a:off x="708660" y="1410589"/>
            <a:ext cx="11459234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IT Support Team</a:t>
            </a:r>
            <a:r>
              <a:rPr lang="en-US" sz="4400" b="1" dirty="0"/>
              <a:t> </a:t>
            </a: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Using Analytics</a:t>
            </a:r>
            <a:endParaRPr lang="en-US" sz="4400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Module 5 and Module 6 set out to accomplish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108960"/>
          </a:xfrm>
          <a:prstGeom prst="roundRect">
            <a:avLst>
              <a:gd name="adj" fmla="val 2647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average resolution times by priority and type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countries or teams handle tickets fastest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high-priority unresolved issues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68112" cy="3108960"/>
          </a:xfrm>
          <a:prstGeom prst="roundRect">
            <a:avLst>
              <a:gd name="adj" fmla="val 2647"/>
            </a:avLst>
          </a:prstGeom>
          <a:solidFill>
            <a:srgbClr val="00A89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87452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40880" y="1874520"/>
            <a:ext cx="4279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92240" y="2377440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3FB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Category-Level Insights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828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heatmaps of ticket concentration by region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issue categories geographically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cluster size vs. performance score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7E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9784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50566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91840" y="49377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summary  •  Geo-visualizations and comparative charts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Resolution Time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By priority level and by ticket 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Priority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Ticket Type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Fastest Countries &amp; Teams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Average resolution time, sorted fastest to slowest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Country (hrs)</a:t>
            </a:r>
            <a:endParaRPr lang="en-US" sz="1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7220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Team (hrs)</a:t>
            </a:r>
            <a:endParaRPr lang="en-US" sz="14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72200" y="1828800"/>
          <a:ext cx="539496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High-Priority Unresolved Issues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Open High and Critical priority tickets awaiting resolution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73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1,643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Unresolved (High + Critical)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554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1673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828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34340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Open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0" y="155448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1673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00100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Priority Open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246120"/>
          <a:ext cx="53949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6172200" y="3246120"/>
            <a:ext cx="5468112" cy="3108960"/>
          </a:xfrm>
          <a:prstGeom prst="roundRect">
            <a:avLst>
              <a:gd name="adj" fmla="val 2353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465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46520" y="393192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1,643 High/Critical tickets remain open — a meaningful backlog to track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Critical counts are close (828 vs. 815) — both need attention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tickets are prime candidates for SLA escalation review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Unresolved High-Priority Tickets by Team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Optional analysis — where is the open backlog concentrated?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carries the largest backlog (337 tickets)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has the smallest open backlog (320 tickets)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teams is fairly even — no single team is overwhelmed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Ticket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Where ticket volume concentrates across regions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544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240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(1,994) and APAC (1,989) generate nearly equal volume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is notably lower (1,017) — roughly half the others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and APAC together drive ~80% of total ticket volume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Concentration Heatmap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Ticket volume by region and priority level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nb_images/m3_heatmap_region_priori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37360"/>
            <a:ext cx="62179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Heatmap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2402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Darker cells indicate higher ticket concentration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Region × Priority pivot table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spot which region needs priority-specific staffing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Categories by Region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Mapping issue categories geographically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nb_images/m3_category_by_reg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737360"/>
            <a:ext cx="621792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177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240280"/>
            <a:ext cx="3566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issue categories dominate in each region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regional staffing and skill-mix decisions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a Region × Category cross-tabulation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Size vs Performance Score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Does a larger cluster mean better customer satisfaction?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E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nb_images/cluster_size_vs_perform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45920"/>
            <a:ext cx="67665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5544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92440" y="224028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scores highest satisfaction (3.55) at mid-range size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the largest cluster (872) but scores lowest (3.48)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correlation — cluster size doesn't predict performance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across Module 5 and Module 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 Lags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tickets take longest to resolve (49.4 hrs) — even slower than Critical (47.6 hrs).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110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Resolves Fastest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leads at 46.9 hrs; India is slowest at 50.0 hrs on average.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55448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830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19110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1,643 Tickets Still Open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834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and Critical priority tickets awaiting resolution — a backlog worth escalating.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33425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Team's Backlog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holds the largest share of unresolved high-priority tickets (337).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33425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APAC Drive Volume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account for ~80% of tickets; North America trails at 1,017.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97764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0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42062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3342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8463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≠ Performance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52578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is the largest cluster but has the lowest satisfaction score — flagged for review.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B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2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0A896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 —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geo-visualizations, and comparative charts complete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95681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 by priority &amp; type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95681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21424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countries &amp; teams comparison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4597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52144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unresolved issue tracking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45973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459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1424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backlog by team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2962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ticket distribution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296265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2962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21424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concentration heatmap by region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34655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categories mapped by region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3465576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2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21424" y="3429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 vs. performance score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7 — Predictive Modeling &amp; Final Recommendations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Internship  |  Supportlytics  |  Milestone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762</Words>
  <Application>Microsoft Office PowerPoint</Application>
  <PresentationFormat>Widescreen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Supportlytics - Milestone 3</dc:title>
  <dc:subject>PptxGenJS Presentation</dc:subject>
  <dc:creator>Infosys SpringBoard 7.0</dc:creator>
  <cp:lastModifiedBy>Gochipathala Yona</cp:lastModifiedBy>
  <cp:revision>6</cp:revision>
  <dcterms:created xsi:type="dcterms:W3CDTF">2026-08-06T05:41:54Z</dcterms:created>
  <dcterms:modified xsi:type="dcterms:W3CDTF">2026-08-06T13:28:52Z</dcterms:modified>
</cp:coreProperties>
</file>