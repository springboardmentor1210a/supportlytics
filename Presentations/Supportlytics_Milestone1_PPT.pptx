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E33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E33"/>
                </a:solidFill>
                <a:latin typeface="Arial"/>
              </a:rPr>
              <a:t>Resolution_Date Completeness (of 5,000)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Resolution_Date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22-4CFF-B76B-824454F148B8}"/>
              </c:ext>
            </c:extLst>
          </c:dPt>
          <c:dPt>
            <c:idx val="1"/>
            <c:bubble3D val="0"/>
            <c:spPr>
              <a:solidFill>
                <a:srgbClr val="E3EC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22-4CFF-B76B-824454F148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2E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22-4CFF-B76B-824454F148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B2E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22-4CFF-B76B-824454F148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Resolved (has date)</c:v>
                </c:pt>
                <c:pt idx="1">
                  <c:v>Still Open (missing)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3379</c:v>
                </c:pt>
                <c:pt idx="1">
                  <c:v>1621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22-4CFF-B76B-824454F14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2E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Distribution by Type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8B-4A6F-B504-7AC15E293615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8B-4A6F-B504-7AC15E293615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8B-4A6F-B504-7AC15E2936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Incident</c:v>
                </c:pt>
                <c:pt idx="1">
                  <c:v>Request</c:v>
                </c:pt>
                <c:pt idx="2">
                  <c:v>Problem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1705</c:v>
                </c:pt>
                <c:pt idx="1">
                  <c:v>1656</c:v>
                </c:pt>
                <c:pt idx="2">
                  <c:v>1639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8B-4A6F-B504-7AC15E293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Distribution by Priority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2E-46A7-8D5E-95BC3D6617EB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2E-46A7-8D5E-95BC3D6617EB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2E-46A7-8D5E-95BC3D6617EB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2E-46A7-8D5E-95BC3D6617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Critical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1284</c:v>
                </c:pt>
                <c:pt idx="1">
                  <c:v>1255</c:v>
                </c:pt>
                <c:pt idx="2">
                  <c:v>1233</c:v>
                </c:pt>
                <c:pt idx="3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2E-46A7-8D5E-95BC3D661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Distribution by Category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BA-4ABB-8F24-E6CF75F69017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BA-4ABB-8F24-E6CF75F69017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BA-4ABB-8F24-E6CF75F69017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BA-4ABB-8F24-E6CF75F69017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BA-4ABB-8F24-E6CF75F69017}"/>
              </c:ext>
            </c:extLst>
          </c:dPt>
          <c:dPt>
            <c:idx val="5"/>
            <c:invertIfNegative val="0"/>
            <c:bubble3D val="0"/>
            <c:spPr>
              <a:solidFill>
                <a:srgbClr val="8ED1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BA-4ABB-8F24-E6CF75F6901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Network</c:v>
                </c:pt>
                <c:pt idx="1">
                  <c:v>Hardware</c:v>
                </c:pt>
                <c:pt idx="2">
                  <c:v>Security</c:v>
                </c:pt>
                <c:pt idx="3">
                  <c:v>Software</c:v>
                </c:pt>
                <c:pt idx="4">
                  <c:v>Access</c:v>
                </c:pt>
                <c:pt idx="5">
                  <c:v>Email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867</c:v>
                </c:pt>
                <c:pt idx="1">
                  <c:v>857</c:v>
                </c:pt>
                <c:pt idx="2">
                  <c:v>839</c:v>
                </c:pt>
                <c:pt idx="3">
                  <c:v>833</c:v>
                </c:pt>
                <c:pt idx="4">
                  <c:v>806</c:v>
                </c:pt>
                <c:pt idx="5">
                  <c:v>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3BA-4ABB-8F24-E6CF75F690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81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889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IT Support Team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Using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54007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Supportlytics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82296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part of the Infosys SpringBoard 7.0 Internship Program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57790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 Gochipathala</a:t>
            </a:r>
            <a:endParaRPr lang="en-US" sz="1600" b="1" dirty="0"/>
          </a:p>
        </p:txBody>
      </p:sp>
      <p:sp>
        <p:nvSpPr>
          <p:cNvPr id="15" name="Text 10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265576-36EC-AB67-E80B-A0306B547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14" y="452580"/>
            <a:ext cx="8939826" cy="2016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928397-7292-B9FE-86B4-146198DAA636}"/>
              </a:ext>
            </a:extLst>
          </p:cNvPr>
          <p:cNvSpPr txBox="1"/>
          <p:nvPr/>
        </p:nvSpPr>
        <p:spPr>
          <a:xfrm>
            <a:off x="3764692" y="2067697"/>
            <a:ext cx="336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  DATA VISUALIZATION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IT support ticket data to strengthen team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Ticket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IT support ticket records end-to-end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ticket trends and recurring issue patterns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56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team performance using defined KPIs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799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Resolution Time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 average ticket resolution time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7997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SLA Compliance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adherence to service-level agreements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023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7997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Improvements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process changes using data insights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KPIs defined to quantify support-team effectiveness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6994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00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4507992" y="186994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600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186994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869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59952" y="1600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Tickets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2150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921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65176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07992" y="292150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2921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First Response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265176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292150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2921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9952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39730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Ticket Rate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370332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07992" y="39730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65192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Ticket Count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38160" y="370332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37" name="Shape 35"/>
          <p:cNvSpPr/>
          <p:nvPr/>
        </p:nvSpPr>
        <p:spPr>
          <a:xfrm>
            <a:off x="8302752" y="39730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8302752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59952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Satisfaction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50246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024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70432" y="4754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by Category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343400" y="4754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7992" y="50246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/>
          <p:nvPr/>
        </p:nvSpPr>
        <p:spPr>
          <a:xfrm>
            <a:off x="4507992" y="5024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65192" y="4754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by Country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138160" y="475488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49" name="Shape 47"/>
          <p:cNvSpPr/>
          <p:nvPr/>
        </p:nvSpPr>
        <p:spPr>
          <a:xfrm>
            <a:off x="8302752" y="50246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Text 48"/>
          <p:cNvSpPr/>
          <p:nvPr/>
        </p:nvSpPr>
        <p:spPr>
          <a:xfrm>
            <a:off x="8302752" y="5024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59952" y="4754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Agents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5806440"/>
            <a:ext cx="3611880" cy="868680"/>
          </a:xfrm>
          <a:prstGeom prst="roundRect">
            <a:avLst>
              <a:gd name="adj" fmla="val 7368"/>
            </a:avLst>
          </a:prstGeom>
          <a:solidFill>
            <a:srgbClr val="F0F7F6"/>
          </a:solidFill>
          <a:ln/>
        </p:spPr>
      </p:sp>
      <p:sp>
        <p:nvSpPr>
          <p:cNvPr id="53" name="Shape 51"/>
          <p:cNvSpPr/>
          <p:nvPr/>
        </p:nvSpPr>
        <p:spPr>
          <a:xfrm>
            <a:off x="713232" y="60761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Text 52"/>
          <p:cNvSpPr/>
          <p:nvPr/>
        </p:nvSpPr>
        <p:spPr>
          <a:xfrm>
            <a:off x="713232" y="6076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70432" y="5806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Cluster-wise Similarity Score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ticket data to actionable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2002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441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42032" y="1874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16352" y="1874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44368" y="2002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4436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441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(Pandas)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874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84064" y="1874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2002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93792" y="2441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77456" y="1874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51776" y="1874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792" y="2002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7979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61504" y="2441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45168" y="1874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19488" y="1874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47504" y="2002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9216" y="2441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" y="4288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" y="4727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42032" y="4160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816352" y="4160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44368" y="4288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944368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926080" y="4727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Similarity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9744" y="4160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084064" y="4160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4288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93792" y="4727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77456" y="4160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351776" y="4160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79792" y="4288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479792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61504" y="4727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(Power BI)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45168" y="416052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619488" y="416052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747504" y="4288536"/>
            <a:ext cx="365760" cy="36576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747504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729216" y="4727448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3291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78815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17520" y="5788152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Text 54"/>
          <p:cNvSpPr/>
          <p:nvPr/>
        </p:nvSpPr>
        <p:spPr>
          <a:xfrm>
            <a:off x="3310128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486400" y="578815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Text 56"/>
          <p:cNvSpPr/>
          <p:nvPr/>
        </p:nvSpPr>
        <p:spPr>
          <a:xfrm>
            <a:off x="5779008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pandas from Supportlytics_Complete_Dataset.xlsx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 (Rows)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062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8638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 Fields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41448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34256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27064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19872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9872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12680" y="38862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41448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34256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27064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Cluster_Name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9872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Similarity_Score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12680" y="4389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2680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Assigned_Agent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8920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92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41448" y="48920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4892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SLA_Status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34256" y="48920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4256" y="4892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7064" y="48920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F7F6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4892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Resolution_Code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4864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Simulated IT Support Ticket Dataset created for internship analysis.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integer, float, object (string), and datetime fields — informing the analysis techniques used.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Types:  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 |  Request  |  Problem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C4EC8973-A84A-D5D1-DA52-94A8155A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007108"/>
            <a:ext cx="384048" cy="384048"/>
          </a:xfrm>
          <a:prstGeom prst="rect">
            <a:avLst/>
          </a:prstGeom>
        </p:spPr>
      </p:pic>
      <p:pic>
        <p:nvPicPr>
          <p:cNvPr id="51" name="Image 1" descr="preencoded.png">
            <a:extLst>
              <a:ext uri="{FF2B5EF4-FFF2-40B4-BE49-F238E27FC236}">
                <a16:creationId xmlns:a16="http://schemas.microsoft.com/office/drawing/2014/main" id="{31269A7A-1D9B-3F94-2196-FD32F347A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383" y="1965960"/>
            <a:ext cx="446291" cy="446291"/>
          </a:xfrm>
          <a:prstGeom prst="rect">
            <a:avLst/>
          </a:prstGeom>
        </p:spPr>
      </p:pic>
      <p:pic>
        <p:nvPicPr>
          <p:cNvPr id="53" name="Image 2" descr="preencoded.png">
            <a:extLst>
              <a:ext uri="{FF2B5EF4-FFF2-40B4-BE49-F238E27FC236}">
                <a16:creationId xmlns:a16="http://schemas.microsoft.com/office/drawing/2014/main" id="{5CEA9C27-AADA-8875-14E9-3A3CBB119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004" y="1965960"/>
            <a:ext cx="460408" cy="46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identified with isnull() prior to cleaning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48463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417320"/>
            <a:ext cx="5943600" cy="2514600"/>
          </a:xfrm>
          <a:prstGeom prst="roundRect">
            <a:avLst>
              <a:gd name="adj" fmla="val 2909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8932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1,621 missing Resolution_Date values — tickets still open, not data errors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89320" y="24048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span integer, float, object (string), and datetime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9320" y="28895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ticket records found in the dataset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89320" y="33741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text fields contained extra whitespace and blank strings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BEE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4242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1,621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Text Fields: Present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4114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8F6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4242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4572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 values handled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ready for analysis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8F6F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623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5623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cleaned successfully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9360" y="5623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Ready for Feature Engineering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Distribution by Type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even split across the three ticket types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397764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92440" y="2368296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421624" y="2148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04120" y="21488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34.10%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3026664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421624" y="28072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104120" y="2807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33.12%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368503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8421624" y="3465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104120" y="346557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32.78%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0769"/>
            </a:avLst>
          </a:prstGeom>
          <a:solidFill>
            <a:srgbClr val="F0F7F6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Incident tickets are slightly higher than Request and Problem tickets.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Distribution by Priority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 are nearly balanced across the ticket base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397764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92440" y="236829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8421624" y="2148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04120" y="21488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25.68%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302666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8421624" y="28072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104120" y="2807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368503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8421624" y="3465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104120" y="346557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24.66%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92440" y="4343400"/>
            <a:ext cx="219456" cy="219456"/>
          </a:xfrm>
          <a:prstGeom prst="ellipse">
            <a:avLst/>
          </a:prstGeom>
          <a:solidFill>
            <a:srgbClr val="05668D"/>
          </a:solidFill>
          <a:ln/>
        </p:spPr>
      </p:sp>
      <p:sp>
        <p:nvSpPr>
          <p:cNvPr id="17" name="Text 14"/>
          <p:cNvSpPr/>
          <p:nvPr/>
        </p:nvSpPr>
        <p:spPr>
          <a:xfrm>
            <a:off x="8421624" y="41239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104120" y="41239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24.56%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0769"/>
            </a:avLst>
          </a:prstGeom>
          <a:solidFill>
            <a:srgbClr val="F0F7F6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Priority levels are almost evenly distributed across the dataset.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Distribution by Category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Hardware lead ticket volume by category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397764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92440" y="231343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421624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041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17.34%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2862072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421624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104120" y="2697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17.14%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34107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8421624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104120" y="32461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16.78%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92440" y="3959352"/>
            <a:ext cx="219456" cy="219456"/>
          </a:xfrm>
          <a:prstGeom prst="ellipse">
            <a:avLst/>
          </a:prstGeom>
          <a:solidFill>
            <a:srgbClr val="05668D"/>
          </a:solidFill>
          <a:ln/>
        </p:spPr>
      </p:sp>
      <p:sp>
        <p:nvSpPr>
          <p:cNvPr id="17" name="Text 14"/>
          <p:cNvSpPr/>
          <p:nvPr/>
        </p:nvSpPr>
        <p:spPr>
          <a:xfrm>
            <a:off x="8421624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104120" y="3794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16.66%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2440" y="4507992"/>
            <a:ext cx="219456" cy="219456"/>
          </a:xfrm>
          <a:prstGeom prst="ellipse">
            <a:avLst/>
          </a:prstGeom>
          <a:solidFill>
            <a:srgbClr val="5FAD9E"/>
          </a:solidFill>
          <a:ln/>
        </p:spPr>
      </p:sp>
      <p:sp>
        <p:nvSpPr>
          <p:cNvPr id="20" name="Text 17"/>
          <p:cNvSpPr/>
          <p:nvPr/>
        </p:nvSpPr>
        <p:spPr>
          <a:xfrm>
            <a:off x="8421624" y="4343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104120" y="4343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92440" y="5056632"/>
            <a:ext cx="219456" cy="219456"/>
          </a:xfrm>
          <a:prstGeom prst="ellipse">
            <a:avLst/>
          </a:prstGeom>
          <a:solidFill>
            <a:srgbClr val="8ED1C4"/>
          </a:solidFill>
          <a:ln/>
        </p:spPr>
      </p:sp>
      <p:sp>
        <p:nvSpPr>
          <p:cNvPr id="23" name="Text 20"/>
          <p:cNvSpPr/>
          <p:nvPr/>
        </p:nvSpPr>
        <p:spPr>
          <a:xfrm>
            <a:off x="8421624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0104120" y="4892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15.96%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0769"/>
            </a:avLst>
          </a:prstGeom>
          <a:solidFill>
            <a:srgbClr val="F0F7F6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Network and Hardware categories generate the highest number of tickets.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Standardization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text fields for reliable, consistent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Re-verified nulls with isnull() across all fields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379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and dropped duplicate ticket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Extra Spaces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from text columns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Blanks as "Unknown"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blank values consistently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3792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Text Fields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Title-cased Status, Priority, Category, Country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4297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70264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Cleaned Dataset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0184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Supportlytics_Cleaned_Dataset.xlsx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created to power deeper, numeric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3063240"/>
          </a:xfrm>
          <a:prstGeom prst="roundRect">
            <a:avLst>
              <a:gd name="adj" fmla="val 268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Resolution_Duration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long each ticket takes to resolve, in hours.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Resolution_Duration = Resolution_Date − Created_Date</a:t>
            </a:r>
            <a:endParaRPr lang="en-US" sz="1200" b="1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total hours via .dt.total_seconds() / 3600 for consistent numeric comparison across tickets.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55448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83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Priority_Score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20840" y="2194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mapped to numeric values so models and analysis can work with them directly.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743200"/>
          <a:ext cx="4572000" cy="169164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7E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68680" y="5010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53583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Resolution_Duration → Measures team efficiency.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Priority_Score → Enables numerical analysis and visualization.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5010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72200" y="53583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Resolution_Duration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Priority_Score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0A89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clean data to actionable support-team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21259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1560" y="312724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13 defined KPIs into live tracking views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0" y="17830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1259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886200" y="312724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Cluster_ID and Similarity_Score for issue patterns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2240" y="17830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54380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21259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720840" y="312724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top-performing agents by resolution outcomes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326880" y="17830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37844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740" y="21259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976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Recommendations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555480" y="312724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SLA and workflow improvements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229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22960" y="4937760"/>
            <a:ext cx="259461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4400" y="4937760"/>
            <a:ext cx="2411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46170" y="4937760"/>
            <a:ext cx="259461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7610" y="4937760"/>
            <a:ext cx="2411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69380" y="4937760"/>
            <a:ext cx="259461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60820" y="4937760"/>
            <a:ext cx="2411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292590" y="4937760"/>
            <a:ext cx="259461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384030" y="4937760"/>
            <a:ext cx="24117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Recommendations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822960" y="5897880"/>
            <a:ext cx="2052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888</Words>
  <Application>Microsoft Office PowerPoint</Application>
  <PresentationFormat>Widescreen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Supportlytics</dc:title>
  <dc:subject>PptxGenJS Presentation</dc:subject>
  <dc:creator>Infosys SpringBoard 7.0</dc:creator>
  <cp:lastModifiedBy>Gochipathala Yona</cp:lastModifiedBy>
  <cp:revision>8</cp:revision>
  <dcterms:created xsi:type="dcterms:W3CDTF">2026-07-09T11:45:04Z</dcterms:created>
  <dcterms:modified xsi:type="dcterms:W3CDTF">2026-07-10T13:30:50Z</dcterms:modified>
</cp:coreProperties>
</file>