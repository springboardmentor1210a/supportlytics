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10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Type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AA-4597-8021-DFE3DEB910B9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AA-4597-8021-DFE3DEB910B9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AA-4597-8021-DFE3DEB910B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Incident</c:v>
                </c:pt>
                <c:pt idx="1">
                  <c:v>Request</c:v>
                </c:pt>
                <c:pt idx="2">
                  <c:v>Problem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1705</c:v>
                </c:pt>
                <c:pt idx="1">
                  <c:v>1656</c:v>
                </c:pt>
                <c:pt idx="2">
                  <c:v>1639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AA-4597-8021-DFE3DEB910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796-46FE-BFBD-39B0E7E6A429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96-46FE-BFBD-39B0E7E6A429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796-46FE-BFBD-39B0E7E6A429}"/>
              </c:ext>
            </c:extLst>
          </c:dPt>
          <c:dPt>
            <c:idx val="3"/>
            <c:invertIfNegative val="0"/>
            <c:bubble3D val="0"/>
            <c:spPr>
              <a:solidFill>
                <a:srgbClr val="0566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796-46FE-BFBD-39B0E7E6A429}"/>
              </c:ext>
            </c:extLst>
          </c:dPt>
          <c:dPt>
            <c:idx val="4"/>
            <c:invertIfNegative val="0"/>
            <c:bubble3D val="0"/>
            <c:spPr>
              <a:solidFill>
                <a:srgbClr val="5FAD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796-46FE-BFBD-39B0E7E6A429}"/>
              </c:ext>
            </c:extLst>
          </c:dPt>
          <c:dPt>
            <c:idx val="5"/>
            <c:invertIfNegative val="0"/>
            <c:bubble3D val="0"/>
            <c:spPr>
              <a:solidFill>
                <a:srgbClr val="8ED1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796-46FE-BFBD-39B0E7E6A42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Network</c:v>
                </c:pt>
                <c:pt idx="1">
                  <c:v>Hardware</c:v>
                </c:pt>
                <c:pt idx="2">
                  <c:v>Security</c:v>
                </c:pt>
                <c:pt idx="3">
                  <c:v>Software</c:v>
                </c:pt>
                <c:pt idx="4">
                  <c:v>Access</c:v>
                </c:pt>
                <c:pt idx="5">
                  <c:v>Email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867</c:v>
                </c:pt>
                <c:pt idx="1">
                  <c:v>857</c:v>
                </c:pt>
                <c:pt idx="2">
                  <c:v>839</c:v>
                </c:pt>
                <c:pt idx="3">
                  <c:v>833</c:v>
                </c:pt>
                <c:pt idx="4">
                  <c:v>806</c:v>
                </c:pt>
                <c:pt idx="5">
                  <c:v>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796-46FE-BFBD-39B0E7E6A4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29-45FD-93A0-C3E33F5304EF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29-45FD-93A0-C3E33F5304EF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129-45FD-93A0-C3E33F5304EF}"/>
              </c:ext>
            </c:extLst>
          </c:dPt>
          <c:dPt>
            <c:idx val="3"/>
            <c:invertIfNegative val="0"/>
            <c:bubble3D val="0"/>
            <c:spPr>
              <a:solidFill>
                <a:srgbClr val="0566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129-45FD-93A0-C3E33F5304EF}"/>
              </c:ext>
            </c:extLst>
          </c:dPt>
          <c:dPt>
            <c:idx val="4"/>
            <c:invertIfNegative val="0"/>
            <c:bubble3D val="0"/>
            <c:spPr>
              <a:solidFill>
                <a:srgbClr val="5FAD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129-45FD-93A0-C3E33F5304EF}"/>
              </c:ext>
            </c:extLst>
          </c:dPt>
          <c:dPt>
            <c:idx val="5"/>
            <c:invertIfNegative val="0"/>
            <c:bubble3D val="0"/>
            <c:spPr>
              <a:solidFill>
                <a:srgbClr val="8ED1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129-45FD-93A0-C3E33F5304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Email</c:v>
                </c:pt>
                <c:pt idx="1">
                  <c:v>Access</c:v>
                </c:pt>
                <c:pt idx="2">
                  <c:v>Hardware</c:v>
                </c:pt>
                <c:pt idx="3">
                  <c:v>Network</c:v>
                </c:pt>
                <c:pt idx="4">
                  <c:v>Software</c:v>
                </c:pt>
                <c:pt idx="5">
                  <c:v>Security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872</c:v>
                </c:pt>
                <c:pt idx="1">
                  <c:v>853</c:v>
                </c:pt>
                <c:pt idx="2">
                  <c:v>833</c:v>
                </c:pt>
                <c:pt idx="3">
                  <c:v>818</c:v>
                </c:pt>
                <c:pt idx="4">
                  <c:v>814</c:v>
                </c:pt>
                <c:pt idx="5">
                  <c:v>810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129-45FD-93A0-C3E33F5304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152-4924-8F66-56E971EC3FB0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52-4924-8F66-56E971EC3FB0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152-4924-8F66-56E971EC3FB0}"/>
              </c:ext>
            </c:extLst>
          </c:dPt>
          <c:dPt>
            <c:idx val="3"/>
            <c:invertIfNegative val="0"/>
            <c:bubble3D val="0"/>
            <c:spPr>
              <a:solidFill>
                <a:srgbClr val="0566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152-4924-8F66-56E971EC3FB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Critical</c:v>
                </c:pt>
                <c:pt idx="3">
                  <c:v>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1284</c:v>
                </c:pt>
                <c:pt idx="1">
                  <c:v>1255</c:v>
                </c:pt>
                <c:pt idx="2">
                  <c:v>1233</c:v>
                </c:pt>
                <c:pt idx="3">
                  <c:v>1228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152-4924-8F66-56E971EC3F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Queue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9BF-403A-B82A-9B2B4394AED4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BF-403A-B82A-9B2B4394AED4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9BF-403A-B82A-9B2B4394AED4}"/>
              </c:ext>
            </c:extLst>
          </c:dPt>
          <c:dPt>
            <c:idx val="3"/>
            <c:invertIfNegative val="0"/>
            <c:bubble3D val="0"/>
            <c:spPr>
              <a:solidFill>
                <a:srgbClr val="0566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9BF-403A-B82A-9B2B4394AED4}"/>
              </c:ext>
            </c:extLst>
          </c:dPt>
          <c:dPt>
            <c:idx val="4"/>
            <c:invertIfNegative val="0"/>
            <c:bubble3D val="0"/>
            <c:spPr>
              <a:solidFill>
                <a:srgbClr val="5FAD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9BF-403A-B82A-9B2B4394AE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Security</c:v>
                </c:pt>
                <c:pt idx="1">
                  <c:v>Infra</c:v>
                </c:pt>
                <c:pt idx="2">
                  <c:v>L2</c:v>
                </c:pt>
                <c:pt idx="3">
                  <c:v>Apps</c:v>
                </c:pt>
                <c:pt idx="4">
                  <c:v>L1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1045</c:v>
                </c:pt>
                <c:pt idx="1">
                  <c:v>1005</c:v>
                </c:pt>
                <c:pt idx="2">
                  <c:v>1003</c:v>
                </c:pt>
                <c:pt idx="3">
                  <c:v>983</c:v>
                </c:pt>
                <c:pt idx="4">
                  <c:v>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9BF-403A-B82A-9B2B4394AE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Low</c:v>
                </c:pt>
                <c:pt idx="3">
                  <c:v>Medium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256</c:v>
                </c:pt>
                <c:pt idx="1">
                  <c:v>225</c:v>
                </c:pt>
                <c:pt idx="2">
                  <c:v>253</c:v>
                </c:pt>
                <c:pt idx="3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67-4A4C-9BA8-F16C42CCB5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Infra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Low</c:v>
                </c:pt>
                <c:pt idx="3">
                  <c:v>Medium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250</c:v>
                </c:pt>
                <c:pt idx="1">
                  <c:v>244</c:v>
                </c:pt>
                <c:pt idx="2">
                  <c:v>270</c:v>
                </c:pt>
                <c:pt idx="3">
                  <c:v>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67-4A4C-9BA8-F16C42CCB5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L1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Low</c:v>
                </c:pt>
                <c:pt idx="3">
                  <c:v>Medium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229</c:v>
                </c:pt>
                <c:pt idx="1">
                  <c:v>247</c:v>
                </c:pt>
                <c:pt idx="2">
                  <c:v>251</c:v>
                </c:pt>
                <c:pt idx="3">
                  <c:v>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67-4A4C-9BA8-F16C42CCB58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L2</c:v>
                </c:pt>
              </c:strCache>
            </c:strRef>
          </c:tx>
          <c:spPr>
            <a:solidFill>
              <a:srgbClr val="05668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Low</c:v>
                </c:pt>
                <c:pt idx="3">
                  <c:v>Medium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242</c:v>
                </c:pt>
                <c:pt idx="1">
                  <c:v>265</c:v>
                </c:pt>
                <c:pt idx="2">
                  <c:v>229</c:v>
                </c:pt>
                <c:pt idx="3">
                  <c:v>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67-4A4C-9BA8-F16C42CCB58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Security</c:v>
                </c:pt>
              </c:strCache>
            </c:strRef>
          </c:tx>
          <c:spPr>
            <a:solidFill>
              <a:srgbClr val="8ED1C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Low</c:v>
                </c:pt>
                <c:pt idx="3">
                  <c:v>Medium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256</c:v>
                </c:pt>
                <c:pt idx="1">
                  <c:v>247</c:v>
                </c:pt>
                <c:pt idx="2">
                  <c:v>281</c:v>
                </c:pt>
                <c:pt idx="3">
                  <c:v>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67-4A4C-9BA8-F16C42CCB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2E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Similarity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82-4F51-9EF6-0749F8B5A23A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82-4F51-9EF6-0749F8B5A23A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82-4F51-9EF6-0749F8B5A23A}"/>
              </c:ext>
            </c:extLst>
          </c:dPt>
          <c:dPt>
            <c:idx val="3"/>
            <c:invertIfNegative val="0"/>
            <c:bubble3D val="0"/>
            <c:spPr>
              <a:solidFill>
                <a:srgbClr val="0566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82-4F51-9EF6-0749F8B5A23A}"/>
              </c:ext>
            </c:extLst>
          </c:dPt>
          <c:dPt>
            <c:idx val="4"/>
            <c:invertIfNegative val="0"/>
            <c:bubble3D val="0"/>
            <c:spPr>
              <a:solidFill>
                <a:srgbClr val="5FAD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82-4F51-9EF6-0749F8B5A23A}"/>
              </c:ext>
            </c:extLst>
          </c:dPt>
          <c:dPt>
            <c:idx val="5"/>
            <c:invertIfNegative val="0"/>
            <c:bubble3D val="0"/>
            <c:spPr>
              <a:solidFill>
                <a:srgbClr val="8ED1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382-4F51-9EF6-0749F8B5A23A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Software</c:v>
                </c:pt>
                <c:pt idx="1">
                  <c:v>Hardware</c:v>
                </c:pt>
                <c:pt idx="2">
                  <c:v>Security</c:v>
                </c:pt>
                <c:pt idx="3">
                  <c:v>Network</c:v>
                </c:pt>
                <c:pt idx="4">
                  <c:v>Access</c:v>
                </c:pt>
                <c:pt idx="5">
                  <c:v>Email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0.76229999999999998</c:v>
                </c:pt>
                <c:pt idx="1">
                  <c:v>0.75219999999999998</c:v>
                </c:pt>
                <c:pt idx="2">
                  <c:v>0.75029999999999997</c:v>
                </c:pt>
                <c:pt idx="3">
                  <c:v>0.74670000000000003</c:v>
                </c:pt>
                <c:pt idx="4">
                  <c:v>0.74509999999999998</c:v>
                </c:pt>
                <c:pt idx="5">
                  <c:v>0.74099999999999999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382-4F51-9EF6-0749F8B5A2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8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Access</c:v>
                </c:pt>
                <c:pt idx="1">
                  <c:v>Email</c:v>
                </c:pt>
                <c:pt idx="2">
                  <c:v>Hardware</c:v>
                </c:pt>
                <c:pt idx="3">
                  <c:v>Network</c:v>
                </c:pt>
                <c:pt idx="4">
                  <c:v>Security</c:v>
                </c:pt>
                <c:pt idx="5">
                  <c:v>Software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298</c:v>
                </c:pt>
                <c:pt idx="1">
                  <c:v>289</c:v>
                </c:pt>
                <c:pt idx="2">
                  <c:v>270</c:v>
                </c:pt>
                <c:pt idx="3">
                  <c:v>294</c:v>
                </c:pt>
                <c:pt idx="4">
                  <c:v>286</c:v>
                </c:pt>
                <c:pt idx="5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B-4B1E-8805-1117E0E2B1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Access</c:v>
                </c:pt>
                <c:pt idx="1">
                  <c:v>Email</c:v>
                </c:pt>
                <c:pt idx="2">
                  <c:v>Hardware</c:v>
                </c:pt>
                <c:pt idx="3">
                  <c:v>Network</c:v>
                </c:pt>
                <c:pt idx="4">
                  <c:v>Security</c:v>
                </c:pt>
                <c:pt idx="5">
                  <c:v>Software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282</c:v>
                </c:pt>
                <c:pt idx="1">
                  <c:v>281</c:v>
                </c:pt>
                <c:pt idx="2">
                  <c:v>289</c:v>
                </c:pt>
                <c:pt idx="3">
                  <c:v>264</c:v>
                </c:pt>
                <c:pt idx="4">
                  <c:v>274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5B-4B1E-8805-1117E0E2B1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Request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Access</c:v>
                </c:pt>
                <c:pt idx="1">
                  <c:v>Email</c:v>
                </c:pt>
                <c:pt idx="2">
                  <c:v>Hardware</c:v>
                </c:pt>
                <c:pt idx="3">
                  <c:v>Network</c:v>
                </c:pt>
                <c:pt idx="4">
                  <c:v>Security</c:v>
                </c:pt>
                <c:pt idx="5">
                  <c:v>Software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273</c:v>
                </c:pt>
                <c:pt idx="1">
                  <c:v>302</c:v>
                </c:pt>
                <c:pt idx="2">
                  <c:v>274</c:v>
                </c:pt>
                <c:pt idx="3">
                  <c:v>260</c:v>
                </c:pt>
                <c:pt idx="4">
                  <c:v>250</c:v>
                </c:pt>
                <c:pt idx="5">
                  <c:v>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5B-4B1E-8805-1117E0E2B1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2E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044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94344" y="438912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·  SUPPORTLYTICS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2: Week 3–4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Visualization &amp; Cluster Insights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7307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Exploratory Visualization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159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42976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Similarity &amp; Cluster Insights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Minimum 8 Visualizations  ·  Summary of Key Patterns &amp; Problem Clusters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531178" y="5751576"/>
            <a:ext cx="24474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b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 Gochipathala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Module 3 and Module 4 set out to accomplish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Visualization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ticket type distribution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categories and clusters by frequency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tickets by priority and queue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68112" cy="3108960"/>
          </a:xfrm>
          <a:prstGeom prst="roundRect">
            <a:avLst>
              <a:gd name="adj" fmla="val 2647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874520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92240" y="2377440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3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&amp; Cluster Insights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92240" y="2834640"/>
            <a:ext cx="4828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average similarity scores within clusters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cluster size vs. issue type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performance gaps using boxplots and scatter plots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7E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12978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5056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91840" y="4937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 visualizations  •  Summary of key patterns and problem clusters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Type Distribution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Plotting the spread of tickets across types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2402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tickets lead at 1,705 (34.1%)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tickets close behind at 1,656 (33.1%)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tickets are 1,639 (32.8%)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nearly even — no single type dominates ticket volume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Categories &amp; Clusters by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Identifying which categories and clusters generate the most tickets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Cluster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72200" y="182880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Time &amp; Similarity Score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Distribution shapes behind ticket resolution and clustering quality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nb_images/resolution_time_h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91640"/>
            <a:ext cx="502920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554480"/>
            <a:ext cx="53035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home/claude/nb_images/similarity_score_hi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6520" y="1691640"/>
            <a:ext cx="5029200" cy="3703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&amp; Queue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How tickets spread across priority levels and support queues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Priority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Queue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72200" y="182880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vs Queue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Cross-tabulating ticket priority against assigned support queue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11064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Similarity Score by Cluster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How tightly grouped tickets are within each cluster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2402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cluster is most cohesive (0.762 avg similarity)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cluster is least cohesive (0.741 avg similarity)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clusters sit in a narrow 0.74–0.76 band — clustering quality is consistent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Size vs Issue Type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Comparing ticket type composition within each cluster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11064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Performance Gaps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Resolution time spread by cluster, and its relationship with similarity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nb_images/boxplot_resolution_clus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91640"/>
            <a:ext cx="502920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554480"/>
            <a:ext cx="53035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home/claude/nb_images/scatter_resolution_similarit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6520" y="1691640"/>
            <a:ext cx="5029200" cy="3703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Patterns &amp; Problem Clusters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insights across Module 3 and Module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110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Ticket Mix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Incident, Request, and Problem tickets are nearly evenly split (~33% each).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783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9110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Leads Categories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834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(867) and Hardware (857) categories generate the most tickets.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91109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Cluster is Largest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834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cluster holds the most tickets (872) but the lowest similarity score.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3425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46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Cluster Most Cohesive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similarity score (0.762) — a well-defined problem cluster.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3342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846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Are Well Balanced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queue is busiest (1,045) but no queue is overloaded relative to others.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42062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33425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0184" y="4846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Flagged for Review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volume + lowest similarity marks Email as the priority problem cluster.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0A896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— Delivered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visualizations across Module 3 &amp; Module 4 — exceeding the 8-chart minimum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5681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56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type distribution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95681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56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21424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&amp; clusters by frequency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45973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59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2144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&amp; similarity distributions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45973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459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21424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queue distribution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296265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vs queue cross-tab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296265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21424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similarity score by cluster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346557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" y="3429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 vs issue type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92240" y="346557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21424" y="3429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boxplot by cluster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396849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52144" y="3931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vs similarity scatter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5 — Dashboard Development &amp; Final 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644</Words>
  <Application>Microsoft Office PowerPoint</Application>
  <PresentationFormat>Widescreen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Supportlytics - Milestone 2</dc:title>
  <dc:subject>PptxGenJS Presentation</dc:subject>
  <dc:creator>Infosys SpringBoard 7.0</dc:creator>
  <cp:lastModifiedBy>Gochipathala Yona</cp:lastModifiedBy>
  <cp:revision>2</cp:revision>
  <dcterms:created xsi:type="dcterms:W3CDTF">2026-07-15T19:15:21Z</dcterms:created>
  <dcterms:modified xsi:type="dcterms:W3CDTF">2026-07-23T13:24:00Z</dcterms:modified>
</cp:coreProperties>
</file>