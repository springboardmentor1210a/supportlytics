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Prata" panose="020B0604020202020204" charset="0"/>
      <p:regular r:id="rId17"/>
    </p:embeddedFont>
    <p:embeddedFont>
      <p:font typeface="Raleway" pitchFamily="2" charset="0"/>
      <p:regular r:id="rId18"/>
    </p:embeddedFont>
    <p:embeddedFont>
      <p:font typeface="Raleway 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7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0357" y="104102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Supportlytics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546971" y="1836788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Data-Driven Optimization of IT Support Team Performance Using Analytics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17088" y="2985249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dirty="0">
                <a:solidFill>
                  <a:srgbClr val="F2E782"/>
                </a:solidFill>
                <a:latin typeface="Prata" pitchFamily="34" charset="0"/>
              </a:rPr>
              <a:t>Milestone 1 Presentation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Presented by:</a:t>
            </a: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Srikanth K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374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6798" y="1071703"/>
            <a:ext cx="756585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Problem:</a:t>
            </a: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GB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objective of this project is to </a:t>
            </a:r>
            <a:r>
              <a:rPr lang="en-GB" sz="10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r>
              <a:rPr lang="en-GB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IT support ticket data to identify key performance trends, optimize resolution times, and enhance service efficiency through data analysis and visualization.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660624"/>
            <a:ext cx="4761384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 resolution time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ticket backlog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Repeated customer issues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Uneven workload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customer satisfaction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977009"/>
            <a:ext cx="476138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Objective:</a:t>
            </a: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Optimize IT support performance using data analytics to reduce resolution time, stabilize workload, and raise satisfaction.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86413" y="1634877"/>
            <a:ext cx="306615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Modules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86413" y="1967136"/>
            <a:ext cx="35233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Workflow: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6413" y="2285181"/>
            <a:ext cx="3066157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→ Cleaning → Feature Engineering → EDA → Visualization → Insights → Recommendations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641154"/>
            <a:ext cx="422597" cy="2611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4465" y="3641154"/>
            <a:ext cx="134272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Acquisition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941" y="3641154"/>
            <a:ext cx="422597" cy="261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1287" y="3641154"/>
            <a:ext cx="13428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Cleaning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837" y="3641154"/>
            <a:ext cx="422597" cy="2611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8183" y="3641154"/>
            <a:ext cx="134280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734" y="3641154"/>
            <a:ext cx="422597" cy="2611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05080" y="3641154"/>
            <a:ext cx="134280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Exploratory Data Analysis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4305672"/>
            <a:ext cx="422597" cy="2611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4465" y="4305672"/>
            <a:ext cx="1342727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Performance Analysis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2941" y="4305672"/>
            <a:ext cx="422597" cy="26111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151287" y="4305672"/>
            <a:ext cx="13428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589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Objectives, KPIs &amp;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61876"/>
            <a:ext cx="1930226" cy="1438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6045" y="1043285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8902" y="1395933"/>
            <a:ext cx="168466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Analyze customer support tickets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18902" y="1818010"/>
            <a:ext cx="168466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Discover patterns and root causes across channels and regions.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9391" y="961876"/>
            <a:ext cx="1930226" cy="14387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09317" y="1043285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632174" y="1395933"/>
            <a:ext cx="168466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Improve support efficiency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632174" y="1818010"/>
            <a:ext cx="168466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Streamline triage and routing to reduce backlog.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83718"/>
            <a:ext cx="1930226" cy="11159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96045" y="2565127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18902" y="2917775"/>
            <a:ext cx="168466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Reduce resolution time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18902" y="3170337"/>
            <a:ext cx="168466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high-impact interventions and automation.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9391" y="2483718"/>
            <a:ext cx="1930226" cy="11159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09317" y="2565127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2632174" y="2917775"/>
            <a:ext cx="168466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Identify recurring issues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2632174" y="3170337"/>
            <a:ext cx="168466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 fixes and knowledge-base updates.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682752"/>
            <a:ext cx="3943499" cy="9626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02718" y="3764161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18902" y="4116809"/>
            <a:ext cx="369793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Enable better decisions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18902" y="4369371"/>
            <a:ext cx="36979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 dashboards and actionable recommendations.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4709145" y="951458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Performance Indicators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709145" y="1204020"/>
            <a:ext cx="3943499" cy="106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Average Resolution Time (ART)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 Response Time (FRT)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Ticket Volume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Distribution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Satisfaction Score (CSAT)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709145" y="2362349"/>
            <a:ext cx="3943499" cy="510332"/>
          </a:xfrm>
          <a:prstGeom prst="roundRect">
            <a:avLst>
              <a:gd name="adj" fmla="val 3190"/>
            </a:avLst>
          </a:prstGeom>
          <a:solidFill>
            <a:srgbClr val="7166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641" y="2517279"/>
            <a:ext cx="135657" cy="1084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61793" y="2464222"/>
            <a:ext cx="34823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KPIs will be tracked in the dashboard and fed back into team-level reports for continuous improvement.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847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964510" y="961281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Support Ticket Dataset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4510" y="1154460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Important Columns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64510" y="1393552"/>
            <a:ext cx="2688059" cy="1342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Ticket ID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Status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Channel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Resolution Time</a:t>
            </a:r>
            <a:endParaRPr lang="en-US" sz="800" dirty="0"/>
          </a:p>
          <a:p>
            <a:pPr marL="162560" indent="-16256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Satisfaction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964510" y="2822004"/>
            <a:ext cx="2688059" cy="785961"/>
          </a:xfrm>
          <a:prstGeom prst="roundRect">
            <a:avLst>
              <a:gd name="adj" fmla="val 1987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959376" y="2822004"/>
            <a:ext cx="2698328" cy="785961"/>
          </a:xfrm>
          <a:prstGeom prst="roundRect">
            <a:avLst>
              <a:gd name="adj" fmla="val 1987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089452" y="2926110"/>
            <a:ext cx="2438177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pd.read_csv("customer_sp_ticket.csv")</a:t>
            </a: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64510" y="3693914"/>
            <a:ext cx="268805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Observation:</a:t>
            </a: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dataset contains sufficient records for meaningful business analytics and model training.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6119" y="4137496"/>
            <a:ext cx="1980605" cy="561156"/>
          </a:xfrm>
          <a:prstGeom prst="roundRect">
            <a:avLst>
              <a:gd name="adj" fmla="val 2783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0224" y="4241602"/>
            <a:ext cx="177239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224" y="4450110"/>
            <a:ext cx="177239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200,000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53146" y="4137496"/>
            <a:ext cx="1980605" cy="561156"/>
          </a:xfrm>
          <a:prstGeom prst="roundRect">
            <a:avLst>
              <a:gd name="adj" fmla="val 2783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657252" y="4241602"/>
            <a:ext cx="177239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57252" y="4450110"/>
            <a:ext cx="177239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10174" y="4137496"/>
            <a:ext cx="1980605" cy="561156"/>
          </a:xfrm>
          <a:prstGeom prst="roundRect">
            <a:avLst>
              <a:gd name="adj" fmla="val 2783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14280" y="4241602"/>
            <a:ext cx="177239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Format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14280" y="4450110"/>
            <a:ext cx="177239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CSV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667202" y="4137496"/>
            <a:ext cx="1980679" cy="561156"/>
          </a:xfrm>
          <a:prstGeom prst="roundRect">
            <a:avLst>
              <a:gd name="adj" fmla="val 2783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771308" y="4241602"/>
            <a:ext cx="177246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Memory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71308" y="4450110"/>
            <a:ext cx="177246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 MB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91DCAC2-5CE1-B252-B570-3146C7D97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2" y="1123950"/>
            <a:ext cx="5478517" cy="2334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16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Schema, Data Types &amp; Missing Values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97831"/>
            <a:ext cx="315590" cy="3155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553914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1863626"/>
            <a:ext cx="392184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Integer, Float, Object (string), Datetime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79452"/>
            <a:ext cx="315590" cy="3155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735535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Schema Validation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96119" y="3045247"/>
            <a:ext cx="392184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Column-level checks and type enforcement applied.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61072"/>
            <a:ext cx="315590" cy="3155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917156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4226868"/>
            <a:ext cx="392184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Browser column contains nulls; other critical columns are complete.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730800" y="1083766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Diagnostic Code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30800" y="1407542"/>
            <a:ext cx="3921844" cy="825252"/>
          </a:xfrm>
          <a:prstGeom prst="roundRect">
            <a:avLst>
              <a:gd name="adj" fmla="val 2295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4724549" y="1407542"/>
            <a:ext cx="3934346" cy="825252"/>
          </a:xfrm>
          <a:prstGeom prst="roundRect">
            <a:avLst>
              <a:gd name="adj" fmla="val 2295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4882307" y="1533748"/>
            <a:ext cx="361883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30800" y="2359298"/>
            <a:ext cx="3921844" cy="647402"/>
          </a:xfrm>
          <a:prstGeom prst="roundRect">
            <a:avLst>
              <a:gd name="adj" fmla="val 2925"/>
            </a:avLst>
          </a:prstGeom>
          <a:solidFill>
            <a:srgbClr val="7166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006" y="2544738"/>
            <a:ext cx="157758" cy="1262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40970" y="2492053"/>
            <a:ext cx="338546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Only the Browser column requires imputation—no systemic data loss detected.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476" y="18035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Initial Ticket Distribution</a:t>
            </a:r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D7228-4FB3-2BF9-EA80-4FC3D789F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1" y="611311"/>
            <a:ext cx="3137700" cy="2124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E265E2-72AE-0889-5CD9-4A7F03A5D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04" y="588828"/>
            <a:ext cx="2623347" cy="21268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C34084-ADDC-62F5-1A47-EBFE59B44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09" y="3055684"/>
            <a:ext cx="2870412" cy="17273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658AB5-B9FB-EB53-9390-2E0946576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699" y="588828"/>
            <a:ext cx="3019747" cy="21268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D9B28C-0CD1-9E70-BC77-EF4A02A4B5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9141" y="3082945"/>
            <a:ext cx="2947182" cy="16728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FD54B3-2BFF-1E58-C3B8-577CAF6948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446" y="3082945"/>
            <a:ext cx="2786470" cy="1672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7635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Cleaning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53492"/>
            <a:ext cx="115119" cy="1151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274490"/>
            <a:ext cx="3935388" cy="14288"/>
          </a:xfrm>
          <a:prstGeom prst="rect">
            <a:avLst/>
          </a:prstGeom>
          <a:solidFill>
            <a:srgbClr val="D2AC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96119" y="1360587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1634058"/>
            <a:ext cx="39353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Impute Browser from user-agent or mark as 'unknown' where appropriate.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18258"/>
            <a:ext cx="115119" cy="1151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6119" y="2150715"/>
            <a:ext cx="3935388" cy="14288"/>
          </a:xfrm>
          <a:prstGeom prst="rect">
            <a:avLst/>
          </a:prstGeom>
          <a:solidFill>
            <a:srgbClr val="D2AC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96119" y="2248346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Convert Date Columns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96119" y="2521818"/>
            <a:ext cx="39353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Ensure consistent timezone and datetime dtype.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83024"/>
            <a:ext cx="115119" cy="11511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6119" y="3027015"/>
            <a:ext cx="3935388" cy="14288"/>
          </a:xfrm>
          <a:prstGeom prst="rect">
            <a:avLst/>
          </a:prstGeom>
          <a:solidFill>
            <a:srgbClr val="D2AC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496119" y="3136106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Validate Duplicates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6119" y="3409578"/>
            <a:ext cx="39353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and remove exact duplicate ticket records.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747790"/>
            <a:ext cx="115119" cy="11511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6119" y="3903241"/>
            <a:ext cx="3935388" cy="14288"/>
          </a:xfrm>
          <a:prstGeom prst="rect">
            <a:avLst/>
          </a:prstGeom>
          <a:solidFill>
            <a:srgbClr val="D2AC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/>
          <p:nvPr/>
        </p:nvSpPr>
        <p:spPr>
          <a:xfrm>
            <a:off x="496119" y="4023866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Normalize Text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96119" y="4297338"/>
            <a:ext cx="393538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Standardize category and channel labels for grouping.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717256" y="1081460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Before → After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17256" y="1354931"/>
            <a:ext cx="393538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Before: inconsistent types, nulls in Browser, duplicate rows.</a:t>
            </a:r>
            <a:endParaRPr lang="en-US" sz="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After: clean schema, datetime normalized, Browser imputed, duplicates removed.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717256" y="2007096"/>
            <a:ext cx="3935388" cy="898178"/>
          </a:xfrm>
          <a:prstGeom prst="roundRect">
            <a:avLst>
              <a:gd name="adj" fmla="val 1924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711526" y="2007096"/>
            <a:ext cx="3946847" cy="898178"/>
          </a:xfrm>
          <a:prstGeom prst="roundRect">
            <a:avLst>
              <a:gd name="adj" fmla="val 1924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855443" y="2076227"/>
            <a:ext cx="3659014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
df.dropna()
pd.to_datetime(df['created_at'])
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03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88388" y="1984921"/>
            <a:ext cx="1832264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Resolution_Duration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09204" y="2524869"/>
            <a:ext cx="1111448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Computed difference between resolved_at and created_at (minutes/hours).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523956" y="1958162"/>
            <a:ext cx="169934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Priority_Score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789486" y="2524869"/>
            <a:ext cx="1111448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Numeric encoding to weight tickets for routing and SLA checks.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69842" y="1984921"/>
            <a:ext cx="111144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Type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69842" y="2317179"/>
            <a:ext cx="111144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Derived: Incident, Request, Problem — used for escalation logic.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010201" y="1147762"/>
            <a:ext cx="26423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Priority Mapping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10201" y="1480021"/>
            <a:ext cx="3099569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= 1 · Medium = 2 · High = 3 · Urgent = 4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010201" y="1826121"/>
            <a:ext cx="2642369" cy="1707654"/>
          </a:xfrm>
          <a:prstGeom prst="roundRect">
            <a:avLst>
              <a:gd name="adj" fmla="val 1167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003578" y="1826121"/>
            <a:ext cx="2655615" cy="1707654"/>
          </a:xfrm>
          <a:prstGeom prst="roundRect">
            <a:avLst>
              <a:gd name="adj" fmla="val 1167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6169670" y="1959025"/>
            <a:ext cx="2323430" cy="1441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8B949E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8B949E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priority_map = {'Low':1,'Medium':2,'High':3,'Urgent':4}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8B949E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df['Priority_Score'] = df['Priority'].map(priority_map)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8B949E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10201" y="3673897"/>
            <a:ext cx="2642369" cy="908447"/>
          </a:xfrm>
          <a:prstGeom prst="roundRect">
            <a:avLst>
              <a:gd name="adj" fmla="val 2195"/>
            </a:avLst>
          </a:prstGeom>
          <a:solidFill>
            <a:srgbClr val="7166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04" y="3871317"/>
            <a:ext cx="166092" cy="132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42100" y="3819153"/>
            <a:ext cx="207756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 enhances model inputs and KPI calculations for consistent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68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Processed Dataset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978649" y="1289745"/>
            <a:ext cx="2673921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processed dataset has been exported and stored for downstream analysis, visualization, and model development.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978649" y="1878062"/>
            <a:ext cx="2673921" cy="713036"/>
          </a:xfrm>
          <a:prstGeom prst="roundRect">
            <a:avLst>
              <a:gd name="adj" fmla="val 2377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973068" y="1878062"/>
            <a:ext cx="2685083" cy="713036"/>
          </a:xfrm>
          <a:prstGeom prst="roundRect">
            <a:avLst>
              <a:gd name="adj" fmla="val 2377"/>
            </a:avLst>
          </a:prstGeom>
          <a:solidFill>
            <a:srgbClr val="282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14231" y="1991023"/>
            <a:ext cx="240275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df.to_csv("customer_support_tickets.csv", index=False)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78649" y="2692301"/>
            <a:ext cx="267392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78649" y="2958778"/>
            <a:ext cx="2673921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Reusable — consistent format for future analyses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 — validated types and handled nulls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Analytics-ready — features and KPIs available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6119" y="4132064"/>
            <a:ext cx="2657252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09079" y="4245025"/>
            <a:ext cx="243133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9079" y="4475485"/>
            <a:ext cx="243133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200,000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3337" y="4132064"/>
            <a:ext cx="2657252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/>
          <p:nvPr/>
        </p:nvSpPr>
        <p:spPr>
          <a:xfrm>
            <a:off x="3356297" y="4245025"/>
            <a:ext cx="243133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Columns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56297" y="4475485"/>
            <a:ext cx="243133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90555" y="4132064"/>
            <a:ext cx="2657326" cy="618753"/>
          </a:xfrm>
          <a:prstGeom prst="roundRect">
            <a:avLst>
              <a:gd name="adj" fmla="val 2739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03516" y="4245025"/>
            <a:ext cx="243140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03516" y="4475485"/>
            <a:ext cx="243140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Processed Dataset Ready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F54FA1-595F-4090-52F3-2AC579B9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38" y="1245813"/>
            <a:ext cx="5628290" cy="2334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8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Milestone 1 Deliverables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33934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56816" y="1282601"/>
            <a:ext cx="344224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✔</a:t>
            </a: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Dataset Loaded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119" y="183639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6816" y="1885057"/>
            <a:ext cx="344224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✔</a:t>
            </a: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Schema Explored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6119" y="243884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56816" y="2487513"/>
            <a:ext cx="344224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✔</a:t>
            </a: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Missing Values Handled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6119" y="30413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56816" y="3089970"/>
            <a:ext cx="344224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✔</a:t>
            </a: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Feature Engineering Completed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6119" y="364375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6816" y="3692426"/>
            <a:ext cx="344224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✔</a:t>
            </a: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Processed Dataset Saved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96119" y="424621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56816" y="4294882"/>
            <a:ext cx="344224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✔</a:t>
            </a: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Data Dictionary Prepared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121622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Next Milestone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49701" y="1579438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 (detailed segment &amp; trend analysis)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Visualization &amp; Performance Metrics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Development for operational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49701" y="2780705"/>
            <a:ext cx="3902943" cy="19050"/>
          </a:xfrm>
          <a:prstGeom prst="roundRect">
            <a:avLst>
              <a:gd name="adj" fmla="val 60000"/>
            </a:avLst>
          </a:prstGeom>
          <a:solidFill>
            <a:srgbClr val="CFCBB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49701" y="2994645"/>
            <a:ext cx="390294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19" name="Text 17"/>
          <p:cNvSpPr/>
          <p:nvPr/>
        </p:nvSpPr>
        <p:spPr>
          <a:xfrm>
            <a:off x="4521101" y="374779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709</Words>
  <Application>Microsoft Office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Raleway Bold</vt:lpstr>
      <vt:lpstr>Prata</vt:lpstr>
      <vt:lpstr>Raleway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srikanth k</cp:lastModifiedBy>
  <cp:revision>4</cp:revision>
  <dcterms:created xsi:type="dcterms:W3CDTF">2026-07-10T08:17:11Z</dcterms:created>
  <dcterms:modified xsi:type="dcterms:W3CDTF">2026-07-10T12:03:22Z</dcterms:modified>
</cp:coreProperties>
</file>