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9144000" cy="5143500" type="screen16x9"/>
  <p:notesSz cx="5143500" cy="9144000"/>
  <p:embeddedFontLst>
    <p:embeddedFont>
      <p:font typeface="Barlow Bold" panose="020B0604020202020204" charset="0"/>
      <p:regular r:id="rId12"/>
    </p:embeddedFont>
    <p:embeddedFont>
      <p:font typeface="Montserrat" panose="00000500000000000000" pitchFamily="2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381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1816224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Supportlytics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2315766"/>
            <a:ext cx="4767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Optimizing IT Support Team Performance Using Analytics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2741488"/>
            <a:ext cx="4767114" cy="585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2 — Week 3–4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 Srikanth 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826517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Milestone 2 Overview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542752"/>
            <a:ext cx="338510" cy="3385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943" y="2050479"/>
            <a:ext cx="261922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Module 3 — Exploratory Visualization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2576959"/>
            <a:ext cx="26192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ticket distribution and identify operational patterns using visual analytics.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3943" y="3308226"/>
            <a:ext cx="2619226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 Type Distribution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Categories by Frequency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 Volume by Priority &amp; Queue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Comparative distribution analysis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2387" y="1542752"/>
            <a:ext cx="338510" cy="338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2387" y="2050479"/>
            <a:ext cx="261922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Module 4 — Similarity &amp; Cluster Analysis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262387" y="2576959"/>
            <a:ext cx="261922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similar tickets and interpret clusters for operational decisions.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262387" y="3091532"/>
            <a:ext cx="2619226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Similarity Score Analysis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 Formation &amp; Distribution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Queue vs Priority by cluster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interpretation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0831" y="1542752"/>
            <a:ext cx="338510" cy="3385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50831" y="2050479"/>
            <a:ext cx="261922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050831" y="2354312"/>
            <a:ext cx="261922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Concrete outputs produced in Milestone 2.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050831" y="2868885"/>
            <a:ext cx="2619226" cy="1178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Data Analysis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Cluster-based grouping &amp; queue mapping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Similarity analysis and business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289" y="190798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Ticket Volume by Priority and Type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8D002C-A3ED-36D3-4D13-53D29069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87" y="679549"/>
            <a:ext cx="4099671" cy="25578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53B1F7-B6C5-F49A-1F6C-69E6C1F48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165" y="504304"/>
            <a:ext cx="4169060" cy="26330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96394E-D80F-6A0C-0C59-D9B67B9A1FBC}"/>
              </a:ext>
            </a:extLst>
          </p:cNvPr>
          <p:cNvSpPr txBox="1"/>
          <p:nvPr/>
        </p:nvSpPr>
        <p:spPr>
          <a:xfrm>
            <a:off x="541586" y="3318641"/>
            <a:ext cx="35653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Ticket Volume by Priority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Ticket volume is distributed almost evenly across all priority levels.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Urgent and High priority tickets require faster response and resolution.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balanced distribution indicates a consistent workload across priorities.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Priority analysis helps optimize resource allocation and service efficiency.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5A039-D0B0-1F60-0146-50E064979BE3}"/>
              </a:ext>
            </a:extLst>
          </p:cNvPr>
          <p:cNvSpPr txBox="1"/>
          <p:nvPr/>
        </p:nvSpPr>
        <p:spPr>
          <a:xfrm>
            <a:off x="4729655" y="3212390"/>
            <a:ext cx="39404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Ticket Distribution by Type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Request tickets represent the largest share of the overall support workload.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Incident tickets occur frequently and require timely resolution.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Problem tickets are fewer, as they focus on identifying root causes of recurring issues.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Understanding ticket types helps improve support planning and operational decision-making.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819" y="149721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Ticket Volume by </a:t>
            </a:r>
            <a:r>
              <a:rPr lang="en-US" sz="2000" b="1" dirty="0">
                <a:latin typeface="Barlow Bold" panose="020B0604020202020204" charset="0"/>
              </a:rPr>
              <a:t>Category</a:t>
            </a:r>
            <a:r>
              <a:rPr lang="en-US" sz="2000" b="1" dirty="0">
                <a:solidFill>
                  <a:srgbClr val="2E3C4E"/>
                </a:solidFill>
                <a:latin typeface="Barlow Bold" panose="020B0604020202020204" charset="0"/>
                <a:ea typeface="Barlow Bold" pitchFamily="34" charset="-122"/>
                <a:cs typeface="Barlow Bold" pitchFamily="34" charset="-120"/>
              </a:rPr>
              <a:t> and </a:t>
            </a:r>
            <a:r>
              <a:rPr lang="en-US" sz="2000" b="1" dirty="0">
                <a:latin typeface="Barlow Bold" panose="020B0604020202020204" charset="0"/>
              </a:rPr>
              <a:t>Queue</a:t>
            </a:r>
            <a:endParaRPr lang="en-US" sz="2000" dirty="0">
              <a:latin typeface="Barlow Bold" panose="020B060402020202020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86" y="6317605"/>
            <a:ext cx="84609" cy="67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5D7D84-EBCB-0750-64E9-103B3B025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76" y="551781"/>
            <a:ext cx="4106917" cy="28259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F4E2C3-9967-A9C5-A04D-EEE241E3C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4572" y="498366"/>
            <a:ext cx="4776952" cy="27447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E00E2F-5F97-813F-34D2-7CA1CFC0500E}"/>
              </a:ext>
            </a:extLst>
          </p:cNvPr>
          <p:cNvSpPr txBox="1"/>
          <p:nvPr/>
        </p:nvSpPr>
        <p:spPr>
          <a:xfrm>
            <a:off x="347819" y="3377750"/>
            <a:ext cx="38615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Top Categories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Ticket volume is distributed across multiple support categories.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Account Suspension</a:t>
            </a:r>
            <a:r>
              <a:rPr lang="en-IN" sz="1200" dirty="0"/>
              <a:t> and </a:t>
            </a:r>
            <a:r>
              <a:rPr lang="en-IN" sz="1200" b="1" dirty="0"/>
              <a:t>Subscription Cancellation</a:t>
            </a:r>
            <a:r>
              <a:rPr lang="en-IN" sz="1200" dirty="0"/>
              <a:t> show slightly higher ticket counts.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No single category dominates, indicating a diverse range of customer issues.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Category analysis helps identify recurring problems and improve support services.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D80872-2312-A65E-9C48-21F37929F1EA}"/>
              </a:ext>
            </a:extLst>
          </p:cNvPr>
          <p:cNvSpPr txBox="1"/>
          <p:nvPr/>
        </p:nvSpPr>
        <p:spPr>
          <a:xfrm>
            <a:off x="4775200" y="3377750"/>
            <a:ext cx="41740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Queue Distribution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General Support</a:t>
            </a:r>
            <a:r>
              <a:rPr lang="en-IN" sz="1200" dirty="0"/>
              <a:t> handles the majority of support tickets.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Finance Team</a:t>
            </a:r>
            <a:r>
              <a:rPr lang="en-IN" sz="1200" dirty="0"/>
              <a:t> receives a comparatively smaller number of tickets.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Queue distribution highlights workload differences across support teams.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These insights help optimize resource allocation and improve operational efficiency.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343" y="111637"/>
            <a:ext cx="8196114" cy="41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Ticket Volume by Cluster Name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45343" y="3492070"/>
            <a:ext cx="8653314" cy="191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Business-oriented clustering groups tickets into operationally meaningful clusters: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83353" y="3809092"/>
            <a:ext cx="8196114" cy="1120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Problems</a:t>
            </a:r>
            <a:endParaRPr lang="en-US" sz="950" dirty="0"/>
          </a:p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 Support</a:t>
            </a:r>
            <a:endParaRPr lang="en-US" sz="950" dirty="0"/>
          </a:p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Payment Issues</a:t>
            </a:r>
            <a:endParaRPr lang="en-US" sz="950" dirty="0"/>
          </a:p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Queries</a:t>
            </a:r>
            <a:endParaRPr lang="en-US" sz="950" dirty="0"/>
          </a:p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 Issues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73943" y="4112568"/>
            <a:ext cx="8196114" cy="656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8000"/>
              </a:lnSpc>
              <a:buSzPct val="100000"/>
              <a:buChar char="•"/>
            </a:pP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EE90F9-9C9C-1A87-5F7C-5ECB2DFBA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37" y="495815"/>
            <a:ext cx="6437389" cy="2809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609" y="177312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Similarity</a:t>
            </a: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Score</a:t>
            </a: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Analysis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5343" y="3345710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Similarity scores quantify textual similarity between tickets; higher values indicate more closely related descriptions.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4609" y="3699214"/>
            <a:ext cx="8196114" cy="541437"/>
          </a:xfrm>
          <a:prstGeom prst="roundRect">
            <a:avLst>
              <a:gd name="adj" fmla="val 37515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53" y="3891037"/>
            <a:ext cx="270898" cy="2166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8520" y="3891037"/>
            <a:ext cx="807801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Observation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3943" y="4297578"/>
            <a:ext cx="8196114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Scores concentrate within a narrow band, showing consistent language in tickets.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High-similarity groups are candidates for automated routing and templated responses.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patterns support supervised learning for future automation.</a:t>
            </a:r>
            <a:endParaRPr lang="en-US" sz="10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5568AC-9E64-1BBE-D6F1-96261CB23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" y="601586"/>
            <a:ext cx="8085858" cy="27652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943" y="190328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Cluster Name vs Similarity Score</a:t>
            </a:r>
            <a:endParaRPr lang="en-US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FF9347-2A17-FC22-5479-86096E283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43" y="635771"/>
            <a:ext cx="8196114" cy="25399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71A753-9FB1-8D74-F8F9-4533F1F5F09D}"/>
              </a:ext>
            </a:extLst>
          </p:cNvPr>
          <p:cNvSpPr txBox="1"/>
          <p:nvPr/>
        </p:nvSpPr>
        <p:spPr>
          <a:xfrm>
            <a:off x="584580" y="3430511"/>
            <a:ext cx="8111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Cluster Name vs Similarity Score</a:t>
            </a:r>
          </a:p>
          <a:p>
            <a:endParaRPr lang="en-IN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Similarity scores indicate how closely tickets within each cluster are related.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Payment Issues</a:t>
            </a:r>
            <a:r>
              <a:rPr lang="en-IN" sz="1200" dirty="0"/>
              <a:t> cluster shows the highest similarity, indicating highly consistent ticket patterns.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General Support</a:t>
            </a:r>
            <a:r>
              <a:rPr lang="en-IN" sz="1200" dirty="0"/>
              <a:t> and </a:t>
            </a:r>
            <a:r>
              <a:rPr lang="en-IN" sz="1200" b="1" dirty="0"/>
              <a:t>Technical Problems</a:t>
            </a:r>
            <a:r>
              <a:rPr lang="en-IN" sz="1200" dirty="0"/>
              <a:t> have moderate similarity due to a wider variety of issues.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clustering approach helps group related tickets, enabling faster ticket routing and improved support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876" y="166084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Queue with Priority Analysis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741962" y="1433587"/>
            <a:ext cx="3932858" cy="771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950"/>
              </a:spcAft>
              <a:buNone/>
            </a:pP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741962" y="3038029"/>
            <a:ext cx="3932858" cy="1394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EA1333-22B4-27A9-952F-55FBAA69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527"/>
            <a:ext cx="9017000" cy="26142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C7A38A-25EA-4146-1A76-C5932D66DDEB}"/>
              </a:ext>
            </a:extLst>
          </p:cNvPr>
          <p:cNvSpPr txBox="1"/>
          <p:nvPr/>
        </p:nvSpPr>
        <p:spPr>
          <a:xfrm>
            <a:off x="529887" y="3365583"/>
            <a:ext cx="81449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queue distribution is compared across different priority levels to understand workload allocation.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Most tickets are handled by the </a:t>
            </a:r>
            <a:r>
              <a:rPr lang="en-IN" sz="1400" b="1" dirty="0"/>
              <a:t>General Support</a:t>
            </a:r>
            <a:r>
              <a:rPr lang="en-IN" sz="1400" dirty="0"/>
              <a:t> queue across all priority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The </a:t>
            </a:r>
            <a:r>
              <a:rPr lang="en-IN" sz="1400" b="1" dirty="0"/>
              <a:t>Finance Team</a:t>
            </a:r>
            <a:r>
              <a:rPr lang="en-IN" sz="1400" dirty="0"/>
              <a:t> receives comparatively fewer tickets but handles requests from every priority category.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balanced priority distribution indicates that the ticket routing process effectively assigns workloads to the appropriate support queues.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891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434" y="198957"/>
            <a:ext cx="472264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</a:rPr>
              <a:t>Summary -</a:t>
            </a:r>
            <a:r>
              <a:rPr lang="en-IN" sz="2800" b="1" dirty="0">
                <a:solidFill>
                  <a:srgbClr val="2E3C4E"/>
                </a:solidFill>
                <a:latin typeface="Barlow Bold" pitchFamily="34" charset="0"/>
              </a:rPr>
              <a:t>Module 3 &amp; Module 4</a:t>
            </a: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</a:rPr>
              <a:t>:</a:t>
            </a:r>
          </a:p>
        </p:txBody>
      </p:sp>
      <p:sp>
        <p:nvSpPr>
          <p:cNvPr id="6" name="Text 2"/>
          <p:cNvSpPr/>
          <p:nvPr/>
        </p:nvSpPr>
        <p:spPr>
          <a:xfrm>
            <a:off x="1639020" y="1397013"/>
            <a:ext cx="51798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endParaRPr lang="en-US" sz="12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449834" y="755638"/>
            <a:ext cx="6078201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Performed Exploratory Data Visualization to </a:t>
            </a:r>
            <a:r>
              <a:rPr lang="en-IN" sz="1200" dirty="0" err="1">
                <a:solidFill>
                  <a:srgbClr val="384653"/>
                </a:solidFill>
                <a:latin typeface="Montserrat" pitchFamily="34" charset="0"/>
              </a:rPr>
              <a:t>analyze</a:t>
            </a: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 ticket distribution by Type, Priority, Category, Queue, and Cluster. </a:t>
            </a:r>
          </a:p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Created multiple visualizations to identify ticket patterns and workload distribution across support teams. </a:t>
            </a:r>
          </a:p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Applied TF-IDF Vectorization and Cosine Similarity to measure the similarity between support tickets. </a:t>
            </a:r>
          </a:p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Grouped related tickets into meaningful clusters to improve ticket categorization and routing.</a:t>
            </a:r>
          </a:p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 </a:t>
            </a:r>
            <a:r>
              <a:rPr lang="en-IN" sz="1200" dirty="0" err="1">
                <a:solidFill>
                  <a:srgbClr val="384653"/>
                </a:solidFill>
                <a:latin typeface="Montserrat" pitchFamily="34" charset="0"/>
              </a:rPr>
              <a:t>Analyzed</a:t>
            </a: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 Similarity Score and Cluster-wise Distribution to validate the quality of clustering. </a:t>
            </a:r>
          </a:p>
          <a:p>
            <a:pPr marL="171450" indent="-171450">
              <a:lnSpc>
                <a:spcPct val="133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384653"/>
                </a:solidFill>
                <a:latin typeface="Montserrat" pitchFamily="34" charset="0"/>
              </a:rPr>
              <a:t>Generated actionable insights that help optimize ticket management, prioritization, and support operations.</a:t>
            </a:r>
            <a:endParaRPr lang="en-US" sz="1200" dirty="0">
              <a:solidFill>
                <a:srgbClr val="384653"/>
              </a:solidFill>
              <a:latin typeface="Montserrat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449834" y="4040844"/>
            <a:ext cx="517983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dirty="0">
                <a:solidFill>
                  <a:srgbClr val="384653"/>
                </a:solidFill>
                <a:latin typeface="Montserrat" pitchFamily="34" charset="0"/>
              </a:rPr>
              <a:t>Thank you — questions and feedback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631</Words>
  <Application>Microsoft Office PowerPoint</Application>
  <PresentationFormat>On-screen Show (16:9)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Montserrat</vt:lpstr>
      <vt:lpstr>Barlow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srikanth k</cp:lastModifiedBy>
  <cp:revision>5</cp:revision>
  <dcterms:created xsi:type="dcterms:W3CDTF">2026-07-24T03:27:13Z</dcterms:created>
  <dcterms:modified xsi:type="dcterms:W3CDTF">2026-07-24T13:27:59Z</dcterms:modified>
</cp:coreProperties>
</file>