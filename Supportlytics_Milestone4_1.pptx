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65" r:id="rId2"/>
    <p:sldId id="266" r:id="rId3"/>
    <p:sldId id="267" r:id="rId4"/>
    <p:sldId id="268" r:id="rId5"/>
    <p:sldId id="269" r:id="rId6"/>
    <p:sldId id="270" r:id="rId7"/>
    <p:sldId id="271"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48"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8341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Welcome to the Supportlytics IT Support Operational Dashboard. Today, we are going to evaluate our organization’s performance, SLA adherence, and customer satisfaction through a macro-level lens by exploring our global ticket priorities using the sidebar filters.</a:t>
            </a:r>
          </a:p>
          <a:p>
            <a:r>
              <a:rPr lang="en-US" dirty="0"/>
              <a:t>Low Priority Operations: When we isolate Low priority tickets globally, we examine our baseline operational volume. As shown in the metrics, Technical issues form the largest share of our incoming requests. We can track our standard resolution speeds across teams and monitor baseline customer satisfaction, where regions like France frequently lead our regional performance benchmarks.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Medium Priority Shift: Switching our filter to Medium priority shows how our queues handle standard, day-to-day operational friction. The ticket category breakdown updates dynamically—reflecting minor shifts in Billing and Account Management volumes—while our Cluster Similarity Index measures how reliably our automated machine learning models match incoming routine issues to historical patterns.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High Priority Focus: When we escalate our view to High priority tickets, leadership gains a targeted look at our rising operational pressure points. Here, the KPIs adjust to highlight top performers under pressure—such as Germany leading with an impressive 8.70 CSAT score—allowing us to monitor team bottlenecks and ensure mid-to-high urgency workloads are tightly managed.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r>
              <a:rPr lang="en-US" dirty="0"/>
              <a:t>Critical Priority View: Finally, when we select Critical priority, we lock in directly on our most severe operational emergencies and critical SLA thresholds. In this view, leadership can instantly review how effectively our support teams triage major escalations globally. We track a strong Cluster Similarity Index of 0.76 indicating high pattern alignment for major incidents, while India emerges as our top-performing region under extreme pressure with a 7.82 CSAT score.</a:t>
            </a:r>
          </a:p>
          <a:p>
            <a:r>
              <a:rPr lang="en-US" dirty="0"/>
              <a:t>Ultimately, this dynamic priority filtering gives executive stakeholders the power to transition seamlessly from routine workload analysis to emergency triage, ensuring total operational transparency across the enterprise.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065A82">
              <a:alpha val="45000"/>
            </a:srgbClr>
          </a:solidFill>
          <a:ln/>
        </p:spPr>
      </p:sp>
      <p:sp>
        <p:nvSpPr>
          <p:cNvPr id="3" name="Shape 1"/>
          <p:cNvSpPr/>
          <p:nvPr/>
        </p:nvSpPr>
        <p:spPr>
          <a:xfrm>
            <a:off x="-1828800" y="4206240"/>
            <a:ext cx="4572000" cy="4572000"/>
          </a:xfrm>
          <a:prstGeom prst="ellipse">
            <a:avLst/>
          </a:prstGeom>
          <a:solidFill>
            <a:srgbClr val="1C7293">
              <a:alpha val="40000"/>
            </a:srgbClr>
          </a:solidFill>
          <a:ln/>
        </p:spPr>
      </p:sp>
      <p:sp>
        <p:nvSpPr>
          <p:cNvPr id="4" name="Text 2"/>
          <p:cNvSpPr/>
          <p:nvPr/>
        </p:nvSpPr>
        <p:spPr>
          <a:xfrm>
            <a:off x="822960" y="1874520"/>
            <a:ext cx="9601200" cy="457200"/>
          </a:xfrm>
          <a:prstGeom prst="rect">
            <a:avLst/>
          </a:prstGeom>
          <a:noFill/>
          <a:ln/>
        </p:spPr>
        <p:txBody>
          <a:bodyPr wrap="square" lIns="0" tIns="0" rIns="0" bIns="0" rtlCol="0" anchor="ctr"/>
          <a:lstStyle/>
          <a:p>
            <a:pPr marL="0" indent="0">
              <a:buNone/>
            </a:pPr>
            <a:r>
              <a:rPr lang="en-US" sz="1500" b="1" kern="0" spc="400" dirty="0">
                <a:solidFill>
                  <a:srgbClr val="CFE8F3"/>
                </a:solidFill>
                <a:latin typeface="Calibri" pitchFamily="34" charset="0"/>
                <a:ea typeface="Calibri" pitchFamily="34" charset="-122"/>
                <a:cs typeface="Calibri" pitchFamily="34" charset="-120"/>
              </a:rPr>
              <a:t>SUPPORTLYTICS</a:t>
            </a:r>
            <a:endParaRPr lang="en-US" sz="1500" dirty="0"/>
          </a:p>
        </p:txBody>
      </p:sp>
      <p:sp>
        <p:nvSpPr>
          <p:cNvPr id="5" name="Text 3"/>
          <p:cNvSpPr/>
          <p:nvPr/>
        </p:nvSpPr>
        <p:spPr>
          <a:xfrm>
            <a:off x="777240" y="2286000"/>
            <a:ext cx="9875520" cy="1554480"/>
          </a:xfrm>
          <a:prstGeom prst="rect">
            <a:avLst/>
          </a:prstGeom>
          <a:noFill/>
          <a:ln/>
        </p:spPr>
        <p:txBody>
          <a:bodyPr wrap="square" lIns="0" tIns="0" rIns="0" bIns="0" rtlCol="0" anchor="ctr"/>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Optimizing IT Support Team Performance</a:t>
            </a:r>
            <a:endParaRPr lang="en-US" sz="3400" dirty="0"/>
          </a:p>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Using Analytics</a:t>
            </a:r>
            <a:endParaRPr lang="en-US" sz="3400" dirty="0"/>
          </a:p>
        </p:txBody>
      </p:sp>
      <p:sp>
        <p:nvSpPr>
          <p:cNvPr id="6" name="Shape 4"/>
          <p:cNvSpPr/>
          <p:nvPr/>
        </p:nvSpPr>
        <p:spPr>
          <a:xfrm>
            <a:off x="822960" y="3977640"/>
            <a:ext cx="7315200" cy="502920"/>
          </a:xfrm>
          <a:prstGeom prst="rect">
            <a:avLst/>
          </a:prstGeom>
          <a:solidFill>
            <a:srgbClr val="065A82"/>
          </a:solidFill>
          <a:ln/>
        </p:spPr>
      </p:sp>
      <p:sp>
        <p:nvSpPr>
          <p:cNvPr id="7" name="Text 5"/>
          <p:cNvSpPr/>
          <p:nvPr/>
        </p:nvSpPr>
        <p:spPr>
          <a:xfrm>
            <a:off x="822960" y="3977640"/>
            <a:ext cx="7315200" cy="502920"/>
          </a:xfrm>
          <a:prstGeom prst="rect">
            <a:avLst/>
          </a:prstGeom>
          <a:noFill/>
          <a:ln/>
        </p:spPr>
        <p:txBody>
          <a:bodyPr wrap="square" lIns="0" tIns="0" rIns="0" bIns="0" rtlCol="0" anchor="ctr"/>
          <a:lstStyle/>
          <a:p>
            <a:pPr marL="0" indent="0" algn="ctr">
              <a:buNone/>
            </a:pPr>
            <a:r>
              <a:rPr lang="en-US" sz="1250" b="1" dirty="0">
                <a:solidFill>
                  <a:srgbClr val="CFE8F3"/>
                </a:solidFill>
                <a:latin typeface="Calibri" pitchFamily="34" charset="0"/>
                <a:ea typeface="Calibri" pitchFamily="34" charset="-122"/>
                <a:cs typeface="Calibri" pitchFamily="34" charset="-120"/>
              </a:rPr>
              <a:t>MILESTONE 4  ·  Dashboard &amp; Executive Reporting (Module 7)</a:t>
            </a:r>
            <a:endParaRPr lang="en-US" sz="1250" dirty="0"/>
          </a:p>
        </p:txBody>
      </p:sp>
      <p:sp>
        <p:nvSpPr>
          <p:cNvPr id="8" name="Shape 6"/>
          <p:cNvSpPr/>
          <p:nvPr/>
        </p:nvSpPr>
        <p:spPr>
          <a:xfrm>
            <a:off x="822960" y="4892040"/>
            <a:ext cx="2011680" cy="0"/>
          </a:xfrm>
          <a:prstGeom prst="line">
            <a:avLst/>
          </a:prstGeom>
          <a:noFill/>
          <a:ln w="31750">
            <a:solidFill>
              <a:srgbClr val="1C7293"/>
            </a:solidFill>
            <a:prstDash val="solid"/>
          </a:ln>
        </p:spPr>
      </p:sp>
      <p:sp>
        <p:nvSpPr>
          <p:cNvPr id="9" name="Text 7"/>
          <p:cNvSpPr/>
          <p:nvPr/>
        </p:nvSpPr>
        <p:spPr>
          <a:xfrm>
            <a:off x="822960" y="5166360"/>
            <a:ext cx="7315200" cy="365760"/>
          </a:xfrm>
          <a:prstGeom prst="rect">
            <a:avLst/>
          </a:prstGeom>
          <a:noFill/>
          <a:ln/>
        </p:spPr>
        <p:txBody>
          <a:bodyPr wrap="square" lIns="0" tIns="0" rIns="0" bIns="0" rtlCol="0" anchor="ctr"/>
          <a:lstStyle/>
          <a:p>
            <a:pPr marL="0" indent="0">
              <a:buNone/>
            </a:pPr>
            <a:r>
              <a:rPr lang="en-US" sz="1500" dirty="0">
                <a:solidFill>
                  <a:srgbClr val="CFE8F3"/>
                </a:solidFill>
                <a:latin typeface="Calibri" pitchFamily="34" charset="0"/>
                <a:ea typeface="Calibri" pitchFamily="34" charset="-122"/>
                <a:cs typeface="Calibri" pitchFamily="34" charset="-120"/>
              </a:rPr>
              <a:t>Presenter  </a:t>
            </a:r>
            <a:r>
              <a:rPr lang="en-US" sz="1500" b="1" dirty="0">
                <a:solidFill>
                  <a:srgbClr val="FFFFFF"/>
                </a:solidFill>
                <a:latin typeface="Calibri" pitchFamily="34" charset="0"/>
                <a:ea typeface="Calibri" pitchFamily="34" charset="-122"/>
                <a:cs typeface="Calibri" pitchFamily="34" charset="-120"/>
              </a:rPr>
              <a:t>Patta Hema Sundar</a:t>
            </a:r>
            <a:endParaRPr lang="en-US" sz="1500" dirty="0"/>
          </a:p>
        </p:txBody>
      </p:sp>
      <p:sp>
        <p:nvSpPr>
          <p:cNvPr id="10" name="Text 8"/>
          <p:cNvSpPr/>
          <p:nvPr/>
        </p:nvSpPr>
        <p:spPr>
          <a:xfrm>
            <a:off x="822960" y="5532120"/>
            <a:ext cx="7315200" cy="365760"/>
          </a:xfrm>
          <a:prstGeom prst="rect">
            <a:avLst/>
          </a:prstGeom>
          <a:noFill/>
          <a:ln/>
        </p:spPr>
        <p:txBody>
          <a:bodyPr wrap="square" lIns="0" tIns="0" rIns="0" bIns="0" rtlCol="0" anchor="ctr"/>
          <a:lstStyle/>
          <a:p>
            <a:pPr marL="0" indent="0">
              <a:buNone/>
            </a:pPr>
            <a:r>
              <a:rPr lang="en-US" sz="1500" dirty="0">
                <a:solidFill>
                  <a:srgbClr val="CFE8F3"/>
                </a:solidFill>
                <a:latin typeface="Calibri" pitchFamily="34" charset="0"/>
                <a:ea typeface="Calibri" pitchFamily="34" charset="-122"/>
                <a:cs typeface="Calibri" pitchFamily="34" charset="-120"/>
              </a:rPr>
              <a:t>Mentor  </a:t>
            </a:r>
            <a:r>
              <a:rPr lang="en-US" sz="1500" b="1" dirty="0">
                <a:solidFill>
                  <a:srgbClr val="FFFFFF"/>
                </a:solidFill>
                <a:latin typeface="Calibri" pitchFamily="34" charset="0"/>
                <a:ea typeface="Calibri" pitchFamily="34" charset="-122"/>
                <a:cs typeface="Calibri" pitchFamily="34" charset="-120"/>
              </a:rPr>
              <a:t>Shanmukha Priya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300" b="1" kern="0" spc="300" dirty="0">
                <a:solidFill>
                  <a:srgbClr val="1C7293"/>
                </a:solidFill>
                <a:latin typeface="Calibri" pitchFamily="34" charset="0"/>
                <a:ea typeface="Calibri" pitchFamily="34" charset="-122"/>
                <a:cs typeface="Calibri" pitchFamily="34" charset="-120"/>
              </a:rPr>
              <a:t>MILESTONE 4</a:t>
            </a:r>
            <a:endParaRPr lang="en-US" sz="1300" dirty="0"/>
          </a:p>
        </p:txBody>
      </p:sp>
      <p:sp>
        <p:nvSpPr>
          <p:cNvPr id="3" name="Text 1"/>
          <p:cNvSpPr/>
          <p:nvPr/>
        </p:nvSpPr>
        <p:spPr>
          <a:xfrm>
            <a:off x="640080" y="822960"/>
            <a:ext cx="9144000" cy="640080"/>
          </a:xfrm>
          <a:prstGeom prst="rect">
            <a:avLst/>
          </a:prstGeom>
          <a:noFill/>
          <a:ln/>
        </p:spPr>
        <p:txBody>
          <a:bodyPr wrap="square" lIns="0" tIns="0" rIns="0" bIns="0" rtlCol="0" anchor="ctr"/>
          <a:lstStyle/>
          <a:p>
            <a:pPr marL="0" indent="0">
              <a:buNone/>
            </a:pPr>
            <a:r>
              <a:rPr lang="en-US" sz="3200" b="1" dirty="0">
                <a:solidFill>
                  <a:srgbClr val="21295C"/>
                </a:solidFill>
                <a:latin typeface="Cambria" pitchFamily="34" charset="0"/>
                <a:ea typeface="Cambria" pitchFamily="34" charset="-122"/>
                <a:cs typeface="Cambria" pitchFamily="34" charset="-120"/>
              </a:rPr>
              <a:t>Agenda &amp; Scope</a:t>
            </a:r>
            <a:endParaRPr lang="en-US" sz="3200" dirty="0"/>
          </a:p>
        </p:txBody>
      </p:sp>
      <p:sp>
        <p:nvSpPr>
          <p:cNvPr id="4" name="Shape 2"/>
          <p:cNvSpPr/>
          <p:nvPr/>
        </p:nvSpPr>
        <p:spPr>
          <a:xfrm>
            <a:off x="640080" y="1874520"/>
            <a:ext cx="5257800" cy="3977640"/>
          </a:xfrm>
          <a:prstGeom prst="rect">
            <a:avLst/>
          </a:prstGeom>
          <a:solidFill>
            <a:srgbClr val="F4F8FA"/>
          </a:solidFill>
          <a:ln/>
        </p:spPr>
      </p:sp>
      <p:sp>
        <p:nvSpPr>
          <p:cNvPr id="5" name="Shape 3"/>
          <p:cNvSpPr/>
          <p:nvPr/>
        </p:nvSpPr>
        <p:spPr>
          <a:xfrm>
            <a:off x="640080" y="1874520"/>
            <a:ext cx="5257800" cy="1005840"/>
          </a:xfrm>
          <a:prstGeom prst="rect">
            <a:avLst/>
          </a:prstGeom>
          <a:solidFill>
            <a:srgbClr val="065A82"/>
          </a:solidFill>
          <a:ln/>
        </p:spPr>
      </p:sp>
      <p:sp>
        <p:nvSpPr>
          <p:cNvPr id="6" name="Text 4"/>
          <p:cNvSpPr/>
          <p:nvPr/>
        </p:nvSpPr>
        <p:spPr>
          <a:xfrm>
            <a:off x="960120" y="2039112"/>
            <a:ext cx="4617720" cy="292608"/>
          </a:xfrm>
          <a:prstGeom prst="rect">
            <a:avLst/>
          </a:prstGeom>
          <a:noFill/>
          <a:ln/>
        </p:spPr>
        <p:txBody>
          <a:bodyPr wrap="square" lIns="0" tIns="0" rIns="0" bIns="0" rtlCol="0" anchor="ctr"/>
          <a:lstStyle/>
          <a:p>
            <a:pPr marL="0" indent="0">
              <a:buNone/>
            </a:pPr>
            <a:r>
              <a:rPr lang="en-US" sz="1200" b="1" kern="0" spc="200" dirty="0">
                <a:solidFill>
                  <a:srgbClr val="CFE8F3"/>
                </a:solidFill>
                <a:latin typeface="Calibri" pitchFamily="34" charset="0"/>
                <a:ea typeface="Calibri" pitchFamily="34" charset="-122"/>
                <a:cs typeface="Calibri" pitchFamily="34" charset="-120"/>
              </a:rPr>
              <a:t>KPI OVERVIEW</a:t>
            </a:r>
            <a:endParaRPr lang="en-US" sz="1200" dirty="0"/>
          </a:p>
        </p:txBody>
      </p:sp>
      <p:sp>
        <p:nvSpPr>
          <p:cNvPr id="7" name="Text 5"/>
          <p:cNvSpPr/>
          <p:nvPr/>
        </p:nvSpPr>
        <p:spPr>
          <a:xfrm>
            <a:off x="960120" y="2331720"/>
            <a:ext cx="4617720"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Executive KPI Framework</a:t>
            </a:r>
            <a:endParaRPr lang="en-US" sz="1900" dirty="0"/>
          </a:p>
        </p:txBody>
      </p:sp>
      <p:sp>
        <p:nvSpPr>
          <p:cNvPr id="8" name="Shape 6"/>
          <p:cNvSpPr/>
          <p:nvPr/>
        </p:nvSpPr>
        <p:spPr>
          <a:xfrm>
            <a:off x="960120" y="3502152"/>
            <a:ext cx="118872" cy="118872"/>
          </a:xfrm>
          <a:prstGeom prst="rect">
            <a:avLst/>
          </a:prstGeom>
          <a:solidFill>
            <a:srgbClr val="065A82"/>
          </a:solidFill>
          <a:ln/>
        </p:spPr>
      </p:sp>
      <p:sp>
        <p:nvSpPr>
          <p:cNvPr id="9" name="Text 7"/>
          <p:cNvSpPr/>
          <p:nvPr/>
        </p:nvSpPr>
        <p:spPr>
          <a:xfrm>
            <a:off x="1234440" y="3364992"/>
            <a:ext cx="4297680" cy="502920"/>
          </a:xfrm>
          <a:prstGeom prst="rect">
            <a:avLst/>
          </a:prstGeom>
          <a:noFill/>
          <a:ln/>
        </p:spPr>
        <p:txBody>
          <a:bodyPr wrap="square" lIns="0" tIns="0" rIns="0" bIns="0" rtlCol="0" anchor="ctr"/>
          <a:lstStyle/>
          <a:p>
            <a:pPr marL="0" indent="0">
              <a:lnSpc>
                <a:spcPts val="1750"/>
              </a:lnSpc>
              <a:buNone/>
            </a:pPr>
            <a:r>
              <a:rPr lang="en-US" sz="1450" dirty="0">
                <a:solidFill>
                  <a:srgbClr val="1B2430"/>
                </a:solidFill>
                <a:latin typeface="Calibri" pitchFamily="34" charset="0"/>
                <a:ea typeface="Calibri" pitchFamily="34" charset="-122"/>
                <a:cs typeface="Calibri" pitchFamily="34" charset="-120"/>
              </a:rPr>
              <a:t>Average Resolution Time across all queues</a:t>
            </a:r>
            <a:endParaRPr lang="en-US" sz="1450" dirty="0"/>
          </a:p>
        </p:txBody>
      </p:sp>
      <p:sp>
        <p:nvSpPr>
          <p:cNvPr id="10" name="Shape 8"/>
          <p:cNvSpPr/>
          <p:nvPr/>
        </p:nvSpPr>
        <p:spPr>
          <a:xfrm>
            <a:off x="960120" y="4279392"/>
            <a:ext cx="118872" cy="118872"/>
          </a:xfrm>
          <a:prstGeom prst="rect">
            <a:avLst/>
          </a:prstGeom>
          <a:solidFill>
            <a:srgbClr val="065A82"/>
          </a:solidFill>
          <a:ln/>
        </p:spPr>
      </p:sp>
      <p:sp>
        <p:nvSpPr>
          <p:cNvPr id="11" name="Text 9"/>
          <p:cNvSpPr/>
          <p:nvPr/>
        </p:nvSpPr>
        <p:spPr>
          <a:xfrm>
            <a:off x="1234440" y="4142232"/>
            <a:ext cx="4297680" cy="502920"/>
          </a:xfrm>
          <a:prstGeom prst="rect">
            <a:avLst/>
          </a:prstGeom>
          <a:noFill/>
          <a:ln/>
        </p:spPr>
        <p:txBody>
          <a:bodyPr wrap="square" lIns="0" tIns="0" rIns="0" bIns="0" rtlCol="0" anchor="ctr"/>
          <a:lstStyle/>
          <a:p>
            <a:pPr marL="0" indent="0">
              <a:lnSpc>
                <a:spcPts val="1750"/>
              </a:lnSpc>
              <a:buNone/>
            </a:pPr>
            <a:r>
              <a:rPr lang="en-US" sz="1450" dirty="0">
                <a:solidFill>
                  <a:srgbClr val="1B2430"/>
                </a:solidFill>
                <a:latin typeface="Calibri" pitchFamily="34" charset="0"/>
                <a:ea typeface="Calibri" pitchFamily="34" charset="-122"/>
                <a:cs typeface="Calibri" pitchFamily="34" charset="-120"/>
              </a:rPr>
              <a:t>Most Frequent Ticket Category by volume</a:t>
            </a:r>
            <a:endParaRPr lang="en-US" sz="1450" dirty="0"/>
          </a:p>
        </p:txBody>
      </p:sp>
      <p:sp>
        <p:nvSpPr>
          <p:cNvPr id="12" name="Shape 10"/>
          <p:cNvSpPr/>
          <p:nvPr/>
        </p:nvSpPr>
        <p:spPr>
          <a:xfrm>
            <a:off x="960120" y="5056632"/>
            <a:ext cx="118872" cy="118872"/>
          </a:xfrm>
          <a:prstGeom prst="rect">
            <a:avLst/>
          </a:prstGeom>
          <a:solidFill>
            <a:srgbClr val="065A82"/>
          </a:solidFill>
          <a:ln/>
        </p:spPr>
      </p:sp>
      <p:sp>
        <p:nvSpPr>
          <p:cNvPr id="13" name="Text 11"/>
          <p:cNvSpPr/>
          <p:nvPr/>
        </p:nvSpPr>
        <p:spPr>
          <a:xfrm>
            <a:off x="1234440" y="4919472"/>
            <a:ext cx="4297680" cy="502920"/>
          </a:xfrm>
          <a:prstGeom prst="rect">
            <a:avLst/>
          </a:prstGeom>
          <a:noFill/>
          <a:ln/>
        </p:spPr>
        <p:txBody>
          <a:bodyPr wrap="square" lIns="0" tIns="0" rIns="0" bIns="0" rtlCol="0" anchor="ctr"/>
          <a:lstStyle/>
          <a:p>
            <a:pPr marL="0" indent="0">
              <a:lnSpc>
                <a:spcPts val="1750"/>
              </a:lnSpc>
              <a:buNone/>
            </a:pPr>
            <a:r>
              <a:rPr lang="en-US" sz="1450" dirty="0">
                <a:solidFill>
                  <a:srgbClr val="1B2430"/>
                </a:solidFill>
                <a:latin typeface="Calibri" pitchFamily="34" charset="0"/>
                <a:ea typeface="Calibri" pitchFamily="34" charset="-122"/>
                <a:cs typeface="Calibri" pitchFamily="34" charset="-120"/>
              </a:rPr>
              <a:t>Cluster Similarity Index &amp; alignment quality</a:t>
            </a:r>
            <a:endParaRPr lang="en-US" sz="1450" dirty="0"/>
          </a:p>
        </p:txBody>
      </p:sp>
      <p:sp>
        <p:nvSpPr>
          <p:cNvPr id="14" name="Shape 12"/>
          <p:cNvSpPr/>
          <p:nvPr/>
        </p:nvSpPr>
        <p:spPr>
          <a:xfrm>
            <a:off x="6217920" y="1874520"/>
            <a:ext cx="5257800" cy="3977640"/>
          </a:xfrm>
          <a:prstGeom prst="rect">
            <a:avLst/>
          </a:prstGeom>
          <a:solidFill>
            <a:srgbClr val="F4F8FA"/>
          </a:solidFill>
          <a:ln/>
        </p:spPr>
      </p:sp>
      <p:sp>
        <p:nvSpPr>
          <p:cNvPr id="15" name="Shape 13"/>
          <p:cNvSpPr/>
          <p:nvPr/>
        </p:nvSpPr>
        <p:spPr>
          <a:xfrm>
            <a:off x="6217920" y="1874520"/>
            <a:ext cx="5257800" cy="1005840"/>
          </a:xfrm>
          <a:prstGeom prst="rect">
            <a:avLst/>
          </a:prstGeom>
          <a:solidFill>
            <a:srgbClr val="1C7293"/>
          </a:solidFill>
          <a:ln/>
        </p:spPr>
      </p:sp>
      <p:sp>
        <p:nvSpPr>
          <p:cNvPr id="16" name="Text 14"/>
          <p:cNvSpPr/>
          <p:nvPr/>
        </p:nvSpPr>
        <p:spPr>
          <a:xfrm>
            <a:off x="6537960" y="2039112"/>
            <a:ext cx="4617720" cy="292608"/>
          </a:xfrm>
          <a:prstGeom prst="rect">
            <a:avLst/>
          </a:prstGeom>
          <a:noFill/>
          <a:ln/>
        </p:spPr>
        <p:txBody>
          <a:bodyPr wrap="square" lIns="0" tIns="0" rIns="0" bIns="0" rtlCol="0" anchor="ctr"/>
          <a:lstStyle/>
          <a:p>
            <a:pPr marL="0" indent="0">
              <a:buNone/>
            </a:pPr>
            <a:r>
              <a:rPr lang="en-US" sz="1200" b="1" kern="0" spc="200" dirty="0">
                <a:solidFill>
                  <a:srgbClr val="CFE8F3"/>
                </a:solidFill>
                <a:latin typeface="Calibri" pitchFamily="34" charset="0"/>
                <a:ea typeface="Calibri" pitchFamily="34" charset="-122"/>
                <a:cs typeface="Calibri" pitchFamily="34" charset="-120"/>
              </a:rPr>
              <a:t>PRIORITY VIEWS</a:t>
            </a:r>
            <a:endParaRPr lang="en-US" sz="1200" dirty="0"/>
          </a:p>
        </p:txBody>
      </p:sp>
      <p:sp>
        <p:nvSpPr>
          <p:cNvPr id="17" name="Text 15"/>
          <p:cNvSpPr/>
          <p:nvPr/>
        </p:nvSpPr>
        <p:spPr>
          <a:xfrm>
            <a:off x="6537960" y="2331720"/>
            <a:ext cx="4617720" cy="45720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Dashboard Views by Priority Tier</a:t>
            </a:r>
            <a:endParaRPr lang="en-US" sz="1900" dirty="0"/>
          </a:p>
        </p:txBody>
      </p:sp>
      <p:sp>
        <p:nvSpPr>
          <p:cNvPr id="18" name="Shape 16"/>
          <p:cNvSpPr/>
          <p:nvPr/>
        </p:nvSpPr>
        <p:spPr>
          <a:xfrm>
            <a:off x="6537960" y="3502152"/>
            <a:ext cx="118872" cy="118872"/>
          </a:xfrm>
          <a:prstGeom prst="rect">
            <a:avLst/>
          </a:prstGeom>
          <a:solidFill>
            <a:srgbClr val="1C7293"/>
          </a:solidFill>
          <a:ln/>
        </p:spPr>
      </p:sp>
      <p:sp>
        <p:nvSpPr>
          <p:cNvPr id="19" name="Text 17"/>
          <p:cNvSpPr/>
          <p:nvPr/>
        </p:nvSpPr>
        <p:spPr>
          <a:xfrm>
            <a:off x="6812280" y="3364992"/>
            <a:ext cx="4297680" cy="502920"/>
          </a:xfrm>
          <a:prstGeom prst="rect">
            <a:avLst/>
          </a:prstGeom>
          <a:noFill/>
          <a:ln/>
        </p:spPr>
        <p:txBody>
          <a:bodyPr wrap="square" lIns="0" tIns="0" rIns="0" bIns="0" rtlCol="0" anchor="ctr"/>
          <a:lstStyle/>
          <a:p>
            <a:pPr marL="0" indent="0">
              <a:lnSpc>
                <a:spcPts val="1750"/>
              </a:lnSpc>
              <a:buNone/>
            </a:pPr>
            <a:r>
              <a:rPr lang="en-US" sz="1450" dirty="0">
                <a:solidFill>
                  <a:srgbClr val="1B2430"/>
                </a:solidFill>
                <a:latin typeface="Calibri" pitchFamily="34" charset="0"/>
                <a:ea typeface="Calibri" pitchFamily="34" charset="-122"/>
                <a:cs typeface="Calibri" pitchFamily="34" charset="-120"/>
              </a:rPr>
              <a:t>Low &amp; Medium Priority queue snapshots</a:t>
            </a:r>
            <a:endParaRPr lang="en-US" sz="1450" dirty="0"/>
          </a:p>
        </p:txBody>
      </p:sp>
      <p:sp>
        <p:nvSpPr>
          <p:cNvPr id="20" name="Shape 18"/>
          <p:cNvSpPr/>
          <p:nvPr/>
        </p:nvSpPr>
        <p:spPr>
          <a:xfrm>
            <a:off x="6537960" y="4279392"/>
            <a:ext cx="118872" cy="118872"/>
          </a:xfrm>
          <a:prstGeom prst="rect">
            <a:avLst/>
          </a:prstGeom>
          <a:solidFill>
            <a:srgbClr val="1C7293"/>
          </a:solidFill>
          <a:ln/>
        </p:spPr>
      </p:sp>
      <p:sp>
        <p:nvSpPr>
          <p:cNvPr id="21" name="Text 19"/>
          <p:cNvSpPr/>
          <p:nvPr/>
        </p:nvSpPr>
        <p:spPr>
          <a:xfrm>
            <a:off x="6812280" y="4142232"/>
            <a:ext cx="4297680" cy="502920"/>
          </a:xfrm>
          <a:prstGeom prst="rect">
            <a:avLst/>
          </a:prstGeom>
          <a:noFill/>
          <a:ln/>
        </p:spPr>
        <p:txBody>
          <a:bodyPr wrap="square" lIns="0" tIns="0" rIns="0" bIns="0" rtlCol="0" anchor="ctr"/>
          <a:lstStyle/>
          <a:p>
            <a:pPr marL="0" indent="0">
              <a:lnSpc>
                <a:spcPts val="1750"/>
              </a:lnSpc>
              <a:buNone/>
            </a:pPr>
            <a:r>
              <a:rPr lang="en-US" sz="1450" dirty="0">
                <a:solidFill>
                  <a:srgbClr val="1B2430"/>
                </a:solidFill>
                <a:latin typeface="Calibri" pitchFamily="34" charset="0"/>
                <a:ea typeface="Calibri" pitchFamily="34" charset="-122"/>
                <a:cs typeface="Calibri" pitchFamily="34" charset="-120"/>
              </a:rPr>
              <a:t>High &amp; Critical Priority queue snapshots</a:t>
            </a:r>
            <a:endParaRPr lang="en-US" sz="1450" dirty="0"/>
          </a:p>
        </p:txBody>
      </p:sp>
      <p:sp>
        <p:nvSpPr>
          <p:cNvPr id="22" name="Shape 20"/>
          <p:cNvSpPr/>
          <p:nvPr/>
        </p:nvSpPr>
        <p:spPr>
          <a:xfrm>
            <a:off x="6537960" y="5056632"/>
            <a:ext cx="118872" cy="118872"/>
          </a:xfrm>
          <a:prstGeom prst="rect">
            <a:avLst/>
          </a:prstGeom>
          <a:solidFill>
            <a:srgbClr val="1C7293"/>
          </a:solidFill>
          <a:ln/>
        </p:spPr>
      </p:sp>
      <p:sp>
        <p:nvSpPr>
          <p:cNvPr id="23" name="Text 21"/>
          <p:cNvSpPr/>
          <p:nvPr/>
        </p:nvSpPr>
        <p:spPr>
          <a:xfrm>
            <a:off x="6812280" y="4919472"/>
            <a:ext cx="4297680" cy="502920"/>
          </a:xfrm>
          <a:prstGeom prst="rect">
            <a:avLst/>
          </a:prstGeom>
          <a:noFill/>
          <a:ln/>
        </p:spPr>
        <p:txBody>
          <a:bodyPr wrap="square" lIns="0" tIns="0" rIns="0" bIns="0" rtlCol="0" anchor="ctr"/>
          <a:lstStyle/>
          <a:p>
            <a:pPr marL="0" indent="0">
              <a:lnSpc>
                <a:spcPts val="1750"/>
              </a:lnSpc>
              <a:buNone/>
            </a:pPr>
            <a:r>
              <a:rPr lang="en-US" sz="1450" dirty="0">
                <a:solidFill>
                  <a:srgbClr val="1B2430"/>
                </a:solidFill>
                <a:latin typeface="Calibri" pitchFamily="34" charset="0"/>
                <a:ea typeface="Calibri" pitchFamily="34" charset="-122"/>
                <a:cs typeface="Calibri" pitchFamily="34" charset="-120"/>
              </a:rPr>
              <a:t>Top Performing Regions by CSAT, tier by tier</a:t>
            </a:r>
            <a:endParaRPr lang="en-US" sz="1450" dirty="0"/>
          </a:p>
        </p:txBody>
      </p:sp>
      <p:sp>
        <p:nvSpPr>
          <p:cNvPr id="24" name="Text 22"/>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21295C"/>
          </a:solidFill>
          <a:ln/>
        </p:spPr>
      </p:sp>
      <p:sp>
        <p:nvSpPr>
          <p:cNvPr id="3" name="Shape 1"/>
          <p:cNvSpPr/>
          <p:nvPr/>
        </p:nvSpPr>
        <p:spPr>
          <a:xfrm>
            <a:off x="640080" y="256032"/>
            <a:ext cx="1234440" cy="310896"/>
          </a:xfrm>
          <a:prstGeom prst="rect">
            <a:avLst/>
          </a:prstGeom>
          <a:solidFill>
            <a:srgbClr val="065A82"/>
          </a:solidFill>
          <a:ln/>
        </p:spPr>
      </p:sp>
      <p:sp>
        <p:nvSpPr>
          <p:cNvPr id="4" name="Text 2"/>
          <p:cNvSpPr/>
          <p:nvPr/>
        </p:nvSpPr>
        <p:spPr>
          <a:xfrm>
            <a:off x="640080" y="256032"/>
            <a:ext cx="123444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MODULE 7</a:t>
            </a:r>
            <a:endParaRPr lang="en-US" sz="1100" dirty="0"/>
          </a:p>
        </p:txBody>
      </p:sp>
      <p:sp>
        <p:nvSpPr>
          <p:cNvPr id="5" name="Text 3"/>
          <p:cNvSpPr/>
          <p:nvPr/>
        </p:nvSpPr>
        <p:spPr>
          <a:xfrm>
            <a:off x="2011680" y="182880"/>
            <a:ext cx="9509760" cy="50292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Low Priority Queue — Baseline KPI View</a:t>
            </a:r>
            <a:endParaRPr lang="en-US" sz="2300" dirty="0"/>
          </a:p>
        </p:txBody>
      </p:sp>
      <p:sp>
        <p:nvSpPr>
          <p:cNvPr id="6" name="Text 4"/>
          <p:cNvSpPr/>
          <p:nvPr/>
        </p:nvSpPr>
        <p:spPr>
          <a:xfrm>
            <a:off x="640080" y="786384"/>
            <a:ext cx="10881360" cy="411480"/>
          </a:xfrm>
          <a:prstGeom prst="rect">
            <a:avLst/>
          </a:prstGeom>
          <a:noFill/>
          <a:ln/>
        </p:spPr>
        <p:txBody>
          <a:bodyPr wrap="square" lIns="0" tIns="0" rIns="0" bIns="0" rtlCol="0" anchor="t"/>
          <a:lstStyle/>
          <a:p>
            <a:pPr marL="0" indent="0">
              <a:buNone/>
            </a:pPr>
            <a:r>
              <a:rPr lang="en-US" sz="1300" b="1" dirty="0">
                <a:solidFill>
                  <a:srgbClr val="1C7293"/>
                </a:solidFill>
                <a:latin typeface="Calibri" pitchFamily="34" charset="0"/>
                <a:ea typeface="Calibri" pitchFamily="34" charset="-122"/>
                <a:cs typeface="Calibri" pitchFamily="34" charset="-120"/>
              </a:rPr>
              <a:t>Key Focus:  </a:t>
            </a:r>
            <a:r>
              <a:rPr lang="en-US" sz="1300" i="1" dirty="0">
                <a:solidFill>
                  <a:srgbClr val="CFE8F3"/>
                </a:solidFill>
                <a:latin typeface="Calibri" pitchFamily="34" charset="0"/>
                <a:ea typeface="Calibri" pitchFamily="34" charset="-122"/>
                <a:cs typeface="Calibri" pitchFamily="34" charset="-120"/>
              </a:rPr>
              <a:t>Executive Dashboard Filtered to Low-Priority Tickets</a:t>
            </a:r>
            <a:endParaRPr lang="en-US" sz="1300" dirty="0"/>
          </a:p>
        </p:txBody>
      </p:sp>
      <p:sp>
        <p:nvSpPr>
          <p:cNvPr id="7" name="Shape 5"/>
          <p:cNvSpPr/>
          <p:nvPr/>
        </p:nvSpPr>
        <p:spPr>
          <a:xfrm>
            <a:off x="640080" y="1691640"/>
            <a:ext cx="10881360" cy="4617720"/>
          </a:xfrm>
          <a:prstGeom prst="rect">
            <a:avLst/>
          </a:prstGeom>
          <a:solidFill>
            <a:srgbClr val="F4F8FA"/>
          </a:solidFill>
          <a:ln/>
        </p:spPr>
      </p:sp>
      <p:pic>
        <p:nvPicPr>
          <p:cNvPr id="8" name="Image 0" descr="Low Priority Queue — Baseline KPI View"/>
          <p:cNvPicPr>
            <a:picLocks noChangeAspect="1"/>
          </p:cNvPicPr>
          <p:nvPr/>
        </p:nvPicPr>
        <p:blipFill>
          <a:blip r:embed="rId3"/>
          <a:stretch>
            <a:fillRect/>
          </a:stretch>
        </p:blipFill>
        <p:spPr>
          <a:xfrm>
            <a:off x="1806401" y="2006996"/>
            <a:ext cx="8548718" cy="3987007"/>
          </a:xfrm>
          <a:prstGeom prst="rect">
            <a:avLst/>
          </a:prstGeom>
        </p:spPr>
      </p:pic>
      <p:sp>
        <p:nvSpPr>
          <p:cNvPr id="9" name="Text 6"/>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21295C"/>
          </a:solidFill>
          <a:ln/>
        </p:spPr>
      </p:sp>
      <p:sp>
        <p:nvSpPr>
          <p:cNvPr id="3" name="Shape 1"/>
          <p:cNvSpPr/>
          <p:nvPr/>
        </p:nvSpPr>
        <p:spPr>
          <a:xfrm>
            <a:off x="640080" y="256032"/>
            <a:ext cx="1234440" cy="310896"/>
          </a:xfrm>
          <a:prstGeom prst="rect">
            <a:avLst/>
          </a:prstGeom>
          <a:solidFill>
            <a:srgbClr val="065A82"/>
          </a:solidFill>
          <a:ln/>
        </p:spPr>
      </p:sp>
      <p:sp>
        <p:nvSpPr>
          <p:cNvPr id="4" name="Text 2"/>
          <p:cNvSpPr/>
          <p:nvPr/>
        </p:nvSpPr>
        <p:spPr>
          <a:xfrm>
            <a:off x="640080" y="256032"/>
            <a:ext cx="123444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MODULE 7</a:t>
            </a:r>
            <a:endParaRPr lang="en-US" sz="1100" dirty="0"/>
          </a:p>
        </p:txBody>
      </p:sp>
      <p:sp>
        <p:nvSpPr>
          <p:cNvPr id="5" name="Text 3"/>
          <p:cNvSpPr/>
          <p:nvPr/>
        </p:nvSpPr>
        <p:spPr>
          <a:xfrm>
            <a:off x="2011680" y="182880"/>
            <a:ext cx="9509760" cy="50292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Medium Priority Queue — Regional Shift</a:t>
            </a:r>
            <a:endParaRPr lang="en-US" sz="2300" dirty="0"/>
          </a:p>
        </p:txBody>
      </p:sp>
      <p:sp>
        <p:nvSpPr>
          <p:cNvPr id="6" name="Text 4"/>
          <p:cNvSpPr/>
          <p:nvPr/>
        </p:nvSpPr>
        <p:spPr>
          <a:xfrm>
            <a:off x="640080" y="786384"/>
            <a:ext cx="10881360" cy="411480"/>
          </a:xfrm>
          <a:prstGeom prst="rect">
            <a:avLst/>
          </a:prstGeom>
          <a:noFill/>
          <a:ln/>
        </p:spPr>
        <p:txBody>
          <a:bodyPr wrap="square" lIns="0" tIns="0" rIns="0" bIns="0" rtlCol="0" anchor="t"/>
          <a:lstStyle/>
          <a:p>
            <a:pPr marL="0" indent="0">
              <a:buNone/>
            </a:pPr>
            <a:r>
              <a:rPr lang="en-US" sz="1300" b="1" dirty="0">
                <a:solidFill>
                  <a:srgbClr val="1C7293"/>
                </a:solidFill>
                <a:latin typeface="Calibri" pitchFamily="34" charset="0"/>
                <a:ea typeface="Calibri" pitchFamily="34" charset="-122"/>
                <a:cs typeface="Calibri" pitchFamily="34" charset="-120"/>
              </a:rPr>
              <a:t>Key Focus:  </a:t>
            </a:r>
            <a:r>
              <a:rPr lang="en-US" sz="1300" i="1" dirty="0">
                <a:solidFill>
                  <a:srgbClr val="CFE8F3"/>
                </a:solidFill>
                <a:latin typeface="Calibri" pitchFamily="34" charset="0"/>
                <a:ea typeface="Calibri" pitchFamily="34" charset="-122"/>
                <a:cs typeface="Calibri" pitchFamily="34" charset="-120"/>
              </a:rPr>
              <a:t>Australia Leads Regional Performance at 7.60 CSAT</a:t>
            </a:r>
            <a:endParaRPr lang="en-US" sz="1300" dirty="0"/>
          </a:p>
        </p:txBody>
      </p:sp>
      <p:sp>
        <p:nvSpPr>
          <p:cNvPr id="7" name="Shape 5"/>
          <p:cNvSpPr/>
          <p:nvPr/>
        </p:nvSpPr>
        <p:spPr>
          <a:xfrm>
            <a:off x="640080" y="1691640"/>
            <a:ext cx="10881360" cy="4617720"/>
          </a:xfrm>
          <a:prstGeom prst="rect">
            <a:avLst/>
          </a:prstGeom>
          <a:solidFill>
            <a:srgbClr val="F4F8FA"/>
          </a:solidFill>
          <a:ln/>
        </p:spPr>
      </p:sp>
      <p:pic>
        <p:nvPicPr>
          <p:cNvPr id="8" name="Image 0" descr="Medium Priority Queue — Regional Shift"/>
          <p:cNvPicPr>
            <a:picLocks noChangeAspect="1"/>
          </p:cNvPicPr>
          <p:nvPr/>
        </p:nvPicPr>
        <p:blipFill>
          <a:blip r:embed="rId3"/>
          <a:stretch>
            <a:fillRect/>
          </a:stretch>
        </p:blipFill>
        <p:spPr>
          <a:xfrm>
            <a:off x="1806401" y="2047080"/>
            <a:ext cx="8548718" cy="3906839"/>
          </a:xfrm>
          <a:prstGeom prst="rect">
            <a:avLst/>
          </a:prstGeom>
        </p:spPr>
      </p:pic>
      <p:sp>
        <p:nvSpPr>
          <p:cNvPr id="9" name="Text 6"/>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21295C"/>
          </a:solidFill>
          <a:ln/>
        </p:spPr>
      </p:sp>
      <p:sp>
        <p:nvSpPr>
          <p:cNvPr id="3" name="Shape 1"/>
          <p:cNvSpPr/>
          <p:nvPr/>
        </p:nvSpPr>
        <p:spPr>
          <a:xfrm>
            <a:off x="640080" y="256032"/>
            <a:ext cx="1234440" cy="310896"/>
          </a:xfrm>
          <a:prstGeom prst="rect">
            <a:avLst/>
          </a:prstGeom>
          <a:solidFill>
            <a:srgbClr val="065A82"/>
          </a:solidFill>
          <a:ln/>
        </p:spPr>
      </p:sp>
      <p:sp>
        <p:nvSpPr>
          <p:cNvPr id="4" name="Text 2"/>
          <p:cNvSpPr/>
          <p:nvPr/>
        </p:nvSpPr>
        <p:spPr>
          <a:xfrm>
            <a:off x="640080" y="256032"/>
            <a:ext cx="123444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MODULE 7</a:t>
            </a:r>
            <a:endParaRPr lang="en-US" sz="1100" dirty="0"/>
          </a:p>
        </p:txBody>
      </p:sp>
      <p:sp>
        <p:nvSpPr>
          <p:cNvPr id="5" name="Text 3"/>
          <p:cNvSpPr/>
          <p:nvPr/>
        </p:nvSpPr>
        <p:spPr>
          <a:xfrm>
            <a:off x="2011680" y="182880"/>
            <a:ext cx="9509760" cy="50292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High Priority Queue — Satisfaction Peak</a:t>
            </a:r>
            <a:endParaRPr lang="en-US" sz="2300" dirty="0"/>
          </a:p>
        </p:txBody>
      </p:sp>
      <p:sp>
        <p:nvSpPr>
          <p:cNvPr id="6" name="Text 4"/>
          <p:cNvSpPr/>
          <p:nvPr/>
        </p:nvSpPr>
        <p:spPr>
          <a:xfrm>
            <a:off x="640080" y="786384"/>
            <a:ext cx="10881360" cy="411480"/>
          </a:xfrm>
          <a:prstGeom prst="rect">
            <a:avLst/>
          </a:prstGeom>
          <a:noFill/>
          <a:ln/>
        </p:spPr>
        <p:txBody>
          <a:bodyPr wrap="square" lIns="0" tIns="0" rIns="0" bIns="0" rtlCol="0" anchor="t"/>
          <a:lstStyle/>
          <a:p>
            <a:pPr marL="0" indent="0">
              <a:buNone/>
            </a:pPr>
            <a:r>
              <a:rPr lang="en-US" sz="1300" b="1" dirty="0">
                <a:solidFill>
                  <a:srgbClr val="1C7293"/>
                </a:solidFill>
                <a:latin typeface="Calibri" pitchFamily="34" charset="0"/>
                <a:ea typeface="Calibri" pitchFamily="34" charset="-122"/>
                <a:cs typeface="Calibri" pitchFamily="34" charset="-120"/>
              </a:rPr>
              <a:t>Key Focus:  </a:t>
            </a:r>
            <a:r>
              <a:rPr lang="en-US" sz="1300" i="1" dirty="0">
                <a:solidFill>
                  <a:srgbClr val="CFE8F3"/>
                </a:solidFill>
                <a:latin typeface="Calibri" pitchFamily="34" charset="0"/>
                <a:ea typeface="Calibri" pitchFamily="34" charset="-122"/>
                <a:cs typeface="Calibri" pitchFamily="34" charset="-120"/>
              </a:rPr>
              <a:t>Germany Achieves Highest Satisfaction at 8.70 CSAT</a:t>
            </a:r>
            <a:endParaRPr lang="en-US" sz="1300" dirty="0"/>
          </a:p>
        </p:txBody>
      </p:sp>
      <p:sp>
        <p:nvSpPr>
          <p:cNvPr id="7" name="Shape 5"/>
          <p:cNvSpPr/>
          <p:nvPr/>
        </p:nvSpPr>
        <p:spPr>
          <a:xfrm>
            <a:off x="640080" y="1691640"/>
            <a:ext cx="10881360" cy="4617720"/>
          </a:xfrm>
          <a:prstGeom prst="rect">
            <a:avLst/>
          </a:prstGeom>
          <a:solidFill>
            <a:srgbClr val="F4F8FA"/>
          </a:solidFill>
          <a:ln/>
        </p:spPr>
      </p:sp>
      <p:pic>
        <p:nvPicPr>
          <p:cNvPr id="8" name="Image 0" descr="High Priority Queue — Satisfaction Peak"/>
          <p:cNvPicPr>
            <a:picLocks noChangeAspect="1"/>
          </p:cNvPicPr>
          <p:nvPr/>
        </p:nvPicPr>
        <p:blipFill>
          <a:blip r:embed="rId3"/>
          <a:stretch>
            <a:fillRect/>
          </a:stretch>
        </p:blipFill>
        <p:spPr>
          <a:xfrm>
            <a:off x="1806401" y="2024111"/>
            <a:ext cx="8548718" cy="3952777"/>
          </a:xfrm>
          <a:prstGeom prst="rect">
            <a:avLst/>
          </a:prstGeom>
        </p:spPr>
      </p:pic>
      <p:sp>
        <p:nvSpPr>
          <p:cNvPr id="9" name="Text 6"/>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21295C"/>
          </a:solidFill>
          <a:ln/>
        </p:spPr>
      </p:sp>
      <p:sp>
        <p:nvSpPr>
          <p:cNvPr id="3" name="Shape 1"/>
          <p:cNvSpPr/>
          <p:nvPr/>
        </p:nvSpPr>
        <p:spPr>
          <a:xfrm>
            <a:off x="640080" y="256032"/>
            <a:ext cx="1234440" cy="310896"/>
          </a:xfrm>
          <a:prstGeom prst="rect">
            <a:avLst/>
          </a:prstGeom>
          <a:solidFill>
            <a:srgbClr val="065A82"/>
          </a:solidFill>
          <a:ln/>
        </p:spPr>
      </p:sp>
      <p:sp>
        <p:nvSpPr>
          <p:cNvPr id="4" name="Text 2"/>
          <p:cNvSpPr/>
          <p:nvPr/>
        </p:nvSpPr>
        <p:spPr>
          <a:xfrm>
            <a:off x="640080" y="256032"/>
            <a:ext cx="123444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MODULE 7</a:t>
            </a:r>
            <a:endParaRPr lang="en-US" sz="1100" dirty="0"/>
          </a:p>
        </p:txBody>
      </p:sp>
      <p:sp>
        <p:nvSpPr>
          <p:cNvPr id="5" name="Text 3"/>
          <p:cNvSpPr/>
          <p:nvPr/>
        </p:nvSpPr>
        <p:spPr>
          <a:xfrm>
            <a:off x="2011680" y="182880"/>
            <a:ext cx="9509760" cy="502920"/>
          </a:xfrm>
          <a:prstGeom prst="rect">
            <a:avLst/>
          </a:prstGeom>
          <a:noFill/>
          <a:ln/>
        </p:spPr>
        <p:txBody>
          <a:bodyPr wrap="square" lIns="0" tIns="0" rIns="0" bIns="0" rtlCol="0" anchor="ctr"/>
          <a:lstStyle/>
          <a:p>
            <a:pPr marL="0" indent="0">
              <a:buNone/>
            </a:pPr>
            <a:r>
              <a:rPr lang="en-US" sz="2300" b="1" dirty="0">
                <a:solidFill>
                  <a:srgbClr val="FFFFFF"/>
                </a:solidFill>
                <a:latin typeface="Cambria" pitchFamily="34" charset="0"/>
                <a:ea typeface="Cambria" pitchFamily="34" charset="-122"/>
                <a:cs typeface="Cambria" pitchFamily="34" charset="-120"/>
              </a:rPr>
              <a:t>Critical Priority Queue — Cohesion Dip</a:t>
            </a:r>
            <a:endParaRPr lang="en-US" sz="2300" dirty="0"/>
          </a:p>
        </p:txBody>
      </p:sp>
      <p:sp>
        <p:nvSpPr>
          <p:cNvPr id="6" name="Text 4"/>
          <p:cNvSpPr/>
          <p:nvPr/>
        </p:nvSpPr>
        <p:spPr>
          <a:xfrm>
            <a:off x="640080" y="786384"/>
            <a:ext cx="10881360" cy="411480"/>
          </a:xfrm>
          <a:prstGeom prst="rect">
            <a:avLst/>
          </a:prstGeom>
          <a:noFill/>
          <a:ln/>
        </p:spPr>
        <p:txBody>
          <a:bodyPr wrap="square" lIns="0" tIns="0" rIns="0" bIns="0" rtlCol="0" anchor="t"/>
          <a:lstStyle/>
          <a:p>
            <a:pPr marL="0" indent="0">
              <a:buNone/>
            </a:pPr>
            <a:r>
              <a:rPr lang="en-US" sz="1300" b="1" dirty="0">
                <a:solidFill>
                  <a:srgbClr val="1C7293"/>
                </a:solidFill>
                <a:latin typeface="Calibri" pitchFamily="34" charset="0"/>
                <a:ea typeface="Calibri" pitchFamily="34" charset="-122"/>
                <a:cs typeface="Calibri" pitchFamily="34" charset="-120"/>
              </a:rPr>
              <a:t>Key Focus:  </a:t>
            </a:r>
            <a:r>
              <a:rPr lang="en-US" sz="1300" i="1" dirty="0">
                <a:solidFill>
                  <a:srgbClr val="CFE8F3"/>
                </a:solidFill>
                <a:latin typeface="Calibri" pitchFamily="34" charset="0"/>
                <a:ea typeface="Calibri" pitchFamily="34" charset="-122"/>
                <a:cs typeface="Calibri" pitchFamily="34" charset="-120"/>
              </a:rPr>
              <a:t>India Tops Critical Queues; Cluster Similarity Falls to 0.76</a:t>
            </a:r>
            <a:endParaRPr lang="en-US" sz="1300" dirty="0"/>
          </a:p>
        </p:txBody>
      </p:sp>
      <p:sp>
        <p:nvSpPr>
          <p:cNvPr id="7" name="Shape 5"/>
          <p:cNvSpPr/>
          <p:nvPr/>
        </p:nvSpPr>
        <p:spPr>
          <a:xfrm>
            <a:off x="640080" y="1691640"/>
            <a:ext cx="10881360" cy="4617720"/>
          </a:xfrm>
          <a:prstGeom prst="rect">
            <a:avLst/>
          </a:prstGeom>
          <a:solidFill>
            <a:srgbClr val="F4F8FA"/>
          </a:solidFill>
          <a:ln/>
        </p:spPr>
      </p:sp>
      <p:pic>
        <p:nvPicPr>
          <p:cNvPr id="8" name="Image 0" descr="Critical Priority Queue — Cohesion Dip"/>
          <p:cNvPicPr>
            <a:picLocks noChangeAspect="1"/>
          </p:cNvPicPr>
          <p:nvPr/>
        </p:nvPicPr>
        <p:blipFill>
          <a:blip r:embed="rId3"/>
          <a:stretch>
            <a:fillRect/>
          </a:stretch>
        </p:blipFill>
        <p:spPr>
          <a:xfrm>
            <a:off x="1806401" y="2028233"/>
            <a:ext cx="8548718" cy="3944533"/>
          </a:xfrm>
          <a:prstGeom prst="rect">
            <a:avLst/>
          </a:prstGeom>
        </p:spPr>
      </p:pic>
      <p:sp>
        <p:nvSpPr>
          <p:cNvPr id="9" name="Text 6"/>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5C6B73"/>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144000" y="-1828800"/>
            <a:ext cx="5029200" cy="5029200"/>
          </a:xfrm>
          <a:prstGeom prst="ellipse">
            <a:avLst/>
          </a:prstGeom>
          <a:solidFill>
            <a:srgbClr val="065A82">
              <a:alpha val="45000"/>
            </a:srgbClr>
          </a:solidFill>
          <a:ln/>
        </p:spPr>
      </p:sp>
      <p:sp>
        <p:nvSpPr>
          <p:cNvPr id="3" name="Text 1"/>
          <p:cNvSpPr/>
          <p:nvPr/>
        </p:nvSpPr>
        <p:spPr>
          <a:xfrm>
            <a:off x="640080" y="502920"/>
            <a:ext cx="7315200" cy="320040"/>
          </a:xfrm>
          <a:prstGeom prst="rect">
            <a:avLst/>
          </a:prstGeom>
          <a:noFill/>
          <a:ln/>
        </p:spPr>
        <p:txBody>
          <a:bodyPr wrap="square" lIns="0" tIns="0" rIns="0" bIns="0" rtlCol="0" anchor="ctr"/>
          <a:lstStyle/>
          <a:p>
            <a:pPr marL="0" indent="0">
              <a:buNone/>
            </a:pPr>
            <a:r>
              <a:rPr lang="en-US" sz="1300" b="1" kern="0" spc="300" dirty="0">
                <a:solidFill>
                  <a:srgbClr val="1C7293"/>
                </a:solidFill>
                <a:latin typeface="Calibri" pitchFamily="34" charset="0"/>
                <a:ea typeface="Calibri" pitchFamily="34" charset="-122"/>
                <a:cs typeface="Calibri" pitchFamily="34" charset="-120"/>
              </a:rPr>
              <a:t>MILESTONE 4 · CLOSING</a:t>
            </a:r>
            <a:endParaRPr lang="en-US" sz="1300" dirty="0"/>
          </a:p>
        </p:txBody>
      </p:sp>
      <p:sp>
        <p:nvSpPr>
          <p:cNvPr id="4" name="Text 2"/>
          <p:cNvSpPr/>
          <p:nvPr/>
        </p:nvSpPr>
        <p:spPr>
          <a:xfrm>
            <a:off x="640080" y="822960"/>
            <a:ext cx="1078992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Takeaways &amp; Strategic Recommendations</a:t>
            </a:r>
            <a:endParaRPr lang="en-US" sz="3000" dirty="0"/>
          </a:p>
        </p:txBody>
      </p:sp>
      <p:sp>
        <p:nvSpPr>
          <p:cNvPr id="5" name="Shape 3"/>
          <p:cNvSpPr/>
          <p:nvPr/>
        </p:nvSpPr>
        <p:spPr>
          <a:xfrm>
            <a:off x="640080" y="1874520"/>
            <a:ext cx="3447288" cy="3383280"/>
          </a:xfrm>
          <a:prstGeom prst="rect">
            <a:avLst/>
          </a:prstGeom>
          <a:solidFill>
            <a:srgbClr val="065A82">
              <a:alpha val="85000"/>
            </a:srgbClr>
          </a:solidFill>
          <a:ln/>
        </p:spPr>
      </p:sp>
      <p:sp>
        <p:nvSpPr>
          <p:cNvPr id="6" name="Text 4"/>
          <p:cNvSpPr/>
          <p:nvPr/>
        </p:nvSpPr>
        <p:spPr>
          <a:xfrm>
            <a:off x="914400" y="2103120"/>
            <a:ext cx="1463040" cy="685800"/>
          </a:xfrm>
          <a:prstGeom prst="rect">
            <a:avLst/>
          </a:prstGeom>
          <a:noFill/>
          <a:ln/>
        </p:spPr>
        <p:txBody>
          <a:bodyPr wrap="square" lIns="0" tIns="0" rIns="0" bIns="0" rtlCol="0" anchor="ctr"/>
          <a:lstStyle/>
          <a:p>
            <a:pPr marL="0" indent="0">
              <a:buNone/>
            </a:pPr>
            <a:r>
              <a:rPr lang="en-US" sz="3200" b="1" dirty="0">
                <a:solidFill>
                  <a:srgbClr val="CFE8F3"/>
                </a:solidFill>
                <a:latin typeface="Cambria" pitchFamily="34" charset="0"/>
                <a:ea typeface="Cambria" pitchFamily="34" charset="-122"/>
                <a:cs typeface="Cambria" pitchFamily="34" charset="-120"/>
              </a:rPr>
              <a:t>01</a:t>
            </a:r>
            <a:endParaRPr lang="en-US" sz="3200" dirty="0"/>
          </a:p>
        </p:txBody>
      </p:sp>
      <p:sp>
        <p:nvSpPr>
          <p:cNvPr id="7" name="Text 5"/>
          <p:cNvSpPr/>
          <p:nvPr/>
        </p:nvSpPr>
        <p:spPr>
          <a:xfrm>
            <a:off x="914400" y="2834640"/>
            <a:ext cx="2898648" cy="685800"/>
          </a:xfrm>
          <a:prstGeom prst="rect">
            <a:avLst/>
          </a:prstGeom>
          <a:noFill/>
          <a:ln/>
        </p:spPr>
        <p:txBody>
          <a:bodyPr wrap="square" lIns="0" tIns="0" rIns="0" bIns="0" rtlCol="0" anchor="ctr"/>
          <a:lstStyle/>
          <a:p>
            <a:pPr marL="0" indent="0">
              <a:lnSpc>
                <a:spcPts val="2000"/>
              </a:lnSpc>
              <a:buNone/>
            </a:pPr>
            <a:r>
              <a:rPr lang="en-US" sz="1700" b="1" dirty="0">
                <a:solidFill>
                  <a:srgbClr val="FFFFFF"/>
                </a:solidFill>
                <a:latin typeface="Cambria" pitchFamily="34" charset="0"/>
                <a:ea typeface="Cambria" pitchFamily="34" charset="-122"/>
                <a:cs typeface="Cambria" pitchFamily="34" charset="-120"/>
              </a:rPr>
              <a:t>Technical Dominates Every Tier</a:t>
            </a:r>
            <a:endParaRPr lang="en-US" sz="1700" dirty="0"/>
          </a:p>
        </p:txBody>
      </p:sp>
      <p:sp>
        <p:nvSpPr>
          <p:cNvPr id="8" name="Text 6"/>
          <p:cNvSpPr/>
          <p:nvPr/>
        </p:nvSpPr>
        <p:spPr>
          <a:xfrm>
            <a:off x="914400" y="3566160"/>
            <a:ext cx="2898648" cy="1554480"/>
          </a:xfrm>
          <a:prstGeom prst="rect">
            <a:avLst/>
          </a:prstGeom>
          <a:noFill/>
          <a:ln/>
        </p:spPr>
        <p:txBody>
          <a:bodyPr wrap="square" lIns="0" tIns="0" rIns="0" bIns="0" rtlCol="0" anchor="ctr"/>
          <a:lstStyle/>
          <a:p>
            <a:pPr marL="0" indent="0">
              <a:lnSpc>
                <a:spcPts val="1600"/>
              </a:lnSpc>
              <a:buNone/>
            </a:pPr>
            <a:r>
              <a:rPr lang="en-US" sz="1200" dirty="0">
                <a:solidFill>
                  <a:srgbClr val="CFE8F3"/>
                </a:solidFill>
                <a:latin typeface="Calibri" pitchFamily="34" charset="0"/>
                <a:ea typeface="Calibri" pitchFamily="34" charset="-122"/>
                <a:cs typeface="Calibri" pitchFamily="34" charset="-120"/>
              </a:rPr>
              <a:t>Technical tickets hold ~44% share across Low, Medium, High, and Critical queues alike — plan support capacity around Technical first, regardless of priority mix.</a:t>
            </a:r>
            <a:endParaRPr lang="en-US" sz="1200" dirty="0"/>
          </a:p>
        </p:txBody>
      </p:sp>
      <p:sp>
        <p:nvSpPr>
          <p:cNvPr id="9" name="Shape 7"/>
          <p:cNvSpPr/>
          <p:nvPr/>
        </p:nvSpPr>
        <p:spPr>
          <a:xfrm>
            <a:off x="4279392" y="1874520"/>
            <a:ext cx="3447288" cy="3383280"/>
          </a:xfrm>
          <a:prstGeom prst="rect">
            <a:avLst/>
          </a:prstGeom>
          <a:solidFill>
            <a:srgbClr val="1C7293">
              <a:alpha val="85000"/>
            </a:srgbClr>
          </a:solidFill>
          <a:ln/>
        </p:spPr>
      </p:sp>
      <p:sp>
        <p:nvSpPr>
          <p:cNvPr id="10" name="Text 8"/>
          <p:cNvSpPr/>
          <p:nvPr/>
        </p:nvSpPr>
        <p:spPr>
          <a:xfrm>
            <a:off x="4553712" y="2103120"/>
            <a:ext cx="1463040" cy="685800"/>
          </a:xfrm>
          <a:prstGeom prst="rect">
            <a:avLst/>
          </a:prstGeom>
          <a:noFill/>
          <a:ln/>
        </p:spPr>
        <p:txBody>
          <a:bodyPr wrap="square" lIns="0" tIns="0" rIns="0" bIns="0" rtlCol="0" anchor="ctr"/>
          <a:lstStyle/>
          <a:p>
            <a:pPr marL="0" indent="0">
              <a:buNone/>
            </a:pPr>
            <a:r>
              <a:rPr lang="en-US" sz="3200" b="1" dirty="0">
                <a:solidFill>
                  <a:srgbClr val="CFE8F3"/>
                </a:solidFill>
                <a:latin typeface="Cambria" pitchFamily="34" charset="0"/>
                <a:ea typeface="Cambria" pitchFamily="34" charset="-122"/>
                <a:cs typeface="Cambria" pitchFamily="34" charset="-120"/>
              </a:rPr>
              <a:t>02</a:t>
            </a:r>
            <a:endParaRPr lang="en-US" sz="3200" dirty="0"/>
          </a:p>
        </p:txBody>
      </p:sp>
      <p:sp>
        <p:nvSpPr>
          <p:cNvPr id="11" name="Text 9"/>
          <p:cNvSpPr/>
          <p:nvPr/>
        </p:nvSpPr>
        <p:spPr>
          <a:xfrm>
            <a:off x="4553712" y="2834640"/>
            <a:ext cx="2898648" cy="685800"/>
          </a:xfrm>
          <a:prstGeom prst="rect">
            <a:avLst/>
          </a:prstGeom>
          <a:noFill/>
          <a:ln/>
        </p:spPr>
        <p:txBody>
          <a:bodyPr wrap="square" lIns="0" tIns="0" rIns="0" bIns="0" rtlCol="0" anchor="ctr"/>
          <a:lstStyle/>
          <a:p>
            <a:pPr marL="0" indent="0">
              <a:lnSpc>
                <a:spcPts val="2000"/>
              </a:lnSpc>
              <a:buNone/>
            </a:pPr>
            <a:r>
              <a:rPr lang="en-US" sz="1700" b="1" dirty="0">
                <a:solidFill>
                  <a:srgbClr val="FFFFFF"/>
                </a:solidFill>
                <a:latin typeface="Cambria" pitchFamily="34" charset="0"/>
                <a:ea typeface="Cambria" pitchFamily="34" charset="-122"/>
                <a:cs typeface="Cambria" pitchFamily="34" charset="-120"/>
              </a:rPr>
              <a:t>Critical Cluster Cohesion Dip</a:t>
            </a:r>
            <a:endParaRPr lang="en-US" sz="1700" dirty="0"/>
          </a:p>
        </p:txBody>
      </p:sp>
      <p:sp>
        <p:nvSpPr>
          <p:cNvPr id="12" name="Text 10"/>
          <p:cNvSpPr/>
          <p:nvPr/>
        </p:nvSpPr>
        <p:spPr>
          <a:xfrm>
            <a:off x="4553712" y="3566160"/>
            <a:ext cx="2898648" cy="1554480"/>
          </a:xfrm>
          <a:prstGeom prst="rect">
            <a:avLst/>
          </a:prstGeom>
          <a:noFill/>
          <a:ln/>
        </p:spPr>
        <p:txBody>
          <a:bodyPr wrap="square" lIns="0" tIns="0" rIns="0" bIns="0" rtlCol="0" anchor="ctr"/>
          <a:lstStyle/>
          <a:p>
            <a:pPr marL="0" indent="0">
              <a:lnSpc>
                <a:spcPts val="1600"/>
              </a:lnSpc>
              <a:buNone/>
            </a:pPr>
            <a:r>
              <a:rPr lang="en-US" sz="1200" dirty="0">
                <a:solidFill>
                  <a:srgbClr val="CFE8F3"/>
                </a:solidFill>
                <a:latin typeface="Calibri" pitchFamily="34" charset="0"/>
                <a:ea typeface="Calibri" pitchFamily="34" charset="-122"/>
                <a:cs typeface="Calibri" pitchFamily="34" charset="-120"/>
              </a:rPr>
              <a:t>Cluster Similarity Index slides from 0.78 (Low) to 0.76 (Critical) — high-urgency tickets may be triaged into looser, less-cohesive clusters; review Critical-queue routing.</a:t>
            </a:r>
            <a:endParaRPr lang="en-US" sz="1200" dirty="0"/>
          </a:p>
        </p:txBody>
      </p:sp>
      <p:sp>
        <p:nvSpPr>
          <p:cNvPr id="13" name="Shape 11"/>
          <p:cNvSpPr/>
          <p:nvPr/>
        </p:nvSpPr>
        <p:spPr>
          <a:xfrm>
            <a:off x="7918704" y="1874520"/>
            <a:ext cx="3447288" cy="3383280"/>
          </a:xfrm>
          <a:prstGeom prst="rect">
            <a:avLst/>
          </a:prstGeom>
          <a:solidFill>
            <a:srgbClr val="0F3D5C">
              <a:alpha val="85000"/>
            </a:srgbClr>
          </a:solidFill>
          <a:ln/>
        </p:spPr>
      </p:sp>
      <p:sp>
        <p:nvSpPr>
          <p:cNvPr id="14" name="Text 12"/>
          <p:cNvSpPr/>
          <p:nvPr/>
        </p:nvSpPr>
        <p:spPr>
          <a:xfrm>
            <a:off x="8193024" y="2103120"/>
            <a:ext cx="1463040" cy="685800"/>
          </a:xfrm>
          <a:prstGeom prst="rect">
            <a:avLst/>
          </a:prstGeom>
          <a:noFill/>
          <a:ln/>
        </p:spPr>
        <p:txBody>
          <a:bodyPr wrap="square" lIns="0" tIns="0" rIns="0" bIns="0" rtlCol="0" anchor="ctr"/>
          <a:lstStyle/>
          <a:p>
            <a:pPr marL="0" indent="0">
              <a:buNone/>
            </a:pPr>
            <a:r>
              <a:rPr lang="en-US" sz="3200" b="1" dirty="0">
                <a:solidFill>
                  <a:srgbClr val="CFE8F3"/>
                </a:solidFill>
                <a:latin typeface="Cambria" pitchFamily="34" charset="0"/>
                <a:ea typeface="Cambria" pitchFamily="34" charset="-122"/>
                <a:cs typeface="Cambria" pitchFamily="34" charset="-120"/>
              </a:rPr>
              <a:t>03</a:t>
            </a:r>
            <a:endParaRPr lang="en-US" sz="3200" dirty="0"/>
          </a:p>
        </p:txBody>
      </p:sp>
      <p:sp>
        <p:nvSpPr>
          <p:cNvPr id="15" name="Text 13"/>
          <p:cNvSpPr/>
          <p:nvPr/>
        </p:nvSpPr>
        <p:spPr>
          <a:xfrm>
            <a:off x="8193024" y="2834640"/>
            <a:ext cx="2898648" cy="685800"/>
          </a:xfrm>
          <a:prstGeom prst="rect">
            <a:avLst/>
          </a:prstGeom>
          <a:noFill/>
          <a:ln/>
        </p:spPr>
        <p:txBody>
          <a:bodyPr wrap="square" lIns="0" tIns="0" rIns="0" bIns="0" rtlCol="0" anchor="ctr"/>
          <a:lstStyle/>
          <a:p>
            <a:pPr marL="0" indent="0">
              <a:lnSpc>
                <a:spcPts val="2000"/>
              </a:lnSpc>
              <a:buNone/>
            </a:pPr>
            <a:r>
              <a:rPr lang="en-US" sz="1700" b="1" dirty="0">
                <a:solidFill>
                  <a:srgbClr val="FFFFFF"/>
                </a:solidFill>
                <a:latin typeface="Cambria" pitchFamily="34" charset="0"/>
                <a:ea typeface="Cambria" pitchFamily="34" charset="-122"/>
                <a:cs typeface="Cambria" pitchFamily="34" charset="-120"/>
              </a:rPr>
              <a:t>Regional Leadership Rotates</a:t>
            </a:r>
            <a:endParaRPr lang="en-US" sz="1700" dirty="0"/>
          </a:p>
        </p:txBody>
      </p:sp>
      <p:sp>
        <p:nvSpPr>
          <p:cNvPr id="16" name="Text 14"/>
          <p:cNvSpPr/>
          <p:nvPr/>
        </p:nvSpPr>
        <p:spPr>
          <a:xfrm>
            <a:off x="8193024" y="3566160"/>
            <a:ext cx="2898648" cy="1554480"/>
          </a:xfrm>
          <a:prstGeom prst="rect">
            <a:avLst/>
          </a:prstGeom>
          <a:noFill/>
          <a:ln/>
        </p:spPr>
        <p:txBody>
          <a:bodyPr wrap="square" lIns="0" tIns="0" rIns="0" bIns="0" rtlCol="0" anchor="ctr"/>
          <a:lstStyle/>
          <a:p>
            <a:pPr marL="0" indent="0">
              <a:lnSpc>
                <a:spcPts val="1600"/>
              </a:lnSpc>
              <a:buNone/>
            </a:pPr>
            <a:r>
              <a:rPr lang="en-US" sz="1200" dirty="0">
                <a:solidFill>
                  <a:srgbClr val="CFE8F3"/>
                </a:solidFill>
                <a:latin typeface="Calibri" pitchFamily="34" charset="0"/>
                <a:ea typeface="Calibri" pitchFamily="34" charset="-122"/>
                <a:cs typeface="Calibri" pitchFamily="34" charset="-120"/>
              </a:rPr>
              <a:t>Top-performing region shifts by priority — France (Low), Australia (Medium), Germany (High), India (Critical) — resource regional support around priority mix, not a single ranking.</a:t>
            </a:r>
            <a:endParaRPr lang="en-US" sz="1200" dirty="0"/>
          </a:p>
        </p:txBody>
      </p:sp>
      <p:sp>
        <p:nvSpPr>
          <p:cNvPr id="17" name="Text 15"/>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000" dirty="0">
                <a:solidFill>
                  <a:srgbClr val="CFE8F3"/>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616</Words>
  <Application>Microsoft Office PowerPoint</Application>
  <PresentationFormat>Widescreen</PresentationFormat>
  <Paragraphs>53</Paragraphs>
  <Slides>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Hema Sundar</cp:lastModifiedBy>
  <cp:revision>1</cp:revision>
  <dcterms:created xsi:type="dcterms:W3CDTF">2026-08-06T11:10:49Z</dcterms:created>
  <dcterms:modified xsi:type="dcterms:W3CDTF">2026-08-17T11:42:18Z</dcterms:modified>
</cp:coreProperties>
</file>