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Montserrat Medium" panose="020B0604020202020204" charset="0"/>
      <p:regular r:id="rId11"/>
    </p:embeddedFont>
    <p:embeddedFont>
      <p:font typeface="Brygada 1918 Bold" panose="020B0604020202020204" charset="0"/>
      <p:regular r:id="rId12"/>
    </p:embeddedFont>
    <p:embeddedFont>
      <p:font typeface="Montserrat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163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2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2.svg"/><Relationship Id="rId11" Type="http://schemas.openxmlformats.org/officeDocument/2006/relationships/image" Target="../media/image2.png"/><Relationship Id="rId5" Type="http://schemas.openxmlformats.org/officeDocument/2006/relationships/image" Target="../media/image-2-2.svg"/><Relationship Id="rId10" Type="http://schemas.openxmlformats.org/officeDocument/2006/relationships/image" Target="../media/image-2-2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2.svg"/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2.svg"/><Relationship Id="rId5" Type="http://schemas.openxmlformats.org/officeDocument/2006/relationships/image" Target="../media/image-4-2.svg"/><Relationship Id="rId4" Type="http://schemas.openxmlformats.org/officeDocument/2006/relationships/image" Target="../media/image-4-2.sv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6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4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-6-2.sv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-7-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3.svg"/><Relationship Id="rId5" Type="http://schemas.openxmlformats.org/officeDocument/2006/relationships/image" Target="../media/image-7-3.svg"/><Relationship Id="rId10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368" y="2279154"/>
            <a:ext cx="6371073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Supportlytics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4368" y="2945110"/>
            <a:ext cx="6371073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Data-Driven Optimization of IT Support Team Performance Using Advanced Analytics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24368" y="3807420"/>
            <a:ext cx="6371073" cy="77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550"/>
              </a:spcAft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Milestone 1: Project Initialization &amp; Dataset Setup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Presented by </a:t>
            </a: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AARMITHA A</a:t>
            </a:r>
            <a:endParaRPr lang="en-US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062" y="6476445"/>
            <a:ext cx="1720938" cy="29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686891"/>
            <a:ext cx="10942959" cy="56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502332" y="1493441"/>
            <a:ext cx="5508785" cy="4677569"/>
          </a:xfrm>
          <a:prstGeom prst="roundRect">
            <a:avLst>
              <a:gd name="adj" fmla="val 544"/>
            </a:avLst>
          </a:prstGeom>
          <a:solidFill>
            <a:srgbClr val="421424"/>
          </a:solidFill>
          <a:ln/>
        </p:spPr>
      </p:sp>
      <p:sp>
        <p:nvSpPr>
          <p:cNvPr id="4" name="Text 2"/>
          <p:cNvSpPr/>
          <p:nvPr/>
        </p:nvSpPr>
        <p:spPr>
          <a:xfrm>
            <a:off x="671793" y="1654373"/>
            <a:ext cx="5169862" cy="282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Major Objective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71793" y="2097782"/>
            <a:ext cx="5169862" cy="1321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 customer support ticket data using advanced analytics to evaluate IT support team performance, identify operational bottlenecks, optimize ticket resolution efficiency, and provide data-driven recommendations for improving service quality.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8964" y="1654373"/>
            <a:ext cx="5264713" cy="282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Minor Objectives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372462" y="2126307"/>
            <a:ext cx="254192" cy="2541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9714" y="2117923"/>
            <a:ext cx="4713963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Understand dataset structure and quality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372462" y="2965103"/>
            <a:ext cx="254192" cy="25419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9714" y="2956719"/>
            <a:ext cx="4713963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Perform data preprocessing and cleaning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72462" y="3803898"/>
            <a:ext cx="254192" cy="25419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59714" y="3795514"/>
            <a:ext cx="4713963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Engineer analytical features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72462" y="4642693"/>
            <a:ext cx="254192" cy="2541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59714" y="4634309"/>
            <a:ext cx="4713963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 ticket distribution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372462" y="5481489"/>
            <a:ext cx="254192" cy="25419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9714" y="5473105"/>
            <a:ext cx="4713963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Evaluate support performance using KPIs</a:t>
            </a:r>
            <a:endParaRPr lang="en-US" sz="13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1062" y="6476445"/>
            <a:ext cx="1720938" cy="29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11770"/>
            <a:ext cx="10942959" cy="520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Dataset Overview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7991374" y="2342654"/>
            <a:ext cx="358220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91374" y="2739926"/>
            <a:ext cx="4191788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Kaggle – Customer Support Tickets Dataset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991374" y="3111202"/>
            <a:ext cx="358220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Key Attributes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91374" y="3508474"/>
            <a:ext cx="3582203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Product · Category · Priority · Status · Region · Resolution Time · Customer Satisfaction · SLA Breach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368" y="5456833"/>
            <a:ext cx="2633101" cy="889298"/>
          </a:xfrm>
          <a:prstGeom prst="roundRect">
            <a:avLst>
              <a:gd name="adj" fmla="val 2636"/>
            </a:avLst>
          </a:prstGeom>
          <a:solidFill>
            <a:srgbClr val="4D1529"/>
          </a:solidFill>
          <a:ln/>
        </p:spPr>
      </p:sp>
      <p:sp>
        <p:nvSpPr>
          <p:cNvPr id="9" name="Text 6"/>
          <p:cNvSpPr/>
          <p:nvPr/>
        </p:nvSpPr>
        <p:spPr>
          <a:xfrm>
            <a:off x="780534" y="5613003"/>
            <a:ext cx="2320768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200,000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0534" y="5955506"/>
            <a:ext cx="2320768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Records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94288" y="5456833"/>
            <a:ext cx="2633101" cy="889298"/>
          </a:xfrm>
          <a:prstGeom prst="roundRect">
            <a:avLst>
              <a:gd name="adj" fmla="val 2636"/>
            </a:avLst>
          </a:prstGeom>
          <a:solidFill>
            <a:srgbClr val="4D1529"/>
          </a:solidFill>
          <a:ln/>
        </p:spPr>
      </p:sp>
      <p:sp>
        <p:nvSpPr>
          <p:cNvPr id="12" name="Text 9"/>
          <p:cNvSpPr/>
          <p:nvPr/>
        </p:nvSpPr>
        <p:spPr>
          <a:xfrm>
            <a:off x="3550454" y="5613003"/>
            <a:ext cx="2320768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50454" y="5955506"/>
            <a:ext cx="2320768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Original Features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64208" y="5456833"/>
            <a:ext cx="2633101" cy="889298"/>
          </a:xfrm>
          <a:prstGeom prst="roundRect">
            <a:avLst>
              <a:gd name="adj" fmla="val 2636"/>
            </a:avLst>
          </a:prstGeom>
          <a:solidFill>
            <a:srgbClr val="4D1529"/>
          </a:solidFill>
          <a:ln/>
        </p:spPr>
      </p:sp>
      <p:sp>
        <p:nvSpPr>
          <p:cNvPr id="15" name="Text 12"/>
          <p:cNvSpPr/>
          <p:nvPr/>
        </p:nvSpPr>
        <p:spPr>
          <a:xfrm>
            <a:off x="6320374" y="5613003"/>
            <a:ext cx="2320768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20374" y="5955506"/>
            <a:ext cx="2320768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34127" y="5456833"/>
            <a:ext cx="2633200" cy="889298"/>
          </a:xfrm>
          <a:prstGeom prst="roundRect">
            <a:avLst>
              <a:gd name="adj" fmla="val 2636"/>
            </a:avLst>
          </a:prstGeom>
          <a:solidFill>
            <a:srgbClr val="4D1529"/>
          </a:solidFill>
          <a:ln/>
        </p:spPr>
      </p:sp>
      <p:sp>
        <p:nvSpPr>
          <p:cNvPr id="18" name="Text 15"/>
          <p:cNvSpPr/>
          <p:nvPr/>
        </p:nvSpPr>
        <p:spPr>
          <a:xfrm>
            <a:off x="9090294" y="5613003"/>
            <a:ext cx="2320867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90294" y="5955506"/>
            <a:ext cx="2320867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Final Features</a:t>
            </a:r>
            <a:endParaRPr lang="en-US" sz="12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062" y="6584796"/>
            <a:ext cx="1720938" cy="2921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94" y="2073987"/>
            <a:ext cx="7279308" cy="22529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331615"/>
            <a:ext cx="10942959" cy="594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Understanding &amp; Quality Assessment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4368" y="2372221"/>
            <a:ext cx="5253898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Completed Analysis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24368" y="2870299"/>
            <a:ext cx="2537754" cy="9782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9756" y="3074095"/>
            <a:ext cx="2028576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Loaded dataset using Pandas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40513" y="2870299"/>
            <a:ext cx="2537754" cy="9782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45900" y="3074095"/>
            <a:ext cx="2028576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Explored schema and data types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4368" y="4026991"/>
            <a:ext cx="2537754" cy="9782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9756" y="4230787"/>
            <a:ext cx="2028576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Checked missing values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3340513" y="4026991"/>
            <a:ext cx="2537754" cy="9782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45900" y="4230787"/>
            <a:ext cx="2028576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Analyzed ticket distribution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6319779" y="2372221"/>
            <a:ext cx="5253898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Issues Identified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319779" y="2847975"/>
            <a:ext cx="5253898" cy="980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Browser column contained </a:t>
            </a: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40,023 missing values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Date columns required conversion to DateTime format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lacked a predefined </a:t>
            </a: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Type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column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6319779" y="4007247"/>
            <a:ext cx="5253898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Positive Findings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319779" y="4483001"/>
            <a:ext cx="5253898" cy="980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 missing values in other text fields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Consistent categorical values across columns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Balanced ticket distribution observed</a:t>
            </a:r>
            <a:endParaRPr lang="en-US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062" y="6584796"/>
            <a:ext cx="1720938" cy="29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931069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Cleaning &amp; Feature Engineering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7969944" y="1692176"/>
            <a:ext cx="3603634" cy="237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Cleaning Steps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69944" y="2058392"/>
            <a:ext cx="285445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69944" y="2281833"/>
            <a:ext cx="3603634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7" name="Text 4"/>
          <p:cNvSpPr/>
          <p:nvPr/>
        </p:nvSpPr>
        <p:spPr>
          <a:xfrm>
            <a:off x="7969944" y="2391271"/>
            <a:ext cx="3603634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Filled missing Browser values with </a:t>
            </a:r>
            <a:r>
              <a:rPr lang="en-US" sz="11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"Unknown"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69944" y="2817912"/>
            <a:ext cx="285445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69944" y="3041352"/>
            <a:ext cx="3603634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0" name="Text 7"/>
          <p:cNvSpPr/>
          <p:nvPr/>
        </p:nvSpPr>
        <p:spPr>
          <a:xfrm>
            <a:off x="7969944" y="3150791"/>
            <a:ext cx="3603634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Converted ticket dates to DateTime format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69944" y="3577431"/>
            <a:ext cx="285445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69944" y="3800872"/>
            <a:ext cx="3603634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3" name="Text 10"/>
          <p:cNvSpPr/>
          <p:nvPr/>
        </p:nvSpPr>
        <p:spPr>
          <a:xfrm>
            <a:off x="7969944" y="3910310"/>
            <a:ext cx="3603634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Trimmed whitespace from text fields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69944" y="4336951"/>
            <a:ext cx="285445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69944" y="4560391"/>
            <a:ext cx="3603634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6" name="Text 13"/>
          <p:cNvSpPr/>
          <p:nvPr/>
        </p:nvSpPr>
        <p:spPr>
          <a:xfrm>
            <a:off x="7969944" y="4669830"/>
            <a:ext cx="3603634" cy="20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Preserved all </a:t>
            </a:r>
            <a:r>
              <a:rPr lang="en-US" sz="11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200,000</a:t>
            </a:r>
            <a:r>
              <a:rPr lang="en-US" sz="11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records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69944" y="5110758"/>
            <a:ext cx="3603634" cy="687784"/>
          </a:xfrm>
          <a:prstGeom prst="roundRect">
            <a:avLst>
              <a:gd name="adj" fmla="val 3113"/>
            </a:avLst>
          </a:prstGeom>
          <a:solidFill>
            <a:srgbClr val="802600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617" y="5316538"/>
            <a:ext cx="178391" cy="14267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33680" y="5249069"/>
            <a:ext cx="2997224" cy="411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All original records were retained — no data was lost during preprocessing.</a:t>
            </a:r>
            <a:endParaRPr lang="en-US" sz="11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062" y="6565885"/>
            <a:ext cx="1720938" cy="29211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430" y="3050877"/>
            <a:ext cx="4401292" cy="11055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92" y="1664815"/>
            <a:ext cx="3511730" cy="148597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92" y="3264760"/>
            <a:ext cx="2610464" cy="32002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758230"/>
            <a:ext cx="10942959" cy="505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Feature Engineering Summary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24368" y="1521520"/>
            <a:ext cx="3561666" cy="1890316"/>
          </a:xfrm>
          <a:prstGeom prst="roundRect">
            <a:avLst>
              <a:gd name="adj" fmla="val 1203"/>
            </a:avLst>
          </a:prstGeom>
          <a:solidFill>
            <a:srgbClr val="4D1529"/>
          </a:solidFill>
          <a:ln/>
        </p:spPr>
      </p:sp>
      <p:sp>
        <p:nvSpPr>
          <p:cNvPr id="4" name="Shape 2"/>
          <p:cNvSpPr/>
          <p:nvPr/>
        </p:nvSpPr>
        <p:spPr>
          <a:xfrm>
            <a:off x="775970" y="1673126"/>
            <a:ext cx="454907" cy="454918"/>
          </a:xfrm>
          <a:prstGeom prst="ellipse">
            <a:avLst/>
          </a:prstGeom>
          <a:solidFill>
            <a:srgbClr val="FFB3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01082" y="1798241"/>
            <a:ext cx="204683" cy="204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5970" y="2256929"/>
            <a:ext cx="3258461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Type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75970" y="2586930"/>
            <a:ext cx="3258461" cy="67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Classifies tickets into </a:t>
            </a:r>
            <a:r>
              <a:rPr lang="en-US" sz="11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Request</a:t>
            </a: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</a:t>
            </a:r>
            <a:r>
              <a:rPr lang="en-US" sz="11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Incident</a:t>
            </a: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, and </a:t>
            </a:r>
            <a:r>
              <a:rPr lang="en-US" sz="115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</a:t>
            </a: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categories for structured analysis.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14915" y="1521520"/>
            <a:ext cx="3561765" cy="1890316"/>
          </a:xfrm>
          <a:prstGeom prst="roundRect">
            <a:avLst>
              <a:gd name="adj" fmla="val 1203"/>
            </a:avLst>
          </a:prstGeom>
          <a:solidFill>
            <a:srgbClr val="4D1529"/>
          </a:solidFill>
          <a:ln/>
        </p:spPr>
      </p:sp>
      <p:sp>
        <p:nvSpPr>
          <p:cNvPr id="9" name="Shape 6"/>
          <p:cNvSpPr/>
          <p:nvPr/>
        </p:nvSpPr>
        <p:spPr>
          <a:xfrm>
            <a:off x="4466518" y="1673126"/>
            <a:ext cx="454907" cy="454918"/>
          </a:xfrm>
          <a:prstGeom prst="ellipse">
            <a:avLst/>
          </a:prstGeom>
          <a:solidFill>
            <a:srgbClr val="FFB3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91630" y="1798241"/>
            <a:ext cx="204683" cy="2046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66518" y="2256929"/>
            <a:ext cx="325856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Resolution_Duration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466518" y="2586930"/>
            <a:ext cx="3258560" cy="67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Calculates the precise duration taken to resolve each ticket, enabling time-based KPIs.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005562" y="1521520"/>
            <a:ext cx="3561765" cy="1890316"/>
          </a:xfrm>
          <a:prstGeom prst="roundRect">
            <a:avLst>
              <a:gd name="adj" fmla="val 1203"/>
            </a:avLst>
          </a:prstGeom>
          <a:solidFill>
            <a:srgbClr val="4D1529"/>
          </a:solidFill>
          <a:ln/>
        </p:spPr>
      </p:sp>
      <p:sp>
        <p:nvSpPr>
          <p:cNvPr id="14" name="Shape 10"/>
          <p:cNvSpPr/>
          <p:nvPr/>
        </p:nvSpPr>
        <p:spPr>
          <a:xfrm>
            <a:off x="8157165" y="1673126"/>
            <a:ext cx="454907" cy="454918"/>
          </a:xfrm>
          <a:prstGeom prst="ellipse">
            <a:avLst/>
          </a:prstGeom>
          <a:solidFill>
            <a:srgbClr val="FFB3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282276" y="1798241"/>
            <a:ext cx="204683" cy="2046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57165" y="2256929"/>
            <a:ext cx="325856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Priority_Score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157165" y="2586930"/>
            <a:ext cx="3258560" cy="67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Converts categorical priority levels into numerical values for quantitative performance modeling.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4368" y="3605113"/>
            <a:ext cx="10942959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Benefits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24368" y="4135630"/>
            <a:ext cx="510378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Better performance analysis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24368" y="4511580"/>
            <a:ext cx="5103883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Easier KPI calculation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24467" y="5277553"/>
            <a:ext cx="510378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Supports clustering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24368" y="4845442"/>
            <a:ext cx="5103883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Improves dashboard visualization</a:t>
            </a:r>
            <a:endParaRPr lang="en-US" sz="115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062" y="6565885"/>
            <a:ext cx="1720938" cy="29211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8173" y="3484902"/>
            <a:ext cx="2079979" cy="330716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2793" y="3509835"/>
            <a:ext cx="2158738" cy="326230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65824" y="4297487"/>
            <a:ext cx="3359323" cy="12256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630932"/>
            <a:ext cx="10942959" cy="505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Initial Ticket Distribution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24368" y="1458615"/>
            <a:ext cx="528654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Priority Distribution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1856284"/>
            <a:ext cx="4493505" cy="32360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87136" y="1458615"/>
            <a:ext cx="5286540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Top 3 Categories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87136" y="1856284"/>
            <a:ext cx="5286540" cy="9473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33987" y="2026940"/>
            <a:ext cx="4869038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Feature Request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533987" y="2408535"/>
            <a:ext cx="4869038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10.08%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87136" y="2932509"/>
            <a:ext cx="5286540" cy="9473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33987" y="3103166"/>
            <a:ext cx="4869038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Subscription Cancellation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533987" y="3484761"/>
            <a:ext cx="4869038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10.05%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87136" y="4008735"/>
            <a:ext cx="5286540" cy="9473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33987" y="4179391"/>
            <a:ext cx="4869038" cy="25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Performance Issue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533987" y="4560987"/>
            <a:ext cx="4869038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10.04%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809307" y="5474593"/>
            <a:ext cx="5286540" cy="981075"/>
          </a:xfrm>
          <a:prstGeom prst="roundRect">
            <a:avLst>
              <a:gd name="adj" fmla="val 2319"/>
            </a:avLst>
          </a:prstGeom>
          <a:solidFill>
            <a:srgbClr val="80260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608" y="5628481"/>
            <a:ext cx="204261" cy="1634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68678" y="5628481"/>
            <a:ext cx="4642230" cy="67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Ticket distribution is well-balanced across priorities, categories, statuses, and support channels — confirming the dataset's suitability for robust performance analysis.</a:t>
            </a:r>
            <a:endParaRPr lang="en-US" sz="11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1062" y="6603592"/>
            <a:ext cx="1720938" cy="29211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7873" y="1435619"/>
            <a:ext cx="6682854" cy="4047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36079"/>
            <a:ext cx="10942959" cy="497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Milestone 1 — Summary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4368" y="1083568"/>
            <a:ext cx="10942959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Completed Deliverables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24368" y="1519634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4368" y="1754188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6" name="Text 4"/>
          <p:cNvSpPr/>
          <p:nvPr/>
        </p:nvSpPr>
        <p:spPr>
          <a:xfrm>
            <a:off x="624368" y="1866900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Objectives &amp; KPIs Defined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158255" y="1519634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58255" y="1754188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9" name="Text 7"/>
          <p:cNvSpPr/>
          <p:nvPr/>
        </p:nvSpPr>
        <p:spPr>
          <a:xfrm>
            <a:off x="6158255" y="1866900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Workflow Definition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4368" y="2323009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4368" y="2557562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4368" y="2670274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Dataset Loading &amp; Understanding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58255" y="2323009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58255" y="2557562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58255" y="2670274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Schema &amp; Missing Value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4368" y="3126383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368" y="3360936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8" name="Text 16"/>
          <p:cNvSpPr/>
          <p:nvPr/>
        </p:nvSpPr>
        <p:spPr>
          <a:xfrm>
            <a:off x="624368" y="3473648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Initial Ticket Distribution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58255" y="3126383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58255" y="3360936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1" name="Text 19"/>
          <p:cNvSpPr/>
          <p:nvPr/>
        </p:nvSpPr>
        <p:spPr>
          <a:xfrm>
            <a:off x="6158255" y="3473648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4368" y="3929757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07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368" y="4164310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4" name="Text 22"/>
          <p:cNvSpPr/>
          <p:nvPr/>
        </p:nvSpPr>
        <p:spPr>
          <a:xfrm>
            <a:off x="624368" y="4277023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58255" y="3929757"/>
            <a:ext cx="298542" cy="1865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08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58255" y="4164310"/>
            <a:ext cx="5409072" cy="19050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7" name="Text 25"/>
          <p:cNvSpPr/>
          <p:nvPr/>
        </p:nvSpPr>
        <p:spPr>
          <a:xfrm>
            <a:off x="6158255" y="4277023"/>
            <a:ext cx="5409072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Processed Dataset Saved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4368" y="4795639"/>
            <a:ext cx="10942959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Output Files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24368" y="5231705"/>
            <a:ext cx="3564444" cy="1090216"/>
          </a:xfrm>
          <a:prstGeom prst="roundRect">
            <a:avLst>
              <a:gd name="adj" fmla="val 2054"/>
            </a:avLst>
          </a:prstGeom>
          <a:solidFill>
            <a:srgbClr val="4D1529"/>
          </a:solidFill>
          <a:ln/>
        </p:spPr>
      </p:sp>
      <p:sp>
        <p:nvSpPr>
          <p:cNvPr id="30" name="Text 28"/>
          <p:cNvSpPr/>
          <p:nvPr/>
        </p:nvSpPr>
        <p:spPr>
          <a:xfrm>
            <a:off x="773589" y="5380930"/>
            <a:ext cx="3266001" cy="49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customer_support_tickets_processed.csv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73589" y="5953323"/>
            <a:ext cx="326600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Processed Dataset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13626" y="5231705"/>
            <a:ext cx="3564444" cy="1090216"/>
          </a:xfrm>
          <a:prstGeom prst="roundRect">
            <a:avLst>
              <a:gd name="adj" fmla="val 2054"/>
            </a:avLst>
          </a:prstGeom>
          <a:solidFill>
            <a:srgbClr val="4D1529"/>
          </a:solidFill>
          <a:ln/>
        </p:spPr>
      </p:sp>
      <p:sp>
        <p:nvSpPr>
          <p:cNvPr id="33" name="Text 31"/>
          <p:cNvSpPr/>
          <p:nvPr/>
        </p:nvSpPr>
        <p:spPr>
          <a:xfrm>
            <a:off x="4462847" y="5380930"/>
            <a:ext cx="3266001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Feature Engineering Summary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462847" y="5704582"/>
            <a:ext cx="326600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02883" y="5231705"/>
            <a:ext cx="3564444" cy="1090216"/>
          </a:xfrm>
          <a:prstGeom prst="roundRect">
            <a:avLst>
              <a:gd name="adj" fmla="val 2054"/>
            </a:avLst>
          </a:prstGeom>
          <a:solidFill>
            <a:srgbClr val="4D1529"/>
          </a:solidFill>
          <a:ln/>
        </p:spPr>
      </p:sp>
      <p:sp>
        <p:nvSpPr>
          <p:cNvPr id="36" name="Text 34"/>
          <p:cNvSpPr/>
          <p:nvPr/>
        </p:nvSpPr>
        <p:spPr>
          <a:xfrm>
            <a:off x="8152105" y="5380930"/>
            <a:ext cx="3266001" cy="248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 Dictionary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152105" y="5704582"/>
            <a:ext cx="3266001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Reference Guide</a:t>
            </a:r>
            <a:endParaRPr lang="en-US" sz="1150" dirty="0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062" y="6584796"/>
            <a:ext cx="1720938" cy="292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396</Words>
  <Application>Microsoft Office PowerPoint</Application>
  <PresentationFormat>Widescreen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Montserrat Medium</vt:lpstr>
      <vt:lpstr>Brygada 1918 Light</vt:lpstr>
      <vt:lpstr>Arial</vt:lpstr>
      <vt:lpstr>Brygada 1918 Bold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Aarmitha</cp:lastModifiedBy>
  <cp:revision>5</cp:revision>
  <dcterms:created xsi:type="dcterms:W3CDTF">2026-07-09T11:31:32Z</dcterms:created>
  <dcterms:modified xsi:type="dcterms:W3CDTF">2026-07-09T14:40:40Z</dcterms:modified>
</cp:coreProperties>
</file>