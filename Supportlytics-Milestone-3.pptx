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4.png"/><Relationship Id="rId7" Type="http://schemas.openxmlformats.org/officeDocument/2006/relationships/image" Target="../media/image-3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6.png"/><Relationship Id="rId9" Type="http://schemas.openxmlformats.org/officeDocument/2006/relationships/image" Target="../media/image-5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6.png"/><Relationship Id="rId9" Type="http://schemas.openxmlformats.org/officeDocument/2006/relationships/image" Target="../media/image-9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2364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Supportlytics: Milestone 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67519" y="2259211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Trend Analysis &amp; Geographic Insights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597200"/>
            <a:ext cx="8151763" cy="922660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2601962"/>
            <a:ext cx="4071119" cy="913135"/>
          </a:xfrm>
          <a:custGeom>
            <a:avLst/>
            <a:gdLst/>
            <a:ahLst/>
            <a:cxnLst/>
            <a:rect l="l" t="t" r="r" b="b"/>
            <a:pathLst>
              <a:path w="4071119" h="913135">
                <a:moveTo>
                  <a:pt x="43416" y="0"/>
                </a:moveTo>
                <a:lnTo>
                  <a:pt x="4071119" y="0"/>
                </a:lnTo>
                <a:lnTo>
                  <a:pt x="4071119" y="913135"/>
                </a:lnTo>
                <a:lnTo>
                  <a:pt x="43416" y="913135"/>
                </a:lnTo>
                <a:arcTo hR="43416" wR="43416" stAng="5400000" swAng="5400000"/>
                <a:lnTo>
                  <a:pt x="0" y="43416"/>
                </a:lnTo>
                <a:arcTo hR="43416" wR="4341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6" name="Text 4"/>
          <p:cNvSpPr/>
          <p:nvPr/>
        </p:nvSpPr>
        <p:spPr>
          <a:xfrm>
            <a:off x="624855" y="2725936"/>
            <a:ext cx="38231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Module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855" y="2994199"/>
            <a:ext cx="38231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Trend Analysis — resolution times, team efficiency, and unresolved ticket escalation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2601962"/>
            <a:ext cx="4071119" cy="913135"/>
          </a:xfrm>
          <a:custGeom>
            <a:avLst/>
            <a:gdLst/>
            <a:ahLst/>
            <a:cxnLst/>
            <a:rect l="l" t="t" r="r" b="b"/>
            <a:pathLst>
              <a:path w="4071119" h="913135">
                <a:moveTo>
                  <a:pt x="0" y="0"/>
                </a:moveTo>
                <a:lnTo>
                  <a:pt x="4027703" y="0"/>
                </a:lnTo>
                <a:arcTo hR="43416" wR="43416" stAng="16200000" swAng="5400000"/>
                <a:lnTo>
                  <a:pt x="4071119" y="869719"/>
                </a:lnTo>
                <a:arcTo hR="43416" wR="43416" stAng="0" swAng="5400000"/>
                <a:lnTo>
                  <a:pt x="0" y="913135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2601962"/>
            <a:ext cx="14288" cy="913135"/>
          </a:xfrm>
          <a:prstGeom prst="roundRect">
            <a:avLst>
              <a:gd name="adj" fmla="val 49998"/>
            </a:avLst>
          </a:prstGeom>
          <a:solidFill>
            <a:srgbClr val="C7C7D0"/>
          </a:solidFill>
          <a:ln/>
        </p:spPr>
      </p:sp>
      <p:sp>
        <p:nvSpPr>
          <p:cNvPr id="10" name="Text 8"/>
          <p:cNvSpPr/>
          <p:nvPr/>
        </p:nvSpPr>
        <p:spPr>
          <a:xfrm>
            <a:off x="4695974" y="2725936"/>
            <a:ext cx="38231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Module 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5974" y="2994199"/>
            <a:ext cx="38231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Geographic &amp; Category-Level Insights — regional distribution, heatmap clustering, and cluster efficiency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21866"/>
            <a:ext cx="623292" cy="188565"/>
          </a:xfrm>
          <a:prstGeom prst="roundRect">
            <a:avLst>
              <a:gd name="adj" fmla="val 2210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559073"/>
            <a:ext cx="931664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5999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 Trend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333574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5 systematically examines support operations data to surface actionable insights about resolution efficiency, team performance, and backlog risk. The analysis covers four core objectives: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70025"/>
            <a:ext cx="4013895" cy="13137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10048" y="1951658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4380" y="2380357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Resolution Time by Priority &amp; Type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4380" y="2648620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average resolution hours segmented by ticket priority level and issue category to identify where bottlenecks form.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87" y="1870025"/>
            <a:ext cx="4013895" cy="13137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47917" y="1951658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772248" y="2380357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Team Speed Benchmarking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72248" y="2648620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Determine which support teams resolve tickets fastest and how volume affects their throughput and efficiency.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307779"/>
            <a:ext cx="4013895" cy="13137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410048" y="3389412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34380" y="3818111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High-Priority Backlog Identification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34380" y="4086374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Surface unresolved High and Critical tickets across teams to flag escalation risk and capacity strain.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3987" y="3307779"/>
            <a:ext cx="4013895" cy="13137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47917" y="3389412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4772248" y="3818111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772248" y="4086374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metrics summary and comparative charts supporting data-driven resource allocation decisions.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9759"/>
            <a:ext cx="8151763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Average Resolution Time by Priority &amp; Category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68437"/>
            <a:ext cx="4781327" cy="314176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6498" y="1068437"/>
            <a:ext cx="3096071" cy="12165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40301" y="1195090"/>
            <a:ext cx="278561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By Priority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740301" y="1472580"/>
            <a:ext cx="2785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and High tickets require similar resolution times across all priority levels — the spread from Low (90 hrs) to Critical (98 hrs) is narrow, suggesting priority escalation alone does not accelerate resolution.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56498" y="2386905"/>
            <a:ext cx="3096071" cy="104514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40301" y="2513558"/>
            <a:ext cx="278561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By Category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5740301" y="2791048"/>
            <a:ext cx="27856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Resolution times vary significantly by issue type. Network issues resolve fastest at 92 hrs while Desktop tickets lag at 96 hrs.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56498" y="3533924"/>
            <a:ext cx="3096071" cy="104514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40301" y="3660577"/>
            <a:ext cx="278561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5740301" y="3938067"/>
            <a:ext cx="27856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Category type and team expertise matter more than priority level alone.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Resource routing strategy should weight issue category alongside ticket priority.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Team Performance: Who Resolves Fastest?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596950"/>
            <a:ext cx="8151763" cy="45649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5196706"/>
            <a:ext cx="4060403" cy="397669"/>
          </a:xfrm>
          <a:prstGeom prst="roundRect">
            <a:avLst>
              <a:gd name="adj" fmla="val 655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2868" y="5263455"/>
            <a:ext cx="39269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🥇</a:t>
            </a:r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Application Support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562868" y="5378946"/>
            <a:ext cx="3926904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95.75 hrs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 — Fastest team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140,666 tickets handled</a:t>
            </a:r>
            <a:endParaRPr lang="en-US" sz="450" dirty="0"/>
          </a:p>
        </p:txBody>
      </p:sp>
      <p:sp>
        <p:nvSpPr>
          <p:cNvPr id="7" name="Shape 4"/>
          <p:cNvSpPr/>
          <p:nvPr/>
        </p:nvSpPr>
        <p:spPr>
          <a:xfrm>
            <a:off x="4587478" y="5196706"/>
            <a:ext cx="4060403" cy="397669"/>
          </a:xfrm>
          <a:prstGeom prst="roundRect">
            <a:avLst>
              <a:gd name="adj" fmla="val 655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54228" y="5263455"/>
            <a:ext cx="39269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Network Team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654228" y="5378946"/>
            <a:ext cx="3926904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95.93 hrs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139,950 tickets handled</a:t>
            </a:r>
            <a:endParaRPr lang="en-US" sz="450" dirty="0"/>
          </a:p>
        </p:txBody>
      </p:sp>
      <p:sp>
        <p:nvSpPr>
          <p:cNvPr id="10" name="Shape 7"/>
          <p:cNvSpPr/>
          <p:nvPr/>
        </p:nvSpPr>
        <p:spPr>
          <a:xfrm>
            <a:off x="496119" y="5625331"/>
            <a:ext cx="4060403" cy="397669"/>
          </a:xfrm>
          <a:prstGeom prst="roundRect">
            <a:avLst>
              <a:gd name="adj" fmla="val 655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2868" y="5692080"/>
            <a:ext cx="39269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Security Team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62868" y="5807571"/>
            <a:ext cx="3926904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95.94 hrs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139,966 tickets handled</a:t>
            </a:r>
            <a:endParaRPr lang="en-US" sz="450" dirty="0"/>
          </a:p>
        </p:txBody>
      </p:sp>
      <p:sp>
        <p:nvSpPr>
          <p:cNvPr id="13" name="Shape 10"/>
          <p:cNvSpPr/>
          <p:nvPr/>
        </p:nvSpPr>
        <p:spPr>
          <a:xfrm>
            <a:off x="4587478" y="5625331"/>
            <a:ext cx="4060403" cy="397669"/>
          </a:xfrm>
          <a:prstGeom prst="roundRect">
            <a:avLst>
              <a:gd name="adj" fmla="val 655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54228" y="5692080"/>
            <a:ext cx="39269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Desktop Support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4654228" y="5807571"/>
            <a:ext cx="3926904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96.11 hrs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 — Highest volume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279,475 tickets handled</a:t>
            </a:r>
            <a:endParaRPr lang="en-US" sz="450" dirty="0"/>
          </a:p>
        </p:txBody>
      </p:sp>
      <p:sp>
        <p:nvSpPr>
          <p:cNvPr id="16" name="Shape 13"/>
          <p:cNvSpPr/>
          <p:nvPr/>
        </p:nvSpPr>
        <p:spPr>
          <a:xfrm>
            <a:off x="496119" y="6057826"/>
            <a:ext cx="8151763" cy="169143"/>
          </a:xfrm>
          <a:prstGeom prst="roundRect">
            <a:avLst>
              <a:gd name="adj" fmla="val 15401"/>
            </a:avLst>
          </a:prstGeom>
          <a:solidFill>
            <a:srgbClr val="B6FCB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05" y="6135291"/>
            <a:ext cx="77465" cy="6198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7557" y="6104260"/>
            <a:ext cx="8345537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gap of only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0.36 hours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between the fastest and slowest team — operations are well-standardized across all support functions.</a:t>
            </a:r>
            <a:endParaRPr lang="en-US" sz="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436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High-Priority Unresolved Issues: Critical Alert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27472"/>
            <a:ext cx="4347270" cy="298355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61421" y="1187946"/>
            <a:ext cx="3680445" cy="3341191"/>
          </a:xfrm>
          <a:prstGeom prst="roundRect">
            <a:avLst>
              <a:gd name="adj" fmla="val 2673"/>
            </a:avLst>
          </a:prstGeom>
          <a:solidFill>
            <a:srgbClr val="1B1B27">
              <a:alpha val="95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1108" y="1313185"/>
            <a:ext cx="1653034" cy="13387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37944" y="1327472"/>
            <a:ext cx="14861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Unresolved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337944" y="1645295"/>
            <a:ext cx="14861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149,952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High/Critical tickets —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15% of all tickets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remain unresolved and require immediate action.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64859" y="1313185"/>
            <a:ext cx="1653034" cy="133870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31695" y="1327472"/>
            <a:ext cx="14861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Desktop Support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131695" y="1645295"/>
            <a:ext cx="148619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60,019 unresolved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30% of their total backlog. The most severely impacted team by a significant margin.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71108" y="2871341"/>
            <a:ext cx="1653034" cy="153255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37944" y="2885629"/>
            <a:ext cx="148619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 / Network / Security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5337944" y="3397300"/>
            <a:ext cx="148619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carries approximately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~30,000 unresolved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tickets, representing 21% of their respective backlogs.</a:t>
            </a:r>
            <a:endParaRPr lang="en-US" sz="9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64859" y="2871341"/>
            <a:ext cx="1653034" cy="153255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31695" y="2885629"/>
            <a:ext cx="14861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7131695" y="3203451"/>
            <a:ext cx="148619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Desktop Support backlog reduction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implement formal escalation protocols for High/Critical queues.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75829"/>
            <a:ext cx="669354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1313036"/>
            <a:ext cx="97772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51395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Module 6: Geographic &amp; Category-Level Insights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208753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Having established team-level performance baselines in Module 5, Module 6 shifts the lens to geography and ticket taxonomy — examining how ticket volume, resolution performance, and issue categories are distributed across regions and structured clusters.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96119" y="262398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2820442"/>
            <a:ext cx="2634555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496119" y="2911004"/>
            <a:ext cx="26345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Regional Ticket Distribution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6119" y="3179266"/>
            <a:ext cx="263455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volume and resolution performance across South, North, West, East, and Central regions.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54648" y="262398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54648" y="2820442"/>
            <a:ext cx="2634630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3254648" y="2911004"/>
            <a:ext cx="263463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Region × Category Heatmap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54648" y="3179266"/>
            <a:ext cx="263463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which issue categories dominate each region and where infrastructure differences drive concentration.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13252" y="262398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13252" y="2820442"/>
            <a:ext cx="2634555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6" name="Text 14"/>
          <p:cNvSpPr/>
          <p:nvPr/>
        </p:nvSpPr>
        <p:spPr>
          <a:xfrm>
            <a:off x="6013252" y="2911004"/>
            <a:ext cx="26345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Cluster Performance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13252" y="3179266"/>
            <a:ext cx="263455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 the relationship between ticket cluster size and operational efficiency to assess scalability.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Regional Ticket Distribution &amp; Performance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596950"/>
            <a:ext cx="8151763" cy="45649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5196706"/>
            <a:ext cx="2696617" cy="397669"/>
          </a:xfrm>
          <a:prstGeom prst="roundRect">
            <a:avLst>
              <a:gd name="adj" fmla="val 655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2868" y="5263455"/>
            <a:ext cx="256311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South — 30%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562868" y="5378946"/>
            <a:ext cx="2563118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299,916 tickets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95.93 hrs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</a:t>
            </a:r>
            <a:endParaRPr lang="en-US" sz="450" dirty="0"/>
          </a:p>
        </p:txBody>
      </p:sp>
      <p:sp>
        <p:nvSpPr>
          <p:cNvPr id="7" name="Shape 4"/>
          <p:cNvSpPr/>
          <p:nvPr/>
        </p:nvSpPr>
        <p:spPr>
          <a:xfrm>
            <a:off x="3223692" y="5196706"/>
            <a:ext cx="2696617" cy="397669"/>
          </a:xfrm>
          <a:prstGeom prst="roundRect">
            <a:avLst>
              <a:gd name="adj" fmla="val 655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90441" y="5263455"/>
            <a:ext cx="256311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North — 28%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3290441" y="5378946"/>
            <a:ext cx="2563118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279,600 tickets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96.12 hrs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</a:t>
            </a:r>
            <a:endParaRPr lang="en-US" sz="450" dirty="0"/>
          </a:p>
        </p:txBody>
      </p:sp>
      <p:sp>
        <p:nvSpPr>
          <p:cNvPr id="10" name="Shape 7"/>
          <p:cNvSpPr/>
          <p:nvPr/>
        </p:nvSpPr>
        <p:spPr>
          <a:xfrm>
            <a:off x="5951265" y="5196706"/>
            <a:ext cx="2696617" cy="397669"/>
          </a:xfrm>
          <a:prstGeom prst="roundRect">
            <a:avLst>
              <a:gd name="adj" fmla="val 655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18014" y="5263455"/>
            <a:ext cx="256311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 — 20% </a:t>
            </a:r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🏆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6018014" y="5378946"/>
            <a:ext cx="2563118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200,112 tickets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95.90 hrs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Fastest</a:t>
            </a:r>
            <a:endParaRPr lang="en-US" sz="450" dirty="0"/>
          </a:p>
        </p:txBody>
      </p:sp>
      <p:sp>
        <p:nvSpPr>
          <p:cNvPr id="13" name="Shape 10"/>
          <p:cNvSpPr/>
          <p:nvPr/>
        </p:nvSpPr>
        <p:spPr>
          <a:xfrm>
            <a:off x="496119" y="5625331"/>
            <a:ext cx="4060403" cy="397669"/>
          </a:xfrm>
          <a:prstGeom prst="roundRect">
            <a:avLst>
              <a:gd name="adj" fmla="val 655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2868" y="5692080"/>
            <a:ext cx="39269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East — 14%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562868" y="5807571"/>
            <a:ext cx="3926904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140,170 tickets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95.80 hrs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</a:t>
            </a:r>
            <a:endParaRPr lang="en-US" sz="450" dirty="0"/>
          </a:p>
        </p:txBody>
      </p:sp>
      <p:sp>
        <p:nvSpPr>
          <p:cNvPr id="16" name="Shape 13"/>
          <p:cNvSpPr/>
          <p:nvPr/>
        </p:nvSpPr>
        <p:spPr>
          <a:xfrm>
            <a:off x="4587478" y="5625331"/>
            <a:ext cx="4060403" cy="397669"/>
          </a:xfrm>
          <a:prstGeom prst="roundRect">
            <a:avLst>
              <a:gd name="adj" fmla="val 655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54228" y="5692080"/>
            <a:ext cx="39269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 — 8%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4654228" y="5807571"/>
            <a:ext cx="3926904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80,202 tickets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96.03 hrs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</a:t>
            </a:r>
            <a:endParaRPr lang="en-US" sz="450" dirty="0"/>
          </a:p>
        </p:txBody>
      </p:sp>
      <p:sp>
        <p:nvSpPr>
          <p:cNvPr id="19" name="Shape 16"/>
          <p:cNvSpPr/>
          <p:nvPr/>
        </p:nvSpPr>
        <p:spPr>
          <a:xfrm>
            <a:off x="496119" y="6057826"/>
            <a:ext cx="8151763" cy="169143"/>
          </a:xfrm>
          <a:prstGeom prst="roundRect">
            <a:avLst>
              <a:gd name="adj" fmla="val 15401"/>
            </a:avLst>
          </a:prstGeom>
          <a:solidFill>
            <a:srgbClr val="E1E1EA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05" y="6135291"/>
            <a:ext cx="77465" cy="6198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7557" y="6104260"/>
            <a:ext cx="8345537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regions maintain consistent performance scores (1.4/3.0) and escalation rates (0.5) — geographic variation does not meaningfully impact service quality.</a:t>
            </a:r>
            <a:endParaRPr lang="en-US" sz="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Ticket Concentration: Region × Category Heatmap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596950"/>
            <a:ext cx="8151763" cy="456493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5196706"/>
            <a:ext cx="2696617" cy="4071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5730" y="5268218"/>
            <a:ext cx="2515493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South &amp; North Dominance</a:t>
            </a:r>
            <a:endParaRPr lang="en-US" sz="600" dirty="0"/>
          </a:p>
        </p:txBody>
      </p:sp>
      <p:sp>
        <p:nvSpPr>
          <p:cNvPr id="6" name="Text 2"/>
          <p:cNvSpPr/>
          <p:nvPr/>
        </p:nvSpPr>
        <p:spPr>
          <a:xfrm>
            <a:off x="605730" y="5383709"/>
            <a:ext cx="2515493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South and North regions show the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highest concentration across all categories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accounting for 58% of total ticket volume. Infrastructure scale and user base density are likely drivers.</a:t>
            </a:r>
            <a:endParaRPr lang="en-US" sz="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3692" y="5196706"/>
            <a:ext cx="2696617" cy="4071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33304" y="5268218"/>
            <a:ext cx="2515493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 Region</a:t>
            </a:r>
            <a:endParaRPr lang="en-US" sz="600" dirty="0"/>
          </a:p>
        </p:txBody>
      </p:sp>
      <p:sp>
        <p:nvSpPr>
          <p:cNvPr id="9" name="Text 4"/>
          <p:cNvSpPr/>
          <p:nvPr/>
        </p:nvSpPr>
        <p:spPr>
          <a:xfrm>
            <a:off x="3333304" y="5383709"/>
            <a:ext cx="2515493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Lowest ticket volume but maintains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consistent category distribution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proportional representation across all issue types despite smaller absolute numbers.</a:t>
            </a:r>
            <a:endParaRPr lang="en-US" sz="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1265" y="5196706"/>
            <a:ext cx="2696617" cy="40719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60877" y="5268218"/>
            <a:ext cx="2515493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Resource Allocation Implication</a:t>
            </a:r>
            <a:endParaRPr lang="en-US" sz="600" dirty="0"/>
          </a:p>
        </p:txBody>
      </p:sp>
      <p:sp>
        <p:nvSpPr>
          <p:cNvPr id="12" name="Text 6"/>
          <p:cNvSpPr/>
          <p:nvPr/>
        </p:nvSpPr>
        <p:spPr>
          <a:xfrm>
            <a:off x="6060877" y="5383709"/>
            <a:ext cx="2515493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Geographic clustering patterns suggest that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resource allocation should reflect regional ticket concentration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uniform distribution across all five regions.</a:t>
            </a:r>
            <a:endParaRPr lang="en-US" sz="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59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Cluster Performance Analysis: Size vs. Efficiency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26703"/>
            <a:ext cx="4600873" cy="307486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0034" y="1112416"/>
            <a:ext cx="1560909" cy="11402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56870" y="1126703"/>
            <a:ext cx="139407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Cluster 1 — Largest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556870" y="1444526"/>
            <a:ext cx="139407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290,149 tickets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Expired/Access/Attempt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1.40 performance score | 95.96 hrs avg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91660" y="1112416"/>
            <a:ext cx="1560909" cy="11402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58496" y="1126703"/>
            <a:ext cx="139407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Cluster 10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258496" y="1444526"/>
            <a:ext cx="139407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107,764 tickets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Denied/Access/Policy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1.40 performance score | 96.27 hrs avg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90034" y="2472110"/>
            <a:ext cx="1560909" cy="21325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56870" y="2486397"/>
            <a:ext cx="139407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Cluster 0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5556870" y="2804220"/>
            <a:ext cx="139407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107,358 tickets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Suspicious/Violation/Alert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1.40 performance score | 95.97 hrs avg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91660" y="2472110"/>
            <a:ext cx="1560909" cy="213255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258496" y="2486397"/>
            <a:ext cx="139407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7258496" y="2804220"/>
            <a:ext cx="1394073" cy="1786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Correlation between cluster size and performance =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0.075 (weak)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Larger clusters do not perform worse — process efficiency is independent of volume, indicating strong scalability.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6787"/>
            <a:ext cx="815176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Findings &amp; Recommendations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845418"/>
            <a:ext cx="4034954" cy="11583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1163" y="1243905"/>
            <a:ext cx="380486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 Consistency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11163" y="1450479"/>
            <a:ext cx="3804865" cy="43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teams and regions maintain similar resolution times ranging </a:t>
            </a:r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95.8–96.1 hrs</a:t>
            </a:r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This narrow band confirms that support processes are well-standardized across the organization.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2928" y="845418"/>
            <a:ext cx="4034954" cy="11583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27972" y="1243905"/>
            <a:ext cx="380486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Critical Backlog Gap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727972" y="1450479"/>
            <a:ext cx="3804865" cy="43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149,952 unresolved High/Critical tickets</a:t>
            </a:r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require immediate escalation — Desktop Support alone holds 60,019 (30% of its backlog). This is the most urgent operational risk identified.</a:t>
            </a:r>
            <a:endParaRPr lang="en-US" sz="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085603"/>
            <a:ext cx="4034954" cy="11583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1163" y="2484090"/>
            <a:ext cx="380486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Regional Balance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611163" y="2690664"/>
            <a:ext cx="3804865" cy="43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South and North regions handle </a:t>
            </a:r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58% of total ticket volume</a:t>
            </a:r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Current resource distribution appears appropriate, but allocation models should be reviewed against regional concentration heatmaps.</a:t>
            </a:r>
            <a:endParaRPr lang="en-US" sz="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12928" y="2085603"/>
            <a:ext cx="4034954" cy="115832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27972" y="2484090"/>
            <a:ext cx="380486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Cluster Scalability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4727972" y="2690664"/>
            <a:ext cx="3804865" cy="43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Weak correlation of </a:t>
            </a:r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0.075</a:t>
            </a:r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between cluster size and performance score confirms that the support operation scales efficiently — volume growth does not degrade resolution quality.</a:t>
            </a:r>
            <a:endParaRPr lang="en-US" sz="750" dirty="0"/>
          </a:p>
        </p:txBody>
      </p:sp>
      <p:sp>
        <p:nvSpPr>
          <p:cNvPr id="15" name="Text 9"/>
          <p:cNvSpPr/>
          <p:nvPr/>
        </p:nvSpPr>
        <p:spPr>
          <a:xfrm>
            <a:off x="496119" y="3366715"/>
            <a:ext cx="8151763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Next Steps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96119" y="3646959"/>
            <a:ext cx="2662684" cy="302344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1751856" y="3703662"/>
            <a:ext cx="151135" cy="188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596875" y="4031159"/>
            <a:ext cx="246117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Escalation Protocols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596875" y="4237732"/>
            <a:ext cx="2461171" cy="43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formal escalation workflows for High/Critical tickets to prevent unresolved backlog accumulation.</a:t>
            </a:r>
            <a:endParaRPr lang="en-US" sz="750" dirty="0"/>
          </a:p>
        </p:txBody>
      </p:sp>
      <p:sp>
        <p:nvSpPr>
          <p:cNvPr id="20" name="Shape 14"/>
          <p:cNvSpPr/>
          <p:nvPr/>
        </p:nvSpPr>
        <p:spPr>
          <a:xfrm>
            <a:off x="3240658" y="3646959"/>
            <a:ext cx="2662684" cy="302344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496395" y="3703662"/>
            <a:ext cx="151135" cy="188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3341415" y="4031159"/>
            <a:ext cx="246117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Desktop Backlog Reduction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3341415" y="4237732"/>
            <a:ext cx="2461171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Desktop Support capacity expansion or ticket redistribution to address the 30% unresolved rate.</a:t>
            </a:r>
            <a:endParaRPr lang="en-US" sz="750" dirty="0"/>
          </a:p>
        </p:txBody>
      </p:sp>
      <p:sp>
        <p:nvSpPr>
          <p:cNvPr id="24" name="Shape 18"/>
          <p:cNvSpPr/>
          <p:nvPr/>
        </p:nvSpPr>
        <p:spPr>
          <a:xfrm>
            <a:off x="5985197" y="3646959"/>
            <a:ext cx="2662684" cy="302344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240935" y="3703662"/>
            <a:ext cx="151135" cy="188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085954" y="4031159"/>
            <a:ext cx="246117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Regional Monitoring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085954" y="4237732"/>
            <a:ext cx="2461171" cy="43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Establish ongoing dashboards tracking regional performance trends and category concentration shifts over time.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2026-08-06T13:03:23Z</dcterms:created>
  <dcterms:modified xsi:type="dcterms:W3CDTF">2026-08-06T13:03:23Z</dcterms:modified>
</cp:coreProperties>
</file>