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embeddedFontLst>
    <p:embeddedFont>
      <p:font typeface="Noto Sans TC" panose="020B0604020202020204" charset="-128"/>
      <p:regular r:id="rId14"/>
    </p:embeddedFont>
    <p:embeddedFont>
      <p:font typeface="Noto Sans TC Bold" panose="020B0604020202020204" charset="-128"/>
      <p:regular r:id="rId15"/>
    </p:embeddedFont>
    <p:embeddedFont>
      <p:font typeface="Sora Medium"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20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7070C"/>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1060028"/>
            <a:ext cx="3902943" cy="442987"/>
          </a:xfrm>
          <a:prstGeom prst="rect">
            <a:avLst/>
          </a:prstGeom>
          <a:noFill/>
          <a:ln/>
        </p:spPr>
        <p:txBody>
          <a:bodyPr wrap="none" lIns="0" tIns="0" rIns="0" bIns="0" rtlCol="0" anchor="t"/>
          <a:lstStyle/>
          <a:p>
            <a:pPr marL="0" indent="0" algn="l">
              <a:lnSpc>
                <a:spcPct val="104000"/>
              </a:lnSpc>
              <a:buNone/>
            </a:pPr>
            <a:r>
              <a:rPr lang="en-US" sz="2750" dirty="0">
                <a:solidFill>
                  <a:srgbClr val="97B8FF"/>
                </a:solidFill>
                <a:latin typeface="Sora Medium" pitchFamily="34" charset="0"/>
                <a:ea typeface="Sora Medium" pitchFamily="34" charset="-122"/>
                <a:cs typeface="Sora Medium" pitchFamily="34" charset="-120"/>
              </a:rPr>
              <a:t>Supportlytics                                                        </a:t>
            </a:r>
            <a:endParaRPr lang="en-US" sz="2750" dirty="0"/>
          </a:p>
        </p:txBody>
      </p:sp>
      <p:sp>
        <p:nvSpPr>
          <p:cNvPr id="3" name="Text 1"/>
          <p:cNvSpPr/>
          <p:nvPr/>
        </p:nvSpPr>
        <p:spPr>
          <a:xfrm>
            <a:off x="4749701" y="1045815"/>
            <a:ext cx="4360143" cy="226814"/>
          </a:xfrm>
          <a:prstGeom prst="rect">
            <a:avLst/>
          </a:prstGeom>
          <a:noFill/>
          <a:ln/>
        </p:spPr>
        <p:txBody>
          <a:bodyPr wrap="none" lIns="0" tIns="0" rIns="0" bIns="0" rtlCol="0" anchor="t"/>
          <a:lstStyle/>
          <a:p>
            <a:pPr marL="0" indent="0" algn="l">
              <a:lnSpc>
                <a:spcPct val="133000"/>
              </a:lnSpc>
              <a:buNone/>
            </a:pPr>
            <a:endParaRPr lang="en-US" sz="1100" dirty="0"/>
          </a:p>
        </p:txBody>
      </p:sp>
      <p:sp>
        <p:nvSpPr>
          <p:cNvPr id="4" name="Text 2"/>
          <p:cNvSpPr/>
          <p:nvPr/>
        </p:nvSpPr>
        <p:spPr>
          <a:xfrm>
            <a:off x="496119" y="1857375"/>
            <a:ext cx="8151763" cy="531614"/>
          </a:xfrm>
          <a:prstGeom prst="rect">
            <a:avLst/>
          </a:prstGeom>
          <a:noFill/>
          <a:ln/>
        </p:spPr>
        <p:txBody>
          <a:bodyPr wrap="square" lIns="0" tIns="0" rIns="0" bIns="0" rtlCol="0" anchor="t">
            <a:normAutofit/>
          </a:bodyPr>
          <a:lstStyle/>
          <a:p>
            <a:pPr marL="0" indent="0" algn="l">
              <a:lnSpc>
                <a:spcPct val="104000"/>
              </a:lnSpc>
              <a:buNone/>
            </a:pPr>
            <a:r>
              <a:rPr lang="en-US" sz="1650" dirty="0">
                <a:solidFill>
                  <a:srgbClr val="97B8FF"/>
                </a:solidFill>
                <a:latin typeface="Sora Medium" pitchFamily="34" charset="0"/>
                <a:ea typeface="Sora Medium" pitchFamily="34" charset="-122"/>
                <a:cs typeface="Sora Medium" pitchFamily="34" charset="-120"/>
              </a:rPr>
              <a:t>Data-Driven Optimization of IT Support Team Performance Using Advanced Analytics</a:t>
            </a:r>
            <a:endParaRPr lang="en-US" sz="1650" dirty="0"/>
          </a:p>
        </p:txBody>
      </p:sp>
      <p:sp>
        <p:nvSpPr>
          <p:cNvPr id="5" name="Shape 3"/>
          <p:cNvSpPr/>
          <p:nvPr/>
        </p:nvSpPr>
        <p:spPr>
          <a:xfrm>
            <a:off x="496119" y="2637011"/>
            <a:ext cx="8151763" cy="19050"/>
          </a:xfrm>
          <a:prstGeom prst="roundRect">
            <a:avLst>
              <a:gd name="adj" fmla="val 60000"/>
            </a:avLst>
          </a:prstGeom>
          <a:solidFill>
            <a:srgbClr val="E0D6DE">
              <a:alpha val="50000"/>
            </a:srgbClr>
          </a:solidFill>
          <a:ln/>
        </p:spPr>
      </p:sp>
      <p:sp>
        <p:nvSpPr>
          <p:cNvPr id="6" name="Shape 4"/>
          <p:cNvSpPr/>
          <p:nvPr/>
        </p:nvSpPr>
        <p:spPr>
          <a:xfrm>
            <a:off x="496119" y="2850952"/>
            <a:ext cx="1426964" cy="215354"/>
          </a:xfrm>
          <a:prstGeom prst="roundRect">
            <a:avLst>
              <a:gd name="adj" fmla="val 7900"/>
            </a:avLst>
          </a:prstGeom>
          <a:solidFill>
            <a:srgbClr val="00184D"/>
          </a:solidFill>
          <a:ln/>
        </p:spPr>
      </p:sp>
      <p:sp>
        <p:nvSpPr>
          <p:cNvPr id="7" name="Text 5"/>
          <p:cNvSpPr/>
          <p:nvPr/>
        </p:nvSpPr>
        <p:spPr>
          <a:xfrm>
            <a:off x="581174" y="2893442"/>
            <a:ext cx="1714054" cy="130373"/>
          </a:xfrm>
          <a:prstGeom prst="rect">
            <a:avLst/>
          </a:prstGeom>
          <a:noFill/>
          <a:ln/>
        </p:spPr>
        <p:txBody>
          <a:bodyPr wrap="none" lIns="0" tIns="0" rIns="0" bIns="0" rtlCol="0" anchor="t"/>
          <a:lstStyle/>
          <a:p>
            <a:pPr marL="0" indent="0" algn="l">
              <a:lnSpc>
                <a:spcPct val="96000"/>
              </a:lnSpc>
              <a:buNone/>
            </a:pPr>
            <a:r>
              <a:rPr lang="en-US" sz="850" dirty="0">
                <a:solidFill>
                  <a:srgbClr val="E0D6DE"/>
                </a:solidFill>
                <a:latin typeface="Noto Sans TC" pitchFamily="34" charset="0"/>
                <a:ea typeface="Noto Sans TC" pitchFamily="34" charset="-122"/>
                <a:cs typeface="Noto Sans TC" pitchFamily="34" charset="-120"/>
              </a:rPr>
              <a:t>INFOSYS SPRINGBOARD</a:t>
            </a:r>
            <a:endParaRPr lang="en-US" sz="850" dirty="0"/>
          </a:p>
        </p:txBody>
      </p:sp>
      <p:sp>
        <p:nvSpPr>
          <p:cNvPr id="8" name="Shape 6"/>
          <p:cNvSpPr/>
          <p:nvPr/>
        </p:nvSpPr>
        <p:spPr>
          <a:xfrm>
            <a:off x="1993925" y="2850952"/>
            <a:ext cx="1302767" cy="215354"/>
          </a:xfrm>
          <a:prstGeom prst="roundRect">
            <a:avLst>
              <a:gd name="adj" fmla="val 7900"/>
            </a:avLst>
          </a:prstGeom>
          <a:noFill/>
          <a:ln w="4763">
            <a:solidFill>
              <a:srgbClr val="97B8FF"/>
            </a:solidFill>
            <a:prstDash val="solid"/>
          </a:ln>
        </p:spPr>
      </p:sp>
      <p:sp>
        <p:nvSpPr>
          <p:cNvPr id="9" name="Text 7"/>
          <p:cNvSpPr/>
          <p:nvPr/>
        </p:nvSpPr>
        <p:spPr>
          <a:xfrm>
            <a:off x="2078980" y="2893442"/>
            <a:ext cx="1589856" cy="130373"/>
          </a:xfrm>
          <a:prstGeom prst="rect">
            <a:avLst/>
          </a:prstGeom>
          <a:noFill/>
          <a:ln/>
        </p:spPr>
        <p:txBody>
          <a:bodyPr wrap="none" lIns="0" tIns="0" rIns="0" bIns="0" rtlCol="0" anchor="t"/>
          <a:lstStyle/>
          <a:p>
            <a:pPr marL="0" indent="0" algn="l">
              <a:lnSpc>
                <a:spcPct val="96000"/>
              </a:lnSpc>
              <a:buNone/>
            </a:pPr>
            <a:r>
              <a:rPr lang="en-US" sz="850" dirty="0">
                <a:solidFill>
                  <a:srgbClr val="97B8FF"/>
                </a:solidFill>
                <a:latin typeface="Noto Sans TC" pitchFamily="34" charset="0"/>
                <a:ea typeface="Noto Sans TC" pitchFamily="34" charset="-122"/>
                <a:cs typeface="Noto Sans TC" pitchFamily="34" charset="-120"/>
              </a:rPr>
              <a:t>MILESTONE 1 REVIEW</a:t>
            </a:r>
            <a:endParaRPr lang="en-US" sz="850" dirty="0"/>
          </a:p>
        </p:txBody>
      </p:sp>
      <p:sp>
        <p:nvSpPr>
          <p:cNvPr id="10" name="Text 8"/>
          <p:cNvSpPr/>
          <p:nvPr/>
        </p:nvSpPr>
        <p:spPr>
          <a:xfrm>
            <a:off x="496119" y="3225775"/>
            <a:ext cx="8151763" cy="999381"/>
          </a:xfrm>
          <a:prstGeom prst="rect">
            <a:avLst/>
          </a:prstGeom>
          <a:noFill/>
          <a:ln/>
        </p:spPr>
        <p:txBody>
          <a:bodyPr wrap="square" lIns="0" tIns="0" rIns="0" bIns="0" rtlCol="0" anchor="t"/>
          <a:lstStyle/>
          <a:p>
            <a:pPr marL="0" indent="0" algn="l">
              <a:lnSpc>
                <a:spcPct val="133000"/>
              </a:lnSpc>
              <a:spcAft>
                <a:spcPts val="1250"/>
              </a:spcAft>
              <a:buNone/>
            </a:pPr>
            <a:r>
              <a:rPr lang="en-US" sz="1100" dirty="0">
                <a:solidFill>
                  <a:srgbClr val="E0D6DE"/>
                </a:solidFill>
                <a:latin typeface="Noto Sans TC" pitchFamily="34" charset="0"/>
                <a:ea typeface="Noto Sans TC" pitchFamily="34" charset="-122"/>
                <a:cs typeface="Noto Sans TC" pitchFamily="34" charset="-120"/>
              </a:rPr>
              <a:t>                                                                                                                                                                                                  </a:t>
            </a:r>
            <a:endParaRPr lang="en-US" sz="1100" dirty="0"/>
          </a:p>
          <a:p>
            <a:pPr marL="0" indent="0" algn="l">
              <a:lnSpc>
                <a:spcPct val="133000"/>
              </a:lnSpc>
              <a:spcAft>
                <a:spcPts val="1250"/>
              </a:spcAft>
              <a:buNone/>
            </a:pPr>
            <a:r>
              <a:rPr lang="en-US" sz="1100" dirty="0">
                <a:solidFill>
                  <a:srgbClr val="E0D6DE"/>
                </a:solidFill>
                <a:latin typeface="Noto Sans TC" pitchFamily="34" charset="0"/>
                <a:ea typeface="Noto Sans TC" pitchFamily="34" charset="-122"/>
                <a:cs typeface="Noto Sans TC" pitchFamily="34" charset="-120"/>
              </a:rPr>
              <a:t>                                                                                                                                                                                       Presented by                                                                                                           </a:t>
            </a:r>
            <a:endParaRPr lang="en-US" sz="1100" dirty="0"/>
          </a:p>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                                                                                                                                                                                               Uma Parvathi Devi Nakireddy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961951"/>
            <a:ext cx="8151763" cy="221456"/>
          </a:xfrm>
          <a:prstGeom prst="rect">
            <a:avLst/>
          </a:prstGeom>
          <a:noFill/>
          <a:ln/>
        </p:spPr>
        <p:txBody>
          <a:bodyPr wrap="none" lIns="0" tIns="0" rIns="0" bIns="0" rtlCol="0" anchor="t"/>
          <a:lstStyle/>
          <a:p>
            <a:pPr marL="0" indent="0" algn="l">
              <a:lnSpc>
                <a:spcPct val="104000"/>
              </a:lnSpc>
              <a:buNone/>
            </a:pPr>
            <a:r>
              <a:rPr lang="en-US" sz="1350" dirty="0">
                <a:solidFill>
                  <a:srgbClr val="97B8FF"/>
                </a:solidFill>
                <a:latin typeface="Sora Medium" pitchFamily="34" charset="0"/>
                <a:ea typeface="Sora Medium" pitchFamily="34" charset="-122"/>
                <a:cs typeface="Sora Medium" pitchFamily="34" charset="-120"/>
              </a:rPr>
              <a:t>Project Overview</a:t>
            </a:r>
            <a:endParaRPr lang="en-US" sz="1350" dirty="0"/>
          </a:p>
        </p:txBody>
      </p:sp>
      <p:sp>
        <p:nvSpPr>
          <p:cNvPr id="3" name="Text 1"/>
          <p:cNvSpPr/>
          <p:nvPr/>
        </p:nvSpPr>
        <p:spPr>
          <a:xfrm>
            <a:off x="496119" y="1240110"/>
            <a:ext cx="8151763" cy="88597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97B8FF"/>
                </a:solidFill>
                <a:latin typeface="Sora Medium" pitchFamily="34" charset="0"/>
                <a:ea typeface="Sora Medium" pitchFamily="34" charset="-122"/>
                <a:cs typeface="Sora Medium" pitchFamily="34" charset="-120"/>
              </a:rPr>
              <a:t>Turning IT Support Data into Actionable Intelligence</a:t>
            </a:r>
            <a:endParaRPr lang="en-US" sz="2750" dirty="0"/>
          </a:p>
        </p:txBody>
      </p:sp>
      <p:sp>
        <p:nvSpPr>
          <p:cNvPr id="4" name="Text 2"/>
          <p:cNvSpPr/>
          <p:nvPr/>
        </p:nvSpPr>
        <p:spPr>
          <a:xfrm>
            <a:off x="496119" y="2466231"/>
            <a:ext cx="3902943" cy="158769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Supportlytics is designed to analyze IT support ticket data in a structured way. Instead of looking at individual tickets, the project focuses on understanding overall support performance by organizing the data, creating meaningful features, and preparing it for detailed analysis and dashboard development. This helps convert raw operational data into valuable insights for decision-making</a:t>
            </a:r>
            <a:endParaRPr lang="en-US" sz="1100" dirty="0"/>
          </a:p>
        </p:txBody>
      </p:sp>
      <p:sp>
        <p:nvSpPr>
          <p:cNvPr id="5" name="Shape 3"/>
          <p:cNvSpPr/>
          <p:nvPr/>
        </p:nvSpPr>
        <p:spPr>
          <a:xfrm>
            <a:off x="4647605" y="2338685"/>
            <a:ext cx="4107135" cy="1842790"/>
          </a:xfrm>
          <a:prstGeom prst="roundRect">
            <a:avLst>
              <a:gd name="adj" fmla="val 1154"/>
            </a:avLst>
          </a:prstGeom>
          <a:solidFill>
            <a:srgbClr val="1E3A8A"/>
          </a:solidFill>
          <a:ln/>
        </p:spPr>
      </p:sp>
      <p:sp>
        <p:nvSpPr>
          <p:cNvPr id="6" name="Text 4"/>
          <p:cNvSpPr/>
          <p:nvPr/>
        </p:nvSpPr>
        <p:spPr>
          <a:xfrm>
            <a:off x="4789363" y="2480444"/>
            <a:ext cx="3823618" cy="221456"/>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Sora Medium" pitchFamily="34" charset="0"/>
                <a:ea typeface="Sora Medium" pitchFamily="34" charset="-122"/>
                <a:cs typeface="Sora Medium" pitchFamily="34" charset="-120"/>
              </a:rPr>
              <a:t>Project Objective</a:t>
            </a:r>
            <a:endParaRPr lang="en-US" sz="1350" dirty="0"/>
          </a:p>
        </p:txBody>
      </p:sp>
      <p:sp>
        <p:nvSpPr>
          <p:cNvPr id="7" name="Text 5"/>
          <p:cNvSpPr/>
          <p:nvPr/>
        </p:nvSpPr>
        <p:spPr>
          <a:xfrm>
            <a:off x="4789363" y="2843659"/>
            <a:ext cx="3823618"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Analyze IT support ticket data to measure team performance, identify recurring issues, and prepare structured data for advanced dashboard development.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681112"/>
            <a:ext cx="8151763" cy="221456"/>
          </a:xfrm>
          <a:prstGeom prst="rect">
            <a:avLst/>
          </a:prstGeom>
          <a:noFill/>
          <a:ln/>
        </p:spPr>
        <p:txBody>
          <a:bodyPr wrap="none" lIns="0" tIns="0" rIns="0" bIns="0" rtlCol="0" anchor="t"/>
          <a:lstStyle/>
          <a:p>
            <a:pPr marL="0" indent="0" algn="l">
              <a:lnSpc>
                <a:spcPct val="104000"/>
              </a:lnSpc>
              <a:buNone/>
            </a:pPr>
            <a:r>
              <a:rPr lang="en-US" sz="1350" dirty="0">
                <a:solidFill>
                  <a:srgbClr val="97B8FF"/>
                </a:solidFill>
                <a:latin typeface="Sora Medium" pitchFamily="34" charset="0"/>
                <a:ea typeface="Sora Medium" pitchFamily="34" charset="-122"/>
                <a:cs typeface="Sora Medium" pitchFamily="34" charset="-120"/>
              </a:rPr>
              <a:t>Project Objectives</a:t>
            </a:r>
            <a:endParaRPr lang="en-US" sz="1350" dirty="0"/>
          </a:p>
        </p:txBody>
      </p:sp>
      <p:sp>
        <p:nvSpPr>
          <p:cNvPr id="3" name="Text 1"/>
          <p:cNvSpPr/>
          <p:nvPr/>
        </p:nvSpPr>
        <p:spPr>
          <a:xfrm>
            <a:off x="496119" y="959272"/>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97B8FF"/>
                </a:solidFill>
                <a:latin typeface="Sora Medium" pitchFamily="34" charset="0"/>
                <a:ea typeface="Sora Medium" pitchFamily="34" charset="-122"/>
                <a:cs typeface="Sora Medium" pitchFamily="34" charset="-120"/>
              </a:rPr>
              <a:t>Key Goals for Milestone 1</a:t>
            </a:r>
            <a:endParaRPr lang="en-US" sz="27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614860"/>
            <a:ext cx="354360" cy="354360"/>
          </a:xfrm>
          <a:prstGeom prst="rect">
            <a:avLst/>
          </a:prstGeom>
        </p:spPr>
      </p:pic>
      <p:sp>
        <p:nvSpPr>
          <p:cNvPr id="5" name="Text 2"/>
          <p:cNvSpPr/>
          <p:nvPr/>
        </p:nvSpPr>
        <p:spPr>
          <a:xfrm>
            <a:off x="1027658" y="1614860"/>
            <a:ext cx="3455715"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Analyze Ticket Data</a:t>
            </a:r>
            <a:endParaRPr lang="en-US" sz="1350" dirty="0"/>
          </a:p>
        </p:txBody>
      </p:sp>
      <p:sp>
        <p:nvSpPr>
          <p:cNvPr id="6" name="Text 3"/>
          <p:cNvSpPr/>
          <p:nvPr/>
        </p:nvSpPr>
        <p:spPr>
          <a:xfrm>
            <a:off x="1027658" y="1921371"/>
            <a:ext cx="345571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Examine IT support ticket records to understand data structure and content.</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60553" y="1614860"/>
            <a:ext cx="354360" cy="354360"/>
          </a:xfrm>
          <a:prstGeom prst="rect">
            <a:avLst/>
          </a:prstGeom>
        </p:spPr>
      </p:pic>
      <p:sp>
        <p:nvSpPr>
          <p:cNvPr id="8" name="Text 4"/>
          <p:cNvSpPr/>
          <p:nvPr/>
        </p:nvSpPr>
        <p:spPr>
          <a:xfrm>
            <a:off x="5192092" y="1614860"/>
            <a:ext cx="3455789"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Understand Team Performance</a:t>
            </a:r>
            <a:endParaRPr lang="en-US" sz="1350" dirty="0"/>
          </a:p>
        </p:txBody>
      </p:sp>
      <p:sp>
        <p:nvSpPr>
          <p:cNvPr id="9" name="Text 5"/>
          <p:cNvSpPr/>
          <p:nvPr/>
        </p:nvSpPr>
        <p:spPr>
          <a:xfrm>
            <a:off x="5192092" y="1921371"/>
            <a:ext cx="3455789"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Evaluate support team efficiency through ticket assignment and resolution metrics.</a:t>
            </a:r>
            <a:endParaRPr lang="en-US" sz="11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2658517"/>
            <a:ext cx="354360" cy="354360"/>
          </a:xfrm>
          <a:prstGeom prst="rect">
            <a:avLst/>
          </a:prstGeom>
        </p:spPr>
      </p:pic>
      <p:sp>
        <p:nvSpPr>
          <p:cNvPr id="11" name="Text 6"/>
          <p:cNvSpPr/>
          <p:nvPr/>
        </p:nvSpPr>
        <p:spPr>
          <a:xfrm>
            <a:off x="1027658" y="2658517"/>
            <a:ext cx="3455715"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Measure Resolution Efficiency</a:t>
            </a:r>
            <a:endParaRPr lang="en-US" sz="1350" dirty="0"/>
          </a:p>
        </p:txBody>
      </p:sp>
      <p:sp>
        <p:nvSpPr>
          <p:cNvPr id="12" name="Text 7"/>
          <p:cNvSpPr/>
          <p:nvPr/>
        </p:nvSpPr>
        <p:spPr>
          <a:xfrm>
            <a:off x="1027658" y="2965028"/>
            <a:ext cx="345571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Track how quickly and effectively tickets are resolved across categories.</a:t>
            </a:r>
            <a:endParaRPr lang="en-US" sz="11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60553" y="2658517"/>
            <a:ext cx="354360" cy="354360"/>
          </a:xfrm>
          <a:prstGeom prst="rect">
            <a:avLst/>
          </a:prstGeom>
        </p:spPr>
      </p:pic>
      <p:sp>
        <p:nvSpPr>
          <p:cNvPr id="14" name="Text 8"/>
          <p:cNvSpPr/>
          <p:nvPr/>
        </p:nvSpPr>
        <p:spPr>
          <a:xfrm>
            <a:off x="5192092" y="2658517"/>
            <a:ext cx="3455789"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Identify Recurring Issues</a:t>
            </a:r>
            <a:endParaRPr lang="en-US" sz="1350" dirty="0"/>
          </a:p>
        </p:txBody>
      </p:sp>
      <p:sp>
        <p:nvSpPr>
          <p:cNvPr id="15" name="Text 9"/>
          <p:cNvSpPr/>
          <p:nvPr/>
        </p:nvSpPr>
        <p:spPr>
          <a:xfrm>
            <a:off x="5192092" y="2965028"/>
            <a:ext cx="3455789"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Spot patterns and frequent problem types to inform proactive solutions.</a:t>
            </a:r>
            <a:endParaRPr lang="en-US" sz="11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6119" y="3702174"/>
            <a:ext cx="354360" cy="354360"/>
          </a:xfrm>
          <a:prstGeom prst="rect">
            <a:avLst/>
          </a:prstGeom>
        </p:spPr>
      </p:pic>
      <p:sp>
        <p:nvSpPr>
          <p:cNvPr id="17" name="Text 10"/>
          <p:cNvSpPr/>
          <p:nvPr/>
        </p:nvSpPr>
        <p:spPr>
          <a:xfrm>
            <a:off x="1027658" y="3702174"/>
            <a:ext cx="3455715"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Prepare for Dashboard Development</a:t>
            </a:r>
            <a:endParaRPr lang="en-US" sz="1350" dirty="0"/>
          </a:p>
        </p:txBody>
      </p:sp>
      <p:sp>
        <p:nvSpPr>
          <p:cNvPr id="18" name="Text 11"/>
          <p:cNvSpPr/>
          <p:nvPr/>
        </p:nvSpPr>
        <p:spPr>
          <a:xfrm>
            <a:off x="1027658" y="4008686"/>
            <a:ext cx="345571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Clean and structure data to enable future Power BI dashboard creation.</a:t>
            </a:r>
            <a:endParaRPr lang="en-US" sz="110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60553" y="3702174"/>
            <a:ext cx="354360" cy="354360"/>
          </a:xfrm>
          <a:prstGeom prst="rect">
            <a:avLst/>
          </a:prstGeom>
        </p:spPr>
      </p:pic>
      <p:sp>
        <p:nvSpPr>
          <p:cNvPr id="20" name="Text 12"/>
          <p:cNvSpPr/>
          <p:nvPr/>
        </p:nvSpPr>
        <p:spPr>
          <a:xfrm>
            <a:off x="5192092" y="3702174"/>
            <a:ext cx="3455789"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Generate Business Insights</a:t>
            </a:r>
            <a:endParaRPr lang="en-US" sz="1350" dirty="0"/>
          </a:p>
        </p:txBody>
      </p:sp>
      <p:sp>
        <p:nvSpPr>
          <p:cNvPr id="21" name="Text 13"/>
          <p:cNvSpPr/>
          <p:nvPr/>
        </p:nvSpPr>
        <p:spPr>
          <a:xfrm>
            <a:off x="5192092" y="4008686"/>
            <a:ext cx="3455789"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Transform raw ticket data into meaningful, decision-ready analytics.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702469"/>
            <a:ext cx="8151763" cy="221456"/>
          </a:xfrm>
          <a:prstGeom prst="rect">
            <a:avLst/>
          </a:prstGeom>
          <a:noFill/>
          <a:ln/>
        </p:spPr>
        <p:txBody>
          <a:bodyPr wrap="none" lIns="0" tIns="0" rIns="0" bIns="0" rtlCol="0" anchor="t"/>
          <a:lstStyle/>
          <a:p>
            <a:pPr marL="0" indent="0" algn="l">
              <a:lnSpc>
                <a:spcPct val="104000"/>
              </a:lnSpc>
              <a:buNone/>
            </a:pPr>
            <a:r>
              <a:rPr lang="en-US" sz="1350" dirty="0">
                <a:solidFill>
                  <a:srgbClr val="97B8FF"/>
                </a:solidFill>
                <a:latin typeface="Sora Medium" pitchFamily="34" charset="0"/>
                <a:ea typeface="Sora Medium" pitchFamily="34" charset="-122"/>
                <a:cs typeface="Sora Medium" pitchFamily="34" charset="-120"/>
              </a:rPr>
              <a:t>Dataset Overview</a:t>
            </a:r>
            <a:endParaRPr lang="en-US" sz="1350" dirty="0"/>
          </a:p>
        </p:txBody>
      </p:sp>
      <p:sp>
        <p:nvSpPr>
          <p:cNvPr id="3" name="Text 1"/>
          <p:cNvSpPr/>
          <p:nvPr/>
        </p:nvSpPr>
        <p:spPr>
          <a:xfrm>
            <a:off x="496119" y="980629"/>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97B8FF"/>
                </a:solidFill>
                <a:latin typeface="Sora Medium" pitchFamily="34" charset="0"/>
                <a:ea typeface="Sora Medium" pitchFamily="34" charset="-122"/>
                <a:cs typeface="Sora Medium" pitchFamily="34" charset="-120"/>
              </a:rPr>
              <a:t>20,000 Records of IT Support Intelligence</a:t>
            </a:r>
            <a:endParaRPr lang="en-US" sz="2750" dirty="0"/>
          </a:p>
        </p:txBody>
      </p:sp>
      <p:sp>
        <p:nvSpPr>
          <p:cNvPr id="4" name="Text 2"/>
          <p:cNvSpPr/>
          <p:nvPr/>
        </p:nvSpPr>
        <p:spPr>
          <a:xfrm>
            <a:off x="496119" y="1480319"/>
            <a:ext cx="8151763" cy="221456"/>
          </a:xfrm>
          <a:prstGeom prst="rect">
            <a:avLst/>
          </a:prstGeom>
          <a:noFill/>
          <a:ln/>
        </p:spPr>
        <p:txBody>
          <a:bodyPr wrap="none" lIns="0" tIns="0" rIns="0" bIns="0" rtlCol="0" anchor="t"/>
          <a:lstStyle/>
          <a:p>
            <a:pPr marL="0" indent="0" algn="l">
              <a:lnSpc>
                <a:spcPct val="104000"/>
              </a:lnSpc>
              <a:buNone/>
            </a:pPr>
            <a:r>
              <a:rPr lang="en-US" sz="1350" dirty="0">
                <a:solidFill>
                  <a:srgbClr val="97B8FF"/>
                </a:solidFill>
                <a:latin typeface="Sora Medium" pitchFamily="34" charset="0"/>
                <a:ea typeface="Sora Medium" pitchFamily="34" charset="-122"/>
                <a:cs typeface="Sora Medium" pitchFamily="34" charset="-120"/>
              </a:rPr>
              <a:t>Dataset Summary</a:t>
            </a:r>
            <a:endParaRPr lang="en-US" sz="1350" dirty="0"/>
          </a:p>
        </p:txBody>
      </p:sp>
      <p:sp>
        <p:nvSpPr>
          <p:cNvPr id="5" name="Text 3"/>
          <p:cNvSpPr/>
          <p:nvPr/>
        </p:nvSpPr>
        <p:spPr>
          <a:xfrm>
            <a:off x="496119" y="1985218"/>
            <a:ext cx="3987254" cy="467841"/>
          </a:xfrm>
          <a:prstGeom prst="rect">
            <a:avLst/>
          </a:prstGeom>
          <a:noFill/>
          <a:ln/>
        </p:spPr>
        <p:txBody>
          <a:bodyPr wrap="none" lIns="0" tIns="0" rIns="0" bIns="0" rtlCol="0" anchor="t"/>
          <a:lstStyle/>
          <a:p>
            <a:pPr marL="0" indent="0" algn="ctr">
              <a:lnSpc>
                <a:spcPct val="83000"/>
              </a:lnSpc>
              <a:buNone/>
            </a:pPr>
            <a:r>
              <a:rPr lang="en-US" sz="3650" dirty="0">
                <a:solidFill>
                  <a:srgbClr val="E0D6DE"/>
                </a:solidFill>
                <a:latin typeface="Sora Medium" pitchFamily="34" charset="0"/>
                <a:ea typeface="Sora Medium" pitchFamily="34" charset="-122"/>
                <a:cs typeface="Sora Medium" pitchFamily="34" charset="-120"/>
              </a:rPr>
              <a:t>20K</a:t>
            </a:r>
            <a:endParaRPr lang="en-US" sz="3650" dirty="0"/>
          </a:p>
        </p:txBody>
      </p:sp>
      <p:sp>
        <p:nvSpPr>
          <p:cNvPr id="6" name="Text 4"/>
          <p:cNvSpPr/>
          <p:nvPr/>
        </p:nvSpPr>
        <p:spPr>
          <a:xfrm>
            <a:off x="496119" y="2630165"/>
            <a:ext cx="3987254" cy="221456"/>
          </a:xfrm>
          <a:prstGeom prst="rect">
            <a:avLst/>
          </a:prstGeom>
          <a:noFill/>
          <a:ln/>
        </p:spPr>
        <p:txBody>
          <a:bodyPr wrap="none" lIns="0" tIns="0" rIns="0" bIns="0" rtlCol="0" anchor="t"/>
          <a:lstStyle/>
          <a:p>
            <a:pPr marL="0" indent="0" algn="ctr">
              <a:lnSpc>
                <a:spcPct val="104000"/>
              </a:lnSpc>
              <a:buNone/>
            </a:pPr>
            <a:r>
              <a:rPr lang="en-US" sz="1350" dirty="0">
                <a:solidFill>
                  <a:srgbClr val="E0D6DE"/>
                </a:solidFill>
                <a:latin typeface="Sora Medium" pitchFamily="34" charset="0"/>
                <a:ea typeface="Sora Medium" pitchFamily="34" charset="-122"/>
                <a:cs typeface="Sora Medium" pitchFamily="34" charset="-120"/>
              </a:rPr>
              <a:t>Total Records</a:t>
            </a:r>
            <a:endParaRPr lang="en-US" sz="1350" dirty="0"/>
          </a:p>
        </p:txBody>
      </p:sp>
      <p:sp>
        <p:nvSpPr>
          <p:cNvPr id="7" name="Text 5"/>
          <p:cNvSpPr/>
          <p:nvPr/>
        </p:nvSpPr>
        <p:spPr>
          <a:xfrm>
            <a:off x="4660553" y="1985218"/>
            <a:ext cx="3987329" cy="467841"/>
          </a:xfrm>
          <a:prstGeom prst="rect">
            <a:avLst/>
          </a:prstGeom>
          <a:noFill/>
          <a:ln/>
        </p:spPr>
        <p:txBody>
          <a:bodyPr wrap="none" lIns="0" tIns="0" rIns="0" bIns="0" rtlCol="0" anchor="t"/>
          <a:lstStyle/>
          <a:p>
            <a:pPr marL="0" indent="0" algn="ctr">
              <a:lnSpc>
                <a:spcPct val="83000"/>
              </a:lnSpc>
              <a:buNone/>
            </a:pPr>
            <a:r>
              <a:rPr lang="en-US" sz="3650" dirty="0">
                <a:solidFill>
                  <a:srgbClr val="E0D6DE"/>
                </a:solidFill>
                <a:latin typeface="Sora Medium" pitchFamily="34" charset="0"/>
                <a:ea typeface="Sora Medium" pitchFamily="34" charset="-122"/>
                <a:cs typeface="Sora Medium" pitchFamily="34" charset="-120"/>
              </a:rPr>
              <a:t>0</a:t>
            </a:r>
            <a:endParaRPr lang="en-US" sz="3650" dirty="0"/>
          </a:p>
        </p:txBody>
      </p:sp>
      <p:sp>
        <p:nvSpPr>
          <p:cNvPr id="8" name="Text 6"/>
          <p:cNvSpPr/>
          <p:nvPr/>
        </p:nvSpPr>
        <p:spPr>
          <a:xfrm>
            <a:off x="4660553" y="2630165"/>
            <a:ext cx="3987329" cy="221456"/>
          </a:xfrm>
          <a:prstGeom prst="rect">
            <a:avLst/>
          </a:prstGeom>
          <a:noFill/>
          <a:ln/>
        </p:spPr>
        <p:txBody>
          <a:bodyPr wrap="none" lIns="0" tIns="0" rIns="0" bIns="0" rtlCol="0" anchor="t"/>
          <a:lstStyle/>
          <a:p>
            <a:pPr marL="0" indent="0" algn="ctr">
              <a:lnSpc>
                <a:spcPct val="104000"/>
              </a:lnSpc>
              <a:buNone/>
            </a:pPr>
            <a:r>
              <a:rPr lang="en-US" sz="1350" dirty="0">
                <a:solidFill>
                  <a:srgbClr val="E0D6DE"/>
                </a:solidFill>
                <a:latin typeface="Sora Medium" pitchFamily="34" charset="0"/>
                <a:ea typeface="Sora Medium" pitchFamily="34" charset="-122"/>
                <a:cs typeface="Sora Medium" pitchFamily="34" charset="-120"/>
              </a:rPr>
              <a:t>Missing Values</a:t>
            </a:r>
            <a:endParaRPr lang="en-US" sz="1350" dirty="0"/>
          </a:p>
        </p:txBody>
      </p:sp>
      <p:sp>
        <p:nvSpPr>
          <p:cNvPr id="9" name="Text 7"/>
          <p:cNvSpPr/>
          <p:nvPr/>
        </p:nvSpPr>
        <p:spPr>
          <a:xfrm>
            <a:off x="496119" y="3011091"/>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The dataset contains comprehensive IT support ticket information, verified for completeness and quality. After thorough validation, no missing values were found across any field.</a:t>
            </a:r>
            <a:endParaRPr lang="en-US" sz="1100" dirty="0"/>
          </a:p>
        </p:txBody>
      </p:sp>
      <p:pic>
        <p:nvPicPr>
          <p:cNvPr id="1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3624188"/>
            <a:ext cx="2622724" cy="816843"/>
          </a:xfrm>
          <a:prstGeom prst="rect">
            <a:avLst/>
          </a:prstGeom>
        </p:spPr>
      </p:pic>
      <p:sp>
        <p:nvSpPr>
          <p:cNvPr id="11" name="Text 8"/>
          <p:cNvSpPr/>
          <p:nvPr/>
        </p:nvSpPr>
        <p:spPr>
          <a:xfrm>
            <a:off x="637877" y="3765947"/>
            <a:ext cx="2339206"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Ticket Details</a:t>
            </a:r>
            <a:endParaRPr lang="en-US" sz="1350" dirty="0"/>
          </a:p>
        </p:txBody>
      </p:sp>
      <p:sp>
        <p:nvSpPr>
          <p:cNvPr id="12" name="Text 9"/>
          <p:cNvSpPr/>
          <p:nvPr/>
        </p:nvSpPr>
        <p:spPr>
          <a:xfrm>
            <a:off x="637877" y="4072458"/>
            <a:ext cx="2339206"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Priority, Status, Category</a:t>
            </a:r>
            <a:endParaRPr lang="en-US" sz="1100" dirty="0"/>
          </a:p>
        </p:txBody>
      </p:sp>
      <p:pic>
        <p:nvPicPr>
          <p:cNvPr id="13"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60601" y="3624188"/>
            <a:ext cx="2622724" cy="816843"/>
          </a:xfrm>
          <a:prstGeom prst="rect">
            <a:avLst/>
          </a:prstGeom>
        </p:spPr>
      </p:pic>
      <p:sp>
        <p:nvSpPr>
          <p:cNvPr id="14" name="Text 10"/>
          <p:cNvSpPr/>
          <p:nvPr/>
        </p:nvSpPr>
        <p:spPr>
          <a:xfrm>
            <a:off x="3402360" y="3765947"/>
            <a:ext cx="2339206"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Resolution Info</a:t>
            </a:r>
            <a:endParaRPr lang="en-US" sz="1350" dirty="0"/>
          </a:p>
        </p:txBody>
      </p:sp>
      <p:sp>
        <p:nvSpPr>
          <p:cNvPr id="15" name="Text 11"/>
          <p:cNvSpPr/>
          <p:nvPr/>
        </p:nvSpPr>
        <p:spPr>
          <a:xfrm>
            <a:off x="3402360" y="4072458"/>
            <a:ext cx="2339206"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Assigned Team, Resolution Date</a:t>
            </a:r>
            <a:endParaRPr lang="en-US" sz="1100" dirty="0"/>
          </a:p>
        </p:txBody>
      </p:sp>
      <p:pic>
        <p:nvPicPr>
          <p:cNvPr id="16"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25083" y="3624188"/>
            <a:ext cx="2622724" cy="816843"/>
          </a:xfrm>
          <a:prstGeom prst="rect">
            <a:avLst/>
          </a:prstGeom>
        </p:spPr>
      </p:pic>
      <p:sp>
        <p:nvSpPr>
          <p:cNvPr id="17" name="Text 12"/>
          <p:cNvSpPr/>
          <p:nvPr/>
        </p:nvSpPr>
        <p:spPr>
          <a:xfrm>
            <a:off x="6166842" y="3765947"/>
            <a:ext cx="2339206"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Customer Info</a:t>
            </a:r>
            <a:endParaRPr lang="en-US" sz="1350" dirty="0"/>
          </a:p>
        </p:txBody>
      </p:sp>
      <p:sp>
        <p:nvSpPr>
          <p:cNvPr id="18" name="Text 13"/>
          <p:cNvSpPr/>
          <p:nvPr/>
        </p:nvSpPr>
        <p:spPr>
          <a:xfrm>
            <a:off x="6166842" y="4072458"/>
            <a:ext cx="2339206"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Country, Customer Details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671438"/>
            <a:ext cx="8151763" cy="221456"/>
          </a:xfrm>
          <a:prstGeom prst="rect">
            <a:avLst/>
          </a:prstGeom>
          <a:noFill/>
          <a:ln/>
        </p:spPr>
        <p:txBody>
          <a:bodyPr wrap="none" lIns="0" tIns="0" rIns="0" bIns="0" rtlCol="0" anchor="t"/>
          <a:lstStyle/>
          <a:p>
            <a:pPr marL="0" indent="0" algn="l">
              <a:lnSpc>
                <a:spcPct val="104000"/>
              </a:lnSpc>
              <a:buNone/>
            </a:pPr>
            <a:r>
              <a:rPr lang="en-US" sz="1350" dirty="0">
                <a:solidFill>
                  <a:srgbClr val="97B8FF"/>
                </a:solidFill>
                <a:latin typeface="Sora Medium" pitchFamily="34" charset="0"/>
                <a:ea typeface="Sora Medium" pitchFamily="34" charset="-122"/>
                <a:cs typeface="Sora Medium" pitchFamily="34" charset="-120"/>
              </a:rPr>
              <a:t>Technology Stack</a:t>
            </a:r>
            <a:endParaRPr lang="en-US" sz="1350" dirty="0"/>
          </a:p>
        </p:txBody>
      </p:sp>
      <p:sp>
        <p:nvSpPr>
          <p:cNvPr id="3" name="Text 1"/>
          <p:cNvSpPr/>
          <p:nvPr/>
        </p:nvSpPr>
        <p:spPr>
          <a:xfrm>
            <a:off x="496119" y="949598"/>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97B8FF"/>
                </a:solidFill>
                <a:latin typeface="Sora Medium" pitchFamily="34" charset="0"/>
                <a:ea typeface="Sora Medium" pitchFamily="34" charset="-122"/>
                <a:cs typeface="Sora Medium" pitchFamily="34" charset="-120"/>
              </a:rPr>
              <a:t>Tools Powering the Analysis</a:t>
            </a:r>
            <a:endParaRPr lang="en-US" sz="2750" dirty="0"/>
          </a:p>
        </p:txBody>
      </p:sp>
      <p:pic>
        <p:nvPicPr>
          <p:cNvPr id="4" name="Image 0" descr="preencoded.png"/>
          <p:cNvPicPr>
            <a:picLocks noChangeAspect="1"/>
          </p:cNvPicPr>
          <p:nvPr/>
        </p:nvPicPr>
        <p:blipFill>
          <a:blip r:embed="rId3"/>
          <a:stretch>
            <a:fillRect/>
          </a:stretch>
        </p:blipFill>
        <p:spPr>
          <a:xfrm>
            <a:off x="496119" y="1605186"/>
            <a:ext cx="354360" cy="354360"/>
          </a:xfrm>
          <a:prstGeom prst="rect">
            <a:avLst/>
          </a:prstGeom>
        </p:spPr>
      </p:pic>
      <p:sp>
        <p:nvSpPr>
          <p:cNvPr id="5" name="Text 2"/>
          <p:cNvSpPr/>
          <p:nvPr/>
        </p:nvSpPr>
        <p:spPr>
          <a:xfrm>
            <a:off x="496119" y="2136725"/>
            <a:ext cx="2599134"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Python</a:t>
            </a:r>
            <a:endParaRPr lang="en-US" sz="1350" dirty="0"/>
          </a:p>
        </p:txBody>
      </p:sp>
      <p:sp>
        <p:nvSpPr>
          <p:cNvPr id="6" name="Text 3"/>
          <p:cNvSpPr/>
          <p:nvPr/>
        </p:nvSpPr>
        <p:spPr>
          <a:xfrm>
            <a:off x="496119" y="2443237"/>
            <a:ext cx="2599134"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Core programming language for data processing and analysis.</a:t>
            </a:r>
            <a:endParaRPr lang="en-US" sz="1100" dirty="0"/>
          </a:p>
        </p:txBody>
      </p:sp>
      <p:pic>
        <p:nvPicPr>
          <p:cNvPr id="7" name="Image 1" descr="preencoded.png"/>
          <p:cNvPicPr>
            <a:picLocks noChangeAspect="1"/>
          </p:cNvPicPr>
          <p:nvPr/>
        </p:nvPicPr>
        <p:blipFill>
          <a:blip r:embed="rId4"/>
          <a:stretch>
            <a:fillRect/>
          </a:stretch>
        </p:blipFill>
        <p:spPr>
          <a:xfrm>
            <a:off x="3272433" y="1605186"/>
            <a:ext cx="354360" cy="354360"/>
          </a:xfrm>
          <a:prstGeom prst="rect">
            <a:avLst/>
          </a:prstGeom>
        </p:spPr>
      </p:pic>
      <p:sp>
        <p:nvSpPr>
          <p:cNvPr id="8" name="Text 4"/>
          <p:cNvSpPr/>
          <p:nvPr/>
        </p:nvSpPr>
        <p:spPr>
          <a:xfrm>
            <a:off x="3272433" y="2136725"/>
            <a:ext cx="2599134"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Pandas</a:t>
            </a:r>
            <a:endParaRPr lang="en-US" sz="1350" dirty="0"/>
          </a:p>
        </p:txBody>
      </p:sp>
      <p:sp>
        <p:nvSpPr>
          <p:cNvPr id="9" name="Text 5"/>
          <p:cNvSpPr/>
          <p:nvPr/>
        </p:nvSpPr>
        <p:spPr>
          <a:xfrm>
            <a:off x="3272433" y="2443237"/>
            <a:ext cx="2599134"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Data manipulation library for cleaning and transformation.</a:t>
            </a:r>
            <a:endParaRPr lang="en-US" sz="1100" dirty="0"/>
          </a:p>
        </p:txBody>
      </p:sp>
      <p:pic>
        <p:nvPicPr>
          <p:cNvPr id="10" name="Image 2" descr="preencoded.png"/>
          <p:cNvPicPr>
            <a:picLocks noChangeAspect="1"/>
          </p:cNvPicPr>
          <p:nvPr/>
        </p:nvPicPr>
        <p:blipFill>
          <a:blip r:embed="rId5"/>
          <a:stretch>
            <a:fillRect/>
          </a:stretch>
        </p:blipFill>
        <p:spPr>
          <a:xfrm>
            <a:off x="6048747" y="1605186"/>
            <a:ext cx="354360" cy="354360"/>
          </a:xfrm>
          <a:prstGeom prst="rect">
            <a:avLst/>
          </a:prstGeom>
        </p:spPr>
      </p:pic>
      <p:sp>
        <p:nvSpPr>
          <p:cNvPr id="11" name="Text 6"/>
          <p:cNvSpPr/>
          <p:nvPr/>
        </p:nvSpPr>
        <p:spPr>
          <a:xfrm>
            <a:off x="6048747" y="2136725"/>
            <a:ext cx="2599134"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Microsoft Excel</a:t>
            </a:r>
            <a:endParaRPr lang="en-US" sz="1350" dirty="0"/>
          </a:p>
        </p:txBody>
      </p:sp>
      <p:sp>
        <p:nvSpPr>
          <p:cNvPr id="12" name="Text 7"/>
          <p:cNvSpPr/>
          <p:nvPr/>
        </p:nvSpPr>
        <p:spPr>
          <a:xfrm>
            <a:off x="6048747" y="2443237"/>
            <a:ext cx="2599134"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Initial data inspection and supplementary documentation.</a:t>
            </a:r>
            <a:endParaRPr lang="en-US" sz="1100" dirty="0"/>
          </a:p>
        </p:txBody>
      </p:sp>
      <p:pic>
        <p:nvPicPr>
          <p:cNvPr id="13" name="Image 3" descr="preencoded.png"/>
          <p:cNvPicPr>
            <a:picLocks noChangeAspect="1"/>
          </p:cNvPicPr>
          <p:nvPr/>
        </p:nvPicPr>
        <p:blipFill>
          <a:blip r:embed="rId6"/>
          <a:stretch>
            <a:fillRect/>
          </a:stretch>
        </p:blipFill>
        <p:spPr>
          <a:xfrm>
            <a:off x="496119" y="3180383"/>
            <a:ext cx="354360" cy="354360"/>
          </a:xfrm>
          <a:prstGeom prst="rect">
            <a:avLst/>
          </a:prstGeom>
        </p:spPr>
      </p:pic>
      <p:sp>
        <p:nvSpPr>
          <p:cNvPr id="14" name="Text 8"/>
          <p:cNvSpPr/>
          <p:nvPr/>
        </p:nvSpPr>
        <p:spPr>
          <a:xfrm>
            <a:off x="496119" y="3711922"/>
            <a:ext cx="2599134"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Power BI</a:t>
            </a:r>
            <a:endParaRPr lang="en-US" sz="1350" dirty="0"/>
          </a:p>
        </p:txBody>
      </p:sp>
      <p:sp>
        <p:nvSpPr>
          <p:cNvPr id="15" name="Text 9"/>
          <p:cNvSpPr/>
          <p:nvPr/>
        </p:nvSpPr>
        <p:spPr>
          <a:xfrm>
            <a:off x="496119" y="4018434"/>
            <a:ext cx="2599134"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Planned for dashboard development in the upcoming phase.</a:t>
            </a:r>
            <a:endParaRPr lang="en-US" sz="1100" dirty="0"/>
          </a:p>
        </p:txBody>
      </p:sp>
      <p:pic>
        <p:nvPicPr>
          <p:cNvPr id="16" name="Image 4" descr="preencoded.png"/>
          <p:cNvPicPr>
            <a:picLocks noChangeAspect="1"/>
          </p:cNvPicPr>
          <p:nvPr/>
        </p:nvPicPr>
        <p:blipFill>
          <a:blip r:embed="rId7"/>
          <a:stretch>
            <a:fillRect/>
          </a:stretch>
        </p:blipFill>
        <p:spPr>
          <a:xfrm>
            <a:off x="3272433" y="3180383"/>
            <a:ext cx="354360" cy="354360"/>
          </a:xfrm>
          <a:prstGeom prst="rect">
            <a:avLst/>
          </a:prstGeom>
        </p:spPr>
      </p:pic>
      <p:sp>
        <p:nvSpPr>
          <p:cNvPr id="17" name="Text 10"/>
          <p:cNvSpPr/>
          <p:nvPr/>
        </p:nvSpPr>
        <p:spPr>
          <a:xfrm>
            <a:off x="3272433" y="3711922"/>
            <a:ext cx="2599134"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VS Code</a:t>
            </a:r>
            <a:endParaRPr lang="en-US" sz="1350" dirty="0"/>
          </a:p>
        </p:txBody>
      </p:sp>
      <p:sp>
        <p:nvSpPr>
          <p:cNvPr id="18" name="Text 11"/>
          <p:cNvSpPr/>
          <p:nvPr/>
        </p:nvSpPr>
        <p:spPr>
          <a:xfrm>
            <a:off x="3272433" y="4018434"/>
            <a:ext cx="2599134"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Code editor used for writing, debugging, and managing project file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440531"/>
            <a:ext cx="2265759" cy="99715"/>
          </a:xfrm>
          <a:prstGeom prst="rect">
            <a:avLst/>
          </a:prstGeom>
          <a:noFill/>
          <a:ln/>
        </p:spPr>
        <p:txBody>
          <a:bodyPr wrap="none" lIns="0" tIns="0" rIns="0" bIns="0" rtlCol="0" anchor="t"/>
          <a:lstStyle/>
          <a:p>
            <a:pPr marL="0" indent="0" algn="l">
              <a:lnSpc>
                <a:spcPct val="104000"/>
              </a:lnSpc>
              <a:buNone/>
            </a:pPr>
            <a:endParaRPr lang="en-US" sz="600" dirty="0"/>
          </a:p>
        </p:txBody>
      </p:sp>
      <p:sp>
        <p:nvSpPr>
          <p:cNvPr id="3" name="Text 1"/>
          <p:cNvSpPr/>
          <p:nvPr/>
        </p:nvSpPr>
        <p:spPr>
          <a:xfrm>
            <a:off x="2503959" y="440531"/>
            <a:ext cx="6605811" cy="99715"/>
          </a:xfrm>
          <a:prstGeom prst="rect">
            <a:avLst/>
          </a:prstGeom>
          <a:noFill/>
          <a:ln/>
        </p:spPr>
        <p:txBody>
          <a:bodyPr wrap="none" lIns="0" tIns="0" rIns="0" bIns="0" rtlCol="0" anchor="t"/>
          <a:lstStyle/>
          <a:p>
            <a:pPr marL="0" indent="0" algn="l">
              <a:lnSpc>
                <a:spcPct val="104000"/>
              </a:lnSpc>
              <a:buNone/>
            </a:pPr>
            <a:endParaRPr lang="en-US" sz="600" dirty="0"/>
          </a:p>
        </p:txBody>
      </p:sp>
      <p:sp>
        <p:nvSpPr>
          <p:cNvPr id="4" name="Text 2"/>
          <p:cNvSpPr/>
          <p:nvPr/>
        </p:nvSpPr>
        <p:spPr>
          <a:xfrm>
            <a:off x="496119" y="647849"/>
            <a:ext cx="8151763" cy="124644"/>
          </a:xfrm>
          <a:prstGeom prst="rect">
            <a:avLst/>
          </a:prstGeom>
          <a:noFill/>
          <a:ln/>
        </p:spPr>
        <p:txBody>
          <a:bodyPr wrap="none" lIns="0" tIns="0" rIns="0" bIns="0" rtlCol="0" anchor="t"/>
          <a:lstStyle/>
          <a:p>
            <a:pPr marL="0" indent="0" algn="l">
              <a:lnSpc>
                <a:spcPct val="104000"/>
              </a:lnSpc>
              <a:buNone/>
            </a:pPr>
            <a:r>
              <a:rPr lang="en-US" sz="750" dirty="0">
                <a:solidFill>
                  <a:srgbClr val="97B8FF"/>
                </a:solidFill>
                <a:latin typeface="Sora Medium" pitchFamily="34" charset="0"/>
                <a:ea typeface="Sora Medium" pitchFamily="34" charset="-122"/>
                <a:cs typeface="Sora Medium" pitchFamily="34" charset="-120"/>
              </a:rPr>
              <a:t>Work Completed — Module 1</a:t>
            </a:r>
            <a:endParaRPr lang="en-US" sz="750" dirty="0"/>
          </a:p>
        </p:txBody>
      </p:sp>
      <p:sp>
        <p:nvSpPr>
          <p:cNvPr id="5" name="Text 3"/>
          <p:cNvSpPr/>
          <p:nvPr/>
        </p:nvSpPr>
        <p:spPr>
          <a:xfrm>
            <a:off x="496119" y="790426"/>
            <a:ext cx="8151763" cy="249138"/>
          </a:xfrm>
          <a:prstGeom prst="rect">
            <a:avLst/>
          </a:prstGeom>
          <a:noFill/>
          <a:ln/>
        </p:spPr>
        <p:txBody>
          <a:bodyPr wrap="none" lIns="0" tIns="0" rIns="0" bIns="0" rtlCol="0" anchor="t"/>
          <a:lstStyle/>
          <a:p>
            <a:pPr marL="0" indent="0" algn="l">
              <a:lnSpc>
                <a:spcPct val="104000"/>
              </a:lnSpc>
              <a:buNone/>
            </a:pPr>
            <a:r>
              <a:rPr lang="en-US" sz="1550" dirty="0">
                <a:solidFill>
                  <a:srgbClr val="97B8FF"/>
                </a:solidFill>
                <a:latin typeface="Sora Medium" pitchFamily="34" charset="0"/>
                <a:ea typeface="Sora Medium" pitchFamily="34" charset="-122"/>
                <a:cs typeface="Sora Medium" pitchFamily="34" charset="-120"/>
              </a:rPr>
              <a:t>Data Exploration &amp; Validation Workflow</a:t>
            </a:r>
            <a:endParaRPr lang="en-US" sz="1550" dirty="0"/>
          </a:p>
        </p:txBody>
      </p:sp>
      <p:pic>
        <p:nvPicPr>
          <p:cNvPr id="6" name="Image 0" descr="preencoded.png"/>
          <p:cNvPicPr>
            <a:picLocks noChangeAspect="1"/>
          </p:cNvPicPr>
          <p:nvPr/>
        </p:nvPicPr>
        <p:blipFill>
          <a:blip r:embed="rId3"/>
          <a:stretch>
            <a:fillRect/>
          </a:stretch>
        </p:blipFill>
        <p:spPr>
          <a:xfrm>
            <a:off x="529679" y="1106835"/>
            <a:ext cx="8084567" cy="3486224"/>
          </a:xfrm>
          <a:prstGeom prst="rect">
            <a:avLst/>
          </a:prstGeom>
        </p:spPr>
      </p:pic>
      <p:sp>
        <p:nvSpPr>
          <p:cNvPr id="7" name="Text 4"/>
          <p:cNvSpPr/>
          <p:nvPr/>
        </p:nvSpPr>
        <p:spPr>
          <a:xfrm>
            <a:off x="1073714" y="3931941"/>
            <a:ext cx="1901352" cy="229263"/>
          </a:xfrm>
          <a:prstGeom prst="rect">
            <a:avLst/>
          </a:prstGeom>
          <a:noFill/>
          <a:ln/>
        </p:spPr>
        <p:txBody>
          <a:bodyPr wrap="none" lIns="0" tIns="0" rIns="0" bIns="0" rtlCol="0" anchor="t"/>
          <a:lstStyle/>
          <a:p>
            <a:pPr marL="0" indent="0" algn="l">
              <a:lnSpc>
                <a:spcPct val="104000"/>
              </a:lnSpc>
              <a:buNone/>
            </a:pPr>
            <a:r>
              <a:rPr lang="en-US" sz="1400" dirty="0">
                <a:solidFill>
                  <a:srgbClr val="000000"/>
                </a:solidFill>
                <a:latin typeface="Sora Medium" pitchFamily="34" charset="0"/>
                <a:ea typeface="Sora Medium" pitchFamily="34" charset="-122"/>
                <a:cs typeface="Sora Medium" pitchFamily="34" charset="-120"/>
              </a:rPr>
              <a:t>Analyze Distribution</a:t>
            </a:r>
            <a:endParaRPr lang="en-US" sz="1400" dirty="0"/>
          </a:p>
        </p:txBody>
      </p:sp>
      <p:sp>
        <p:nvSpPr>
          <p:cNvPr id="8" name="Text 5"/>
          <p:cNvSpPr/>
          <p:nvPr/>
        </p:nvSpPr>
        <p:spPr>
          <a:xfrm>
            <a:off x="1073714" y="3124936"/>
            <a:ext cx="1834102" cy="229263"/>
          </a:xfrm>
          <a:prstGeom prst="rect">
            <a:avLst/>
          </a:prstGeom>
          <a:noFill/>
          <a:ln/>
        </p:spPr>
        <p:txBody>
          <a:bodyPr wrap="none" lIns="0" tIns="0" rIns="0" bIns="0" rtlCol="0" anchor="t"/>
          <a:lstStyle/>
          <a:p>
            <a:pPr marL="0" indent="0" algn="l">
              <a:lnSpc>
                <a:spcPct val="104000"/>
              </a:lnSpc>
              <a:buNone/>
            </a:pPr>
            <a:r>
              <a:rPr lang="en-US" sz="1400" dirty="0">
                <a:solidFill>
                  <a:srgbClr val="000000"/>
                </a:solidFill>
                <a:latin typeface="Sora Medium" pitchFamily="34" charset="0"/>
                <a:ea typeface="Sora Medium" pitchFamily="34" charset="-122"/>
                <a:cs typeface="Sora Medium" pitchFamily="34" charset="-120"/>
              </a:rPr>
              <a:t>Validate Quality</a:t>
            </a:r>
            <a:endParaRPr lang="en-US" sz="1400" dirty="0"/>
          </a:p>
        </p:txBody>
      </p:sp>
      <p:sp>
        <p:nvSpPr>
          <p:cNvPr id="9" name="Text 6"/>
          <p:cNvSpPr/>
          <p:nvPr/>
        </p:nvSpPr>
        <p:spPr>
          <a:xfrm>
            <a:off x="1073714" y="2326083"/>
            <a:ext cx="1834102" cy="229263"/>
          </a:xfrm>
          <a:prstGeom prst="rect">
            <a:avLst/>
          </a:prstGeom>
          <a:noFill/>
          <a:ln/>
        </p:spPr>
        <p:txBody>
          <a:bodyPr wrap="none" lIns="0" tIns="0" rIns="0" bIns="0" rtlCol="0" anchor="t"/>
          <a:lstStyle/>
          <a:p>
            <a:pPr marL="0" indent="0" algn="l">
              <a:lnSpc>
                <a:spcPct val="104000"/>
              </a:lnSpc>
              <a:buNone/>
            </a:pPr>
            <a:r>
              <a:rPr lang="en-US" sz="1400" dirty="0">
                <a:solidFill>
                  <a:srgbClr val="000000"/>
                </a:solidFill>
                <a:latin typeface="Sora Medium" pitchFamily="34" charset="0"/>
                <a:ea typeface="Sora Medium" pitchFamily="34" charset="-122"/>
                <a:cs typeface="Sora Medium" pitchFamily="34" charset="-120"/>
              </a:rPr>
              <a:t>Explore Schema</a:t>
            </a:r>
            <a:endParaRPr lang="en-US" sz="1400" dirty="0"/>
          </a:p>
        </p:txBody>
      </p:sp>
      <p:sp>
        <p:nvSpPr>
          <p:cNvPr id="10" name="Text 7"/>
          <p:cNvSpPr/>
          <p:nvPr/>
        </p:nvSpPr>
        <p:spPr>
          <a:xfrm>
            <a:off x="1073714" y="1519078"/>
            <a:ext cx="1834102" cy="229263"/>
          </a:xfrm>
          <a:prstGeom prst="rect">
            <a:avLst/>
          </a:prstGeom>
          <a:noFill/>
          <a:ln/>
        </p:spPr>
        <p:txBody>
          <a:bodyPr wrap="none" lIns="0" tIns="0" rIns="0" bIns="0" rtlCol="0" anchor="t"/>
          <a:lstStyle/>
          <a:p>
            <a:pPr marL="0" indent="0" algn="l">
              <a:lnSpc>
                <a:spcPct val="104000"/>
              </a:lnSpc>
              <a:buNone/>
            </a:pPr>
            <a:r>
              <a:rPr lang="en-US" sz="1400" dirty="0">
                <a:solidFill>
                  <a:srgbClr val="000000"/>
                </a:solidFill>
                <a:latin typeface="Sora Medium" pitchFamily="34" charset="0"/>
                <a:ea typeface="Sora Medium" pitchFamily="34" charset="-122"/>
                <a:cs typeface="Sora Medium" pitchFamily="34" charset="-120"/>
              </a:rPr>
              <a:t>Load Dataset</a:t>
            </a:r>
            <a:endParaRPr lang="en-US" sz="1400" dirty="0"/>
          </a:p>
        </p:txBody>
      </p:sp>
      <p:sp>
        <p:nvSpPr>
          <p:cNvPr id="11" name="Text 8"/>
          <p:cNvSpPr/>
          <p:nvPr/>
        </p:nvSpPr>
        <p:spPr>
          <a:xfrm>
            <a:off x="496119" y="4643512"/>
            <a:ext cx="8608963" cy="99715"/>
          </a:xfrm>
          <a:prstGeom prst="rect">
            <a:avLst/>
          </a:prstGeom>
          <a:noFill/>
          <a:ln/>
        </p:spPr>
        <p:txBody>
          <a:bodyPr wrap="none" lIns="0" tIns="0" rIns="0" bIns="0" rtlCol="0" anchor="t"/>
          <a:lstStyle/>
          <a:p>
            <a:pPr marL="0" indent="0" algn="l">
              <a:lnSpc>
                <a:spcPct val="104000"/>
              </a:lnSpc>
              <a:buNone/>
            </a:pPr>
            <a:r>
              <a:rPr lang="en-US" sz="600" dirty="0">
                <a:solidFill>
                  <a:srgbClr val="E0D6DE"/>
                </a:solidFill>
                <a:latin typeface="Noto Sans TC" pitchFamily="34" charset="0"/>
                <a:ea typeface="Noto Sans TC" pitchFamily="34" charset="-122"/>
                <a:cs typeface="Noto Sans TC" pitchFamily="34" charset="-120"/>
              </a:rPr>
              <a:t>Each step was completed sequentially to ensure a thorough understanding of the dataset before advancing to feature engineering and analysis.</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501625"/>
            <a:ext cx="8151763" cy="193849"/>
          </a:xfrm>
          <a:prstGeom prst="rect">
            <a:avLst/>
          </a:prstGeom>
          <a:noFill/>
          <a:ln/>
        </p:spPr>
        <p:txBody>
          <a:bodyPr wrap="none" lIns="0" tIns="0" rIns="0" bIns="0" rtlCol="0" anchor="t"/>
          <a:lstStyle/>
          <a:p>
            <a:pPr marL="0" indent="0" algn="l">
              <a:lnSpc>
                <a:spcPct val="104000"/>
              </a:lnSpc>
              <a:buNone/>
            </a:pPr>
            <a:r>
              <a:rPr lang="en-US" sz="1200" dirty="0">
                <a:solidFill>
                  <a:srgbClr val="97B8FF"/>
                </a:solidFill>
                <a:latin typeface="Sora Medium" pitchFamily="34" charset="0"/>
                <a:ea typeface="Sora Medium" pitchFamily="34" charset="-122"/>
                <a:cs typeface="Sora Medium" pitchFamily="34" charset="-120"/>
              </a:rPr>
              <a:t>Work Completed — Module 2</a:t>
            </a:r>
            <a:endParaRPr lang="en-US" sz="1200" dirty="0"/>
          </a:p>
        </p:txBody>
      </p:sp>
      <p:sp>
        <p:nvSpPr>
          <p:cNvPr id="3" name="Text 1"/>
          <p:cNvSpPr/>
          <p:nvPr/>
        </p:nvSpPr>
        <p:spPr>
          <a:xfrm>
            <a:off x="496119" y="738857"/>
            <a:ext cx="8151763" cy="387548"/>
          </a:xfrm>
          <a:prstGeom prst="rect">
            <a:avLst/>
          </a:prstGeom>
          <a:noFill/>
          <a:ln/>
        </p:spPr>
        <p:txBody>
          <a:bodyPr wrap="none" lIns="0" tIns="0" rIns="0" bIns="0" rtlCol="0" anchor="t"/>
          <a:lstStyle/>
          <a:p>
            <a:pPr marL="0" indent="0" algn="l">
              <a:lnSpc>
                <a:spcPct val="104000"/>
              </a:lnSpc>
              <a:buNone/>
            </a:pPr>
            <a:r>
              <a:rPr lang="en-US" sz="2400" dirty="0">
                <a:solidFill>
                  <a:srgbClr val="97B8FF"/>
                </a:solidFill>
                <a:latin typeface="Sora Medium" pitchFamily="34" charset="0"/>
                <a:ea typeface="Sora Medium" pitchFamily="34" charset="-122"/>
                <a:cs typeface="Sora Medium" pitchFamily="34" charset="-120"/>
              </a:rPr>
              <a:t>Feature Engineering: Adding Analytical Depth</a:t>
            </a:r>
            <a:endParaRPr lang="en-US" sz="24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411188"/>
            <a:ext cx="1908051" cy="2059484"/>
          </a:xfrm>
          <a:prstGeom prst="rect">
            <a:avLst/>
          </a:prstGeom>
        </p:spPr>
      </p:pic>
      <p:sp>
        <p:nvSpPr>
          <p:cNvPr id="5" name="Text 2"/>
          <p:cNvSpPr/>
          <p:nvPr/>
        </p:nvSpPr>
        <p:spPr>
          <a:xfrm>
            <a:off x="1357089" y="1495202"/>
            <a:ext cx="186035" cy="232544"/>
          </a:xfrm>
          <a:prstGeom prst="rect">
            <a:avLst/>
          </a:prstGeom>
          <a:noFill/>
          <a:ln/>
        </p:spPr>
        <p:txBody>
          <a:bodyPr wrap="none" lIns="0" tIns="0" rIns="0" bIns="0" rtlCol="0" anchor="ctr"/>
          <a:lstStyle/>
          <a:p>
            <a:pPr marL="0" indent="0" algn="ctr">
              <a:lnSpc>
                <a:spcPct val="100000"/>
              </a:lnSpc>
              <a:buNone/>
            </a:pPr>
            <a:r>
              <a:rPr lang="en-US" sz="1450" dirty="0">
                <a:solidFill>
                  <a:srgbClr val="E0D6DE"/>
                </a:solidFill>
                <a:latin typeface="Sora Medium" pitchFamily="34" charset="0"/>
                <a:ea typeface="Sora Medium" pitchFamily="34" charset="-122"/>
                <a:cs typeface="Sora Medium" pitchFamily="34" charset="-120"/>
              </a:rPr>
              <a:t>1</a:t>
            </a:r>
            <a:endParaRPr lang="en-US" sz="1450" dirty="0"/>
          </a:p>
        </p:txBody>
      </p:sp>
      <p:sp>
        <p:nvSpPr>
          <p:cNvPr id="6" name="Text 3"/>
          <p:cNvSpPr/>
          <p:nvPr/>
        </p:nvSpPr>
        <p:spPr>
          <a:xfrm>
            <a:off x="634380" y="1906042"/>
            <a:ext cx="1631528"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E0D6DE"/>
                </a:solidFill>
                <a:latin typeface="Sora Medium" pitchFamily="34" charset="0"/>
                <a:ea typeface="Sora Medium" pitchFamily="34" charset="-122"/>
                <a:cs typeface="Sora Medium" pitchFamily="34" charset="-120"/>
              </a:rPr>
              <a:t>Resolution_Duration</a:t>
            </a:r>
            <a:endParaRPr lang="en-US" sz="1200" dirty="0"/>
          </a:p>
        </p:txBody>
      </p:sp>
      <p:sp>
        <p:nvSpPr>
          <p:cNvPr id="7" name="Text 4"/>
          <p:cNvSpPr/>
          <p:nvPr/>
        </p:nvSpPr>
        <p:spPr>
          <a:xfrm>
            <a:off x="634380" y="2402235"/>
            <a:ext cx="1631528" cy="930176"/>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E0D6DE"/>
                </a:solidFill>
                <a:latin typeface="Noto Sans TC" pitchFamily="34" charset="0"/>
                <a:ea typeface="Noto Sans TC" pitchFamily="34" charset="-122"/>
                <a:cs typeface="Noto Sans TC" pitchFamily="34" charset="-120"/>
              </a:rPr>
              <a:t>Calculated using Created_Date and Resolution_Date to measure the exact time taken to resolve each ticket.</a:t>
            </a:r>
            <a:endParaRPr lang="en-US" sz="9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2665" y="1411188"/>
            <a:ext cx="1908051" cy="2059484"/>
          </a:xfrm>
          <a:prstGeom prst="rect">
            <a:avLst/>
          </a:prstGeom>
        </p:spPr>
      </p:pic>
      <p:sp>
        <p:nvSpPr>
          <p:cNvPr id="9" name="Text 5"/>
          <p:cNvSpPr/>
          <p:nvPr/>
        </p:nvSpPr>
        <p:spPr>
          <a:xfrm>
            <a:off x="3373636" y="1495202"/>
            <a:ext cx="186035" cy="232544"/>
          </a:xfrm>
          <a:prstGeom prst="rect">
            <a:avLst/>
          </a:prstGeom>
          <a:noFill/>
          <a:ln/>
        </p:spPr>
        <p:txBody>
          <a:bodyPr wrap="none" lIns="0" tIns="0" rIns="0" bIns="0" rtlCol="0" anchor="ctr"/>
          <a:lstStyle/>
          <a:p>
            <a:pPr marL="0" indent="0" algn="ctr">
              <a:lnSpc>
                <a:spcPct val="100000"/>
              </a:lnSpc>
              <a:buNone/>
            </a:pPr>
            <a:r>
              <a:rPr lang="en-US" sz="1450" dirty="0">
                <a:solidFill>
                  <a:srgbClr val="E0D6DE"/>
                </a:solidFill>
                <a:latin typeface="Sora Medium" pitchFamily="34" charset="0"/>
                <a:ea typeface="Sora Medium" pitchFamily="34" charset="-122"/>
                <a:cs typeface="Sora Medium" pitchFamily="34" charset="-120"/>
              </a:rPr>
              <a:t>2</a:t>
            </a:r>
            <a:endParaRPr lang="en-US" sz="1450" dirty="0"/>
          </a:p>
        </p:txBody>
      </p:sp>
      <p:sp>
        <p:nvSpPr>
          <p:cNvPr id="10" name="Text 6"/>
          <p:cNvSpPr/>
          <p:nvPr/>
        </p:nvSpPr>
        <p:spPr>
          <a:xfrm>
            <a:off x="2650927" y="1906042"/>
            <a:ext cx="1631528" cy="193849"/>
          </a:xfrm>
          <a:prstGeom prst="rect">
            <a:avLst/>
          </a:prstGeom>
          <a:noFill/>
          <a:ln/>
        </p:spPr>
        <p:txBody>
          <a:bodyPr wrap="none" lIns="0" tIns="0" rIns="0" bIns="0" rtlCol="0" anchor="t"/>
          <a:lstStyle/>
          <a:p>
            <a:pPr marL="0" indent="0" algn="l">
              <a:lnSpc>
                <a:spcPct val="104000"/>
              </a:lnSpc>
              <a:buNone/>
            </a:pPr>
            <a:r>
              <a:rPr lang="en-US" sz="1200" dirty="0">
                <a:solidFill>
                  <a:srgbClr val="E0D6DE"/>
                </a:solidFill>
                <a:latin typeface="Sora Medium" pitchFamily="34" charset="0"/>
                <a:ea typeface="Sora Medium" pitchFamily="34" charset="-122"/>
                <a:cs typeface="Sora Medium" pitchFamily="34" charset="-120"/>
              </a:rPr>
              <a:t>Priority_Score</a:t>
            </a:r>
            <a:endParaRPr lang="en-US" sz="1200" dirty="0"/>
          </a:p>
        </p:txBody>
      </p:sp>
      <p:sp>
        <p:nvSpPr>
          <p:cNvPr id="11" name="Text 7"/>
          <p:cNvSpPr/>
          <p:nvPr/>
        </p:nvSpPr>
        <p:spPr>
          <a:xfrm>
            <a:off x="2650927" y="2208386"/>
            <a:ext cx="1631528" cy="930176"/>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E0D6DE"/>
                </a:solidFill>
                <a:latin typeface="Noto Sans TC" pitchFamily="34" charset="0"/>
                <a:ea typeface="Noto Sans TC" pitchFamily="34" charset="-122"/>
                <a:cs typeface="Noto Sans TC" pitchFamily="34" charset="-120"/>
              </a:rPr>
              <a:t>Numerical mapping of priority levels — Critical (4), High (3), Medium (2), Low (1) — to enable quantitative analysis.</a:t>
            </a:r>
            <a:endParaRPr lang="en-US" sz="950" dirty="0"/>
          </a:p>
        </p:txBody>
      </p:sp>
      <p:sp>
        <p:nvSpPr>
          <p:cNvPr id="12" name="Text 8"/>
          <p:cNvSpPr/>
          <p:nvPr/>
        </p:nvSpPr>
        <p:spPr>
          <a:xfrm>
            <a:off x="4728046" y="1386780"/>
            <a:ext cx="3924598" cy="558105"/>
          </a:xfrm>
          <a:prstGeom prst="rect">
            <a:avLst/>
          </a:prstGeom>
          <a:noFill/>
          <a:ln/>
        </p:spPr>
        <p:txBody>
          <a:bodyPr wrap="square" lIns="0" tIns="0" rIns="0" bIns="0" rtlCol="0" anchor="t">
            <a:normAutofit/>
          </a:bodyPr>
          <a:lstStyle/>
          <a:p>
            <a:pPr marL="0" indent="0" algn="l">
              <a:lnSpc>
                <a:spcPct val="125000"/>
              </a:lnSpc>
              <a:buNone/>
            </a:pPr>
            <a:r>
              <a:rPr lang="en-US" sz="950" dirty="0">
                <a:solidFill>
                  <a:srgbClr val="E0D6DE"/>
                </a:solidFill>
                <a:latin typeface="Noto Sans TC" pitchFamily="34" charset="0"/>
                <a:ea typeface="Noto Sans TC" pitchFamily="34" charset="-122"/>
                <a:cs typeface="Noto Sans TC" pitchFamily="34" charset="-120"/>
              </a:rPr>
              <a:t>These features were created to transform raw dates and categorical labels into measurable metrics, enabling deeper analysis of team performance and ticket handling efficiency in the next phase.</a:t>
            </a:r>
            <a:endParaRPr lang="en-US" sz="950" dirty="0"/>
          </a:p>
        </p:txBody>
      </p:sp>
      <p:pic>
        <p:nvPicPr>
          <p:cNvPr id="13" name="Image 2" descr="preencoded.png"/>
          <p:cNvPicPr>
            <a:picLocks noChangeAspect="1"/>
          </p:cNvPicPr>
          <p:nvPr/>
        </p:nvPicPr>
        <p:blipFill>
          <a:blip r:embed="rId4"/>
          <a:stretch>
            <a:fillRect/>
          </a:stretch>
        </p:blipFill>
        <p:spPr>
          <a:xfrm>
            <a:off x="4728046" y="2066925"/>
            <a:ext cx="3924598" cy="24528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650081"/>
            <a:ext cx="8151763" cy="221456"/>
          </a:xfrm>
          <a:prstGeom prst="rect">
            <a:avLst/>
          </a:prstGeom>
          <a:noFill/>
          <a:ln/>
        </p:spPr>
        <p:txBody>
          <a:bodyPr wrap="none" lIns="0" tIns="0" rIns="0" bIns="0" rtlCol="0" anchor="t"/>
          <a:lstStyle/>
          <a:p>
            <a:pPr marL="0" indent="0" algn="l">
              <a:lnSpc>
                <a:spcPct val="104000"/>
              </a:lnSpc>
              <a:buNone/>
            </a:pPr>
            <a:r>
              <a:rPr lang="en-US" sz="1350" dirty="0">
                <a:solidFill>
                  <a:srgbClr val="97B8FF"/>
                </a:solidFill>
                <a:latin typeface="Sora Medium" pitchFamily="34" charset="0"/>
                <a:ea typeface="Sora Medium" pitchFamily="34" charset="-122"/>
                <a:cs typeface="Sora Medium" pitchFamily="34" charset="-120"/>
              </a:rPr>
              <a:t>Deliverables Completed</a:t>
            </a:r>
            <a:endParaRPr lang="en-US" sz="1350" dirty="0"/>
          </a:p>
        </p:txBody>
      </p:sp>
      <p:sp>
        <p:nvSpPr>
          <p:cNvPr id="3" name="Text 1"/>
          <p:cNvSpPr/>
          <p:nvPr/>
        </p:nvSpPr>
        <p:spPr>
          <a:xfrm>
            <a:off x="496119" y="928241"/>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97B8FF"/>
                </a:solidFill>
                <a:latin typeface="Sora Medium" pitchFamily="34" charset="0"/>
                <a:ea typeface="Sora Medium" pitchFamily="34" charset="-122"/>
                <a:cs typeface="Sora Medium" pitchFamily="34" charset="-120"/>
              </a:rPr>
              <a:t>Milestone 1 Outputs</a:t>
            </a:r>
            <a:endParaRPr lang="en-US" sz="2750" dirty="0"/>
          </a:p>
        </p:txBody>
      </p:sp>
      <p:sp>
        <p:nvSpPr>
          <p:cNvPr id="4" name="Shape 2"/>
          <p:cNvSpPr/>
          <p:nvPr/>
        </p:nvSpPr>
        <p:spPr>
          <a:xfrm>
            <a:off x="496119" y="1583829"/>
            <a:ext cx="4004965" cy="1383878"/>
          </a:xfrm>
          <a:prstGeom prst="roundRect">
            <a:avLst>
              <a:gd name="adj" fmla="val 1537"/>
            </a:avLst>
          </a:prstGeom>
          <a:solidFill>
            <a:srgbClr val="26262B"/>
          </a:solidFill>
          <a:ln/>
        </p:spPr>
      </p:sp>
      <p:sp>
        <p:nvSpPr>
          <p:cNvPr id="5" name="Shape 3"/>
          <p:cNvSpPr/>
          <p:nvPr/>
        </p:nvSpPr>
        <p:spPr>
          <a:xfrm>
            <a:off x="637877" y="1725588"/>
            <a:ext cx="425276" cy="425276"/>
          </a:xfrm>
          <a:prstGeom prst="ellipse">
            <a:avLst/>
          </a:prstGeom>
          <a:solidFill>
            <a:srgbClr val="B380FF"/>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4856" y="1842492"/>
            <a:ext cx="191319" cy="191319"/>
          </a:xfrm>
          <a:prstGeom prst="rect">
            <a:avLst/>
          </a:prstGeom>
        </p:spPr>
      </p:pic>
      <p:sp>
        <p:nvSpPr>
          <p:cNvPr id="7" name="Text 4"/>
          <p:cNvSpPr/>
          <p:nvPr/>
        </p:nvSpPr>
        <p:spPr>
          <a:xfrm>
            <a:off x="637877" y="2292623"/>
            <a:ext cx="3721447"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Cleaned Dataset</a:t>
            </a:r>
            <a:endParaRPr lang="en-US" sz="1350" dirty="0"/>
          </a:p>
        </p:txBody>
      </p:sp>
      <p:sp>
        <p:nvSpPr>
          <p:cNvPr id="8" name="Text 5"/>
          <p:cNvSpPr/>
          <p:nvPr/>
        </p:nvSpPr>
        <p:spPr>
          <a:xfrm>
            <a:off x="637877" y="2599134"/>
            <a:ext cx="3721447"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Verified and quality-checked raw data</a:t>
            </a:r>
            <a:endParaRPr lang="en-US" sz="1100" dirty="0"/>
          </a:p>
        </p:txBody>
      </p:sp>
      <p:sp>
        <p:nvSpPr>
          <p:cNvPr id="9" name="Shape 6"/>
          <p:cNvSpPr/>
          <p:nvPr/>
        </p:nvSpPr>
        <p:spPr>
          <a:xfrm>
            <a:off x="4642842" y="1583829"/>
            <a:ext cx="4005039" cy="1383878"/>
          </a:xfrm>
          <a:prstGeom prst="roundRect">
            <a:avLst>
              <a:gd name="adj" fmla="val 1537"/>
            </a:avLst>
          </a:prstGeom>
          <a:solidFill>
            <a:srgbClr val="26262B"/>
          </a:solidFill>
          <a:ln/>
        </p:spPr>
      </p:sp>
      <p:sp>
        <p:nvSpPr>
          <p:cNvPr id="10" name="Shape 7"/>
          <p:cNvSpPr/>
          <p:nvPr/>
        </p:nvSpPr>
        <p:spPr>
          <a:xfrm>
            <a:off x="4784601" y="1725588"/>
            <a:ext cx="425276" cy="425276"/>
          </a:xfrm>
          <a:prstGeom prst="ellipse">
            <a:avLst/>
          </a:prstGeom>
          <a:solidFill>
            <a:srgbClr val="B380FF"/>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01580" y="1842492"/>
            <a:ext cx="191319" cy="191319"/>
          </a:xfrm>
          <a:prstGeom prst="rect">
            <a:avLst/>
          </a:prstGeom>
        </p:spPr>
      </p:pic>
      <p:sp>
        <p:nvSpPr>
          <p:cNvPr id="12" name="Text 8"/>
          <p:cNvSpPr/>
          <p:nvPr/>
        </p:nvSpPr>
        <p:spPr>
          <a:xfrm>
            <a:off x="4784601" y="2292623"/>
            <a:ext cx="3721522"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Feature Engineering Summary</a:t>
            </a:r>
            <a:endParaRPr lang="en-US" sz="1350" dirty="0"/>
          </a:p>
        </p:txBody>
      </p:sp>
      <p:sp>
        <p:nvSpPr>
          <p:cNvPr id="13" name="Text 9"/>
          <p:cNvSpPr/>
          <p:nvPr/>
        </p:nvSpPr>
        <p:spPr>
          <a:xfrm>
            <a:off x="4784601" y="2599134"/>
            <a:ext cx="3721522"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Documentation of new analytical features</a:t>
            </a:r>
            <a:endParaRPr lang="en-US" sz="1100" dirty="0"/>
          </a:p>
        </p:txBody>
      </p:sp>
      <p:sp>
        <p:nvSpPr>
          <p:cNvPr id="14" name="Shape 10"/>
          <p:cNvSpPr/>
          <p:nvPr/>
        </p:nvSpPr>
        <p:spPr>
          <a:xfrm>
            <a:off x="496119" y="3109466"/>
            <a:ext cx="4004965" cy="1383878"/>
          </a:xfrm>
          <a:prstGeom prst="roundRect">
            <a:avLst>
              <a:gd name="adj" fmla="val 1537"/>
            </a:avLst>
          </a:prstGeom>
          <a:solidFill>
            <a:srgbClr val="26262B"/>
          </a:solidFill>
          <a:ln/>
        </p:spPr>
      </p:sp>
      <p:sp>
        <p:nvSpPr>
          <p:cNvPr id="15" name="Shape 11"/>
          <p:cNvSpPr/>
          <p:nvPr/>
        </p:nvSpPr>
        <p:spPr>
          <a:xfrm>
            <a:off x="637877" y="3251225"/>
            <a:ext cx="425276" cy="425276"/>
          </a:xfrm>
          <a:prstGeom prst="ellipse">
            <a:avLst/>
          </a:prstGeom>
          <a:solidFill>
            <a:srgbClr val="B380FF"/>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4856" y="3368129"/>
            <a:ext cx="191319" cy="191319"/>
          </a:xfrm>
          <a:prstGeom prst="rect">
            <a:avLst/>
          </a:prstGeom>
        </p:spPr>
      </p:pic>
      <p:sp>
        <p:nvSpPr>
          <p:cNvPr id="17" name="Text 12"/>
          <p:cNvSpPr/>
          <p:nvPr/>
        </p:nvSpPr>
        <p:spPr>
          <a:xfrm>
            <a:off x="637877" y="3818260"/>
            <a:ext cx="3721447"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Data Dictionary</a:t>
            </a:r>
            <a:endParaRPr lang="en-US" sz="1350" dirty="0"/>
          </a:p>
        </p:txBody>
      </p:sp>
      <p:sp>
        <p:nvSpPr>
          <p:cNvPr id="18" name="Text 13"/>
          <p:cNvSpPr/>
          <p:nvPr/>
        </p:nvSpPr>
        <p:spPr>
          <a:xfrm>
            <a:off x="637877" y="4124771"/>
            <a:ext cx="3721447"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Complete field definitions and descriptions</a:t>
            </a:r>
            <a:endParaRPr lang="en-US" sz="1100" dirty="0"/>
          </a:p>
        </p:txBody>
      </p:sp>
      <p:sp>
        <p:nvSpPr>
          <p:cNvPr id="19" name="Shape 14"/>
          <p:cNvSpPr/>
          <p:nvPr/>
        </p:nvSpPr>
        <p:spPr>
          <a:xfrm>
            <a:off x="4642842" y="3109466"/>
            <a:ext cx="4005039" cy="1383878"/>
          </a:xfrm>
          <a:prstGeom prst="roundRect">
            <a:avLst>
              <a:gd name="adj" fmla="val 1537"/>
            </a:avLst>
          </a:prstGeom>
          <a:solidFill>
            <a:srgbClr val="26262B"/>
          </a:solidFill>
          <a:ln/>
        </p:spPr>
      </p:sp>
      <p:sp>
        <p:nvSpPr>
          <p:cNvPr id="20" name="Shape 15"/>
          <p:cNvSpPr/>
          <p:nvPr/>
        </p:nvSpPr>
        <p:spPr>
          <a:xfrm>
            <a:off x="4784601" y="3251225"/>
            <a:ext cx="425276" cy="425276"/>
          </a:xfrm>
          <a:prstGeom prst="ellipse">
            <a:avLst/>
          </a:prstGeom>
          <a:solidFill>
            <a:srgbClr val="B380FF"/>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01580" y="3368129"/>
            <a:ext cx="191319" cy="191319"/>
          </a:xfrm>
          <a:prstGeom prst="rect">
            <a:avLst/>
          </a:prstGeom>
        </p:spPr>
      </p:pic>
      <p:sp>
        <p:nvSpPr>
          <p:cNvPr id="22" name="Text 16"/>
          <p:cNvSpPr/>
          <p:nvPr/>
        </p:nvSpPr>
        <p:spPr>
          <a:xfrm>
            <a:off x="4784601" y="3818260"/>
            <a:ext cx="3721522" cy="221456"/>
          </a:xfrm>
          <a:prstGeom prst="rect">
            <a:avLst/>
          </a:prstGeom>
          <a:noFill/>
          <a:ln/>
        </p:spPr>
        <p:txBody>
          <a:bodyPr wrap="none" lIns="0" tIns="0" rIns="0" bIns="0" rtlCol="0" anchor="t"/>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Processed Dataset</a:t>
            </a:r>
            <a:endParaRPr lang="en-US" sz="1350" dirty="0"/>
          </a:p>
        </p:txBody>
      </p:sp>
      <p:sp>
        <p:nvSpPr>
          <p:cNvPr id="23" name="Text 17"/>
          <p:cNvSpPr/>
          <p:nvPr/>
        </p:nvSpPr>
        <p:spPr>
          <a:xfrm>
            <a:off x="4784601" y="4124771"/>
            <a:ext cx="3721522" cy="226814"/>
          </a:xfrm>
          <a:prstGeom prst="rect">
            <a:avLst/>
          </a:prstGeom>
          <a:noFill/>
          <a:ln/>
        </p:spPr>
        <p:txBody>
          <a:bodyPr wrap="none" lIns="0" tIns="0" rIns="0" bIns="0" rtlCol="0" anchor="t"/>
          <a:lstStyle/>
          <a:p>
            <a:pPr marL="0" indent="0" algn="l">
              <a:lnSpc>
                <a:spcPct val="133000"/>
              </a:lnSpc>
              <a:buNone/>
            </a:pPr>
            <a:r>
              <a:rPr lang="en-US" sz="1100" dirty="0">
                <a:solidFill>
                  <a:srgbClr val="E0D6DE"/>
                </a:solidFill>
                <a:latin typeface="Noto Sans TC" pitchFamily="34" charset="0"/>
                <a:ea typeface="Noto Sans TC" pitchFamily="34" charset="-122"/>
                <a:cs typeface="Noto Sans TC" pitchFamily="34" charset="-120"/>
              </a:rPr>
              <a:t>Analysis-ready dataset with new features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94841"/>
            <a:ext cx="8151763" cy="186854"/>
          </a:xfrm>
          <a:prstGeom prst="rect">
            <a:avLst/>
          </a:prstGeom>
          <a:noFill/>
          <a:ln/>
        </p:spPr>
        <p:txBody>
          <a:bodyPr wrap="none" lIns="0" tIns="0" rIns="0" bIns="0" rtlCol="0" anchor="t"/>
          <a:lstStyle/>
          <a:p>
            <a:pPr marL="0" indent="0" algn="l">
              <a:lnSpc>
                <a:spcPct val="104000"/>
              </a:lnSpc>
              <a:buNone/>
            </a:pPr>
            <a:r>
              <a:rPr lang="en-US" sz="1150" dirty="0">
                <a:solidFill>
                  <a:srgbClr val="97B8FF"/>
                </a:solidFill>
                <a:latin typeface="Sora Medium" pitchFamily="34" charset="0"/>
                <a:ea typeface="Sora Medium" pitchFamily="34" charset="-122"/>
                <a:cs typeface="Sora Medium" pitchFamily="34" charset="-120"/>
              </a:rPr>
              <a:t>Key Learnings</a:t>
            </a:r>
            <a:endParaRPr lang="en-US" sz="1150" dirty="0"/>
          </a:p>
        </p:txBody>
      </p:sp>
      <p:sp>
        <p:nvSpPr>
          <p:cNvPr id="3" name="Text 1"/>
          <p:cNvSpPr/>
          <p:nvPr/>
        </p:nvSpPr>
        <p:spPr>
          <a:xfrm>
            <a:off x="496119" y="622027"/>
            <a:ext cx="8151763" cy="373782"/>
          </a:xfrm>
          <a:prstGeom prst="rect">
            <a:avLst/>
          </a:prstGeom>
          <a:noFill/>
          <a:ln/>
        </p:spPr>
        <p:txBody>
          <a:bodyPr wrap="none" lIns="0" tIns="0" rIns="0" bIns="0" rtlCol="0" anchor="t"/>
          <a:lstStyle/>
          <a:p>
            <a:pPr marL="0" indent="0" algn="l">
              <a:lnSpc>
                <a:spcPct val="104000"/>
              </a:lnSpc>
              <a:buNone/>
            </a:pPr>
            <a:r>
              <a:rPr lang="en-US" sz="2350" dirty="0">
                <a:solidFill>
                  <a:srgbClr val="97B8FF"/>
                </a:solidFill>
                <a:latin typeface="Sora Medium" pitchFamily="34" charset="0"/>
                <a:ea typeface="Sora Medium" pitchFamily="34" charset="-122"/>
                <a:cs typeface="Sora Medium" pitchFamily="34" charset="-120"/>
              </a:rPr>
              <a:t>Insights Gained During Milestone 1</a:t>
            </a:r>
            <a:endParaRPr lang="en-US" sz="2350" dirty="0"/>
          </a:p>
        </p:txBody>
      </p:sp>
      <p:pic>
        <p:nvPicPr>
          <p:cNvPr id="4" name="Image 0" descr="preencoded.png"/>
          <p:cNvPicPr>
            <a:picLocks noChangeAspect="1"/>
          </p:cNvPicPr>
          <p:nvPr/>
        </p:nvPicPr>
        <p:blipFill>
          <a:blip r:embed="rId3"/>
          <a:stretch>
            <a:fillRect/>
          </a:stretch>
        </p:blipFill>
        <p:spPr>
          <a:xfrm>
            <a:off x="496119" y="1553170"/>
            <a:ext cx="2522339" cy="2522339"/>
          </a:xfrm>
          <a:prstGeom prst="rect">
            <a:avLst/>
          </a:prstGeom>
        </p:spPr>
      </p:pic>
      <p:sp>
        <p:nvSpPr>
          <p:cNvPr id="5" name="Text 2"/>
          <p:cNvSpPr/>
          <p:nvPr/>
        </p:nvSpPr>
        <p:spPr>
          <a:xfrm>
            <a:off x="496119" y="4188991"/>
            <a:ext cx="2979539" cy="176361"/>
          </a:xfrm>
          <a:prstGeom prst="rect">
            <a:avLst/>
          </a:prstGeom>
          <a:noFill/>
          <a:ln/>
        </p:spPr>
        <p:txBody>
          <a:bodyPr wrap="none" lIns="0" tIns="0" rIns="0" bIns="0" rtlCol="0" anchor="t"/>
          <a:lstStyle/>
          <a:p>
            <a:pPr marL="0" indent="0" algn="l">
              <a:lnSpc>
                <a:spcPct val="123000"/>
              </a:lnSpc>
              <a:buNone/>
            </a:pPr>
            <a:endParaRPr lang="en-US" sz="900" dirty="0"/>
          </a:p>
        </p:txBody>
      </p:sp>
      <p:pic>
        <p:nvPicPr>
          <p:cNvPr id="6" name="Image 1" descr="preencoded.png"/>
          <p:cNvPicPr>
            <a:picLocks noChangeAspect="1"/>
          </p:cNvPicPr>
          <p:nvPr/>
        </p:nvPicPr>
        <p:blipFill>
          <a:blip r:embed="rId4"/>
          <a:stretch>
            <a:fillRect/>
          </a:stretch>
        </p:blipFill>
        <p:spPr>
          <a:xfrm>
            <a:off x="3737521" y="1260649"/>
            <a:ext cx="2099890" cy="1312366"/>
          </a:xfrm>
          <a:prstGeom prst="rect">
            <a:avLst/>
          </a:prstGeom>
        </p:spPr>
      </p:pic>
      <p:pic>
        <p:nvPicPr>
          <p:cNvPr id="7" name="Image 2" descr="preencoded.png"/>
          <p:cNvPicPr>
            <a:picLocks noChangeAspect="1"/>
          </p:cNvPicPr>
          <p:nvPr/>
        </p:nvPicPr>
        <p:blipFill>
          <a:blip r:embed="rId5"/>
          <a:stretch>
            <a:fillRect/>
          </a:stretch>
        </p:blipFill>
        <p:spPr>
          <a:xfrm>
            <a:off x="3315072" y="2686496"/>
            <a:ext cx="2522339" cy="1681535"/>
          </a:xfrm>
          <a:prstGeom prst="rect">
            <a:avLst/>
          </a:prstGeom>
        </p:spPr>
      </p:pic>
      <p:sp>
        <p:nvSpPr>
          <p:cNvPr id="8" name="Text 3"/>
          <p:cNvSpPr/>
          <p:nvPr/>
        </p:nvSpPr>
        <p:spPr>
          <a:xfrm>
            <a:off x="3315072" y="4481513"/>
            <a:ext cx="2979539" cy="176361"/>
          </a:xfrm>
          <a:prstGeom prst="rect">
            <a:avLst/>
          </a:prstGeom>
          <a:noFill/>
          <a:ln/>
        </p:spPr>
        <p:txBody>
          <a:bodyPr wrap="none" lIns="0" tIns="0" rIns="0" bIns="0" rtlCol="0" anchor="t"/>
          <a:lstStyle/>
          <a:p>
            <a:pPr marL="0" indent="0" algn="l">
              <a:lnSpc>
                <a:spcPct val="123000"/>
              </a:lnSpc>
              <a:buNone/>
            </a:pPr>
            <a:endParaRPr lang="en-US" sz="900" dirty="0"/>
          </a:p>
        </p:txBody>
      </p:sp>
      <p:pic>
        <p:nvPicPr>
          <p:cNvPr id="9" name="Image 3" descr="preencoded.png"/>
          <p:cNvPicPr>
            <a:picLocks noChangeAspect="1"/>
          </p:cNvPicPr>
          <p:nvPr/>
        </p:nvPicPr>
        <p:blipFill>
          <a:blip r:embed="rId6"/>
          <a:stretch>
            <a:fillRect/>
          </a:stretch>
        </p:blipFill>
        <p:spPr>
          <a:xfrm>
            <a:off x="6134026" y="1375246"/>
            <a:ext cx="1455316" cy="1455316"/>
          </a:xfrm>
          <a:prstGeom prst="rect">
            <a:avLst/>
          </a:prstGeom>
        </p:spPr>
      </p:pic>
      <p:pic>
        <p:nvPicPr>
          <p:cNvPr id="10" name="Image 4" descr="preencoded.png"/>
          <p:cNvPicPr>
            <a:picLocks noChangeAspect="1"/>
          </p:cNvPicPr>
          <p:nvPr/>
        </p:nvPicPr>
        <p:blipFill>
          <a:blip r:embed="rId7"/>
          <a:stretch>
            <a:fillRect/>
          </a:stretch>
        </p:blipFill>
        <p:spPr>
          <a:xfrm>
            <a:off x="6134026" y="2944044"/>
            <a:ext cx="2522339" cy="15764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622176"/>
            <a:ext cx="8151763" cy="221456"/>
          </a:xfrm>
          <a:prstGeom prst="rect">
            <a:avLst/>
          </a:prstGeom>
          <a:noFill/>
          <a:ln/>
        </p:spPr>
        <p:txBody>
          <a:bodyPr wrap="none" lIns="0" tIns="0" rIns="0" bIns="0" rtlCol="0" anchor="t"/>
          <a:lstStyle/>
          <a:p>
            <a:pPr marL="0" indent="0" algn="l">
              <a:lnSpc>
                <a:spcPct val="104000"/>
              </a:lnSpc>
              <a:buNone/>
            </a:pPr>
            <a:r>
              <a:rPr lang="en-US" sz="1350" dirty="0">
                <a:solidFill>
                  <a:srgbClr val="97B8FF"/>
                </a:solidFill>
                <a:latin typeface="Sora Medium" pitchFamily="34" charset="0"/>
                <a:ea typeface="Sora Medium" pitchFamily="34" charset="-122"/>
                <a:cs typeface="Sora Medium" pitchFamily="34" charset="-120"/>
              </a:rPr>
              <a:t>Challenges &amp; Solutions</a:t>
            </a:r>
            <a:endParaRPr lang="en-US" sz="1350" dirty="0"/>
          </a:p>
        </p:txBody>
      </p:sp>
      <p:sp>
        <p:nvSpPr>
          <p:cNvPr id="3" name="Text 1"/>
          <p:cNvSpPr/>
          <p:nvPr/>
        </p:nvSpPr>
        <p:spPr>
          <a:xfrm>
            <a:off x="496119" y="900336"/>
            <a:ext cx="8151763" cy="88597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97B8FF"/>
                </a:solidFill>
                <a:latin typeface="Sora Medium" pitchFamily="34" charset="0"/>
                <a:ea typeface="Sora Medium" pitchFamily="34" charset="-122"/>
                <a:cs typeface="Sora Medium" pitchFamily="34" charset="-120"/>
              </a:rPr>
              <a:t>Overcoming Obstacles Through Structured Problem-Solving</a:t>
            </a:r>
            <a:endParaRPr lang="en-US" sz="27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998911"/>
            <a:ext cx="2622724" cy="2522339"/>
          </a:xfrm>
          <a:prstGeom prst="rect">
            <a:avLst/>
          </a:prstGeom>
        </p:spPr>
      </p:pic>
      <p:sp>
        <p:nvSpPr>
          <p:cNvPr id="5" name="Text 2"/>
          <p:cNvSpPr/>
          <p:nvPr/>
        </p:nvSpPr>
        <p:spPr>
          <a:xfrm>
            <a:off x="733127" y="2159719"/>
            <a:ext cx="2224906"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Understanding Dataset Structure</a:t>
            </a:r>
            <a:endParaRPr lang="en-US" sz="1350" dirty="0"/>
          </a:p>
        </p:txBody>
      </p:sp>
      <p:sp>
        <p:nvSpPr>
          <p:cNvPr id="6" name="Text 3"/>
          <p:cNvSpPr/>
          <p:nvPr/>
        </p:nvSpPr>
        <p:spPr>
          <a:xfrm>
            <a:off x="733127" y="2687687"/>
            <a:ext cx="2224906" cy="1445940"/>
          </a:xfrm>
          <a:prstGeom prst="rect">
            <a:avLst/>
          </a:prstGeom>
          <a:noFill/>
          <a:ln/>
        </p:spPr>
        <p:txBody>
          <a:bodyPr wrap="square" lIns="0" tIns="0" rIns="0" bIns="0" rtlCol="0" anchor="t">
            <a:normAutofit/>
          </a:bodyPr>
          <a:lstStyle/>
          <a:p>
            <a:pPr marL="0" indent="0" algn="l">
              <a:lnSpc>
                <a:spcPct val="133000"/>
              </a:lnSpc>
              <a:buNone/>
            </a:pPr>
            <a:r>
              <a:rPr lang="en-US" sz="1100" b="1" dirty="0">
                <a:solidFill>
                  <a:srgbClr val="E0D6DE"/>
                </a:solidFill>
                <a:latin typeface="Noto Sans TC Bold" pitchFamily="34" charset="0"/>
                <a:ea typeface="Noto Sans TC Bold" pitchFamily="34" charset="-122"/>
                <a:cs typeface="Noto Sans TC Bold" pitchFamily="34" charset="-120"/>
              </a:rPr>
              <a:t>Challenge:</a:t>
            </a:r>
            <a:r>
              <a:rPr lang="en-US" sz="1100" dirty="0">
                <a:solidFill>
                  <a:srgbClr val="E0D6DE"/>
                </a:solidFill>
                <a:latin typeface="Noto Sans TC" pitchFamily="34" charset="0"/>
                <a:ea typeface="Noto Sans TC" pitchFamily="34" charset="-122"/>
                <a:cs typeface="Noto Sans TC" pitchFamily="34" charset="-120"/>
              </a:rPr>
              <a:t> Initial complexity in navigating 20,000 records across multiple fields.</a:t>
            </a:r>
            <a:endParaRPr lang="en-US" sz="1100" dirty="0"/>
          </a:p>
          <a:p>
            <a:pPr marL="0" indent="0" algn="l">
              <a:lnSpc>
                <a:spcPct val="133000"/>
              </a:lnSpc>
              <a:buNone/>
            </a:pPr>
            <a:r>
              <a:rPr lang="en-US" sz="1100" b="1" dirty="0">
                <a:solidFill>
                  <a:srgbClr val="E0D6DE"/>
                </a:solidFill>
                <a:latin typeface="Noto Sans TC Bold" pitchFamily="34" charset="0"/>
                <a:ea typeface="Noto Sans TC Bold" pitchFamily="34" charset="-122"/>
                <a:cs typeface="Noto Sans TC Bold" pitchFamily="34" charset="-120"/>
              </a:rPr>
              <a:t>Solution:</a:t>
            </a:r>
            <a:r>
              <a:rPr lang="en-US" sz="1100" dirty="0">
                <a:solidFill>
                  <a:srgbClr val="E0D6DE"/>
                </a:solidFill>
                <a:latin typeface="Noto Sans TC" pitchFamily="34" charset="0"/>
                <a:ea typeface="Noto Sans TC" pitchFamily="34" charset="-122"/>
                <a:cs typeface="Noto Sans TC" pitchFamily="34" charset="-120"/>
              </a:rPr>
              <a:t> Explored schema and data types systematically to map the full structure.</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60601" y="1998911"/>
            <a:ext cx="2622724" cy="2522339"/>
          </a:xfrm>
          <a:prstGeom prst="rect">
            <a:avLst/>
          </a:prstGeom>
        </p:spPr>
      </p:pic>
      <p:sp>
        <p:nvSpPr>
          <p:cNvPr id="8" name="Text 4"/>
          <p:cNvSpPr/>
          <p:nvPr/>
        </p:nvSpPr>
        <p:spPr>
          <a:xfrm>
            <a:off x="3497610" y="2159719"/>
            <a:ext cx="2224906"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Feature Engineering Implementation</a:t>
            </a:r>
            <a:endParaRPr lang="en-US" sz="1350" dirty="0"/>
          </a:p>
        </p:txBody>
      </p:sp>
      <p:sp>
        <p:nvSpPr>
          <p:cNvPr id="9" name="Text 5"/>
          <p:cNvSpPr/>
          <p:nvPr/>
        </p:nvSpPr>
        <p:spPr>
          <a:xfrm>
            <a:off x="3497610" y="2687687"/>
            <a:ext cx="2224906" cy="1672754"/>
          </a:xfrm>
          <a:prstGeom prst="rect">
            <a:avLst/>
          </a:prstGeom>
          <a:noFill/>
          <a:ln/>
        </p:spPr>
        <p:txBody>
          <a:bodyPr wrap="square" lIns="0" tIns="0" rIns="0" bIns="0" rtlCol="0" anchor="t">
            <a:normAutofit/>
          </a:bodyPr>
          <a:lstStyle/>
          <a:p>
            <a:pPr marL="0" indent="0" algn="l">
              <a:lnSpc>
                <a:spcPct val="133000"/>
              </a:lnSpc>
              <a:buNone/>
            </a:pPr>
            <a:r>
              <a:rPr lang="en-US" sz="1100" b="1" dirty="0">
                <a:solidFill>
                  <a:srgbClr val="E0D6DE"/>
                </a:solidFill>
                <a:latin typeface="Noto Sans TC Bold" pitchFamily="34" charset="0"/>
                <a:ea typeface="Noto Sans TC Bold" pitchFamily="34" charset="-122"/>
                <a:cs typeface="Noto Sans TC Bold" pitchFamily="34" charset="-120"/>
              </a:rPr>
              <a:t>Challenge:</a:t>
            </a:r>
            <a:r>
              <a:rPr lang="en-US" sz="1100" dirty="0">
                <a:solidFill>
                  <a:srgbClr val="E0D6DE"/>
                </a:solidFill>
                <a:latin typeface="Noto Sans TC" pitchFamily="34" charset="0"/>
                <a:ea typeface="Noto Sans TC" pitchFamily="34" charset="-122"/>
                <a:cs typeface="Noto Sans TC" pitchFamily="34" charset="-120"/>
              </a:rPr>
              <a:t> Determining which features would add the most analytical value.</a:t>
            </a:r>
            <a:endParaRPr lang="en-US" sz="1100" dirty="0"/>
          </a:p>
          <a:p>
            <a:pPr marL="0" indent="0" algn="l">
              <a:lnSpc>
                <a:spcPct val="133000"/>
              </a:lnSpc>
              <a:buNone/>
            </a:pPr>
            <a:r>
              <a:rPr lang="en-US" sz="1100" b="1" dirty="0">
                <a:solidFill>
                  <a:srgbClr val="E0D6DE"/>
                </a:solidFill>
                <a:latin typeface="Noto Sans TC Bold" pitchFamily="34" charset="0"/>
                <a:ea typeface="Noto Sans TC Bold" pitchFamily="34" charset="-122"/>
                <a:cs typeface="Noto Sans TC Bold" pitchFamily="34" charset="-120"/>
              </a:rPr>
              <a:t>Solution:</a:t>
            </a:r>
            <a:r>
              <a:rPr lang="en-US" sz="1100" dirty="0">
                <a:solidFill>
                  <a:srgbClr val="E0D6DE"/>
                </a:solidFill>
                <a:latin typeface="Noto Sans TC" pitchFamily="34" charset="0"/>
                <a:ea typeface="Noto Sans TC" pitchFamily="34" charset="-122"/>
                <a:cs typeface="Noto Sans TC" pitchFamily="34" charset="-120"/>
              </a:rPr>
              <a:t> Created Resolution_Duration and Priority_Score based on business requirements.</a:t>
            </a:r>
            <a:endParaRPr lang="en-US" sz="11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25083" y="1998911"/>
            <a:ext cx="2622724" cy="2522339"/>
          </a:xfrm>
          <a:prstGeom prst="rect">
            <a:avLst/>
          </a:prstGeom>
        </p:spPr>
      </p:pic>
      <p:sp>
        <p:nvSpPr>
          <p:cNvPr id="11" name="Text 6"/>
          <p:cNvSpPr/>
          <p:nvPr/>
        </p:nvSpPr>
        <p:spPr>
          <a:xfrm>
            <a:off x="6262092" y="2159719"/>
            <a:ext cx="2224906"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E0D6DE"/>
                </a:solidFill>
                <a:latin typeface="Sora Medium" pitchFamily="34" charset="0"/>
                <a:ea typeface="Sora Medium" pitchFamily="34" charset="-122"/>
                <a:cs typeface="Sora Medium" pitchFamily="34" charset="-120"/>
              </a:rPr>
              <a:t>Working with Large Datasets</a:t>
            </a:r>
            <a:endParaRPr lang="en-US" sz="1350" dirty="0"/>
          </a:p>
        </p:txBody>
      </p:sp>
      <p:sp>
        <p:nvSpPr>
          <p:cNvPr id="12" name="Text 7"/>
          <p:cNvSpPr/>
          <p:nvPr/>
        </p:nvSpPr>
        <p:spPr>
          <a:xfrm>
            <a:off x="6262092" y="2687687"/>
            <a:ext cx="2224906" cy="1445940"/>
          </a:xfrm>
          <a:prstGeom prst="rect">
            <a:avLst/>
          </a:prstGeom>
          <a:noFill/>
          <a:ln/>
        </p:spPr>
        <p:txBody>
          <a:bodyPr wrap="square" lIns="0" tIns="0" rIns="0" bIns="0" rtlCol="0" anchor="t">
            <a:normAutofit/>
          </a:bodyPr>
          <a:lstStyle/>
          <a:p>
            <a:pPr marL="0" indent="0" algn="l">
              <a:lnSpc>
                <a:spcPct val="133000"/>
              </a:lnSpc>
              <a:buNone/>
            </a:pPr>
            <a:r>
              <a:rPr lang="en-US" sz="1100" b="1" dirty="0">
                <a:solidFill>
                  <a:srgbClr val="E0D6DE"/>
                </a:solidFill>
                <a:latin typeface="Noto Sans TC Bold" pitchFamily="34" charset="0"/>
                <a:ea typeface="Noto Sans TC Bold" pitchFamily="34" charset="-122"/>
                <a:cs typeface="Noto Sans TC Bold" pitchFamily="34" charset="-120"/>
              </a:rPr>
              <a:t>Challenge:</a:t>
            </a:r>
            <a:r>
              <a:rPr lang="en-US" sz="1100" dirty="0">
                <a:solidFill>
                  <a:srgbClr val="E0D6DE"/>
                </a:solidFill>
                <a:latin typeface="Noto Sans TC" pitchFamily="34" charset="0"/>
                <a:ea typeface="Noto Sans TC" pitchFamily="34" charset="-122"/>
                <a:cs typeface="Noto Sans TC" pitchFamily="34" charset="-120"/>
              </a:rPr>
              <a:t> Ensuring data integrity across a high-volume dataset.</a:t>
            </a:r>
            <a:endParaRPr lang="en-US" sz="1100" dirty="0"/>
          </a:p>
          <a:p>
            <a:pPr marL="0" indent="0" algn="l">
              <a:lnSpc>
                <a:spcPct val="133000"/>
              </a:lnSpc>
              <a:buNone/>
            </a:pPr>
            <a:r>
              <a:rPr lang="en-US" sz="1100" b="1" dirty="0">
                <a:solidFill>
                  <a:srgbClr val="E0D6DE"/>
                </a:solidFill>
                <a:latin typeface="Noto Sans TC Bold" pitchFamily="34" charset="0"/>
                <a:ea typeface="Noto Sans TC Bold" pitchFamily="34" charset="-122"/>
                <a:cs typeface="Noto Sans TC Bold" pitchFamily="34" charset="-120"/>
              </a:rPr>
              <a:t>Solution:</a:t>
            </a:r>
            <a:r>
              <a:rPr lang="en-US" sz="1100" dirty="0">
                <a:solidFill>
                  <a:srgbClr val="E0D6DE"/>
                </a:solidFill>
                <a:latin typeface="Noto Sans TC" pitchFamily="34" charset="0"/>
                <a:ea typeface="Noto Sans TC" pitchFamily="34" charset="-122"/>
                <a:cs typeface="Noto Sans TC" pitchFamily="34" charset="-120"/>
              </a:rPr>
              <a:t> Performed thorough data validation before proceeding to analysis.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1772022"/>
          </a:xfrm>
          <a:prstGeom prst="rect">
            <a:avLst/>
          </a:prstGeom>
        </p:spPr>
      </p:pic>
      <p:sp>
        <p:nvSpPr>
          <p:cNvPr id="3" name="Text 0"/>
          <p:cNvSpPr/>
          <p:nvPr/>
        </p:nvSpPr>
        <p:spPr>
          <a:xfrm>
            <a:off x="496119" y="3016523"/>
            <a:ext cx="8151763" cy="442987"/>
          </a:xfrm>
          <a:prstGeom prst="rect">
            <a:avLst/>
          </a:prstGeom>
          <a:noFill/>
          <a:ln/>
        </p:spPr>
        <p:txBody>
          <a:bodyPr wrap="none" lIns="0" tIns="0" rIns="0" bIns="0" rtlCol="0" anchor="t"/>
          <a:lstStyle/>
          <a:p>
            <a:pPr marL="0" indent="0" algn="ctr">
              <a:lnSpc>
                <a:spcPct val="104000"/>
              </a:lnSpc>
              <a:buNone/>
            </a:pPr>
            <a:r>
              <a:rPr lang="en-US" sz="2750" dirty="0">
                <a:solidFill>
                  <a:srgbClr val="97B8FF"/>
                </a:solidFill>
                <a:latin typeface="Sora Medium" pitchFamily="34" charset="0"/>
                <a:ea typeface="Sora Medium" pitchFamily="34" charset="-122"/>
                <a:cs typeface="Sora Medium" pitchFamily="34" charset="-120"/>
              </a:rPr>
              <a:t>THANK YOU….!</a:t>
            </a:r>
            <a:endParaRPr lang="en-US" sz="2750" dirty="0"/>
          </a:p>
        </p:txBody>
      </p:sp>
      <p:sp>
        <p:nvSpPr>
          <p:cNvPr id="4" name="Text 1"/>
          <p:cNvSpPr/>
          <p:nvPr/>
        </p:nvSpPr>
        <p:spPr>
          <a:xfrm>
            <a:off x="267519" y="3672111"/>
            <a:ext cx="8608963" cy="226814"/>
          </a:xfrm>
          <a:prstGeom prst="rect">
            <a:avLst/>
          </a:prstGeom>
          <a:noFill/>
          <a:ln/>
        </p:spPr>
        <p:txBody>
          <a:bodyPr wrap="none" lIns="0" tIns="0" rIns="0" bIns="0" rtlCol="0" anchor="t"/>
          <a:lstStyle/>
          <a:p>
            <a:pPr marL="0" indent="0" algn="ctr">
              <a:lnSpc>
                <a:spcPct val="133000"/>
              </a:lnSpc>
              <a:buNone/>
            </a:pP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617</Words>
  <Application>Microsoft Office PowerPoint</Application>
  <PresentationFormat>On-screen Show (16:9)</PresentationFormat>
  <Paragraphs>103</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Noto Sans TC Bold</vt:lpstr>
      <vt:lpstr>Noto Sans TC</vt:lpstr>
      <vt:lpstr>Sora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DEVI NAKIREDDY</dc:creator>
  <cp:lastModifiedBy>DEVI NAKIREDDY</cp:lastModifiedBy>
  <cp:revision>2</cp:revision>
  <dcterms:created xsi:type="dcterms:W3CDTF">2026-07-12T12:29:44Z</dcterms:created>
  <dcterms:modified xsi:type="dcterms:W3CDTF">2026-07-12T12:36:12Z</dcterms:modified>
</cp:coreProperties>
</file>