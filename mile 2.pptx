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Funnel Sans Bold" panose="020B0604020202020204" charset="0"/>
      <p:regular r:id="rId11"/>
    </p:embeddedFont>
    <p:embeddedFont>
      <p:font typeface="Funnel Display" panose="020B0604020202020204" charset="0"/>
      <p:regular r:id="rId12"/>
    </p:embeddedFont>
    <p:embeddedFont>
      <p:font typeface="Funnel Sans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568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jpeg"/><Relationship Id="rId7" Type="http://schemas.openxmlformats.org/officeDocument/2006/relationships/image" Target="../media/image-8-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-8-3.svg"/><Relationship Id="rId10" Type="http://schemas.openxmlformats.org/officeDocument/2006/relationships/image" Target="../media/image-8-7.svg"/><Relationship Id="rId4" Type="http://schemas.openxmlformats.org/officeDocument/2006/relationships/image" Target="../media/image15.png"/><Relationship Id="rId9" Type="http://schemas.openxmlformats.org/officeDocument/2006/relationships/image" Target="../media/image-8-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30284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Supportlytics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188666"/>
            <a:ext cx="6223638" cy="242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Data-Driven IT Support Optimization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98086" y="491668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Milestone 2 Presentation · Modules 3 &amp; 4 · Customer Support Tickets Dataset · 200,000 Records · 50 Features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88814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Milestone Overview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996083"/>
            <a:ext cx="51665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Modules Completed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98086" y="2454672"/>
            <a:ext cx="577617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Module 3 – Exploratory Visualization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98086" y="2912269"/>
            <a:ext cx="5166588" cy="654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Ticket Type, Category &amp; Priority Distribution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Queue &amp; Cluster Distribution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98086" y="3728442"/>
            <a:ext cx="577617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Module 4 – Similarity &amp; Clustering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8086" y="4186039"/>
            <a:ext cx="5166588" cy="1012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TF-IDF Text Vectorization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MiniBatch K-Means Clustering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Similarity Score &amp; Cluster Performance Analysis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3371" y="1996083"/>
            <a:ext cx="51665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Feature Engineering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333371" y="2477195"/>
            <a:ext cx="5166588" cy="3189486"/>
          </a:xfrm>
          <a:prstGeom prst="roundRect">
            <a:avLst>
              <a:gd name="adj" fmla="val 249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3371" y="3010892"/>
            <a:ext cx="5166588" cy="118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33371" y="3541415"/>
            <a:ext cx="5166588" cy="118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33371" y="4071938"/>
            <a:ext cx="5166588" cy="118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33371" y="4602460"/>
            <a:ext cx="5166588" cy="118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333371" y="5132983"/>
            <a:ext cx="5166588" cy="118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01336" y="2477195"/>
            <a:ext cx="11844" cy="318948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29323" y="2597845"/>
            <a:ext cx="2288919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Feature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94014" y="2597845"/>
            <a:ext cx="331967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Description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29323" y="3128367"/>
            <a:ext cx="2288919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Queue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94014" y="3128367"/>
            <a:ext cx="331967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Support team assignment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29323" y="3658890"/>
            <a:ext cx="2288919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Cluster_ID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94014" y="3658890"/>
            <a:ext cx="331967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Machine learning cluster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29323" y="4189413"/>
            <a:ext cx="2288919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Cluster_Name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94014" y="4189413"/>
            <a:ext cx="331967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Business cluster label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29323" y="4719935"/>
            <a:ext cx="2288919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Similarity_Score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594014" y="4719935"/>
            <a:ext cx="331967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Cosine similarity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29323" y="5250458"/>
            <a:ext cx="2288919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Similarity_Level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594014" y="5250458"/>
            <a:ext cx="331967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 / Medium / Low</a:t>
            </a:r>
            <a:endParaRPr lang="en-US" sz="14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909" y="6470630"/>
            <a:ext cx="1778091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69971" y="1222276"/>
            <a:ext cx="6223638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Exploratory Visualization I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269971" y="2049562"/>
            <a:ext cx="6223638" cy="1703090"/>
          </a:xfrm>
          <a:prstGeom prst="roundRect">
            <a:avLst>
              <a:gd name="adj" fmla="val 4673"/>
            </a:avLst>
          </a:prstGeom>
          <a:solidFill>
            <a:srgbClr val="FAF5EB"/>
          </a:solidFill>
          <a:ln w="25399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4874" y="2264470"/>
            <a:ext cx="579383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Ticket Type Distribution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484874" y="2651026"/>
            <a:ext cx="5793833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Problem</a:t>
            </a: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tickets represent the largest share (</a:t>
            </a:r>
            <a:r>
              <a:rPr lang="en-US" sz="14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79,972</a:t>
            </a: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), followed by Requests and Incidents — indicating recurring operational issues requiring long-term solutions.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69971" y="3932634"/>
            <a:ext cx="6223638" cy="1703090"/>
          </a:xfrm>
          <a:prstGeom prst="roundRect">
            <a:avLst>
              <a:gd name="adj" fmla="val 4673"/>
            </a:avLst>
          </a:prstGeom>
          <a:solidFill>
            <a:srgbClr val="FAF5EB"/>
          </a:solidFill>
          <a:ln w="25399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4874" y="4147542"/>
            <a:ext cx="579383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Ticket Category Distribution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484874" y="4534098"/>
            <a:ext cx="5793833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Categories are almost equally distributed (~20K tickets each). Customer issues are spread across multiple domains, requiring </a:t>
            </a:r>
            <a:r>
              <a:rPr lang="en-US" sz="14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balanced resource allocation</a:t>
            </a: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45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909" y="6480057"/>
            <a:ext cx="1778091" cy="3873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l="6564" r="5204"/>
          <a:stretch/>
        </p:blipFill>
        <p:spPr>
          <a:xfrm>
            <a:off x="82730" y="362287"/>
            <a:ext cx="4972339" cy="63509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20440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Exploratory Visualization II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090703" y="4249101"/>
            <a:ext cx="3509577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Cluster Distribution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81160" y="4760020"/>
            <a:ext cx="3509577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Account &amp; Transaction Issues</a:t>
            </a: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is the dominant cluster with </a:t>
            </a:r>
            <a:r>
              <a:rPr lang="en-US" sz="13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100,378 tickets</a:t>
            </a: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highlighting authentication, payment, and account management as major support challenges.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350777" y="4249100"/>
            <a:ext cx="3509577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Priority Distribution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766316" y="4772266"/>
            <a:ext cx="3509577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Ticket priorities are nearly evenly distributed — all priority levels require consistent operational attention.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18184" y="4248656"/>
            <a:ext cx="3509577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Queue Distribution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18184" y="4646803"/>
            <a:ext cx="3509577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Account Management</a:t>
            </a: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r>
              <a:rPr lang="en-US" sz="13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Infrastructure Team</a:t>
            </a: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and </a:t>
            </a:r>
            <a:r>
              <a:rPr lang="en-US" sz="13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Billing Support</a:t>
            </a: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process the highest ticket volumes — key areas for staffing and optimization.</a:t>
            </a:r>
            <a:endParaRPr lang="en-US" sz="13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909" y="6470630"/>
            <a:ext cx="1778091" cy="387370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388491" y="1555901"/>
            <a:ext cx="3694914" cy="2406862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4372140" y="1549249"/>
            <a:ext cx="3623540" cy="2391593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6"/>
          <a:stretch>
            <a:fillRect/>
          </a:stretch>
        </p:blipFill>
        <p:spPr>
          <a:xfrm>
            <a:off x="8275893" y="1538345"/>
            <a:ext cx="3644204" cy="22841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20266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Similarity &amp; Cluster Analysis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817491" y="3487281"/>
            <a:ext cx="349370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Similarity Score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867032" y="4845666"/>
            <a:ext cx="3493702" cy="163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Three clusters achieved similarity scores close to </a:t>
            </a:r>
            <a:r>
              <a:rPr lang="en-US" sz="14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1.0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indicating strong internal consistency. </a:t>
            </a:r>
            <a:r>
              <a:rPr lang="en-US" sz="14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Account &amp; Transaction Issues (0.46)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contains more diverse ticket types, suggesting opportunities for finer-grained clustering.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34059" y="1541452"/>
            <a:ext cx="349370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Cluster Size vs Ticket Type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3292756" y="2066683"/>
            <a:ext cx="3493702" cy="1091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Account &amp; Transaction Issues dominate across Incident, Request, and Problem ticket types. Improvements in this area could reduce the overall support workload.</a:t>
            </a:r>
            <a:endParaRPr lang="en-US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909" y="6470630"/>
            <a:ext cx="1778091" cy="38737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/>
          <a:stretch>
            <a:fillRect/>
          </a:stretch>
        </p:blipFill>
        <p:spPr>
          <a:xfrm>
            <a:off x="698086" y="3883312"/>
            <a:ext cx="3732512" cy="2529683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 rotWithShape="1">
          <a:blip r:embed="rId5"/>
          <a:srcRect t="1473"/>
          <a:stretch/>
        </p:blipFill>
        <p:spPr bwMode="auto">
          <a:xfrm>
            <a:off x="6973370" y="1834448"/>
            <a:ext cx="4806315" cy="23520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42349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Performance Gap Analysis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2309316"/>
            <a:ext cx="3012107" cy="1782068"/>
          </a:xfrm>
          <a:prstGeom prst="roundRect">
            <a:avLst>
              <a:gd name="adj" fmla="val 470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3860" y="2515096"/>
            <a:ext cx="26005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Consistent Resolution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03860" y="2928045"/>
            <a:ext cx="26005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Resolution times are relatively consistent across all clusters.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3909617" y="2309316"/>
            <a:ext cx="3012107" cy="1782068"/>
          </a:xfrm>
          <a:prstGeom prst="roundRect">
            <a:avLst>
              <a:gd name="adj" fmla="val 470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5392" y="2515096"/>
            <a:ext cx="26005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No Significant Delays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5392" y="2928045"/>
            <a:ext cx="26005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cluster experiences significantly longer resolution times than others.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8086" y="4290814"/>
            <a:ext cx="6223638" cy="1143695"/>
          </a:xfrm>
          <a:prstGeom prst="roundRect">
            <a:avLst>
              <a:gd name="adj" fmla="val 7325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3860" y="4496594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Outliers Present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03860" y="4909542"/>
            <a:ext cx="58120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few outliers indicate tickets requiring extended support effort.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821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Issue Complexity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8037708" y="1693466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Resolution Time by Complexity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37708" y="2186186"/>
            <a:ext cx="3462152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Resolution times remain relatively stable across complexity levels, indicating consistent handling of both simple and complex issues.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037708" y="3662363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Complexity vs Resolution Time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37708" y="4155083"/>
            <a:ext cx="3462152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strong linear relationship between complexity and resolution time. Resolution performance appears to depend on additional factors such as </a:t>
            </a:r>
            <a:r>
              <a:rPr lang="en-US" sz="15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support queue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r>
              <a:rPr lang="en-US" sz="15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agent expertise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and </a:t>
            </a:r>
            <a:r>
              <a:rPr lang="en-US" sz="15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SLA requirements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55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909" y="6470630"/>
            <a:ext cx="1778091" cy="38737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/>
          <a:stretch>
            <a:fillRect/>
          </a:stretch>
        </p:blipFill>
        <p:spPr>
          <a:xfrm>
            <a:off x="383815" y="1338900"/>
            <a:ext cx="4009076" cy="2616754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 rotWithShape="1">
          <a:blip r:embed="rId5"/>
          <a:srcRect t="361"/>
          <a:stretch/>
        </p:blipFill>
        <p:spPr>
          <a:xfrm>
            <a:off x="3042076" y="4099663"/>
            <a:ext cx="4806950" cy="27206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94519"/>
            <a:ext cx="6223638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Findings</a:t>
            </a:r>
            <a:endParaRPr lang="en-US" sz="2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98086" y="1242020"/>
            <a:ext cx="6223638" cy="1106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0393" y="1418134"/>
            <a:ext cx="5795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Dataset &amp; Features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950393" y="1723330"/>
            <a:ext cx="5795222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Processed </a:t>
            </a:r>
            <a:r>
              <a:rPr lang="en-US" sz="12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200,000 support tickets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Engineered Queue, Cluster_ID, Cluster_Name, Similarity_Score, and Similarity_Level features.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98086" y="2472134"/>
            <a:ext cx="6223638" cy="8819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0393" y="2648248"/>
            <a:ext cx="5795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Clustering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950393" y="2953445"/>
            <a:ext cx="579522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Applied </a:t>
            </a:r>
            <a:r>
              <a:rPr lang="en-US" sz="12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TF-IDF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</a:t>
            </a:r>
            <a:r>
              <a:rPr lang="en-US" sz="12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MiniBatch K-Means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generate </a:t>
            </a:r>
            <a:r>
              <a:rPr lang="en-US" sz="12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5 meaningful ticket clusters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98086" y="3477716"/>
            <a:ext cx="6223638" cy="13310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0393" y="3653830"/>
            <a:ext cx="5795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Top Cluster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950393" y="3959027"/>
            <a:ext cx="5795222" cy="673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Account &amp; Transaction Issues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is the largest cluster (</a:t>
            </a:r>
            <a:r>
              <a:rPr lang="en-US" sz="12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100,378 tickets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). Account Management, Infrastructure Team, and Billing Support handle the highest workloads.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98086" y="4932362"/>
            <a:ext cx="6223638" cy="13310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0393" y="5108476"/>
            <a:ext cx="5795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950393" y="5413673"/>
            <a:ext cx="5795222" cy="673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Most clusters exhibit </a:t>
            </a:r>
            <a:r>
              <a:rPr lang="en-US" sz="120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high similarity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validating the clustering approach. Resolution performance remains stable across clusters with no significant delays observed.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478</Words>
  <Application>Microsoft Office PowerPoint</Application>
  <PresentationFormat>Widescreen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Funnel Sans Bold</vt:lpstr>
      <vt:lpstr>Funnel Display</vt:lpstr>
      <vt:lpstr>Funnel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Aarmitha</dc:creator>
  <cp:lastModifiedBy>Aarmitha</cp:lastModifiedBy>
  <cp:revision>3</cp:revision>
  <dcterms:created xsi:type="dcterms:W3CDTF">2026-07-17T17:47:16Z</dcterms:created>
  <dcterms:modified xsi:type="dcterms:W3CDTF">2026-07-17T17:58:06Z</dcterms:modified>
</cp:coreProperties>
</file>