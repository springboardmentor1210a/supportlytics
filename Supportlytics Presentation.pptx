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8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383476"/>
          </a:solidFill>
          <a:ln/>
        </p:spPr>
      </p:sp>
      <p:sp>
        <p:nvSpPr>
          <p:cNvPr id="3" name="Shape 1"/>
          <p:cNvSpPr/>
          <p:nvPr/>
        </p:nvSpPr>
        <p:spPr>
          <a:xfrm>
            <a:off x="4206240" y="0"/>
            <a:ext cx="54864" cy="6858000"/>
          </a:xfrm>
          <a:prstGeom prst="rect">
            <a:avLst/>
          </a:prstGeom>
          <a:solidFill>
            <a:srgbClr val="17C3EC"/>
          </a:solidFill>
          <a:ln/>
        </p:spPr>
      </p:sp>
      <p:pic>
        <p:nvPicPr>
          <p:cNvPr id="4" name="Image 0" descr="./assets/logo_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2834640" cy="2834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63440" y="16916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7C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ANALYTICS JOURNEY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617720" y="2057400"/>
            <a:ext cx="7223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Supportlytics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4663440" y="29260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C7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Optimization of IT Support Team Performance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4663440" y="3520440"/>
            <a:ext cx="2194560" cy="0"/>
          </a:xfrm>
          <a:prstGeom prst="line">
            <a:avLst/>
          </a:prstGeom>
          <a:noFill/>
          <a:ln w="25400">
            <a:solidFill>
              <a:srgbClr val="17C3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63440" y="379476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Module 1–2 · Foundation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663440" y="412394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Module 3–4 · EDA &amp; Clustering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663440" y="445312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Module 5–6 · Performance &amp; Geo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663440" y="478231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Module 7–8 · Dashboard &amp; Delivery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66344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A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N Sai Srimannarayana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663440" y="62636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F8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1–4 · Weeks 1–8 · 200,000-ticket dataset · Python + Power BI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8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Modules, Four Milestones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ticket data to an executive Power BI dashboard — every module builds on the one before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697480" cy="4480560"/>
          </a:xfrm>
          <a:prstGeom prst="roundRect">
            <a:avLst>
              <a:gd name="adj" fmla="val 3051"/>
            </a:avLst>
          </a:prstGeom>
          <a:solidFill>
            <a:srgbClr val="F5F6FB"/>
          </a:solidFill>
          <a:ln w="12700">
            <a:solidFill>
              <a:srgbClr val="E1E2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2697480" cy="777240"/>
          </a:xfrm>
          <a:prstGeom prst="rect">
            <a:avLst/>
          </a:prstGeom>
          <a:solidFill>
            <a:srgbClr val="38347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691640"/>
            <a:ext cx="2697480" cy="777240"/>
          </a:xfrm>
          <a:prstGeom prst="roundRect">
            <a:avLst>
              <a:gd name="adj" fmla="val 10588"/>
            </a:avLst>
          </a:prstGeom>
          <a:solidFill>
            <a:srgbClr val="38347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83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697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834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34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32278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48386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Initialization &amp; Dataset Setup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834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34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49194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517550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Feature Engineering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19272" y="1691640"/>
            <a:ext cx="2697480" cy="4480560"/>
          </a:xfrm>
          <a:prstGeom prst="roundRect">
            <a:avLst>
              <a:gd name="adj" fmla="val 3051"/>
            </a:avLst>
          </a:prstGeom>
          <a:solidFill>
            <a:srgbClr val="F5F6FB"/>
          </a:solidFill>
          <a:ln w="12700">
            <a:solidFill>
              <a:srgbClr val="E1E2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19272" y="1691640"/>
            <a:ext cx="2697480" cy="777240"/>
          </a:xfrm>
          <a:prstGeom prst="rect">
            <a:avLst/>
          </a:prstGeom>
          <a:solidFill>
            <a:srgbClr val="2454FF"/>
          </a:solidFill>
          <a:ln/>
        </p:spPr>
      </p:sp>
      <p:sp>
        <p:nvSpPr>
          <p:cNvPr id="20" name="Shape 18"/>
          <p:cNvSpPr/>
          <p:nvPr/>
        </p:nvSpPr>
        <p:spPr>
          <a:xfrm>
            <a:off x="3319272" y="1691640"/>
            <a:ext cx="2697480" cy="777240"/>
          </a:xfrm>
          <a:prstGeom prst="roundRect">
            <a:avLst>
              <a:gd name="adj" fmla="val 10588"/>
            </a:avLst>
          </a:prstGeom>
          <a:solidFill>
            <a:srgbClr val="2454FF"/>
          </a:solidFill>
          <a:ln/>
        </p:spPr>
      </p:sp>
      <p:sp>
        <p:nvSpPr>
          <p:cNvPr id="21" name="Text 19"/>
          <p:cNvSpPr/>
          <p:nvPr/>
        </p:nvSpPr>
        <p:spPr>
          <a:xfrm>
            <a:off x="3502152" y="1783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2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502152" y="2148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502152" y="2697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45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02152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5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502152" y="32278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02152" y="348386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502152" y="43891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454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02152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5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502152" y="49194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502152" y="517550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Clustering &amp; Similarity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81344" y="1691640"/>
            <a:ext cx="2697480" cy="4480560"/>
          </a:xfrm>
          <a:prstGeom prst="roundRect">
            <a:avLst>
              <a:gd name="adj" fmla="val 3051"/>
            </a:avLst>
          </a:prstGeom>
          <a:solidFill>
            <a:srgbClr val="F5F6FB"/>
          </a:solidFill>
          <a:ln w="12700">
            <a:solidFill>
              <a:srgbClr val="E1E2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81344" y="1691640"/>
            <a:ext cx="2697480" cy="777240"/>
          </a:xfrm>
          <a:prstGeom prst="rect">
            <a:avLst/>
          </a:prstGeom>
          <a:solidFill>
            <a:srgbClr val="0EA5C7"/>
          </a:solidFill>
          <a:ln/>
        </p:spPr>
      </p:sp>
      <p:sp>
        <p:nvSpPr>
          <p:cNvPr id="33" name="Shape 31"/>
          <p:cNvSpPr/>
          <p:nvPr/>
        </p:nvSpPr>
        <p:spPr>
          <a:xfrm>
            <a:off x="6181344" y="1691640"/>
            <a:ext cx="2697480" cy="777240"/>
          </a:xfrm>
          <a:prstGeom prst="roundRect">
            <a:avLst>
              <a:gd name="adj" fmla="val 10588"/>
            </a:avLst>
          </a:prstGeom>
          <a:solidFill>
            <a:srgbClr val="0EA5C7"/>
          </a:solidFill>
          <a:ln/>
        </p:spPr>
      </p:sp>
      <p:sp>
        <p:nvSpPr>
          <p:cNvPr id="34" name="Text 32"/>
          <p:cNvSpPr/>
          <p:nvPr/>
        </p:nvSpPr>
        <p:spPr>
          <a:xfrm>
            <a:off x="6364224" y="1783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3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6364224" y="2148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5–6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64224" y="2697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EA5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64224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A5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364224" y="32278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64224" y="348386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Trend Analysis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364224" y="43891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EA5C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64224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A5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364224" y="49194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64224" y="517550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&amp; Category Insights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043416" y="1691640"/>
            <a:ext cx="2697480" cy="4480560"/>
          </a:xfrm>
          <a:prstGeom prst="roundRect">
            <a:avLst>
              <a:gd name="adj" fmla="val 3051"/>
            </a:avLst>
          </a:prstGeom>
          <a:solidFill>
            <a:srgbClr val="F5F6FB"/>
          </a:solidFill>
          <a:ln w="12700">
            <a:solidFill>
              <a:srgbClr val="E1E2E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043416" y="1691640"/>
            <a:ext cx="2697480" cy="777240"/>
          </a:xfrm>
          <a:prstGeom prst="rect">
            <a:avLst/>
          </a:prstGeom>
          <a:solidFill>
            <a:srgbClr val="1AAB6B"/>
          </a:solidFill>
          <a:ln/>
        </p:spPr>
      </p:sp>
      <p:sp>
        <p:nvSpPr>
          <p:cNvPr id="46" name="Shape 44"/>
          <p:cNvSpPr/>
          <p:nvPr/>
        </p:nvSpPr>
        <p:spPr>
          <a:xfrm>
            <a:off x="9043416" y="1691640"/>
            <a:ext cx="2697480" cy="777240"/>
          </a:xfrm>
          <a:prstGeom prst="roundRect">
            <a:avLst>
              <a:gd name="adj" fmla="val 10588"/>
            </a:avLst>
          </a:prstGeom>
          <a:solidFill>
            <a:srgbClr val="1AAB6B"/>
          </a:solidFill>
          <a:ln/>
        </p:spPr>
      </p:sp>
      <p:sp>
        <p:nvSpPr>
          <p:cNvPr id="47" name="Text 45"/>
          <p:cNvSpPr/>
          <p:nvPr/>
        </p:nvSpPr>
        <p:spPr>
          <a:xfrm>
            <a:off x="9226296" y="1783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4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9226296" y="2148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7–8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226296" y="2697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AAB6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226296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A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9226296" y="32278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226296" y="348386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 Report Preparation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9226296" y="43891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AAB6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26296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A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9226296" y="49194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9226296" y="517550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Presentation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Supportlytics · Modules 1–8 Journey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1521440" y="65836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18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&amp; The KPI Framework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patterns in support demand and performance to recommend workflow and resource-allocation improvements.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Supportlytics · Modules 1–8 Journey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5F6FB"/>
          </a:solidFill>
          <a:ln w="12700">
            <a:solidFill>
              <a:srgbClr val="E1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975104"/>
            <a:ext cx="4718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IT support ticket data to identify key performance trends, optimize resolution times, and enhance service efficiency — uncovering patterns in requests, technical issues, and support performance to recommend workflow and resource-allocation improvements.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Workflow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376732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38347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767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96112" y="37490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&amp; understand data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38347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206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96112" y="41879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engineer features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64515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383476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645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96112" y="462686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demand patterns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508406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383476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5084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96112" y="506577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related issues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552297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383476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5522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96112" y="550468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performance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596188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383476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5961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96112" y="5943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dashboard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897880" y="1508760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KPIs Anchor Every Module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897880" y="1874520"/>
            <a:ext cx="278892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1E2EF"/>
            </a:solidFill>
            <a:prstDash val="solid"/>
          </a:ln>
          <a:effectLst>
            <a:outerShdw sx="100000" sy="100000" kx="0" ky="0" algn="bl" rotWithShape="0" blurRad="50800" dist="12700" dir="5400000">
              <a:srgbClr val="1B1856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007608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007608" y="2240280"/>
            <a:ext cx="2569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Resolution Time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915400" y="1874520"/>
            <a:ext cx="278892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1E2EF"/>
            </a:solidFill>
            <a:prstDash val="solid"/>
          </a:ln>
          <a:effectLst>
            <a:outerShdw sx="100000" sy="100000" kx="0" ky="0" algn="bl" rotWithShape="0" blurRad="50800" dist="12700" dir="5400000">
              <a:srgbClr val="1B1856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025128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025128" y="2240280"/>
            <a:ext cx="2569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Response Time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897880" y="2715768"/>
            <a:ext cx="278892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1E2EF"/>
            </a:solidFill>
            <a:prstDash val="solid"/>
          </a:ln>
          <a:effectLst>
            <a:outerShdw sx="100000" sy="100000" kx="0" ky="0" algn="bl" rotWithShape="0" blurRad="50800" dist="12700" dir="5400000">
              <a:srgbClr val="1B1856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007608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007608" y="3081528"/>
            <a:ext cx="2569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Breach Rate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915400" y="2715768"/>
            <a:ext cx="278892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1E2EF"/>
            </a:solidFill>
            <a:prstDash val="solid"/>
          </a:ln>
          <a:effectLst>
            <a:outerShdw sx="100000" sy="100000" kx="0" ky="0" algn="bl" rotWithShape="0" blurRad="50800" dist="12700" dir="5400000">
              <a:srgbClr val="1B1856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025128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025128" y="3081528"/>
            <a:ext cx="2569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Rate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897880" y="3557016"/>
            <a:ext cx="278892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1E2EF"/>
            </a:solidFill>
            <a:prstDash val="solid"/>
          </a:ln>
          <a:effectLst>
            <a:outerShdw sx="100000" sy="100000" kx="0" ky="0" algn="bl" rotWithShape="0" blurRad="50800" dist="12700" dir="5400000">
              <a:srgbClr val="1B1856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007608" y="3630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007608" y="3922776"/>
            <a:ext cx="2569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 (CSAT)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915400" y="3557016"/>
            <a:ext cx="278892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1E2EF"/>
            </a:solidFill>
            <a:prstDash val="solid"/>
          </a:ln>
          <a:effectLst>
            <a:outerShdw sx="100000" sy="100000" kx="0" ky="0" algn="bl" rotWithShape="0" blurRad="50800" dist="12700" dir="5400000">
              <a:srgbClr val="1B1856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9025128" y="3630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9025128" y="3922776"/>
            <a:ext cx="2569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Volume by Priority/Category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897880" y="4398264"/>
            <a:ext cx="278892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1E2EF"/>
            </a:solidFill>
            <a:prstDash val="solid"/>
          </a:ln>
          <a:effectLst>
            <a:outerShdw sx="100000" sy="100000" kx="0" ky="0" algn="bl" rotWithShape="0" blurRad="50800" dist="12700" dir="5400000">
              <a:srgbClr val="1B1856">
                <a:alpha val="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007608" y="4471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6007608" y="4764024"/>
            <a:ext cx="2569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 Backlog Rate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915400" y="4398264"/>
            <a:ext cx="278892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1E2EF"/>
            </a:solidFill>
            <a:prstDash val="solid"/>
          </a:ln>
          <a:effectLst>
            <a:outerShdw sx="100000" sy="100000" kx="0" ky="0" algn="bl" rotWithShape="0" blurRad="50800" dist="12700" dir="5400000">
              <a:srgbClr val="1B1856">
                <a:alpha val="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9025128" y="4471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9025128" y="4764024"/>
            <a:ext cx="2569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Contact Rate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897880" y="5239512"/>
            <a:ext cx="278892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1E2EF"/>
            </a:solidFill>
            <a:prstDash val="solid"/>
          </a:ln>
          <a:effectLst>
            <a:outerShdw sx="100000" sy="100000" kx="0" ky="0" algn="bl" rotWithShape="0" blurRad="50800" dist="12700" dir="5400000">
              <a:srgbClr val="1B1856">
                <a:alpha val="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6007608" y="5312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6007608" y="5605272"/>
            <a:ext cx="2569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Complexity Index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915400" y="5239512"/>
            <a:ext cx="278892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1E2EF"/>
            </a:solidFill>
            <a:prstDash val="solid"/>
          </a:ln>
          <a:effectLst>
            <a:outerShdw sx="100000" sy="100000" kx="0" ky="0" algn="bl" rotWithShape="0" blurRad="50800" dist="12700" dir="5400000">
              <a:srgbClr val="1B1856">
                <a:alpha val="8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9025128" y="5312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9025128" y="5605272"/>
            <a:ext cx="2569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/ Similarity Concentration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DATA ACQUISITION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18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Selection &amp; Schema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candidate datasets were evaluated before committing to the richest, largest source.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Supportlytics · Modules 1–8 Journey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6949440" cy="365760"/>
          </a:xfrm>
          <a:prstGeom prst="rect">
            <a:avLst/>
          </a:prstGeom>
          <a:solidFill>
            <a:srgbClr val="383476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554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Dataset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182112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005072" y="155448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56632" y="1554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6949440" cy="502920"/>
          </a:xfrm>
          <a:prstGeom prst="rect">
            <a:avLst/>
          </a:prstGeom>
          <a:solidFill>
            <a:srgbClr val="F5F6FB"/>
          </a:solidFill>
          <a:ln w="6350">
            <a:solidFill>
              <a:srgbClr val="E1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9202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synthetic_it_support_tickets.csv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182112" y="1920240"/>
            <a:ext cx="694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~10,000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005072" y="1920240"/>
            <a:ext cx="923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56632" y="1920240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type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423160"/>
            <a:ext cx="6949440" cy="658368"/>
          </a:xfrm>
          <a:prstGeom prst="rect">
            <a:avLst/>
          </a:prstGeom>
          <a:solidFill>
            <a:srgbClr val="F5F6FB"/>
          </a:solidFill>
          <a:ln w="6350">
            <a:solidFill>
              <a:srgbClr val="E1E2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423160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Support Dataset.csv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182112" y="2423160"/>
            <a:ext cx="694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~2,023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005072" y="2423160"/>
            <a:ext cx="9235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56632" y="2423160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too small for reliable clustering &amp; trend analysis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081528"/>
            <a:ext cx="6949440" cy="777240"/>
          </a:xfrm>
          <a:prstGeom prst="rect">
            <a:avLst/>
          </a:prstGeom>
          <a:solidFill>
            <a:srgbClr val="E5F7EE"/>
          </a:solidFill>
          <a:ln w="6350">
            <a:solidFill>
              <a:srgbClr val="E1E2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081528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customer_support_tickets_200k.csv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182112" y="3081528"/>
            <a:ext cx="694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200,000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005072" y="3081528"/>
            <a:ext cx="923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AA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56632" y="3081528"/>
            <a:ext cx="2295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dataset, richest schema (30 fields) — full KPI &amp; dashboard coverage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96849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— mirzayasirabdullah07/customer-support-tickets-dataset-200k-records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4361688"/>
            <a:ext cx="6949440" cy="1234440"/>
          </a:xfrm>
          <a:prstGeom prst="roundRect">
            <a:avLst>
              <a:gd name="adj" fmla="val 5926"/>
            </a:avLst>
          </a:prstGeom>
          <a:solidFill>
            <a:srgbClr val="F5F6FB"/>
          </a:solidFill>
          <a:ln w="12700">
            <a:solidFill>
              <a:srgbClr val="E1E2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448056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note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58368" y="4773168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brief references a generic “Type” field (Request / Problem / Incident). The extract doesn’t include that classification directly — category and product serve as the closest available proxies, and Type is later derived from category in Module 2 using ITIL convention.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680960" y="15544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at a glance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680960" y="196596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2EF"/>
            </a:solidFill>
            <a:prstDash val="solid"/>
          </a:ln>
          <a:effectLst>
            <a:outerShdw sx="100000" sy="100000" kx="0" ky="0" algn="bl" rotWithShape="0" blurRad="76200" dist="25400" dir="5400000">
              <a:srgbClr val="1B1856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754112" y="2053742"/>
            <a:ext cx="3877056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34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200,000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754112" y="2339035"/>
            <a:ext cx="3877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680960" y="2624328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2EF"/>
            </a:solidFill>
            <a:prstDash val="solid"/>
          </a:ln>
          <a:effectLst>
            <a:outerShdw sx="100000" sy="100000" kx="0" ky="0" algn="bl" rotWithShape="0" blurRad="76200" dist="25400" dir="5400000">
              <a:srgbClr val="1B1856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754112" y="2712110"/>
            <a:ext cx="3877056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34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754112" y="2997403"/>
            <a:ext cx="3877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columns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680960" y="3282696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2EF"/>
            </a:solidFill>
            <a:prstDash val="solid"/>
          </a:ln>
          <a:effectLst>
            <a:outerShdw sx="100000" sy="100000" kx="0" ky="0" algn="bl" rotWithShape="0" blurRad="76200" dist="25400" dir="5400000">
              <a:srgbClr val="1B1856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754112" y="3370478"/>
            <a:ext cx="3877056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34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754112" y="3655771"/>
            <a:ext cx="3877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with nulls (browser)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680960" y="3941064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2EF"/>
            </a:solidFill>
            <a:prstDash val="solid"/>
          </a:ln>
          <a:effectLst>
            <a:outerShdw sx="100000" sy="100000" kx="0" ky="0" algn="bl" rotWithShape="0" blurRad="76200" dist="25400" dir="5400000">
              <a:srgbClr val="1B1856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754112" y="4028846"/>
            <a:ext cx="3877056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34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20.01%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754112" y="4314139"/>
            <a:ext cx="3877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missing rate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Supportlytics · Modules 1–8 Journey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521440" y="65836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DATA ACQUISITION &amp; UNDERSTANDING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18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&amp; Data Quality Assessment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structural review of columns, dtypes, and missing values informs the cleaning plan.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Supportlytics · Modules 1–8 Journey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5623560" cy="2788920"/>
          </a:xfrm>
          <a:prstGeom prst="roundRect">
            <a:avLst>
              <a:gd name="adj" fmla="val 1967"/>
            </a:avLst>
          </a:prstGeom>
          <a:solidFill>
            <a:srgbClr val="14132E"/>
          </a:solidFill>
          <a:ln w="12700">
            <a:solidFill>
              <a:srgbClr val="3834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618488"/>
            <a:ext cx="5294376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pd.read_csv('customer_support_tickets_200k.csv')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df.shape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(200000, 30)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df.isnull().sum()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browser    40023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(all other 29 columns: 0 nulls)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df['browser'].isnull().sum() / len(df) * 100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20.011...  # ~20% of one column only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355080" y="15087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Module 1 found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1920240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2EF"/>
            </a:solidFill>
            <a:prstDash val="solid"/>
          </a:ln>
          <a:effectLst>
            <a:outerShdw sx="100000" sy="100000" kx="0" ky="0" algn="bl" rotWithShape="0" blurRad="76200" dist="25400" dir="5400000">
              <a:srgbClr val="1B1856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28232" y="2008022"/>
            <a:ext cx="5248656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834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200,000 × 30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28232" y="2293315"/>
            <a:ext cx="5248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and raw columns confirmed clean on load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55080" y="2560320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2EF"/>
            </a:solidFill>
            <a:prstDash val="solid"/>
          </a:ln>
          <a:effectLst>
            <a:outerShdw sx="100000" sy="100000" kx="0" ky="0" algn="bl" rotWithShape="0" blurRad="76200" dist="25400" dir="5400000">
              <a:srgbClr val="1B1856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28232" y="2648102"/>
            <a:ext cx="5248656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834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of 30 columns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28232" y="2933395"/>
            <a:ext cx="5248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any missing data — browser only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355080" y="3200400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2EF"/>
            </a:solidFill>
            <a:prstDash val="solid"/>
          </a:ln>
          <a:effectLst>
            <a:outerShdw sx="100000" sy="100000" kx="0" ky="0" algn="bl" rotWithShape="0" blurRad="76200" dist="25400" dir="5400000">
              <a:srgbClr val="1B1856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28232" y="3288182"/>
            <a:ext cx="5248656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834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20.01%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28232" y="3573475"/>
            <a:ext cx="5248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browser values are missing (handled in Module 2)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355080" y="3840480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2EF"/>
            </a:solidFill>
            <a:prstDash val="solid"/>
          </a:ln>
          <a:effectLst>
            <a:outerShdw sx="100000" sy="100000" kx="0" ky="0" algn="bl" rotWithShape="0" blurRad="76200" dist="25400" dir="5400000">
              <a:srgbClr val="1B1856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28232" y="3928262"/>
            <a:ext cx="5248656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834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28232" y="4213555"/>
            <a:ext cx="5248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date-parsing failures once cast to datetime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452628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383476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663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C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Summary of Findings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5800" y="4974336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4E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volume, field count and completeness are confirmed. The only column with missing data is browser — addressed in Module 2. Ticket volume is well distributed across priority and category, sufficient for downstream clustering and trend work. ticket_created_date / ticket_resolved_date are stored as text and require conversion to support duration-based metrics.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DATA CLEANING &amp; FEATURE 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18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Fields to Analytical Features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engineered features establish the foundation for every downstream module.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Supportlytics · Modules 1–8 Journey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5943600" cy="4434840"/>
          </a:xfrm>
          <a:prstGeom prst="roundRect">
            <a:avLst>
              <a:gd name="adj" fmla="val 1237"/>
            </a:avLst>
          </a:prstGeom>
          <a:solidFill>
            <a:srgbClr val="14132E"/>
          </a:solidFill>
          <a:ln w="12700">
            <a:solidFill>
              <a:srgbClr val="3834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618488"/>
            <a:ext cx="5614416" cy="421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Derive Type from category (ITIL convention)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type_map = {'Feature Request': 'Request',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'Login Issue': 'Incident', 'Bug Report': 'Problem', ...}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df['Type'] = df['category'].map(type_map)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Resolution duration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df['Resolution_Duration_Days'] = (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df['ticket_resolved_date'] - df['ticket_created_date']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).dt.days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Grouped-mode imputation for browser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df['browser'] = df.groupby('operating_system')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['browser'].transform(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lambda s: s.fillna(s.mode().iloc[0]))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Priority as an ordinal score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priority_map = {'Low':1,'Medium':2,'High':3,'Urgent':4}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df['Priority_Score'] = df['priority'].map(priority_map)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29400" y="1508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Engineering Plan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29400" y="1874520"/>
            <a:ext cx="5120640" cy="658368"/>
          </a:xfrm>
          <a:prstGeom prst="roundRect">
            <a:avLst>
              <a:gd name="adj" fmla="val 9722"/>
            </a:avLst>
          </a:prstGeom>
          <a:solidFill>
            <a:srgbClr val="F5F6FB"/>
          </a:solidFill>
          <a:ln w="12700">
            <a:solidFill>
              <a:srgbClr val="E1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12280" y="192938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34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12280" y="218541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ITIL-style Request / Problem / Incident, derived from category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29400" y="2651760"/>
            <a:ext cx="5120640" cy="658368"/>
          </a:xfrm>
          <a:prstGeom prst="roundRect">
            <a:avLst>
              <a:gd name="adj" fmla="val 9722"/>
            </a:avLst>
          </a:prstGeom>
          <a:solidFill>
            <a:srgbClr val="F5F6FB"/>
          </a:solidFill>
          <a:ln w="12700">
            <a:solidFill>
              <a:srgbClr val="E1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270662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34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Resolution_Duration_Days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12280" y="296265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minus created date, in whole days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29400" y="3429000"/>
            <a:ext cx="5120640" cy="658368"/>
          </a:xfrm>
          <a:prstGeom prst="roundRect">
            <a:avLst>
              <a:gd name="adj" fmla="val 9722"/>
            </a:avLst>
          </a:prstGeom>
          <a:solidFill>
            <a:srgbClr val="F5F6FB"/>
          </a:solidFill>
          <a:ln w="12700">
            <a:solidFill>
              <a:srgbClr val="E1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348386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34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 (imputed)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12280" y="373989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Grouped-mode fill by operating_system — preserves OS/browser relationship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29400" y="4206240"/>
            <a:ext cx="5120640" cy="658368"/>
          </a:xfrm>
          <a:prstGeom prst="roundRect">
            <a:avLst>
              <a:gd name="adj" fmla="val 9722"/>
            </a:avLst>
          </a:prstGeom>
          <a:solidFill>
            <a:srgbClr val="F5F6FB"/>
          </a:solidFill>
          <a:ln w="12700">
            <a:solidFill>
              <a:srgbClr val="E1E2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426110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34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Priority_Score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12280" y="451713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Low=1 → Urgent=4, for weighted analysis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29400" y="4983480"/>
            <a:ext cx="5120640" cy="658368"/>
          </a:xfrm>
          <a:prstGeom prst="roundRect">
            <a:avLst>
              <a:gd name="adj" fmla="val 9722"/>
            </a:avLst>
          </a:prstGeom>
          <a:solidFill>
            <a:srgbClr val="F5F6FB"/>
          </a:solidFill>
          <a:ln w="12700">
            <a:solidFill>
              <a:srgbClr val="E1E2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503834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34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Integrity check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12280" y="529437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records with resolved date before created date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29400" y="5806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Post-cleaning shape: 200,000 rows × 33 columns  ·  0 missing values remain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EXPLORATORY DATA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18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 Volume: Type &amp; Priority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questions: which ticket types occur most, and which priorities dominate?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Supportlytics · Modules 1–8 Journey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7" name="Image 0" descr="./assets/cell26_ou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92838"/>
            <a:ext cx="5486400" cy="3626603"/>
          </a:xfrm>
          <a:prstGeom prst="rect">
            <a:avLst/>
          </a:prstGeom>
        </p:spPr>
      </p:pic>
      <p:pic>
        <p:nvPicPr>
          <p:cNvPr id="8" name="Image 1" descr="./assets/cell28_out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592838"/>
            <a:ext cx="5486400" cy="362660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7200" y="544068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5F6FB"/>
          </a:solidFill>
          <a:ln w="12700">
            <a:solidFill>
              <a:srgbClr val="E1E2E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58368" y="55778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40.0% (80,029) · Incident 40.0% (79,916) · Problem 20.0% (40,055).  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essentially even — High 25.1%, Urgent 25.1%, Medium 24.9%, Low 24.9%. No single priority dominates demand.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EXPLORATORY DATA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18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Workload: Category &amp; Queue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questions: which categories generate the highest volume, and which queues receive the most tickets?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Supportlytics · Modules 1–8 Journey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7" name="Image 0" descr="./assets/cell27_ou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733250"/>
            <a:ext cx="6492240" cy="3574379"/>
          </a:xfrm>
          <a:prstGeom prst="rect">
            <a:avLst/>
          </a:prstGeom>
        </p:spPr>
      </p:pic>
      <p:pic>
        <p:nvPicPr>
          <p:cNvPr id="8" name="Image 1" descr="./assets/cell29_out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2047690"/>
            <a:ext cx="4754880" cy="2945501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7200" y="5715000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14132E"/>
          </a:solidFill>
          <a:ln w="12700">
            <a:solidFill>
              <a:srgbClr val="38347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21792" y="5824728"/>
            <a:ext cx="1091793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queue_map = {'Login Issue': 'Technical Support', 'Bug Report': 'Development Team', 'Payment Problem': 'Billing Support', ...}   # 10 categories -&gt; 7 queues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BUSINESS CLUSTERING &amp; SIMILARITY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18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Business-Informed Clustering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text vectorization combined with predefined business mappings groups related tickets and scores similarity.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Supportlytics · Modules 1–8 Journey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5623560" cy="2331720"/>
          </a:xfrm>
          <a:prstGeom prst="roundRect">
            <a:avLst>
              <a:gd name="adj" fmla="val 2353"/>
            </a:avLst>
          </a:prstGeom>
          <a:solidFill>
            <a:srgbClr val="14132E"/>
          </a:solidFill>
          <a:ln w="12700">
            <a:solidFill>
              <a:srgbClr val="3834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618488"/>
            <a:ext cx="5294376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tfidf = TfidfVectorizer(max_features=300,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stop_words='english', min_df=5)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tfidf_matrix = tfidf.fit_transform(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df['issue_description'].fillna(''))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200,000 tickets x 50 terms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category_description = {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'Login Issue': 'Security &amp; Access',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'Payment Problem': 'Billing &amp; Refunds', ... }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df['Cluster_Name'] = df['category'].map(category_description)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business-informed clusters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Issue, Security Concern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0" y="429768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0" y="429768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3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Access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466344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Suspension, Subscription Cancellation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0" y="466344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0" y="466344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3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&amp; Subscription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502920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Problem, Refund Request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40480" y="502920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0" y="502920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3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Refunds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539496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Issue, Data Sync Issue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840480" y="539496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0" y="539496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3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Data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576072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840480" y="576072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0" y="576072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3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Bugs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612648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Request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840480" y="612648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0" y="612648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3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Requests</a:t>
            </a:r>
            <a:endParaRPr lang="en-US" sz="950" dirty="0"/>
          </a:p>
        </p:txBody>
      </p:sp>
      <p:pic>
        <p:nvPicPr>
          <p:cNvPr id="28" name="Image 0" descr="./assets/cell33_ou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2864178"/>
            <a:ext cx="5394960" cy="23640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BUSINESS CLUSTERING &amp; SIMILARITY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18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Quality &amp; Category Alignment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to each cluster's centroid confirms internal consistency; the heatmap confirms clean 1:1 category alignment.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Supportlytics · Modules 1–8 Journey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7" name="Image 0" descr="./assets/cell35_ou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93782"/>
            <a:ext cx="5943600" cy="2944756"/>
          </a:xfrm>
          <a:prstGeom prst="rect">
            <a:avLst/>
          </a:prstGeom>
        </p:spPr>
      </p:pic>
      <p:pic>
        <p:nvPicPr>
          <p:cNvPr id="8" name="Image 1" descr="./assets/cell36_out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907052"/>
            <a:ext cx="5303520" cy="331821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7200" y="576072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5F6FB"/>
          </a:solidFill>
          <a:ln w="12700">
            <a:solidFill>
              <a:srgbClr val="E1E2E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58368" y="58704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scores cluster tightly around 0.30–0.35 for every group, and the category × cluster heatmap shows each of the 10 categories maps to exactly one cluster — validating that the manual business mapping produces clean, non-overlapping groups.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PERFORMANCE TREND ANALYSIS · MILESTONE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18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 Time by Priority &amp; Type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urgency actually change how fast a ticket gets resolved?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Supportlytics · Modules 1–8 Journey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7" name="Image 0" descr="./assets/cell39_ou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45098"/>
            <a:ext cx="7589520" cy="31277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83880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183880" y="1755648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14132E"/>
          </a:solidFill>
          <a:ln w="12700">
            <a:solidFill>
              <a:srgbClr val="38347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48472" y="1865376"/>
            <a:ext cx="323697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df.groupby('priority')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['resolution_time_hours']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.mean()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df.groupby('Type')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['resolution_time_hours']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.mean()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183880" y="329184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383476"/>
          </a:solidFill>
          <a:ln/>
        </p:spPr>
      </p:sp>
      <p:sp>
        <p:nvSpPr>
          <p:cNvPr id="12" name="Text 9"/>
          <p:cNvSpPr/>
          <p:nvPr/>
        </p:nvSpPr>
        <p:spPr>
          <a:xfrm>
            <a:off x="8366760" y="34015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C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8366760" y="3913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hours, ± 1%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366760" y="41879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time barely moves across Low → Urgent or Request/Problem/Incident.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7200" y="493776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FDF3EC"/>
          </a:solidFill>
          <a:ln w="12700">
            <a:solidFill>
              <a:srgbClr val="F0D9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" y="5047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58368" y="5340096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tickets (120.71 hrs) resolve no faster than Low-priority ones (121.03 hrs). Priority labels aren't changing operational behavior — this points to a triage process gap rather than a capacity problem, and is the single most actionable finding in the project.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PERFORMANCE TREND ANALYSIS · MILESTONE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18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Speed &amp; Backlog Risk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regions and teams handle tickets fastest — and how big is the unresolved high-priority backlog?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Supportlytics · Modules 1–8 Journey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7" name="Image 0" descr="./assets/cell40_ou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14785"/>
            <a:ext cx="6949440" cy="26397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89520" y="15087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80,460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7589520" y="21488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High-priority tickets still unresolved — 40.23% of the entire dataset</a:t>
            </a:r>
            <a:endParaRPr lang="en-US" sz="1150" dirty="0"/>
          </a:p>
        </p:txBody>
      </p:sp>
      <p:pic>
        <p:nvPicPr>
          <p:cNvPr id="10" name="Image 1" descr="./assets/cell41_out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1889" y="2743200"/>
            <a:ext cx="2992902" cy="16916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57200" y="4572000"/>
            <a:ext cx="11247120" cy="1783080"/>
          </a:xfrm>
          <a:prstGeom prst="roundRect">
            <a:avLst>
              <a:gd name="adj" fmla="val 4103"/>
            </a:avLst>
          </a:prstGeom>
          <a:solidFill>
            <a:srgbClr val="F5F6FB"/>
          </a:solidFill>
          <a:ln w="12700">
            <a:solidFill>
              <a:srgbClr val="E1E2E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58368" y="46817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regional/team spread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58368" y="4992624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Region: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&amp; North America fastest (120.21 hrs), Europe slowest (120.92 hrs) — a gap of under half an hour on a 5-day process.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Team fastest (120.32 hrs), Infrastructure Team slowest (120.87 hrs).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Backlog: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40.23% of all tickets are High/Urgent priority and not yet Closed — the single largest operational risk surfaced in this project.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— GEOGRAPHIC &amp; CATEGORY-LEVEL INSIGHTS · MILESTONE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18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&amp; Category Concentration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any single region or category driving the workload — or is demand evenly spread?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Supportlytics · Modules 1–8 Journey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pic>
        <p:nvPicPr>
          <p:cNvPr id="7" name="Image 0" descr="./assets/cell42_ou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914411"/>
            <a:ext cx="6675120" cy="3257778"/>
          </a:xfrm>
          <a:prstGeom prst="rect">
            <a:avLst/>
          </a:prstGeom>
        </p:spPr>
      </p:pic>
      <p:pic>
        <p:nvPicPr>
          <p:cNvPr id="8" name="Image 1" descr="./assets/cell42_out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705555"/>
            <a:ext cx="4480560" cy="253249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269480" y="4617720"/>
            <a:ext cx="4480560" cy="1051560"/>
          </a:xfrm>
          <a:prstGeom prst="roundRect">
            <a:avLst>
              <a:gd name="adj" fmla="val 6957"/>
            </a:avLst>
          </a:prstGeom>
          <a:solidFill>
            <a:srgbClr val="383476"/>
          </a:solidFill>
          <a:ln/>
        </p:spPr>
      </p:sp>
      <p:sp>
        <p:nvSpPr>
          <p:cNvPr id="10" name="Text 6"/>
          <p:cNvSpPr/>
          <p:nvPr/>
        </p:nvSpPr>
        <p:spPr>
          <a:xfrm>
            <a:off x="7452360" y="471830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C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~33,300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7452360" y="51389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per region on average — a band of under 2% from lowest (Australia) to highest (Africa). No regional hotspot.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" y="57607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× category volume is uniform too — this is a global process characteristic, not a location-specific one.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— GEOGRAPHIC &amp; CATEGORY-LEVEL INSIGHTS · MILESTONE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18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Performance Score Model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composite score blends speed, satisfaction and SLA adherence to rank clusters.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Supportlytics · Modules 1–8 Journey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5F6FB"/>
          </a:solidFill>
          <a:ln w="12700">
            <a:solidFill>
              <a:srgbClr val="E1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6459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8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Performance_Score =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" y="2066544"/>
            <a:ext cx="1463040" cy="274320"/>
          </a:xfrm>
          <a:prstGeom prst="rect">
            <a:avLst/>
          </a:prstGeom>
          <a:solidFill>
            <a:srgbClr val="383476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0624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3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" y="2505456"/>
            <a:ext cx="1463040" cy="274320"/>
          </a:xfrm>
          <a:prstGeom prst="rect">
            <a:avLst/>
          </a:prstGeom>
          <a:solidFill>
            <a:srgbClr val="2454FF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0" y="24505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206240" y="24505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5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8368" y="2944368"/>
            <a:ext cx="731520" cy="274320"/>
          </a:xfrm>
          <a:prstGeom prst="rect">
            <a:avLst/>
          </a:prstGeom>
          <a:solidFill>
            <a:srgbClr val="0EA5C7"/>
          </a:solidFill>
          <a:ln/>
        </p:spPr>
      </p:sp>
      <p:sp>
        <p:nvSpPr>
          <p:cNvPr id="16" name="Text 14"/>
          <p:cNvSpPr/>
          <p:nvPr/>
        </p:nvSpPr>
        <p:spPr>
          <a:xfrm>
            <a:off x="2286000" y="28895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adherence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206240" y="28895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5394960" cy="2148840"/>
          </a:xfrm>
          <a:prstGeom prst="roundRect">
            <a:avLst>
              <a:gd name="adj" fmla="val 2553"/>
            </a:avLst>
          </a:prstGeom>
          <a:solidFill>
            <a:srgbClr val="14132E"/>
          </a:solidFill>
          <a:ln w="12700">
            <a:solidFill>
              <a:srgbClr val="3834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675888"/>
            <a:ext cx="5065776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 = 100 * (1 - (t - t.min())/(t.max()-t.min()))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satisfaction = (csat_score - 1) / 4 * 100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 = (sla_breached == 'No').astype(int) * 100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Performance_Score = (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speed * 0.4 +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satisfaction * 0.4 +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sla * 0.2 )</a:t>
            </a:r>
            <a:endParaRPr lang="en-US" sz="1100" dirty="0"/>
          </a:p>
        </p:txBody>
      </p:sp>
      <p:pic>
        <p:nvPicPr>
          <p:cNvPr id="20" name="Image 0" descr="./assets/cell44_ou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9967" y="1508760"/>
            <a:ext cx="5570866" cy="416052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457200" y="5806440"/>
            <a:ext cx="11247120" cy="822960"/>
          </a:xfrm>
          <a:prstGeom prst="roundRect">
            <a:avLst>
              <a:gd name="adj" fmla="val 8889"/>
            </a:avLst>
          </a:prstGeom>
          <a:solidFill>
            <a:srgbClr val="FDF3EC"/>
          </a:solidFill>
          <a:ln w="12700">
            <a:solidFill>
              <a:srgbClr val="F0D9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8368" y="592531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0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(cluster size vs. performance): 0.085 —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essentially zero. Bigger clusters (Security &amp; Access, Account &amp; Subscription) perform no better or worse than smaller ones (Feature Requests, System Bugs) — team/queue size isn't the lever to pull.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— DASHBOARD / REPORT PREPARATION · MILESTONE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18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Notebook to Power BI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module's output feeds a 7-page Power BI report built on a single 200,000-row analytical table.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Supportlytics · Modules 1–8 Journey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2695880" cy="1234440"/>
          </a:xfrm>
          <a:prstGeom prst="roundRect">
            <a:avLst>
              <a:gd name="adj" fmla="val 5926"/>
            </a:avLst>
          </a:prstGeom>
          <a:solidFill>
            <a:srgbClr val="F5F6FB"/>
          </a:solidFill>
          <a:ln w="12700">
            <a:solidFill>
              <a:srgbClr val="E1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00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242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286000"/>
            <a:ext cx="242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&amp; KPI context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17672" y="1508760"/>
            <a:ext cx="2695880" cy="1234440"/>
          </a:xfrm>
          <a:prstGeom prst="roundRect">
            <a:avLst>
              <a:gd name="adj" fmla="val 5926"/>
            </a:avLst>
          </a:prstGeom>
          <a:solidFill>
            <a:srgbClr val="F5F6FB"/>
          </a:solidFill>
          <a:ln w="12700">
            <a:solidFill>
              <a:srgbClr val="E1E2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4832" y="1600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54832" y="1965960"/>
            <a:ext cx="242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Insights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54832" y="2286000"/>
            <a:ext cx="242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performance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78144" y="1508760"/>
            <a:ext cx="2695880" cy="1234440"/>
          </a:xfrm>
          <a:prstGeom prst="roundRect">
            <a:avLst>
              <a:gd name="adj" fmla="val 5926"/>
            </a:avLst>
          </a:prstGeom>
          <a:solidFill>
            <a:srgbClr val="F5F6FB"/>
          </a:solidFill>
          <a:ln w="12700">
            <a:solidFill>
              <a:srgbClr val="E1E2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15304" y="1600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15304" y="1965960"/>
            <a:ext cx="242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Analysis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15304" y="2286000"/>
            <a:ext cx="242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issue families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38615" y="1508760"/>
            <a:ext cx="2695880" cy="1234440"/>
          </a:xfrm>
          <a:prstGeom prst="roundRect">
            <a:avLst>
              <a:gd name="adj" fmla="val 5926"/>
            </a:avLst>
          </a:prstGeom>
          <a:solidFill>
            <a:srgbClr val="F5F6FB"/>
          </a:solidFill>
          <a:ln w="12700">
            <a:solidFill>
              <a:srgbClr val="E1E2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75775" y="1600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75775" y="1965960"/>
            <a:ext cx="242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Trends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75775" y="2286000"/>
            <a:ext cx="242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resolution &amp; CSAT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926080"/>
            <a:ext cx="2695880" cy="1234440"/>
          </a:xfrm>
          <a:prstGeom prst="roundRect">
            <a:avLst>
              <a:gd name="adj" fmla="val 5926"/>
            </a:avLst>
          </a:prstGeom>
          <a:solidFill>
            <a:srgbClr val="F5F6FB"/>
          </a:solidFill>
          <a:ln w="12700">
            <a:solidFill>
              <a:srgbClr val="E1E2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017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94360" y="3383280"/>
            <a:ext cx="242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&amp; Type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" y="3703320"/>
            <a:ext cx="242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classification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17672" y="2926080"/>
            <a:ext cx="2695880" cy="1234440"/>
          </a:xfrm>
          <a:prstGeom prst="roundRect">
            <a:avLst>
              <a:gd name="adj" fmla="val 5926"/>
            </a:avLst>
          </a:prstGeom>
          <a:solidFill>
            <a:srgbClr val="F5F6FB"/>
          </a:solidFill>
          <a:ln w="12700">
            <a:solidFill>
              <a:srgbClr val="E1E2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54832" y="3017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454832" y="3383280"/>
            <a:ext cx="242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Queue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454832" y="3703320"/>
            <a:ext cx="242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ownership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78144" y="2926080"/>
            <a:ext cx="2695880" cy="1234440"/>
          </a:xfrm>
          <a:prstGeom prst="roundRect">
            <a:avLst>
              <a:gd name="adj" fmla="val 5926"/>
            </a:avLst>
          </a:prstGeom>
          <a:solidFill>
            <a:srgbClr val="F5F6FB"/>
          </a:solidFill>
          <a:ln w="12700">
            <a:solidFill>
              <a:srgbClr val="E1E2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15304" y="3017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315304" y="3383280"/>
            <a:ext cx="242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15304" y="3703320"/>
            <a:ext cx="242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synthesis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038615" y="2926080"/>
            <a:ext cx="2695880" cy="1234440"/>
          </a:xfrm>
          <a:prstGeom prst="roundRect">
            <a:avLst>
              <a:gd name="adj" fmla="val 5926"/>
            </a:avLst>
          </a:prstGeom>
          <a:solidFill>
            <a:srgbClr val="383476"/>
          </a:solidFill>
          <a:ln/>
        </p:spPr>
      </p:sp>
      <p:sp>
        <p:nvSpPr>
          <p:cNvPr id="36" name="Text 34"/>
          <p:cNvSpPr/>
          <p:nvPr/>
        </p:nvSpPr>
        <p:spPr>
          <a:xfrm>
            <a:off x="9175775" y="3035808"/>
            <a:ext cx="242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C3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final_file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175775" y="3383280"/>
            <a:ext cx="242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200,000 rows × 45 cols · 20 DAX measures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41605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principles: consistent KPI definitions across pages · date-based filtering everywhere · executive-to-operational drill-down · shared business terminology from Modules 1–6.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57200" y="480060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383476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" y="49377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C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vs. the dashboard deck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85800" y="5257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4E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the full analytical journey — Modules 1 through 8, cleaning through clustering through the dashboard itself.   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companion Dashboard deck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4E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page-by-page through all 7 Power BI pages in full KPI and chart detail.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— DASHBOARD / REPORT PREPARATION · MILESTONE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18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KPIs, Powered by Python Inside Power BI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dashboard's KPI cards and one of its charts both trace directly back to this project's Python pipeline.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Supportlytics · Modules 1–8 Journey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121249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2EF"/>
            </a:solidFill>
            <a:prstDash val="solid"/>
          </a:ln>
          <a:effectLst>
            <a:outerShdw sx="100000" sy="100000" kx="0" ky="0" algn="bl" rotWithShape="0" blurRad="76200" dist="25400" dir="5400000">
              <a:srgbClr val="1B1856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0352" y="1655064"/>
            <a:ext cx="106619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34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200,000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0352" y="2130552"/>
            <a:ext cx="1066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34286" y="1508760"/>
            <a:ext cx="121249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2EF"/>
            </a:solidFill>
            <a:prstDash val="solid"/>
          </a:ln>
          <a:effectLst>
            <a:outerShdw sx="100000" sy="100000" kx="0" ky="0" algn="bl" rotWithShape="0" blurRad="76200" dist="25400" dir="5400000">
              <a:srgbClr val="1B1856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07438" y="1655064"/>
            <a:ext cx="106619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34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120.54 hrs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07438" y="2130552"/>
            <a:ext cx="1066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Resolution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11373" y="1508760"/>
            <a:ext cx="121249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2EF"/>
            </a:solidFill>
            <a:prstDash val="solid"/>
          </a:ln>
          <a:effectLst>
            <a:outerShdw sx="100000" sy="100000" kx="0" ky="0" algn="bl" rotWithShape="0" blurRad="76200" dist="25400" dir="5400000">
              <a:srgbClr val="1B1856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84525" y="1655064"/>
            <a:ext cx="106619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34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8.93%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84525" y="2130552"/>
            <a:ext cx="1066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88459" y="1508760"/>
            <a:ext cx="121249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2EF"/>
            </a:solidFill>
            <a:prstDash val="solid"/>
          </a:ln>
          <a:effectLst>
            <a:outerShdw sx="100000" sy="100000" kx="0" ky="0" algn="bl" rotWithShape="0" blurRad="76200" dist="25400" dir="5400000">
              <a:srgbClr val="1B1856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1611" y="1655064"/>
            <a:ext cx="106619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34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50.21%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61611" y="2130552"/>
            <a:ext cx="1066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Rate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65546" y="1508760"/>
            <a:ext cx="121249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2EF"/>
            </a:solidFill>
            <a:prstDash val="solid"/>
          </a:ln>
          <a:effectLst>
            <a:outerShdw sx="100000" sy="100000" kx="0" ky="0" algn="bl" rotWithShape="0" blurRad="76200" dist="25400" dir="5400000">
              <a:srgbClr val="1B1856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38698" y="1655064"/>
            <a:ext cx="106619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34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38698" y="2130552"/>
            <a:ext cx="1066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2606040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Python visual  </a:t>
            </a:r>
            <a:pPr indent="0" marL="0">
              <a:buNone/>
            </a:pPr>
            <a:r>
              <a:rPr lang="en-US" sz="1100" i="1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this seaborn chart runs inside the Power BI report itself, reading the same final_file table</a:t>
            </a:r>
            <a:endParaRPr lang="en-US" sz="1100" dirty="0"/>
          </a:p>
        </p:txBody>
      </p:sp>
      <p:pic>
        <p:nvPicPr>
          <p:cNvPr id="23" name="Image 0" descr="./assets/pbi_python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4920" y="2926080"/>
            <a:ext cx="5105400" cy="306324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452360" y="150876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pipeline, two surfaces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7452360" y="1847088"/>
            <a:ext cx="4251960" cy="1417320"/>
          </a:xfrm>
          <a:prstGeom prst="roundRect">
            <a:avLst>
              <a:gd name="adj" fmla="val 3871"/>
            </a:avLst>
          </a:prstGeom>
          <a:solidFill>
            <a:srgbClr val="14132E"/>
          </a:solidFill>
          <a:ln w="12700">
            <a:solidFill>
              <a:srgbClr val="38347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616952" y="1956816"/>
            <a:ext cx="392277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Runs live inside the Power BI visual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sns.histplot(data=dataset,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x='Similarity_Score',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hue='Cluster_Name',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multiple='dodge')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452360" y="3429000"/>
            <a:ext cx="4251960" cy="2560320"/>
          </a:xfrm>
          <a:prstGeom prst="roundRect">
            <a:avLst>
              <a:gd name="adj" fmla="val 2857"/>
            </a:avLst>
          </a:prstGeom>
          <a:solidFill>
            <a:srgbClr val="383476"/>
          </a:solidFill>
          <a:ln/>
        </p:spPr>
      </p:sp>
      <p:sp>
        <p:nvSpPr>
          <p:cNvPr id="28" name="Text 25"/>
          <p:cNvSpPr/>
          <p:nvPr/>
        </p:nvSpPr>
        <p:spPr>
          <a:xfrm>
            <a:off x="7635240" y="35661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C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→ Dashboard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7635240" y="388620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4E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Module 4 clustering logic that ran in Jupyter for offline analysis is embedded as a live Python visual in Power BI — so the similarity distribution refreshes with the data instead of being a static export.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7635240" y="502920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17C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direct link between this deck's Python work and the dashboard deliverable.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DOCUMENTATION &amp; PRESENTATION · MILESTONE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18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Delivered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produced a concrete artifact — nothing lives only as a chart on a screen.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Supportlytics · Modules 1–8 Journey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5F6FB"/>
          </a:solidFill>
          <a:ln w="12700">
            <a:solidFill>
              <a:srgbClr val="E1E2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08760"/>
            <a:ext cx="73152" cy="1417320"/>
          </a:xfrm>
          <a:prstGeom prst="rect">
            <a:avLst/>
          </a:prstGeom>
          <a:solidFill>
            <a:srgbClr val="17C3EC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64592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" y="201168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Supportlytics.ipynb — 49 cells, all 8 modules, code + charts + findings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63640" y="150876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5F6FB"/>
          </a:solidFill>
          <a:ln w="12700">
            <a:solidFill>
              <a:srgbClr val="E1E2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508760"/>
            <a:ext cx="73152" cy="1417320"/>
          </a:xfrm>
          <a:prstGeom prst="rect">
            <a:avLst/>
          </a:prstGeom>
          <a:solidFill>
            <a:srgbClr val="17C3EC"/>
          </a:solidFill>
          <a:ln/>
        </p:spPr>
      </p:sp>
      <p:sp>
        <p:nvSpPr>
          <p:cNvPr id="13" name="Text 11"/>
          <p:cNvSpPr/>
          <p:nvPr/>
        </p:nvSpPr>
        <p:spPr>
          <a:xfrm>
            <a:off x="6519672" y="164592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Datasets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19672" y="201168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 exports after Module 2 (33 cols) and Module 4 (37 cols)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5F6FB"/>
          </a:solidFill>
          <a:ln w="12700">
            <a:solidFill>
              <a:srgbClr val="E1E2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063240"/>
            <a:ext cx="73152" cy="1417320"/>
          </a:xfrm>
          <a:prstGeom prst="rect">
            <a:avLst/>
          </a:prstGeom>
          <a:solidFill>
            <a:srgbClr val="17C3EC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320040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Report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3232" y="356616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Supportlytics__dashboard.pbix — 7 pages, 20 DAX measures, 2 live Python visuals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63640" y="30632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5F6FB"/>
          </a:solidFill>
          <a:ln w="12700">
            <a:solidFill>
              <a:srgbClr val="E1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063240"/>
            <a:ext cx="73152" cy="1417320"/>
          </a:xfrm>
          <a:prstGeom prst="rect">
            <a:avLst/>
          </a:prstGeom>
          <a:solidFill>
            <a:srgbClr val="17C3EC"/>
          </a:solidFill>
          <a:ln/>
        </p:spPr>
      </p:sp>
      <p:sp>
        <p:nvSpPr>
          <p:cNvPr id="21" name="Text 19"/>
          <p:cNvSpPr/>
          <p:nvPr/>
        </p:nvSpPr>
        <p:spPr>
          <a:xfrm>
            <a:off x="6519672" y="320040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Documentation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19672" y="356616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milestone write-up — objectives, methodology, outputs per module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61772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5F6FB"/>
          </a:solidFill>
          <a:ln w="12700">
            <a:solidFill>
              <a:srgbClr val="E1E2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617720"/>
            <a:ext cx="73152" cy="1417320"/>
          </a:xfrm>
          <a:prstGeom prst="rect">
            <a:avLst/>
          </a:prstGeom>
          <a:solidFill>
            <a:srgbClr val="17C3EC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475488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Deck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3232" y="512064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12-slide walkthrough of every Power BI page with real KPI values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63640" y="461772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5F6FB"/>
          </a:solidFill>
          <a:ln w="12700">
            <a:solidFill>
              <a:srgbClr val="E1E2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63640" y="4617720"/>
            <a:ext cx="73152" cy="1417320"/>
          </a:xfrm>
          <a:prstGeom prst="rect">
            <a:avLst/>
          </a:prstGeom>
          <a:solidFill>
            <a:srgbClr val="17C3EC"/>
          </a:solidFill>
          <a:ln/>
        </p:spPr>
      </p:sp>
      <p:sp>
        <p:nvSpPr>
          <p:cNvPr id="29" name="Text 27"/>
          <p:cNvSpPr/>
          <p:nvPr/>
        </p:nvSpPr>
        <p:spPr>
          <a:xfrm>
            <a:off x="6519672" y="475488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19672" y="512064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20-slide, first-to-last project narrative for presentation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Supportlytics · Modules 1–8 Journey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21440" y="65836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18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38347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Insights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38347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3794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C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25856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isn't working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770632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7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tickets resolve in 120.7 hrs vs. 121.0 hrs for Low priority — a gap of under 20 minutes. Priority labels don't change what actually happens operationally.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61688" y="169164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383476"/>
          </a:solidFill>
          <a:ln/>
        </p:spPr>
      </p:sp>
      <p:sp>
        <p:nvSpPr>
          <p:cNvPr id="10" name="Text 8"/>
          <p:cNvSpPr/>
          <p:nvPr/>
        </p:nvSpPr>
        <p:spPr>
          <a:xfrm>
            <a:off x="4544568" y="183794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C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44568" y="225856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backlog is the real risk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44568" y="2770632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7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40.23% of all tickets — 80,460 of them — are High/Urgent priority and still not Closed. This dwarfs every regional or team-level variance in the data.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74736" y="169164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383476"/>
          </a:solidFill>
          <a:ln/>
        </p:spPr>
      </p:sp>
      <p:sp>
        <p:nvSpPr>
          <p:cNvPr id="14" name="Text 12"/>
          <p:cNvSpPr/>
          <p:nvPr/>
        </p:nvSpPr>
        <p:spPr>
          <a:xfrm>
            <a:off x="8357616" y="183794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C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57616" y="225856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 is very low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357616" y="2770632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7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8.93% of tickets resolve within their SLA target hours, despite priority and region showing almost no difference in speed — a systemic issue, not a local one.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383476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1696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C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459028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doesn't predict performance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31520" y="5102352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7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cluster size and performance score is 0.085 — essentially zero. Bigger queues (40K tickets) don't outperform or underperform smaller ones (20K).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61688" y="402336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383476"/>
          </a:solidFill>
          <a:ln/>
        </p:spPr>
      </p:sp>
      <p:sp>
        <p:nvSpPr>
          <p:cNvPr id="22" name="Text 20"/>
          <p:cNvSpPr/>
          <p:nvPr/>
        </p:nvSpPr>
        <p:spPr>
          <a:xfrm>
            <a:off x="4544568" y="41696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C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44568" y="459028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geographic hotspot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44568" y="5102352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7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regions sit within ~1% of each other on both volume and resolution speed. This is a process-design issue, not a staffing-location issue.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74736" y="402336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383476"/>
          </a:solidFill>
          <a:ln/>
        </p:spPr>
      </p:sp>
      <p:sp>
        <p:nvSpPr>
          <p:cNvPr id="26" name="Text 24"/>
          <p:cNvSpPr/>
          <p:nvPr/>
        </p:nvSpPr>
        <p:spPr>
          <a:xfrm>
            <a:off x="8357616" y="41696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C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357616" y="459028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is a coin flip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357616" y="5102352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7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50.21% escalation rate combined with flat resolution times suggests escalation criteria may not be tied to actual urgency or complexity.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8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concrete, data-backed actions — each tied directly to a finding from Modules 5–6.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468112" cy="2286000"/>
          </a:xfrm>
          <a:prstGeom prst="roundRect">
            <a:avLst>
              <a:gd name="adj" fmla="val 3600"/>
            </a:avLst>
          </a:prstGeom>
          <a:solidFill>
            <a:srgbClr val="F5F6FB"/>
          </a:solidFill>
          <a:ln w="12700">
            <a:solidFill>
              <a:srgbClr val="E1E2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5468112" cy="73152"/>
          </a:xfrm>
          <a:prstGeom prst="rect">
            <a:avLst/>
          </a:prstGeom>
          <a:solidFill>
            <a:srgbClr val="38347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89280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34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5010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triage workflow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971800"/>
            <a:ext cx="5010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priority doesn't change resolution speed today, introduce an SLA-linked queue that actually fast-tracks Urgent/High tickets — the current system exists in name only.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36208" y="1691640"/>
            <a:ext cx="5468112" cy="2286000"/>
          </a:xfrm>
          <a:prstGeom prst="roundRect">
            <a:avLst>
              <a:gd name="adj" fmla="val 3600"/>
            </a:avLst>
          </a:prstGeom>
          <a:solidFill>
            <a:srgbClr val="F5F6FB"/>
          </a:solidFill>
          <a:ln w="12700">
            <a:solidFill>
              <a:srgbClr val="E1E2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36208" y="1691640"/>
            <a:ext cx="5468112" cy="73152"/>
          </a:xfrm>
          <a:prstGeom prst="rect">
            <a:avLst/>
          </a:prstGeom>
          <a:solidFill>
            <a:srgbClr val="2454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64808" y="189280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5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464808" y="2468880"/>
            <a:ext cx="5010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the High-priority backlog first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64808" y="2971800"/>
            <a:ext cx="5010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80,460 unresolved High/Urgent tickets is the single biggest lever in this dataset. A focused backlog sprint would outperform any regional or team reallocation.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178808"/>
            <a:ext cx="5468112" cy="2286000"/>
          </a:xfrm>
          <a:prstGeom prst="roundRect">
            <a:avLst>
              <a:gd name="adj" fmla="val 3600"/>
            </a:avLst>
          </a:prstGeom>
          <a:solidFill>
            <a:srgbClr val="F5F6FB"/>
          </a:solidFill>
          <a:ln w="12700">
            <a:solidFill>
              <a:srgbClr val="E1E2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178808"/>
            <a:ext cx="5468112" cy="73152"/>
          </a:xfrm>
          <a:prstGeom prst="rect">
            <a:avLst/>
          </a:prstGeom>
          <a:solidFill>
            <a:srgbClr val="0EA5C7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379976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A5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85800" y="4956048"/>
            <a:ext cx="5010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globally, not regionally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" y="5458968"/>
            <a:ext cx="5010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all 6 regions performing within ~1% of each other, process fixes should roll out company-wide — regional pilots would miss the point.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36208" y="4178808"/>
            <a:ext cx="5468112" cy="2286000"/>
          </a:xfrm>
          <a:prstGeom prst="roundRect">
            <a:avLst>
              <a:gd name="adj" fmla="val 3600"/>
            </a:avLst>
          </a:prstGeom>
          <a:solidFill>
            <a:srgbClr val="F5F6FB"/>
          </a:solidFill>
          <a:ln w="12700">
            <a:solidFill>
              <a:srgbClr val="E1E2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6208" y="4178808"/>
            <a:ext cx="5468112" cy="73152"/>
          </a:xfrm>
          <a:prstGeom prst="rect">
            <a:avLst/>
          </a:prstGeom>
          <a:solidFill>
            <a:srgbClr val="1AAB6B"/>
          </a:solidFill>
          <a:ln/>
        </p:spPr>
      </p:sp>
      <p:sp>
        <p:nvSpPr>
          <p:cNvPr id="22" name="Text 20"/>
          <p:cNvSpPr/>
          <p:nvPr/>
        </p:nvSpPr>
        <p:spPr>
          <a:xfrm>
            <a:off x="6464808" y="4379976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A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464808" y="4956048"/>
            <a:ext cx="5010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 dashboard's core KPIs monthly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64808" y="5458968"/>
            <a:ext cx="5010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Power BI report's SLA Compliance, Escalation Rate and Backlog cards as the standing scorecard for whether these changes are working.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Supportlytics · Modules 1–8 Journey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836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18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383476"/>
          </a:solidFill>
          <a:ln/>
        </p:spPr>
      </p:sp>
      <p:sp>
        <p:nvSpPr>
          <p:cNvPr id="3" name="Shape 1"/>
          <p:cNvSpPr/>
          <p:nvPr/>
        </p:nvSpPr>
        <p:spPr>
          <a:xfrm>
            <a:off x="4206240" y="0"/>
            <a:ext cx="54864" cy="6858000"/>
          </a:xfrm>
          <a:prstGeom prst="rect">
            <a:avLst/>
          </a:prstGeom>
          <a:solidFill>
            <a:srgbClr val="17C3EC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777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7C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tickets to an executive dashboard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7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modules, one 200,000-row dataset, and a single consistent story: support demand is stable and predictable — the response process is where the opportunity 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6035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EA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N Sai Srimannarayana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63440" y="7772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7C3EC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93792" y="125272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the SLA-linked triage queue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93792" y="162763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DA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one team/queue before a company-wide rollout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33172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7C3EC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93792" y="230428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 backlog burn-down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93792" y="26791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DA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tracking of the 80,460 unresolved High/Urgent tickets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38328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7C3EC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93792" y="335584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Power BI refresh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93792" y="373075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DA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dataset refresh so KPI cards stay current, not static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443484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7C3EC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4434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93792" y="440740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Module 5–6 analysis quarterly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93792" y="478231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DA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whether the flat resolution-time pattern persists post-fix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6035040"/>
            <a:ext cx="6903720" cy="0"/>
          </a:xfrm>
          <a:prstGeom prst="line">
            <a:avLst/>
          </a:prstGeom>
          <a:noFill/>
          <a:ln w="12700">
            <a:solidFill>
              <a:srgbClr val="38347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61447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8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Supportlytics — Data-Driven Optimization of IT Support Team Performance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338560" y="614476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8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2026-08-17T04:48:15Z</dcterms:created>
  <dcterms:modified xsi:type="dcterms:W3CDTF">2026-08-17T04:48:15Z</dcterms:modified>
</cp:coreProperties>
</file>