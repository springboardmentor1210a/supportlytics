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514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9_63KcRCj4IgOBH4J_y7cZ5yJcFvt7R1?usp=sharing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9_63KcRCj4IgOBH4J_y7cZ5yJcFvt7R1?usp=sharing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365760"/>
            <a:ext cx="2377440" cy="2377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914400"/>
            <a:ext cx="1097280" cy="10972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" y="5212080"/>
            <a:ext cx="1645920" cy="1645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VIRTUAL INTERNSHIP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Supportlytics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IT Support Team Performance Using Analytics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3794760"/>
            <a:ext cx="2926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114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 Sundar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4480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Shanmukha Priya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SUPPORTLYTICS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502920" cy="54864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600200"/>
            <a:ext cx="6858000" cy="4480560"/>
          </a:xfrm>
          <a:prstGeom prst="roundRect">
            <a:avLst>
              <a:gd name="adj" fmla="val 2449"/>
            </a:avLst>
          </a:prstGeom>
          <a:solidFill>
            <a:srgbClr val="EAF3F8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920240"/>
            <a:ext cx="6217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 of this project is to analyze IT support ticket data to identify key performance trends, optimize resolution times, and enhance service efficiency through data analysis and visualization.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3611880"/>
            <a:ext cx="6217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to uncover patterns in customer requests, technical issues, and support performance metrics to recommend improvements in workflow and resource allocation.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0" y="1600200"/>
            <a:ext cx="374904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0" y="1737360"/>
            <a:ext cx="1005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915400" y="173736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Ticket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0" y="3154680"/>
            <a:ext cx="374904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7955280" y="3291840"/>
            <a:ext cx="1005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915400" y="329184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Times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4709160"/>
            <a:ext cx="374904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7955280" y="4846320"/>
            <a:ext cx="1005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915400" y="484632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SUPPORTLYTICS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502920" cy="54864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691640"/>
            <a:ext cx="5440680" cy="1325880"/>
          </a:xfrm>
          <a:prstGeom prst="roundRect">
            <a:avLst>
              <a:gd name="adj" fmla="val 6897"/>
            </a:avLst>
          </a:prstGeom>
          <a:solidFill>
            <a:srgbClr val="EAF3F8"/>
          </a:solidFill>
          <a:ln/>
        </p:spPr>
      </p:sp>
      <p:sp>
        <p:nvSpPr>
          <p:cNvPr id="5" name="Shape 3"/>
          <p:cNvSpPr/>
          <p:nvPr/>
        </p:nvSpPr>
        <p:spPr>
          <a:xfrm>
            <a:off x="891540" y="201168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0116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37360" y="1828800"/>
            <a:ext cx="4114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&amp; preprocess IT support ticket data for analysis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0" y="1691640"/>
            <a:ext cx="5440680" cy="1325880"/>
          </a:xfrm>
          <a:prstGeom prst="roundRect">
            <a:avLst>
              <a:gd name="adj" fmla="val 6897"/>
            </a:avLst>
          </a:prstGeom>
          <a:solidFill>
            <a:srgbClr val="EAF3F8"/>
          </a:solidFill>
          <a:ln/>
        </p:spPr>
      </p:sp>
      <p:sp>
        <p:nvSpPr>
          <p:cNvPr id="9" name="Shape 7"/>
          <p:cNvSpPr/>
          <p:nvPr/>
        </p:nvSpPr>
        <p:spPr>
          <a:xfrm>
            <a:off x="6652260" y="201168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656832" y="20116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98080" y="1828800"/>
            <a:ext cx="4114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trends in volume, priority, resolution time &amp; category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5440680" cy="1325880"/>
          </a:xfrm>
          <a:prstGeom prst="roundRect">
            <a:avLst>
              <a:gd name="adj" fmla="val 6897"/>
            </a:avLst>
          </a:prstGeom>
          <a:solidFill>
            <a:srgbClr val="EAF3F8"/>
          </a:solidFill>
          <a:ln/>
        </p:spPr>
      </p:sp>
      <p:sp>
        <p:nvSpPr>
          <p:cNvPr id="13" name="Shape 11"/>
          <p:cNvSpPr/>
          <p:nvPr/>
        </p:nvSpPr>
        <p:spPr>
          <a:xfrm>
            <a:off x="891540" y="361188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" y="36118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737360" y="3429000"/>
            <a:ext cx="4114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clusters of similar issues using similarity scores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0" y="3291840"/>
            <a:ext cx="5440680" cy="1325880"/>
          </a:xfrm>
          <a:prstGeom prst="roundRect">
            <a:avLst>
              <a:gd name="adj" fmla="val 6897"/>
            </a:avLst>
          </a:prstGeom>
          <a:solidFill>
            <a:srgbClr val="EAF3F8"/>
          </a:solidFill>
          <a:ln/>
        </p:spPr>
      </p:sp>
      <p:sp>
        <p:nvSpPr>
          <p:cNvPr id="17" name="Shape 15"/>
          <p:cNvSpPr/>
          <p:nvPr/>
        </p:nvSpPr>
        <p:spPr>
          <a:xfrm>
            <a:off x="6652260" y="361188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656832" y="36118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498080" y="3429000"/>
            <a:ext cx="4114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performance metrics through dashboards &amp; charts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4892040"/>
            <a:ext cx="5440680" cy="1325880"/>
          </a:xfrm>
          <a:prstGeom prst="roundRect">
            <a:avLst>
              <a:gd name="adj" fmla="val 6897"/>
            </a:avLst>
          </a:prstGeom>
          <a:solidFill>
            <a:srgbClr val="EAF3F8"/>
          </a:solidFill>
          <a:ln/>
        </p:spPr>
      </p:sp>
      <p:sp>
        <p:nvSpPr>
          <p:cNvPr id="21" name="Shape 19"/>
          <p:cNvSpPr/>
          <p:nvPr/>
        </p:nvSpPr>
        <p:spPr>
          <a:xfrm>
            <a:off x="891540" y="521208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" y="52120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737360" y="5029200"/>
            <a:ext cx="4114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actionable insights to optimize IT support operations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00800" y="4892040"/>
            <a:ext cx="5440680" cy="1325880"/>
          </a:xfrm>
          <a:prstGeom prst="roundRect">
            <a:avLst>
              <a:gd name="adj" fmla="val 6897"/>
            </a:avLst>
          </a:prstGeom>
          <a:solidFill>
            <a:srgbClr val="EAF3F8"/>
          </a:solidFill>
          <a:ln/>
        </p:spPr>
      </p:sp>
      <p:sp>
        <p:nvSpPr>
          <p:cNvPr id="25" name="Shape 23"/>
          <p:cNvSpPr/>
          <p:nvPr/>
        </p:nvSpPr>
        <p:spPr>
          <a:xfrm>
            <a:off x="6652260" y="521208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6656832" y="52120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498080" y="5029200"/>
            <a:ext cx="4114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findings in a final analytical report &amp; presentation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SUPPORTLYTICS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502920" cy="54864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1691640"/>
            <a:ext cx="3383280" cy="1417320"/>
          </a:xfrm>
          <a:prstGeom prst="roundRect">
            <a:avLst>
              <a:gd name="adj" fmla="val 6452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0136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069080" y="1691640"/>
            <a:ext cx="411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480560" y="1691640"/>
            <a:ext cx="3383280" cy="1417320"/>
          </a:xfrm>
          <a:prstGeom prst="roundRect">
            <a:avLst>
              <a:gd name="adj" fmla="val 6452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80136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63440" y="214884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863840" y="1691640"/>
            <a:ext cx="411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75320" y="1691640"/>
            <a:ext cx="3383280" cy="1417320"/>
          </a:xfrm>
          <a:prstGeom prst="roundRect">
            <a:avLst>
              <a:gd name="adj" fmla="val 6452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8458200" y="180136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458200" y="214884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85800" y="3474720"/>
            <a:ext cx="3383280" cy="1417320"/>
          </a:xfrm>
          <a:prstGeom prst="roundRect">
            <a:avLst>
              <a:gd name="adj" fmla="val 6452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5844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8680" y="393192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069080" y="3474720"/>
            <a:ext cx="411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480560" y="3474720"/>
            <a:ext cx="3383280" cy="1417320"/>
          </a:xfrm>
          <a:prstGeom prst="roundRect">
            <a:avLst>
              <a:gd name="adj" fmla="val 6452"/>
            </a:avLst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35844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663440" y="393192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&amp;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Analysis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863840" y="3474720"/>
            <a:ext cx="411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275320" y="3474720"/>
            <a:ext cx="3383280" cy="1417320"/>
          </a:xfrm>
          <a:prstGeom prst="roundRect">
            <a:avLst>
              <a:gd name="adj" fmla="val 6452"/>
            </a:avLst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8458200" y="35844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458200" y="393192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85800" y="5257800"/>
            <a:ext cx="3383280" cy="1417320"/>
          </a:xfrm>
          <a:prstGeom prst="roundRect">
            <a:avLst>
              <a:gd name="adj" fmla="val 6452"/>
            </a:avLst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536752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68680" y="571500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4069080" y="5257800"/>
            <a:ext cx="411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4480560" y="5257800"/>
            <a:ext cx="3383280" cy="1417320"/>
          </a:xfrm>
          <a:prstGeom prst="roundRect">
            <a:avLst>
              <a:gd name="adj" fmla="val 6452"/>
            </a:avLst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4663440" y="536752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663440" y="571500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863840" y="5257800"/>
            <a:ext cx="411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8275320" y="5257800"/>
            <a:ext cx="3383280" cy="1417320"/>
          </a:xfrm>
          <a:prstGeom prst="roundRect">
            <a:avLst>
              <a:gd name="adj" fmla="val 6452"/>
            </a:avLst>
          </a:prstGeom>
          <a:solidFill>
            <a:srgbClr val="065A82"/>
          </a:solidFill>
          <a:ln/>
        </p:spPr>
      </p:sp>
      <p:sp>
        <p:nvSpPr>
          <p:cNvPr id="35" name="Text 33"/>
          <p:cNvSpPr/>
          <p:nvPr/>
        </p:nvSpPr>
        <p:spPr>
          <a:xfrm>
            <a:off x="8458200" y="536752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458200" y="571500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SUPPORTLYTICS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Week-wise Implementation Plan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502920" cy="54864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60020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737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08483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1 - 2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846320" y="1600200"/>
            <a:ext cx="6492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Initialization  -&gt;  Dataset Setup  -&gt;  Data Cleaning  -&gt;  Feature Engineering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5257800" cy="3566160"/>
          </a:xfrm>
          <a:prstGeom prst="roundRect">
            <a:avLst>
              <a:gd name="adj" fmla="val 3077"/>
            </a:avLst>
          </a:prstGeom>
          <a:solidFill>
            <a:srgbClr val="EAF3F8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154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347472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Initialization &amp; Dataset Setup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60120" y="4370832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422452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objectives, KPIs, and workflow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60120" y="4901184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75488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CSV dataset using pandas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60120" y="5431536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528523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schema, data types, and missing values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60120" y="5961888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8" name="Text 16"/>
          <p:cNvSpPr/>
          <p:nvPr/>
        </p:nvSpPr>
        <p:spPr>
          <a:xfrm>
            <a:off x="1188720" y="5815584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initial ticket distribution by Type, Priority &amp; Category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2880360"/>
            <a:ext cx="5257800" cy="3566160"/>
          </a:xfrm>
          <a:prstGeom prst="roundRect">
            <a:avLst>
              <a:gd name="adj" fmla="val 3077"/>
            </a:avLst>
          </a:prstGeom>
          <a:solidFill>
            <a:srgbClr val="EAF3F8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3154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0" y="347472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Feature Engineering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583680" y="4370832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3" name="Text 21"/>
          <p:cNvSpPr/>
          <p:nvPr/>
        </p:nvSpPr>
        <p:spPr>
          <a:xfrm>
            <a:off x="6812280" y="422452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or incorrect data in text fields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583680" y="4901184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5" name="Text 23"/>
          <p:cNvSpPr/>
          <p:nvPr/>
        </p:nvSpPr>
        <p:spPr>
          <a:xfrm>
            <a:off x="6812280" y="475488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features: Resolution_Duration and Priority_Score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583680" y="5431536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7" name="Text 25"/>
          <p:cNvSpPr/>
          <p:nvPr/>
        </p:nvSpPr>
        <p:spPr>
          <a:xfrm>
            <a:off x="6812280" y="528523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processed data for analysis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SUPPORTLYTICS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" y="1234440"/>
            <a:ext cx="1920240" cy="19202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Shape 2"/>
          <p:cNvSpPr/>
          <p:nvPr/>
        </p:nvSpPr>
        <p:spPr>
          <a:xfrm>
            <a:off x="1463040" y="1691640"/>
            <a:ext cx="1005840" cy="1005840"/>
          </a:xfrm>
          <a:prstGeom prst="gear6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5661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1 - TASK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8620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Initialization &amp; Dataset Setup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5806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D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 -  Week 1-2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34840" y="7772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AF3F8"/>
          </a:solidFill>
          <a:ln/>
        </p:spPr>
      </p:sp>
      <p:sp>
        <p:nvSpPr>
          <p:cNvPr id="9" name="Text 7"/>
          <p:cNvSpPr/>
          <p:nvPr/>
        </p:nvSpPr>
        <p:spPr>
          <a:xfrm>
            <a:off x="4434840" y="777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74920" y="731520"/>
            <a:ext cx="6583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objectives, KPIs, and workflow for the project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34840" y="17373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AF3F8"/>
          </a:solidFill>
          <a:ln/>
        </p:spPr>
      </p:sp>
      <p:sp>
        <p:nvSpPr>
          <p:cNvPr id="12" name="Text 10"/>
          <p:cNvSpPr/>
          <p:nvPr/>
        </p:nvSpPr>
        <p:spPr>
          <a:xfrm>
            <a:off x="443484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74920" y="1691640"/>
            <a:ext cx="6583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CSV dataset using pandas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434840" y="26974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AF3F8"/>
          </a:solidFill>
          <a:ln/>
        </p:spPr>
      </p:sp>
      <p:sp>
        <p:nvSpPr>
          <p:cNvPr id="15" name="Text 13"/>
          <p:cNvSpPr/>
          <p:nvPr/>
        </p:nvSpPr>
        <p:spPr>
          <a:xfrm>
            <a:off x="443484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74920" y="2651760"/>
            <a:ext cx="6583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schema, data types, and missing values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434840" y="36576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AF3F8"/>
          </a:solidFill>
          <a:ln/>
        </p:spPr>
      </p:sp>
      <p:sp>
        <p:nvSpPr>
          <p:cNvPr id="18" name="Text 16"/>
          <p:cNvSpPr/>
          <p:nvPr/>
        </p:nvSpPr>
        <p:spPr>
          <a:xfrm>
            <a:off x="443484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74920" y="3611880"/>
            <a:ext cx="6583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initial ticket distribution by Type, Priority, and Category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SUPPORTLYTICS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· TASK 1 — NOTEBOOK SNAPSHOT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&amp; Explore the Dataset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881360" cy="4892040"/>
          </a:xfrm>
          <a:prstGeom prst="roundRect">
            <a:avLst>
              <a:gd name="adj" fmla="val 1869"/>
            </a:avLst>
          </a:prstGeom>
          <a:solidFill>
            <a:srgbClr val="1E2530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1691640"/>
            <a:ext cx="128016" cy="128016"/>
          </a:xfrm>
          <a:prstGeom prst="ellipse">
            <a:avLst/>
          </a:prstGeom>
          <a:solidFill>
            <a:srgbClr val="E5625C"/>
          </a:solidFill>
          <a:ln/>
        </p:spPr>
      </p:sp>
      <p:sp>
        <p:nvSpPr>
          <p:cNvPr id="6" name="Shape 4"/>
          <p:cNvSpPr/>
          <p:nvPr/>
        </p:nvSpPr>
        <p:spPr>
          <a:xfrm>
            <a:off x="1152144" y="1691640"/>
            <a:ext cx="128016" cy="128016"/>
          </a:xfrm>
          <a:prstGeom prst="ellipse">
            <a:avLst/>
          </a:prstGeom>
          <a:solidFill>
            <a:srgbClr val="F5BD4F"/>
          </a:solidFill>
          <a:ln/>
        </p:spPr>
      </p:sp>
      <p:sp>
        <p:nvSpPr>
          <p:cNvPr id="7" name="Shape 5"/>
          <p:cNvSpPr/>
          <p:nvPr/>
        </p:nvSpPr>
        <p:spPr>
          <a:xfrm>
            <a:off x="1408176" y="1691640"/>
            <a:ext cx="128016" cy="128016"/>
          </a:xfrm>
          <a:prstGeom prst="ellipse">
            <a:avLst/>
          </a:prstGeom>
          <a:solidFill>
            <a:srgbClr val="61C554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160934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7A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01_data_acquisition.ipynb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2057400"/>
            <a:ext cx="1005840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pd.read_excel("customer_support_insights_10k.csv.xlsx")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df.shape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df.describe()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df.isnull().sum()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df['Ticket_Type'].value_counts()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df['Priority'].value_counts()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df['Category'].value_counts()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89720" y="100584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/>
        </p:spPr>
      </p:sp>
      <p:sp>
        <p:nvSpPr>
          <p:cNvPr id="11" name="Text 9">
            <a:hlinkClick r:id="rId3"/>
          </p:cNvPr>
          <p:cNvSpPr/>
          <p:nvPr/>
        </p:nvSpPr>
        <p:spPr>
          <a:xfrm>
            <a:off x="9189720" y="100584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u="sng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in Google Colab ↗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SUPPORTLYTICS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" y="1234440"/>
            <a:ext cx="1920240" cy="19202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Shape 2"/>
          <p:cNvSpPr/>
          <p:nvPr/>
        </p:nvSpPr>
        <p:spPr>
          <a:xfrm flipV="1">
            <a:off x="1371600" y="1737360"/>
            <a:ext cx="1188720" cy="640080"/>
          </a:xfrm>
          <a:prstGeom prst="trapezoid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856232" y="2377440"/>
            <a:ext cx="219456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5661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1 - TASK 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88620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Feature Engineering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5806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D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 -  Week 1-2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34840" y="7772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AF3F8"/>
          </a:solidFill>
          <a:ln/>
        </p:spPr>
      </p:sp>
      <p:sp>
        <p:nvSpPr>
          <p:cNvPr id="10" name="Text 8"/>
          <p:cNvSpPr/>
          <p:nvPr/>
        </p:nvSpPr>
        <p:spPr>
          <a:xfrm>
            <a:off x="4434840" y="777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74920" y="731520"/>
            <a:ext cx="6583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or incorrect data in text fields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434840" y="17373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AF3F8"/>
          </a:solidFill>
          <a:ln/>
        </p:spPr>
      </p:sp>
      <p:sp>
        <p:nvSpPr>
          <p:cNvPr id="13" name="Text 11"/>
          <p:cNvSpPr/>
          <p:nvPr/>
        </p:nvSpPr>
        <p:spPr>
          <a:xfrm>
            <a:off x="443484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74920" y="1691640"/>
            <a:ext cx="6583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features: Resolution_Duration and Priority_Score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434840" y="26974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AF3F8"/>
          </a:solidFill>
          <a:ln/>
        </p:spPr>
      </p:sp>
      <p:sp>
        <p:nvSpPr>
          <p:cNvPr id="16" name="Text 14"/>
          <p:cNvSpPr/>
          <p:nvPr/>
        </p:nvSpPr>
        <p:spPr>
          <a:xfrm>
            <a:off x="443484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74920" y="2651760"/>
            <a:ext cx="6583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processed data for analysis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434840" y="3886200"/>
            <a:ext cx="7223760" cy="18288"/>
          </a:xfrm>
          <a:prstGeom prst="rect">
            <a:avLst/>
          </a:prstGeom>
          <a:solidFill>
            <a:srgbClr val="DCE6EC"/>
          </a:solidFill>
          <a:ln/>
        </p:spPr>
      </p:sp>
      <p:sp>
        <p:nvSpPr>
          <p:cNvPr id="19" name="Text 17"/>
          <p:cNvSpPr/>
          <p:nvPr/>
        </p:nvSpPr>
        <p:spPr>
          <a:xfrm>
            <a:off x="4434840" y="4069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34840" y="4434840"/>
            <a:ext cx="1714500" cy="45720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4434840" y="4434840"/>
            <a:ext cx="17145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dataset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77940" y="4434840"/>
            <a:ext cx="2756916" cy="45720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6377940" y="4434840"/>
            <a:ext cx="27569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summary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363456" y="4434840"/>
            <a:ext cx="1714500" cy="45720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9363456" y="4434840"/>
            <a:ext cx="17145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dictionary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SUPPORTLYTICS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· TASK 2 — NOTEBOOK SNAPSHOT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Clean, Engineer &amp; Save Features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881360" cy="4892040"/>
          </a:xfrm>
          <a:prstGeom prst="roundRect">
            <a:avLst>
              <a:gd name="adj" fmla="val 1869"/>
            </a:avLst>
          </a:prstGeom>
          <a:solidFill>
            <a:srgbClr val="1E2530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1691640"/>
            <a:ext cx="128016" cy="128016"/>
          </a:xfrm>
          <a:prstGeom prst="ellipse">
            <a:avLst/>
          </a:prstGeom>
          <a:solidFill>
            <a:srgbClr val="E5625C"/>
          </a:solidFill>
          <a:ln/>
        </p:spPr>
      </p:sp>
      <p:sp>
        <p:nvSpPr>
          <p:cNvPr id="6" name="Shape 4"/>
          <p:cNvSpPr/>
          <p:nvPr/>
        </p:nvSpPr>
        <p:spPr>
          <a:xfrm>
            <a:off x="1152144" y="1691640"/>
            <a:ext cx="128016" cy="128016"/>
          </a:xfrm>
          <a:prstGeom prst="ellipse">
            <a:avLst/>
          </a:prstGeom>
          <a:solidFill>
            <a:srgbClr val="F5BD4F"/>
          </a:solidFill>
          <a:ln/>
        </p:spPr>
      </p:sp>
      <p:sp>
        <p:nvSpPr>
          <p:cNvPr id="7" name="Shape 5"/>
          <p:cNvSpPr/>
          <p:nvPr/>
        </p:nvSpPr>
        <p:spPr>
          <a:xfrm>
            <a:off x="1408176" y="1691640"/>
            <a:ext cx="128016" cy="128016"/>
          </a:xfrm>
          <a:prstGeom prst="ellipse">
            <a:avLst/>
          </a:prstGeom>
          <a:solidFill>
            <a:srgbClr val="61C554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160934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7A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02_cleaning_feature_engineering.ipynb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2057400"/>
            <a:ext cx="1005840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Clean text fields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col in text_columns: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df[col] = df[col].str.strip()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Resolution duration (in days)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df['Resolution_Duration'] = (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df['Resolution_Date'] - df['Created_Date']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).dt.days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Priority score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priority_map = {'Low': 1, 'Medium': 2, 'High': 3, 'Critical': 4}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df['Priority_Score'] = df['Priority'].map(priority_map)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df.to_csv("customer_support_processed.csv", index=False)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89720" y="100584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/>
        </p:spPr>
      </p:sp>
      <p:sp>
        <p:nvSpPr>
          <p:cNvPr id="11" name="Text 9">
            <a:hlinkClick r:id="rId3"/>
          </p:cNvPr>
          <p:cNvSpPr/>
          <p:nvPr/>
        </p:nvSpPr>
        <p:spPr>
          <a:xfrm>
            <a:off x="9189720" y="100584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u="sng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in Google Colab ↗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SUPPORTLYTICS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" y="1371600"/>
            <a:ext cx="2011680" cy="20116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1463040" y="1783080"/>
            <a:ext cx="1005840" cy="11887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0" y="2103120"/>
            <a:ext cx="640080" cy="822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1645920" y="2331720"/>
            <a:ext cx="640080" cy="822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1645920" y="2560320"/>
            <a:ext cx="640080" cy="822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1645920" y="2788920"/>
            <a:ext cx="640080" cy="822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7947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Acquisition &amp; Understanding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434840" y="9144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AF3F8"/>
          </a:solidFill>
          <a:ln/>
        </p:spPr>
      </p:sp>
      <p:sp>
        <p:nvSpPr>
          <p:cNvPr id="12" name="Text 10"/>
          <p:cNvSpPr/>
          <p:nvPr/>
        </p:nvSpPr>
        <p:spPr>
          <a:xfrm>
            <a:off x="4434840" y="914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20640" y="868680"/>
            <a:ext cx="6492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and inspect the IT support dataset — Internal IT Support Ticket System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434840" y="21488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AF3F8"/>
          </a:solidFill>
          <a:ln/>
        </p:spPr>
      </p:sp>
      <p:sp>
        <p:nvSpPr>
          <p:cNvPr id="15" name="Text 13"/>
          <p:cNvSpPr/>
          <p:nvPr/>
        </p:nvSpPr>
        <p:spPr>
          <a:xfrm>
            <a:off x="443484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120640" y="2103120"/>
            <a:ext cx="6492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column types, structures, and relationships across the dataset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434840" y="33832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AF3F8"/>
          </a:solidFill>
          <a:ln/>
        </p:spPr>
      </p:sp>
      <p:sp>
        <p:nvSpPr>
          <p:cNvPr id="18" name="Text 16"/>
          <p:cNvSpPr/>
          <p:nvPr/>
        </p:nvSpPr>
        <p:spPr>
          <a:xfrm>
            <a:off x="4434840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20640" y="3337560"/>
            <a:ext cx="6492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key metrics: resolution time, response efficiency, and priority distribution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SUPPORTLYTICS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" y="1371600"/>
            <a:ext cx="2011680" cy="20116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 flipV="1">
            <a:off x="1371600" y="1920240"/>
            <a:ext cx="1188720" cy="640080"/>
          </a:xfrm>
          <a:prstGeom prst="trapezoid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856232" y="2560320"/>
            <a:ext cx="219456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7947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Feature Engineering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434840" y="9144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AF3F8"/>
          </a:solidFill>
          <a:ln/>
        </p:spPr>
      </p:sp>
      <p:sp>
        <p:nvSpPr>
          <p:cNvPr id="9" name="Text 7"/>
          <p:cNvSpPr/>
          <p:nvPr/>
        </p:nvSpPr>
        <p:spPr>
          <a:xfrm>
            <a:off x="4434840" y="914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20640" y="868680"/>
            <a:ext cx="6492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or incomplete fields across the ticket dataset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434840" y="21488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AF3F8"/>
          </a:solidFill>
          <a:ln/>
        </p:spPr>
      </p:sp>
      <p:sp>
        <p:nvSpPr>
          <p:cNvPr id="12" name="Text 10"/>
          <p:cNvSpPr/>
          <p:nvPr/>
        </p:nvSpPr>
        <p:spPr>
          <a:xfrm>
            <a:off x="443484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20640" y="2103120"/>
            <a:ext cx="6492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new columns, e.g. Resolution_Time = Resolution Date − Date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434840" y="33832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AF3F8"/>
          </a:solidFill>
          <a:ln/>
        </p:spPr>
      </p:sp>
      <p:sp>
        <p:nvSpPr>
          <p:cNvPr id="15" name="Text 13"/>
          <p:cNvSpPr/>
          <p:nvPr/>
        </p:nvSpPr>
        <p:spPr>
          <a:xfrm>
            <a:off x="4434840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120640" y="3337560"/>
            <a:ext cx="6492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 Similarity_Level into performance buckets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434840" y="46177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AF3F8"/>
          </a:solidFill>
          <a:ln/>
        </p:spPr>
      </p:sp>
      <p:sp>
        <p:nvSpPr>
          <p:cNvPr id="18" name="Text 16"/>
          <p:cNvSpPr/>
          <p:nvPr/>
        </p:nvSpPr>
        <p:spPr>
          <a:xfrm>
            <a:off x="4434840" y="4617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20640" y="4572000"/>
            <a:ext cx="6492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categorical fields for clustering and visualization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SUPPORTLYTICS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" y="1371600"/>
            <a:ext cx="2011680" cy="20116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1508760" y="2423160"/>
            <a:ext cx="25603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0" y="2103120"/>
            <a:ext cx="256032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2148840" y="2286000"/>
            <a:ext cx="256032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2468880" y="1920240"/>
            <a:ext cx="256032" cy="960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7947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 (EDA)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434840" y="9144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AF3F8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914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20640" y="868680"/>
            <a:ext cx="6492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ticket types — Request, Problem, and Incident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4434840" y="21488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AF3F8"/>
          </a:solidFill>
          <a:ln/>
        </p:spPr>
      </p:sp>
      <p:sp>
        <p:nvSpPr>
          <p:cNvPr id="14" name="Text 12"/>
          <p:cNvSpPr/>
          <p:nvPr/>
        </p:nvSpPr>
        <p:spPr>
          <a:xfrm>
            <a:off x="443484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20640" y="2103120"/>
            <a:ext cx="6492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ticket volume by country and priority level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4434840" y="33832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AF3F8"/>
          </a:solidFill>
          <a:ln/>
        </p:spPr>
      </p:sp>
      <p:sp>
        <p:nvSpPr>
          <p:cNvPr id="17" name="Text 15"/>
          <p:cNvSpPr/>
          <p:nvPr/>
        </p:nvSpPr>
        <p:spPr>
          <a:xfrm>
            <a:off x="4434840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20640" y="3337560"/>
            <a:ext cx="6492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most common issue categories: Integration, Security, Bug, etc.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SUPPORTLYTICS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" y="1371600"/>
            <a:ext cx="2011680" cy="20116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1335024" y="1929384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609344" y="2112264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335024" y="2386584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2157984" y="2066544"/>
            <a:ext cx="256032" cy="256032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8" name="Shape 6"/>
          <p:cNvSpPr/>
          <p:nvPr/>
        </p:nvSpPr>
        <p:spPr>
          <a:xfrm>
            <a:off x="2386584" y="2295144"/>
            <a:ext cx="256032" cy="256032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9" name="Shape 7"/>
          <p:cNvSpPr/>
          <p:nvPr/>
        </p:nvSpPr>
        <p:spPr>
          <a:xfrm>
            <a:off x="2112264" y="2523744"/>
            <a:ext cx="256032" cy="256032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7947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11480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 &amp; Similarity Analysis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434840" y="9144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AF3F8"/>
          </a:solidFill>
          <a:ln/>
        </p:spPr>
      </p:sp>
      <p:sp>
        <p:nvSpPr>
          <p:cNvPr id="13" name="Text 11"/>
          <p:cNvSpPr/>
          <p:nvPr/>
        </p:nvSpPr>
        <p:spPr>
          <a:xfrm>
            <a:off x="4434840" y="914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20640" y="868680"/>
            <a:ext cx="6492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clusters formed using Cluster_ID and Cluster_Name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434840" y="21488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AF3F8"/>
          </a:solidFill>
          <a:ln/>
        </p:spPr>
      </p:sp>
      <p:sp>
        <p:nvSpPr>
          <p:cNvPr id="16" name="Text 14"/>
          <p:cNvSpPr/>
          <p:nvPr/>
        </p:nvSpPr>
        <p:spPr>
          <a:xfrm>
            <a:off x="443484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120640" y="2103120"/>
            <a:ext cx="6492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issue similarity via Similarity_Score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4434840" y="33832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AF3F8"/>
          </a:solidFill>
          <a:ln/>
        </p:spPr>
      </p:sp>
      <p:sp>
        <p:nvSpPr>
          <p:cNvPr id="19" name="Text 17"/>
          <p:cNvSpPr/>
          <p:nvPr/>
        </p:nvSpPr>
        <p:spPr>
          <a:xfrm>
            <a:off x="4434840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20640" y="3337560"/>
            <a:ext cx="6492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frequently occurring issue clusters and their resolution rates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SUPPORTLYTICS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" y="1371600"/>
            <a:ext cx="2011680" cy="20116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2788920"/>
            <a:ext cx="36576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0" y="2423160"/>
            <a:ext cx="320040" cy="27432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57400" y="2697480"/>
            <a:ext cx="5029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5400000">
            <a:off x="2423160" y="1874520"/>
            <a:ext cx="201168" cy="201168"/>
          </a:xfrm>
          <a:prstGeom prst="triangle">
            <a:avLst/>
          </a:prstGeom>
          <a:solidFill>
            <a:srgbClr val="F2A65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7947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Insights &amp; Optimization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434840" y="9144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AF3F8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914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20640" y="868680"/>
            <a:ext cx="6492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resolution times across priorities and countries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4434840" y="21488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AF3F8"/>
          </a:solidFill>
          <a:ln/>
        </p:spPr>
      </p:sp>
      <p:sp>
        <p:nvSpPr>
          <p:cNvPr id="14" name="Text 12"/>
          <p:cNvSpPr/>
          <p:nvPr/>
        </p:nvSpPr>
        <p:spPr>
          <a:xfrm>
            <a:off x="443484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20640" y="2103120"/>
            <a:ext cx="6492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performance gaps in certain clusters or categories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4434840" y="33832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AF3F8"/>
          </a:solidFill>
          <a:ln/>
        </p:spPr>
      </p:sp>
      <p:sp>
        <p:nvSpPr>
          <p:cNvPr id="17" name="Text 15"/>
          <p:cNvSpPr/>
          <p:nvPr/>
        </p:nvSpPr>
        <p:spPr>
          <a:xfrm>
            <a:off x="4434840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20640" y="3337560"/>
            <a:ext cx="6492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resource reallocation or process changes for improvement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SUPPORTLYTICS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" y="1371600"/>
            <a:ext cx="2011680" cy="20116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1508760" y="1920240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2011680" y="1920240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F2A65A"/>
          </a:solidFill>
          <a:ln/>
        </p:spPr>
      </p:sp>
      <p:sp>
        <p:nvSpPr>
          <p:cNvPr id="6" name="Shape 4"/>
          <p:cNvSpPr/>
          <p:nvPr/>
        </p:nvSpPr>
        <p:spPr>
          <a:xfrm>
            <a:off x="1508760" y="2423160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2011680" y="2423160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7947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 &amp; Dashboard Development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434840" y="9144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AF3F8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914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20640" y="868680"/>
            <a:ext cx="6492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bar charts, heatmaps &amp; line charts with Matplotlib, Seaborn, Plotly, or Power BI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4434840" y="21488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AF3F8"/>
          </a:solidFill>
          <a:ln/>
        </p:spPr>
      </p:sp>
      <p:sp>
        <p:nvSpPr>
          <p:cNvPr id="14" name="Text 12"/>
          <p:cNvSpPr/>
          <p:nvPr/>
        </p:nvSpPr>
        <p:spPr>
          <a:xfrm>
            <a:off x="443484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20640" y="2103120"/>
            <a:ext cx="6492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ticket distribution by category and country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4434840" y="33832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AF3F8"/>
          </a:solidFill>
          <a:ln/>
        </p:spPr>
      </p:sp>
      <p:sp>
        <p:nvSpPr>
          <p:cNvPr id="17" name="Text 15"/>
          <p:cNvSpPr/>
          <p:nvPr/>
        </p:nvSpPr>
        <p:spPr>
          <a:xfrm>
            <a:off x="4434840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20640" y="3337560"/>
            <a:ext cx="6492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resolution efficiency by priority, and cluster performance vs. similarity score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4434840" y="46177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AF3F8"/>
          </a:solidFill>
          <a:ln/>
        </p:spPr>
      </p:sp>
      <p:sp>
        <p:nvSpPr>
          <p:cNvPr id="20" name="Text 18"/>
          <p:cNvSpPr/>
          <p:nvPr/>
        </p:nvSpPr>
        <p:spPr>
          <a:xfrm>
            <a:off x="4434840" y="4617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20640" y="4572000"/>
            <a:ext cx="6492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geographical trends across regions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SUPPORTLYTICS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" y="1371600"/>
            <a:ext cx="2011680" cy="20116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1463040" y="1783080"/>
            <a:ext cx="1005840" cy="11887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0" y="2103120"/>
            <a:ext cx="640080" cy="822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1645920" y="2331720"/>
            <a:ext cx="640080" cy="822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1645920" y="2560320"/>
            <a:ext cx="640080" cy="822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2103120" y="2651760"/>
            <a:ext cx="457200" cy="45720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9" name="Text 7"/>
          <p:cNvSpPr/>
          <p:nvPr/>
        </p:nvSpPr>
        <p:spPr>
          <a:xfrm>
            <a:off x="210312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37947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11480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Report &amp; Presentation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434840" y="9144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AF3F8"/>
          </a:solidFill>
          <a:ln/>
        </p:spPr>
      </p:sp>
      <p:sp>
        <p:nvSpPr>
          <p:cNvPr id="13" name="Text 11"/>
          <p:cNvSpPr/>
          <p:nvPr/>
        </p:nvSpPr>
        <p:spPr>
          <a:xfrm>
            <a:off x="4434840" y="914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20640" y="868680"/>
            <a:ext cx="6492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visuals into a coherent narrative flow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434840" y="21488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AF3F8"/>
          </a:solidFill>
          <a:ln/>
        </p:spPr>
      </p:sp>
      <p:sp>
        <p:nvSpPr>
          <p:cNvPr id="16" name="Text 14"/>
          <p:cNvSpPr/>
          <p:nvPr/>
        </p:nvSpPr>
        <p:spPr>
          <a:xfrm>
            <a:off x="443484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120640" y="2103120"/>
            <a:ext cx="6492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performance dashboard or Power BI report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4434840" y="33832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AF3F8"/>
          </a:solidFill>
          <a:ln/>
        </p:spPr>
      </p:sp>
      <p:sp>
        <p:nvSpPr>
          <p:cNvPr id="19" name="Text 17"/>
          <p:cNvSpPr/>
          <p:nvPr/>
        </p:nvSpPr>
        <p:spPr>
          <a:xfrm>
            <a:off x="4434840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20640" y="3337560"/>
            <a:ext cx="6492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insights, methods, and recommendations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SUPPORTLYTICS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502920" cy="54864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69164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EAF3F8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0116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743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1089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for data wrangling &amp; analysis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34840" y="169164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EAF3F8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20116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63440" y="2743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63440" y="31089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and feature engineering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0" y="169164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EAF3F8"/>
          </a:solidFill>
          <a:ln/>
        </p:spPr>
      </p:sp>
      <p:sp>
        <p:nvSpPr>
          <p:cNvPr id="15" name="Shape 13"/>
          <p:cNvSpPr/>
          <p:nvPr/>
        </p:nvSpPr>
        <p:spPr>
          <a:xfrm>
            <a:off x="8549640" y="20116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54964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58200" y="2743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Matplotlib / Seaborn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58200" y="31089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charts and EDA visuals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93192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EAF3F8"/>
          </a:solidFill>
          <a:ln/>
        </p:spPr>
      </p:sp>
      <p:sp>
        <p:nvSpPr>
          <p:cNvPr id="20" name="Shape 18"/>
          <p:cNvSpPr/>
          <p:nvPr/>
        </p:nvSpPr>
        <p:spPr>
          <a:xfrm>
            <a:off x="960120" y="42519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4251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68680" y="49834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Plotly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8680" y="53492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visualizations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434840" y="393192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EAF3F8"/>
          </a:solidFill>
          <a:ln/>
        </p:spPr>
      </p:sp>
      <p:sp>
        <p:nvSpPr>
          <p:cNvPr id="25" name="Shape 23"/>
          <p:cNvSpPr/>
          <p:nvPr/>
        </p:nvSpPr>
        <p:spPr>
          <a:xfrm>
            <a:off x="4754880" y="42519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4251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663440" y="49834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63440" y="53492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dashboards and reporting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229600" y="393192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EAF3F8"/>
          </a:solidFill>
          <a:ln/>
        </p:spPr>
      </p:sp>
      <p:sp>
        <p:nvSpPr>
          <p:cNvPr id="30" name="Shape 28"/>
          <p:cNvSpPr/>
          <p:nvPr/>
        </p:nvSpPr>
        <p:spPr>
          <a:xfrm>
            <a:off x="8549640" y="42519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/>
          <p:nvPr/>
        </p:nvSpPr>
        <p:spPr>
          <a:xfrm>
            <a:off x="8549640" y="4251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458200" y="49834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Clustering Algorithms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458200" y="53492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scoring &amp; issue grouping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SUPPORTLYTICS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274320"/>
            <a:ext cx="2011680" cy="20116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937760"/>
            <a:ext cx="2377440" cy="23774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68680" y="32461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68680" y="4023360"/>
            <a:ext cx="27432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4297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 Sundar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617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Shanmukha Priya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4983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Virtual Internship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SUPPORTLYTICS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1032</Words>
  <Application>Microsoft Office PowerPoint</Application>
  <PresentationFormat>Widescreen</PresentationFormat>
  <Paragraphs>275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Hema Sundar</cp:lastModifiedBy>
  <cp:revision>2</cp:revision>
  <dcterms:created xsi:type="dcterms:W3CDTF">2026-07-10T08:33:44Z</dcterms:created>
  <dcterms:modified xsi:type="dcterms:W3CDTF">2026-07-10T11:41:20Z</dcterms:modified>
</cp:coreProperties>
</file>