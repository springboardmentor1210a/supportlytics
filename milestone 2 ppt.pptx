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Bitter" panose="020B0604020202020204" charset="0"/>
      <p:regular r:id="rId14"/>
    </p:embeddedFont>
    <p:embeddedFont>
      <p:font typeface="Bitter Bold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Outfit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 NAKIREDDY" userId="bf5137d6c9928aa8" providerId="LiveId" clId="{1A85F460-660A-486E-95D0-1B6686AE5EAC}"/>
    <pc:docChg chg="undo custSel modSld">
      <pc:chgData name="DEVI NAKIREDDY" userId="bf5137d6c9928aa8" providerId="LiveId" clId="{1A85F460-660A-486E-95D0-1B6686AE5EAC}" dt="2026-07-24T13:15:54.750" v="57" actId="1076"/>
      <pc:docMkLst>
        <pc:docMk/>
      </pc:docMkLst>
      <pc:sldChg chg="modSp mod">
        <pc:chgData name="DEVI NAKIREDDY" userId="bf5137d6c9928aa8" providerId="LiveId" clId="{1A85F460-660A-486E-95D0-1B6686AE5EAC}" dt="2026-07-24T13:15:54.750" v="57" actId="1076"/>
        <pc:sldMkLst>
          <pc:docMk/>
          <pc:sldMk cId="0" sldId="256"/>
        </pc:sldMkLst>
        <pc:spChg chg="mod">
          <ac:chgData name="DEVI NAKIREDDY" userId="bf5137d6c9928aa8" providerId="LiveId" clId="{1A85F460-660A-486E-95D0-1B6686AE5EAC}" dt="2026-07-24T13:15:42.467" v="5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EVI NAKIREDDY" userId="bf5137d6c9928aa8" providerId="LiveId" clId="{1A85F460-660A-486E-95D0-1B6686AE5EAC}" dt="2026-07-24T13:15:54.750" v="57" actId="1076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DEVI NAKIREDDY" userId="bf5137d6c9928aa8" providerId="LiveId" clId="{1A85F460-660A-486E-95D0-1B6686AE5EAC}" dt="2026-07-24T12:54:36.680" v="23" actId="14100"/>
        <pc:sldMkLst>
          <pc:docMk/>
          <pc:sldMk cId="0" sldId="257"/>
        </pc:sldMkLst>
        <pc:picChg chg="add mod">
          <ac:chgData name="DEVI NAKIREDDY" userId="bf5137d6c9928aa8" providerId="LiveId" clId="{1A85F460-660A-486E-95D0-1B6686AE5EAC}" dt="2026-07-24T12:54:36.680" v="23" actId="14100"/>
          <ac:picMkLst>
            <pc:docMk/>
            <pc:sldMk cId="0" sldId="257"/>
            <ac:picMk id="11" creationId="{FF01C4E0-34F9-7D74-E35A-67C2B2966B6A}"/>
          </ac:picMkLst>
        </pc:picChg>
      </pc:sldChg>
      <pc:sldChg chg="addSp modSp mod">
        <pc:chgData name="DEVI NAKIREDDY" userId="bf5137d6c9928aa8" providerId="LiveId" clId="{1A85F460-660A-486E-95D0-1B6686AE5EAC}" dt="2026-07-24T12:55:30.077" v="30" actId="1076"/>
        <pc:sldMkLst>
          <pc:docMk/>
          <pc:sldMk cId="0" sldId="260"/>
        </pc:sldMkLst>
        <pc:picChg chg="add mod">
          <ac:chgData name="DEVI NAKIREDDY" userId="bf5137d6c9928aa8" providerId="LiveId" clId="{1A85F460-660A-486E-95D0-1B6686AE5EAC}" dt="2026-07-24T12:55:30.077" v="30" actId="1076"/>
          <ac:picMkLst>
            <pc:docMk/>
            <pc:sldMk cId="0" sldId="260"/>
            <ac:picMk id="6" creationId="{F25E2ACF-06CA-C24B-FB0D-4DB036EDBA37}"/>
          </ac:picMkLst>
        </pc:picChg>
      </pc:sldChg>
      <pc:sldChg chg="addSp modSp mod">
        <pc:chgData name="DEVI NAKIREDDY" userId="bf5137d6c9928aa8" providerId="LiveId" clId="{1A85F460-660A-486E-95D0-1B6686AE5EAC}" dt="2026-07-24T12:52:33.851" v="16" actId="1076"/>
        <pc:sldMkLst>
          <pc:docMk/>
          <pc:sldMk cId="0" sldId="261"/>
        </pc:sldMkLst>
        <pc:spChg chg="mod">
          <ac:chgData name="DEVI NAKIREDDY" userId="bf5137d6c9928aa8" providerId="LiveId" clId="{1A85F460-660A-486E-95D0-1B6686AE5EAC}" dt="2026-07-24T12:51:24.615" v="1" actId="20577"/>
          <ac:spMkLst>
            <pc:docMk/>
            <pc:sldMk cId="0" sldId="261"/>
            <ac:spMk id="6" creationId="{00000000-0000-0000-0000-000000000000}"/>
          </ac:spMkLst>
        </pc:spChg>
        <pc:picChg chg="add mod">
          <ac:chgData name="DEVI NAKIREDDY" userId="bf5137d6c9928aa8" providerId="LiveId" clId="{1A85F460-660A-486E-95D0-1B6686AE5EAC}" dt="2026-07-24T12:52:02.855" v="9" actId="14100"/>
          <ac:picMkLst>
            <pc:docMk/>
            <pc:sldMk cId="0" sldId="261"/>
            <ac:picMk id="19" creationId="{9F281366-D999-DE02-5EE1-79816357C472}"/>
          </ac:picMkLst>
        </pc:picChg>
        <pc:picChg chg="add mod">
          <ac:chgData name="DEVI NAKIREDDY" userId="bf5137d6c9928aa8" providerId="LiveId" clId="{1A85F460-660A-486E-95D0-1B6686AE5EAC}" dt="2026-07-24T12:52:33.851" v="16" actId="1076"/>
          <ac:picMkLst>
            <pc:docMk/>
            <pc:sldMk cId="0" sldId="261"/>
            <ac:picMk id="21" creationId="{20EE4ECB-4CFB-7867-1B7E-EB717072E6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16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1917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Supportlytics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7476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Data-Driven Optimization of IT Support Team Performance Using Advanced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661047"/>
            <a:ext cx="8151763" cy="52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Milestone 2 (Week 3–4) • Infosys Springboard 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Presented  By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53976" y="3189536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Uma Parvathi Devi Nakireddy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616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Milestone 2 — Overview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42095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 Objective: Complete exploratory visualization and cluster-based similarity analysis to surface actionable support trends    and performance gaps.   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609204"/>
            <a:ext cx="4011513" cy="1063823"/>
          </a:xfrm>
          <a:prstGeom prst="roundRect">
            <a:avLst>
              <a:gd name="adj" fmla="val 1905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0230" y="1763316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Modules Covered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0230" y="2051670"/>
            <a:ext cx="3703290" cy="467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Module 3 — Exploratory Visualization</a:t>
            </a:r>
            <a:endParaRPr lang="en-US" sz="105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Module 4 — Similarity &amp; Cluster Insights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36368" y="1609204"/>
            <a:ext cx="4011513" cy="1063823"/>
          </a:xfrm>
          <a:prstGeom prst="roundRect">
            <a:avLst>
              <a:gd name="adj" fmla="val 1905"/>
            </a:avLst>
          </a:prstGeom>
          <a:solidFill>
            <a:srgbClr val="1C1D1F"/>
          </a:solidFill>
          <a:ln w="19050">
            <a:solidFill>
              <a:srgbClr val="545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90480" y="1763316"/>
            <a:ext cx="3703290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Workflow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90480" y="2051670"/>
            <a:ext cx="370329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Dataset → Exploratory Analysis → Cluster Analysis → Key Insights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268" y="2817912"/>
            <a:ext cx="3903464" cy="1898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01C4E0-34F9-7D74-E35A-67C2B2966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93" y="3027814"/>
            <a:ext cx="8611105" cy="16889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66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68227"/>
            <a:ext cx="3053135" cy="190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35896"/>
            <a:ext cx="351033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9892" y="1390724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31432" y="1390724"/>
            <a:ext cx="42211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Dataset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431432" y="1753939"/>
            <a:ext cx="422113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ServiceNow support ticket dataset capturing incidents, categories, priorities, timestamps, assign groups, and resolution notes.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892" y="2717899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31432" y="2717899"/>
            <a:ext cx="42211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Columns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431432" y="3081114"/>
            <a:ext cx="422113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ticket_id, created_at, resolved_at, priority, category, assignment_group, resolution_code,cluster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9892" y="3818260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431432" y="3818260"/>
            <a:ext cx="42211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Tools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431432" y="4181475"/>
            <a:ext cx="422113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Python • Pandas • Matplotlib (visualization  and preprocessing)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 3 — Exploratory Visualizations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1935063" cy="1935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61493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1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496119" y="2793429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 type distribution</a:t>
            </a:r>
            <a:endParaRPr lang="en-US" sz="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082" y="682154"/>
            <a:ext cx="1935138" cy="19351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28082" y="2661568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2</a:t>
            </a:r>
            <a:endParaRPr lang="en-US" sz="650" dirty="0"/>
          </a:p>
        </p:txBody>
      </p:sp>
      <p:sp>
        <p:nvSpPr>
          <p:cNvPr id="8" name="Shape 4"/>
          <p:cNvSpPr/>
          <p:nvPr/>
        </p:nvSpPr>
        <p:spPr>
          <a:xfrm>
            <a:off x="3228082" y="2812107"/>
            <a:ext cx="2687762" cy="226740"/>
          </a:xfrm>
          <a:prstGeom prst="roundRect">
            <a:avLst>
              <a:gd name="adj" fmla="val 4689"/>
            </a:avLst>
          </a:prstGeom>
          <a:solidFill>
            <a:srgbClr val="292A2C"/>
          </a:solidFill>
          <a:ln/>
        </p:spPr>
      </p:sp>
      <p:sp>
        <p:nvSpPr>
          <p:cNvPr id="9" name="Shape 5"/>
          <p:cNvSpPr/>
          <p:nvPr/>
        </p:nvSpPr>
        <p:spPr>
          <a:xfrm>
            <a:off x="3224585" y="2812107"/>
            <a:ext cx="2694756" cy="226740"/>
          </a:xfrm>
          <a:prstGeom prst="roundRect">
            <a:avLst>
              <a:gd name="adj" fmla="val 4689"/>
            </a:avLst>
          </a:prstGeom>
          <a:solidFill>
            <a:srgbClr val="292A2C"/>
          </a:solidFill>
          <a:ln/>
        </p:spPr>
      </p:sp>
      <p:sp>
        <p:nvSpPr>
          <p:cNvPr id="10" name="Text 6"/>
          <p:cNvSpPr/>
          <p:nvPr/>
        </p:nvSpPr>
        <p:spPr>
          <a:xfrm>
            <a:off x="3313137" y="2882950"/>
            <a:ext cx="251765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 Categories by Frequency</a:t>
            </a:r>
            <a:endParaRPr lang="en-US" sz="5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0120" y="682154"/>
            <a:ext cx="1935063" cy="19350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960120" y="2661493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3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5960120" y="2793429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clusters by frequency</a:t>
            </a:r>
            <a:endParaRPr lang="en-US" sz="5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109689"/>
            <a:ext cx="1935063" cy="193506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5089029"/>
            <a:ext cx="268768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4</a:t>
            </a:r>
            <a:endParaRPr lang="en-US" sz="650" dirty="0"/>
          </a:p>
        </p:txBody>
      </p:sp>
      <p:sp>
        <p:nvSpPr>
          <p:cNvPr id="16" name="Text 10"/>
          <p:cNvSpPr/>
          <p:nvPr/>
        </p:nvSpPr>
        <p:spPr>
          <a:xfrm>
            <a:off x="496119" y="5220965"/>
            <a:ext cx="268768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Queue and workload analysis</a:t>
            </a:r>
            <a:endParaRPr lang="en-US" sz="5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8082" y="3109689"/>
            <a:ext cx="1935138" cy="193513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28082" y="5089103"/>
            <a:ext cx="26877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Tickets by Queue</a:t>
            </a:r>
            <a:endParaRPr lang="en-US" sz="650" dirty="0"/>
          </a:p>
        </p:txBody>
      </p:sp>
      <p:sp>
        <p:nvSpPr>
          <p:cNvPr id="19" name="Text 12"/>
          <p:cNvSpPr/>
          <p:nvPr/>
        </p:nvSpPr>
        <p:spPr>
          <a:xfrm>
            <a:off x="3228082" y="5221039"/>
            <a:ext cx="26877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tickets by Queue</a:t>
            </a:r>
            <a:endParaRPr lang="en-US" sz="550" dirty="0"/>
          </a:p>
        </p:txBody>
      </p:sp>
      <p:sp>
        <p:nvSpPr>
          <p:cNvPr id="20" name="Shape 13"/>
          <p:cNvSpPr/>
          <p:nvPr/>
        </p:nvSpPr>
        <p:spPr>
          <a:xfrm>
            <a:off x="496119" y="5363617"/>
            <a:ext cx="8151763" cy="9525"/>
          </a:xfrm>
          <a:prstGeom prst="roundRect">
            <a:avLst>
              <a:gd name="adj" fmla="val 60000"/>
            </a:avLst>
          </a:prstGeom>
          <a:solidFill>
            <a:srgbClr val="C2C4B5">
              <a:alpha val="5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496119" y="5430664"/>
            <a:ext cx="8151763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Ticket distribution provides a clear overview of support request patterns.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High-frequency categories represent the most common customer issues.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 analysis identifies recurring issue groups within the dataset.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Priority distribution supports effective ticket prioritization.</a:t>
            </a:r>
            <a:endParaRPr lang="en-US" sz="55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Queue analysis illustrates workload allocation across support teams.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196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 4: Similarity &amp; Cluster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46163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Created a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column to group similar support tickets.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Calculated the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each ticket using its resolution duration.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Found the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average 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each clusters.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512740"/>
            <a:ext cx="6027316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Compared different clusters based on their size and issue types.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Analyzed how similarity scores vary across clusters.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Studied the relationship between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 size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average 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Identified recurring issue patterns through cluster analysis.terns.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419702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E2ACF-06CA-C24B-FB0D-4DB036ED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239" y="1654380"/>
            <a:ext cx="2882479" cy="2228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752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Module 4 — Similarity &amp; Cluster Insights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96119" y="918865"/>
            <a:ext cx="8608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Four screenshot slots for cluster visualizations: similarity matrix, cluster scatter, centroid profiles, boxplots comparing clusters.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73956"/>
            <a:ext cx="1956792" cy="19567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217218"/>
            <a:ext cx="195679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1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96119" y="3442097"/>
            <a:ext cx="195679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similarity score within clusters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034" y="1173956"/>
            <a:ext cx="1956867" cy="19568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1034" y="3217292"/>
            <a:ext cx="195686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2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2561034" y="3442171"/>
            <a:ext cx="195686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 vs IssueType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025" y="1173956"/>
            <a:ext cx="1956867" cy="195686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26025" y="3217292"/>
            <a:ext cx="195686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3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626025" y="3442171"/>
            <a:ext cx="195686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 distribution by Cluster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015" y="1173956"/>
            <a:ext cx="1956867" cy="195686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91015" y="3217292"/>
            <a:ext cx="1956867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Visualization 4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691015" y="3442171"/>
            <a:ext cx="1956867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 vs Resolution duration 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96119" y="3882703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C2C4B5">
              <a:alpha val="50000"/>
            </a:srgbClr>
          </a:solidFill>
          <a:ln/>
        </p:spPr>
      </p:sp>
      <p:sp>
        <p:nvSpPr>
          <p:cNvPr id="17" name="Text 11"/>
          <p:cNvSpPr/>
          <p:nvPr/>
        </p:nvSpPr>
        <p:spPr>
          <a:xfrm>
            <a:off x="496119" y="4022006"/>
            <a:ext cx="8151763" cy="7216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scores vary across clusters, showing some tight groups and some diffuse clusters.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Larger clusters indicate recurring or high-volume issue families.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Scatter plots reveal relationships and potential mislabeled tickets spanning clusters.</a:t>
            </a:r>
            <a:endParaRPr lang="en-US" sz="850" dirty="0"/>
          </a:p>
          <a:p>
            <a:pPr marL="172720" indent="-172720" algn="l">
              <a:lnSpc>
                <a:spcPct val="11900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Boxplots highlight performance and resolution-time variation between clusters.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F281366-D999-DE02-5EE1-79816357C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93" y="1163092"/>
            <a:ext cx="2029017" cy="2002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EE4ECB-4CFB-7867-1B7E-EB717072E6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201638"/>
            <a:ext cx="2029018" cy="18258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51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Insights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40023"/>
            <a:ext cx="1931566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398687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1848817"/>
            <a:ext cx="1648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Ticket Patterns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155329"/>
            <a:ext cx="16480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Distribution patterns identify top recurring issue types for targeted fixes.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9443" y="1140023"/>
            <a:ext cx="1931640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9" name="Shape 6"/>
          <p:cNvSpPr/>
          <p:nvPr/>
        </p:nvSpPr>
        <p:spPr>
          <a:xfrm>
            <a:off x="2711202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8181" y="1398687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11202" y="1848817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Major Categories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711202" y="2155329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Focused categories account for the bulk of workload — prioritize documentation.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42842" y="1140023"/>
            <a:ext cx="1931640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14" name="Shape 10"/>
          <p:cNvSpPr/>
          <p:nvPr/>
        </p:nvSpPr>
        <p:spPr>
          <a:xfrm>
            <a:off x="4784601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01580" y="1398687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84601" y="1848817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Cluster Behavior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784601" y="2155329"/>
            <a:ext cx="164812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Clusters reveal groups of similar incidents that can be routed or automated.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16241" y="1140023"/>
            <a:ext cx="1931640" cy="2064321"/>
          </a:xfrm>
          <a:prstGeom prst="roundRect">
            <a:avLst>
              <a:gd name="adj" fmla="val 1101"/>
            </a:avLst>
          </a:prstGeom>
          <a:solidFill>
            <a:srgbClr val="3B3C3E"/>
          </a:solidFill>
          <a:ln/>
        </p:spPr>
      </p:sp>
      <p:sp>
        <p:nvSpPr>
          <p:cNvPr id="19" name="Shape 14"/>
          <p:cNvSpPr/>
          <p:nvPr/>
        </p:nvSpPr>
        <p:spPr>
          <a:xfrm>
            <a:off x="6858000" y="128178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4979" y="1398687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1848817"/>
            <a:ext cx="16481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Similarity Trends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858000" y="2155329"/>
            <a:ext cx="164812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Similarity scores track evolving issue patterns—use for monitoring drift.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96119" y="3346103"/>
            <a:ext cx="8151763" cy="1383878"/>
          </a:xfrm>
          <a:prstGeom prst="roundRect">
            <a:avLst>
              <a:gd name="adj" fmla="val 1537"/>
            </a:avLst>
          </a:prstGeom>
          <a:solidFill>
            <a:srgbClr val="3B3C3E"/>
          </a:solidFill>
          <a:ln/>
        </p:spPr>
      </p:sp>
      <p:sp>
        <p:nvSpPr>
          <p:cNvPr id="24" name="Shape 18"/>
          <p:cNvSpPr/>
          <p:nvPr/>
        </p:nvSpPr>
        <p:spPr>
          <a:xfrm>
            <a:off x="637877" y="3487862"/>
            <a:ext cx="425276" cy="425276"/>
          </a:xfrm>
          <a:prstGeom prst="ellipse">
            <a:avLst/>
          </a:prstGeom>
          <a:solidFill>
            <a:srgbClr val="9FA582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856" y="3604766"/>
            <a:ext cx="191319" cy="1913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877" y="4054897"/>
            <a:ext cx="7868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Performance Gaps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37877" y="4361408"/>
            <a:ext cx="7868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Identified clusters with longer resolution times—targets for process improvement.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50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Challenges &amp; Learning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145655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Choosing visualizations that convey operational meaning to stakeholders.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Interpreting cluster boundaries and handling outliers without overfitting.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782440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Learning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145655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Practical EDA techniques to reveal signal in noisy support data.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Effective data visualization best practices with Matplotlib.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Cluster analysis workflows and similarity metrics for ticket grouping.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Improved Python &amp; Pandas skills for production-ready preprocessing.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9607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Similarity &amp; Cluster Analysis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79203"/>
            <a:ext cx="5687392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Created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clusters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group similar support tickets.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Calculated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similarity scores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using ticket resolution duration.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Compared the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average similarity score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of each cluster.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Analyzed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 size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issue types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identify recurring patterns.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Used data visualizations to understand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cluster behavior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support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34150" y="2079203"/>
            <a:ext cx="25756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62054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65474"/>
            <a:ext cx="472276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Milestone 2 Summary</a:t>
            </a:r>
            <a:endParaRPr lang="en-US" sz="1650" dirty="0"/>
          </a:p>
        </p:txBody>
      </p:sp>
      <p:sp>
        <p:nvSpPr>
          <p:cNvPr id="4" name="Text 1"/>
          <p:cNvSpPr/>
          <p:nvPr/>
        </p:nvSpPr>
        <p:spPr>
          <a:xfrm>
            <a:off x="3925119" y="2243882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 this milestone, I completed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Module 3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Module 4</a:t>
            </a: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successfully.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 explored the support ticket data, performed similarity and cluster analysis, and created meaningful visualizations.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Overall, this milestone helped me understand ticket patterns, identify recurring issues, and improve my data analysis skills.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950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28215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 would be happy to answer your questions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655</Words>
  <Application>Microsoft Office PowerPoint</Application>
  <PresentationFormat>On-screen Show (16:9)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Outfit Bold</vt:lpstr>
      <vt:lpstr>Bitter Bold</vt:lpstr>
      <vt:lpstr>Consolas</vt:lpstr>
      <vt:lpstr>Bitter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DEVI NAKIREDDY</dc:creator>
  <cp:lastModifiedBy>DEVI NAKIREDDY</cp:lastModifiedBy>
  <cp:revision>2</cp:revision>
  <dcterms:created xsi:type="dcterms:W3CDTF">2026-07-24T12:40:16Z</dcterms:created>
  <dcterms:modified xsi:type="dcterms:W3CDTF">2026-07-24T13:15:55Z</dcterms:modified>
</cp:coreProperties>
</file>