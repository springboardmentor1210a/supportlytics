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  <p:sldId id="266" r:id="rId12"/>
  </p:sldIdLst>
  <p:sldSz cx="12192000" cy="6858000"/>
  <p:notesSz cx="6858000" cy="12192000"/>
  <p:embeddedFontLst>
    <p:embeddedFont>
      <p:font typeface="Instrument Sans Medium" panose="020B0604020202020204" charset="0"/>
      <p:regular r:id="rId14"/>
    </p:embeddedFont>
    <p:embeddedFont>
      <p:font typeface="Open Sans" panose="020B0606030504020204" pitchFamily="34" charset="0"/>
      <p:regular r:id="rId15"/>
      <p:bold r:id="rId16"/>
      <p:italic r:id="rId17"/>
      <p:boldItalic r:id="rId18"/>
    </p:embeddedFont>
    <p:embeddedFont>
      <p:font typeface="Open Sans Bold" panose="020B0806030504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22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2685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B6965-6912-6F1A-7970-1284B2838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6B5031-4109-5D77-BD02-EF823DF405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F71EB6-9A52-FD55-9B49-AE794B6955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6F479C-2B23-05AD-28D7-E89550EB06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7204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27836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SUPPORTLYTICS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247033"/>
            <a:ext cx="10868745" cy="1332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Module 7 – Interactive Power BI Dashboard Development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Optimizing IT Support Team Performance Using Analytics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DD62D7-3166-71D5-504F-2A54FF009570}"/>
              </a:ext>
            </a:extLst>
          </p:cNvPr>
          <p:cNvSpPr txBox="1"/>
          <p:nvPr/>
        </p:nvSpPr>
        <p:spPr>
          <a:xfrm>
            <a:off x="661475" y="4407232"/>
            <a:ext cx="6096000" cy="813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4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Milestone 4 – Week 7–8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Presented by Srikanth K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190F1E-F368-9BE8-2CE8-28D88C556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1912"/>
            <a:ext cx="10868745" cy="400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Module 7 – Dashboard Development Objectives</a:t>
            </a:r>
            <a:endParaRPr lang="en-US" sz="2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3149" y="1106289"/>
            <a:ext cx="7545397" cy="32537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830927" y="3743030"/>
            <a:ext cx="1711770" cy="213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Power BI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830927" y="2989833"/>
            <a:ext cx="1711770" cy="21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Visualization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2830927" y="2244243"/>
            <a:ext cx="1711770" cy="21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Analysis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830927" y="1491046"/>
            <a:ext cx="1711770" cy="21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457799"/>
            <a:ext cx="5390916" cy="89068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84811" y="4604941"/>
            <a:ext cx="5020442" cy="200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Integrate Analytical Outputs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884811" y="4857254"/>
            <a:ext cx="5020442" cy="344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Combine performance, geographic, ticket and cluster analysis into a unified dashboard</a:t>
            </a:r>
            <a:endParaRPr lang="en-US" sz="10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39304" y="4457799"/>
            <a:ext cx="5390916" cy="89068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362640" y="4604941"/>
            <a:ext cx="5020442" cy="200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Build Interactive Power BI Pages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6362640" y="4857254"/>
            <a:ext cx="5020442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Enable dynamic exploration of support performance across six analytical views</a:t>
            </a:r>
            <a:endParaRPr lang="en-US" sz="10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435402"/>
            <a:ext cx="5390916" cy="89068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84811" y="5582543"/>
            <a:ext cx="5020442" cy="200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Organize Key KPIs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884811" y="5834856"/>
            <a:ext cx="5020442" cy="344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Resolution Time, Most Frequent Categories, Cluster Similarity Index, Top Performing Regions</a:t>
            </a:r>
            <a:endParaRPr lang="en-US" sz="10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39304" y="5435402"/>
            <a:ext cx="5390916" cy="890687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362640" y="5582543"/>
            <a:ext cx="5020442" cy="200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Deliver Actionable Visual Insights</a:t>
            </a:r>
            <a:endParaRPr lang="en-US" sz="1250" dirty="0"/>
          </a:p>
        </p:txBody>
      </p:sp>
      <p:sp>
        <p:nvSpPr>
          <p:cNvPr id="19" name="Text 12"/>
          <p:cNvSpPr/>
          <p:nvPr/>
        </p:nvSpPr>
        <p:spPr>
          <a:xfrm>
            <a:off x="6362640" y="5834856"/>
            <a:ext cx="5020442" cy="344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Identify performance gaps, compare regions, understand workload, evaluate cluster behavior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69814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Dashboard Architecture &amp; Navigation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63341"/>
            <a:ext cx="3434867" cy="343495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252014" y="2338487"/>
            <a:ext cx="2602343" cy="841673"/>
          </a:xfrm>
          <a:prstGeom prst="roundRect">
            <a:avLst>
              <a:gd name="adj" fmla="val 2190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6374844" y="2461320"/>
            <a:ext cx="2356684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Overview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374844" y="2733080"/>
            <a:ext cx="2356684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Support health, ticket volume, resolution performance, SLA metrics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8934127" y="2338487"/>
            <a:ext cx="2602443" cy="841673"/>
          </a:xfrm>
          <a:prstGeom prst="roundRect">
            <a:avLst>
              <a:gd name="adj" fmla="val 2190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9056957" y="2461320"/>
            <a:ext cx="2356783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056957" y="2733080"/>
            <a:ext cx="2356783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Resolution time by priority, queue, type, country; service-level analysis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252014" y="3259931"/>
            <a:ext cx="2602343" cy="841673"/>
          </a:xfrm>
          <a:prstGeom prst="roundRect">
            <a:avLst>
              <a:gd name="adj" fmla="val 2190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374844" y="3382764"/>
            <a:ext cx="2356684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Geography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374844" y="3654524"/>
            <a:ext cx="2356684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Global ticket distribution, regional concentration, geographic performance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934127" y="3259931"/>
            <a:ext cx="2602443" cy="841673"/>
          </a:xfrm>
          <a:prstGeom prst="roundRect">
            <a:avLst>
              <a:gd name="adj" fmla="val 2190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9056957" y="3382764"/>
            <a:ext cx="2356783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Clusters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056957" y="3654524"/>
            <a:ext cx="2356783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Similarity scores, cluster size, performance, ticket volume patterns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252014" y="4181376"/>
            <a:ext cx="2602343" cy="841673"/>
          </a:xfrm>
          <a:prstGeom prst="roundRect">
            <a:avLst>
              <a:gd name="adj" fmla="val 2190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6374844" y="4304209"/>
            <a:ext cx="2356684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Ticket Analysis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374844" y="4575969"/>
            <a:ext cx="2356684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Type distribution, category frequency, priority workload, queue performance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8934127" y="4181376"/>
            <a:ext cx="2602443" cy="841673"/>
          </a:xfrm>
          <a:prstGeom prst="roundRect">
            <a:avLst>
              <a:gd name="adj" fmla="val 2190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9056957" y="4304209"/>
            <a:ext cx="2356783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Insights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056957" y="4575969"/>
            <a:ext cx="2356783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Executive KPIs, top performers, areas requiring attention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1" y="341510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Dashboard Page 1 – Overview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7927180" y="1291927"/>
            <a:ext cx="3609289" cy="659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IN" sz="1000" b="1" dirty="0">
                <a:solidFill>
                  <a:srgbClr val="FFFF00"/>
                </a:solidFill>
              </a:rPr>
              <a:t>PURPOSE</a:t>
            </a:r>
            <a:br>
              <a:rPr lang="en-IN" sz="1000" dirty="0">
                <a:solidFill>
                  <a:schemeClr val="bg1"/>
                </a:solidFill>
              </a:rPr>
            </a:br>
            <a:r>
              <a:rPr lang="en-IN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High-level view of IT support workload and service performance, providing an immediate snapshot before deeper analysis.</a:t>
            </a:r>
            <a:endParaRPr lang="en-US" sz="950" dirty="0">
              <a:solidFill>
                <a:srgbClr val="BFBFBF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7927181" y="2375545"/>
            <a:ext cx="347852" cy="186630"/>
          </a:xfrm>
          <a:prstGeom prst="roundRect">
            <a:avLst>
              <a:gd name="adj" fmla="val 7900"/>
            </a:avLst>
          </a:prstGeom>
          <a:solidFill>
            <a:srgbClr val="49490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7973912" y="2423914"/>
            <a:ext cx="810200" cy="11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KPIS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7927181" y="2633960"/>
            <a:ext cx="3609289" cy="922139"/>
          </a:xfrm>
          <a:prstGeom prst="rect">
            <a:avLst/>
          </a:prstGeom>
          <a:noFill/>
          <a:ln/>
        </p:spPr>
        <p:txBody>
          <a:bodyPr wrap="square" lIns="0" tIns="49145" rIns="0" bIns="0" rtlCol="0" anchor="t">
            <a:normAutofit/>
          </a:bodyPr>
          <a:lstStyle/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Tickets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Resolution Time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First Response Time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SLA Breach Rate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AVG CSAT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7927181" y="3885307"/>
            <a:ext cx="903662" cy="186630"/>
          </a:xfrm>
          <a:prstGeom prst="roundRect">
            <a:avLst>
              <a:gd name="adj" fmla="val 7900"/>
            </a:avLst>
          </a:prstGeom>
          <a:noFill/>
          <a:ln w="6350">
            <a:solidFill>
              <a:srgbClr val="F5F5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000800" y="3922117"/>
            <a:ext cx="1366010" cy="11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F5F5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VISUALIZATIONS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927181" y="4161730"/>
            <a:ext cx="3609289" cy="542131"/>
          </a:xfrm>
          <a:prstGeom prst="rect">
            <a:avLst/>
          </a:prstGeom>
          <a:noFill/>
          <a:ln/>
        </p:spPr>
        <p:txBody>
          <a:bodyPr wrap="square" lIns="0" tIns="49145" rIns="0" bIns="0" rtlCol="0" anchor="t">
            <a:normAutofit/>
          </a:bodyPr>
          <a:lstStyle/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Ticket status distribution &amp; priority distribution 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Ticket types &amp; monthly trends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Top categories &amp; queue performance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927181" y="5175449"/>
            <a:ext cx="3609289" cy="529233"/>
          </a:xfrm>
          <a:prstGeom prst="roundRect">
            <a:avLst>
              <a:gd name="adj" fmla="val 3482"/>
            </a:avLst>
          </a:prstGeom>
          <a:solidFill>
            <a:srgbClr val="79790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6185" y="5309492"/>
            <a:ext cx="153488" cy="12283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449157" y="5277941"/>
            <a:ext cx="3087313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Purpose:</a:t>
            </a:r>
            <a:r>
              <a:rPr lang="en-US" sz="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Immediate snapshot of overall support health before deeper analysis.</a:t>
            </a:r>
            <a:endParaRPr lang="en-US" sz="9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47B3AF9-8FE6-0C9E-84D8-D0F05B0036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1" y="1066800"/>
            <a:ext cx="6942666" cy="53509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397272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Dashboard Page 2 – Performance Analysis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024947" y="1481386"/>
            <a:ext cx="3609289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IN" sz="950" dirty="0">
                <a:solidFill>
                  <a:srgbClr val="FFFF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PURPOSE</a:t>
            </a:r>
            <a:br>
              <a:rPr lang="en-IN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</a:br>
            <a:r>
              <a:rPr lang="en-IN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Evaluates IT support resolution efficiency and service performance across multiple operational dimensions.</a:t>
            </a:r>
            <a:endParaRPr lang="en-US" sz="950" dirty="0">
              <a:solidFill>
                <a:srgbClr val="BFBFBF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056467" y="2372673"/>
            <a:ext cx="347852" cy="186630"/>
          </a:xfrm>
          <a:prstGeom prst="roundRect">
            <a:avLst>
              <a:gd name="adj" fmla="val 7900"/>
            </a:avLst>
          </a:prstGeom>
          <a:solidFill>
            <a:srgbClr val="49490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11093" y="2409483"/>
            <a:ext cx="810200" cy="11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KPIS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230393" y="2688082"/>
            <a:ext cx="3609289" cy="964237"/>
          </a:xfrm>
          <a:prstGeom prst="rect">
            <a:avLst/>
          </a:prstGeom>
          <a:noFill/>
          <a:ln/>
        </p:spPr>
        <p:txBody>
          <a:bodyPr wrap="square" lIns="0" tIns="49145" rIns="0" bIns="0" rtlCol="0" anchor="t">
            <a:normAutofit/>
          </a:bodyPr>
          <a:lstStyle/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Resolution Time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SLA Breach Rate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Resolution Rate</a:t>
            </a:r>
          </a:p>
          <a:p>
            <a:pPr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Resolved Ticket %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CSAT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8024947" y="3906739"/>
            <a:ext cx="903662" cy="186630"/>
          </a:xfrm>
          <a:prstGeom prst="roundRect">
            <a:avLst>
              <a:gd name="adj" fmla="val 7900"/>
            </a:avLst>
          </a:prstGeom>
          <a:noFill/>
          <a:ln w="6350">
            <a:solidFill>
              <a:srgbClr val="F5F5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111093" y="3955416"/>
            <a:ext cx="1366010" cy="11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F5F5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VISUALIZATIONS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230393" y="4294993"/>
            <a:ext cx="3609289" cy="851227"/>
          </a:xfrm>
          <a:prstGeom prst="rect">
            <a:avLst/>
          </a:prstGeom>
          <a:noFill/>
          <a:ln/>
        </p:spPr>
        <p:txBody>
          <a:bodyPr wrap="square" lIns="0" tIns="49145" rIns="0" bIns="0" rtlCol="0" anchor="t">
            <a:normAutofit/>
          </a:bodyPr>
          <a:lstStyle/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Resolution time by priority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Year-over-year trends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Queue efficiency </a:t>
            </a:r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Ticket type performance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Country-level comparison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061341" y="5545987"/>
            <a:ext cx="3609289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Interactive filters:</a:t>
            </a: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Country, Region, Queue, Priority, Status enable comparative performance analysis.</a:t>
            </a:r>
            <a:endParaRPr lang="en-US" sz="9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D65005F-9F34-3396-93F6-256F6FCF2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023" y="1162976"/>
            <a:ext cx="7131308" cy="52977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0795" y="368420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Dashboard Page 3 – Geographic Analysis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7865037" y="1545343"/>
            <a:ext cx="3773588" cy="576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lang="en-IN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PURPOSE</a:t>
            </a:r>
            <a:br>
              <a:rPr lang="en-IN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</a:br>
            <a:r>
              <a:rPr lang="en-IN" sz="1000" dirty="0" err="1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Analyzes</a:t>
            </a:r>
            <a:r>
              <a:rPr lang="en-IN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global and regional ticket distribution to identify geographic workload patterns and compare regional support performance.</a:t>
            </a:r>
            <a:endParaRPr lang="en-US" sz="1000" dirty="0">
              <a:solidFill>
                <a:srgbClr val="BFBFBF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7865037" y="2301092"/>
            <a:ext cx="347852" cy="186630"/>
          </a:xfrm>
          <a:prstGeom prst="roundRect">
            <a:avLst>
              <a:gd name="adj" fmla="val 7900"/>
            </a:avLst>
          </a:prstGeom>
          <a:solidFill>
            <a:srgbClr val="49490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7921228" y="2349911"/>
            <a:ext cx="810200" cy="11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KPIS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8000800" y="2647256"/>
            <a:ext cx="3609289" cy="866577"/>
          </a:xfrm>
          <a:prstGeom prst="rect">
            <a:avLst/>
          </a:prstGeom>
          <a:noFill/>
          <a:ln/>
        </p:spPr>
        <p:txBody>
          <a:bodyPr wrap="square" lIns="0" tIns="49145" rIns="0" bIns="0" rtlCol="0" anchor="t">
            <a:normAutofit/>
          </a:bodyPr>
          <a:lstStyle/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Countries </a:t>
            </a:r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Regions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Tickets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Regional Average Resolution Time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Regional SLA Compliance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7927181" y="3790355"/>
            <a:ext cx="903662" cy="186630"/>
          </a:xfrm>
          <a:prstGeom prst="roundRect">
            <a:avLst>
              <a:gd name="adj" fmla="val 7900"/>
            </a:avLst>
          </a:prstGeom>
          <a:noFill/>
          <a:ln w="6350">
            <a:solidFill>
              <a:srgbClr val="F5F5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000800" y="3827165"/>
            <a:ext cx="1366010" cy="11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F5F5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VISUALIZATIONS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927181" y="4066778"/>
            <a:ext cx="3711444" cy="749688"/>
          </a:xfrm>
          <a:prstGeom prst="rect">
            <a:avLst/>
          </a:prstGeom>
          <a:noFill/>
          <a:ln/>
        </p:spPr>
        <p:txBody>
          <a:bodyPr wrap="square" lIns="0" tIns="49145" rIns="0" bIns="0" rtlCol="0" anchor="t">
            <a:normAutofit/>
          </a:bodyPr>
          <a:lstStyle/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Global ticket concentration map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Regional priority distribution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Tickets by region </a:t>
            </a:r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Resolution time by region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865037" y="5453304"/>
            <a:ext cx="3609289" cy="529233"/>
          </a:xfrm>
          <a:prstGeom prst="roundRect">
            <a:avLst>
              <a:gd name="adj" fmla="val 3482"/>
            </a:avLst>
          </a:prstGeom>
          <a:solidFill>
            <a:srgbClr val="79790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8963" y="5656502"/>
            <a:ext cx="153488" cy="12283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379012" y="5545293"/>
            <a:ext cx="3087313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Enables country-level performance comparison and geographic priority analysis across all regions.</a:t>
            </a:r>
            <a:endParaRPr lang="en-US" sz="9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47655F2-3A6E-B6DF-8E91-AC158C0873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795" y="1266592"/>
            <a:ext cx="7030419" cy="51211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8209" y="398496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Dashboard Pages 4– Cluster Analysis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661475" y="5029200"/>
            <a:ext cx="6943551" cy="868164"/>
          </a:xfrm>
          <a:prstGeom prst="rect">
            <a:avLst/>
          </a:prstGeom>
          <a:noFill/>
          <a:ln/>
        </p:spPr>
        <p:txBody>
          <a:bodyPr wrap="square" lIns="0" tIns="56706" rIns="0" bIns="0" rtlCol="0" anchor="t">
            <a:normAutofit/>
          </a:bodyPr>
          <a:lstStyle/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042272" y="3729434"/>
            <a:ext cx="1506996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7957244" y="4021832"/>
            <a:ext cx="3579227" cy="1463477"/>
          </a:xfrm>
          <a:prstGeom prst="rect">
            <a:avLst/>
          </a:prstGeom>
          <a:noFill/>
          <a:ln/>
        </p:spPr>
        <p:txBody>
          <a:bodyPr wrap="square" lIns="0" tIns="56706" rIns="0" bIns="0" rtlCol="0" anchor="t">
            <a:normAutofit/>
          </a:bodyPr>
          <a:lstStyle/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endParaRPr lang="en-US" sz="1100" dirty="0"/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FAC3B781-B811-F886-676D-C03769BBF629}"/>
              </a:ext>
            </a:extLst>
          </p:cNvPr>
          <p:cNvSpPr/>
          <p:nvPr/>
        </p:nvSpPr>
        <p:spPr>
          <a:xfrm>
            <a:off x="7865037" y="1545343"/>
            <a:ext cx="3773588" cy="576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IN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PURPOSE</a:t>
            </a:r>
            <a:br>
              <a:rPr lang="en-IN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</a:br>
            <a:r>
              <a:rPr lang="en-IN" sz="950" dirty="0" err="1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Analyzes</a:t>
            </a:r>
            <a:r>
              <a:rPr lang="en-IN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support ticket clusters to identify similar issue groups, compare their workload and evaluate resolution performance.</a:t>
            </a:r>
            <a:endParaRPr lang="en-US" sz="950" dirty="0">
              <a:solidFill>
                <a:srgbClr val="BFBFBF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8419ACFC-0608-A400-B0A8-2FE857FC1EE9}"/>
              </a:ext>
            </a:extLst>
          </p:cNvPr>
          <p:cNvSpPr/>
          <p:nvPr/>
        </p:nvSpPr>
        <p:spPr>
          <a:xfrm>
            <a:off x="7865037" y="2301092"/>
            <a:ext cx="347852" cy="186630"/>
          </a:xfrm>
          <a:prstGeom prst="roundRect">
            <a:avLst>
              <a:gd name="adj" fmla="val 7900"/>
            </a:avLst>
          </a:prstGeom>
          <a:solidFill>
            <a:srgbClr val="49490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7C287EB6-40F6-1224-813E-D8D61718D5F7}"/>
              </a:ext>
            </a:extLst>
          </p:cNvPr>
          <p:cNvSpPr/>
          <p:nvPr/>
        </p:nvSpPr>
        <p:spPr>
          <a:xfrm>
            <a:off x="7921228" y="2349911"/>
            <a:ext cx="810200" cy="11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KPIS</a:t>
            </a:r>
            <a:endParaRPr lang="en-US" sz="75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D170844A-82F1-6584-69C8-10F7EB7DC64B}"/>
              </a:ext>
            </a:extLst>
          </p:cNvPr>
          <p:cNvSpPr/>
          <p:nvPr/>
        </p:nvSpPr>
        <p:spPr>
          <a:xfrm>
            <a:off x="8000800" y="2647256"/>
            <a:ext cx="3609289" cy="866577"/>
          </a:xfrm>
          <a:prstGeom prst="rect">
            <a:avLst/>
          </a:prstGeom>
          <a:noFill/>
          <a:ln/>
        </p:spPr>
        <p:txBody>
          <a:bodyPr wrap="square" lIns="0" tIns="49145" rIns="0" bIns="0" rtlCol="0" anchor="t">
            <a:norm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Clusters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Cluster Similarity Index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Highest Similarity Score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Largest Cluster Size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Resolution Time</a:t>
            </a:r>
          </a:p>
        </p:txBody>
      </p:sp>
      <p:sp>
        <p:nvSpPr>
          <p:cNvPr id="20" name="Shape 5">
            <a:extLst>
              <a:ext uri="{FF2B5EF4-FFF2-40B4-BE49-F238E27FC236}">
                <a16:creationId xmlns:a16="http://schemas.microsoft.com/office/drawing/2014/main" id="{936C3451-325E-6A42-B0E1-B5F40568B07C}"/>
              </a:ext>
            </a:extLst>
          </p:cNvPr>
          <p:cNvSpPr/>
          <p:nvPr/>
        </p:nvSpPr>
        <p:spPr>
          <a:xfrm>
            <a:off x="7927181" y="3790355"/>
            <a:ext cx="903662" cy="186630"/>
          </a:xfrm>
          <a:prstGeom prst="roundRect">
            <a:avLst>
              <a:gd name="adj" fmla="val 7900"/>
            </a:avLst>
          </a:prstGeom>
          <a:noFill/>
          <a:ln w="6350">
            <a:solidFill>
              <a:srgbClr val="F5F5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109612AD-37D8-3271-B859-358784985A3B}"/>
              </a:ext>
            </a:extLst>
          </p:cNvPr>
          <p:cNvSpPr/>
          <p:nvPr/>
        </p:nvSpPr>
        <p:spPr>
          <a:xfrm>
            <a:off x="8000800" y="3827165"/>
            <a:ext cx="1366010" cy="11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F5F5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VISUALIZATIONS</a:t>
            </a:r>
            <a:endParaRPr lang="en-US" sz="750" dirty="0"/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8B5BB0ED-63B5-7878-1F84-11249E003851}"/>
              </a:ext>
            </a:extLst>
          </p:cNvPr>
          <p:cNvSpPr/>
          <p:nvPr/>
        </p:nvSpPr>
        <p:spPr>
          <a:xfrm>
            <a:off x="7927181" y="4066777"/>
            <a:ext cx="3773588" cy="866577"/>
          </a:xfrm>
          <a:prstGeom prst="rect">
            <a:avLst/>
          </a:prstGeom>
          <a:noFill/>
          <a:ln/>
        </p:spPr>
        <p:txBody>
          <a:bodyPr wrap="square" lIns="0" tIns="49145" rIns="0" bIns="0" rtlCol="0" anchor="t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Similarity vs resolution performance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Cluster performance matrix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Similarity score by cluster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Cluster size vs resolution time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Ticket volume by cluster</a:t>
            </a:r>
          </a:p>
        </p:txBody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36B6CB9A-72FA-50F5-6F4B-6ABEE237C10C}"/>
              </a:ext>
            </a:extLst>
          </p:cNvPr>
          <p:cNvSpPr/>
          <p:nvPr/>
        </p:nvSpPr>
        <p:spPr>
          <a:xfrm>
            <a:off x="7865037" y="5453304"/>
            <a:ext cx="3609289" cy="529233"/>
          </a:xfrm>
          <a:prstGeom prst="roundRect">
            <a:avLst>
              <a:gd name="adj" fmla="val 3482"/>
            </a:avLst>
          </a:prstGeom>
          <a:solidFill>
            <a:srgbClr val="79790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1" descr="preencoded.png">
            <a:extLst>
              <a:ext uri="{FF2B5EF4-FFF2-40B4-BE49-F238E27FC236}">
                <a16:creationId xmlns:a16="http://schemas.microsoft.com/office/drawing/2014/main" id="{34830F92-F948-5A30-AE52-D10FE9709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8963" y="5656502"/>
            <a:ext cx="153488" cy="122833"/>
          </a:xfrm>
          <a:prstGeom prst="rect">
            <a:avLst/>
          </a:prstGeom>
        </p:spPr>
      </p:pic>
      <p:sp>
        <p:nvSpPr>
          <p:cNvPr id="30" name="Text 9">
            <a:extLst>
              <a:ext uri="{FF2B5EF4-FFF2-40B4-BE49-F238E27FC236}">
                <a16:creationId xmlns:a16="http://schemas.microsoft.com/office/drawing/2014/main" id="{7D4595AB-5FE9-042D-BEDB-B3A5FC1C1FC7}"/>
              </a:ext>
            </a:extLst>
          </p:cNvPr>
          <p:cNvSpPr/>
          <p:nvPr/>
        </p:nvSpPr>
        <p:spPr>
          <a:xfrm>
            <a:off x="8387013" y="5494378"/>
            <a:ext cx="3087313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IN" sz="9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Dashboard Role: Identifies patterns among similar support issues and highlights high-volume clusters that require closer performance analysis.</a:t>
            </a:r>
            <a:endParaRPr lang="en-US" sz="900" dirty="0">
              <a:solidFill>
                <a:srgbClr val="BFBFBF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3840062D-2604-D524-5F89-C7C6EF6BFA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591" y="1397018"/>
            <a:ext cx="7303564" cy="50624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834B6-DC5F-090C-0375-4482CFC3D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8B72F70-70B6-301F-0508-22A2BDFD0D30}"/>
              </a:ext>
            </a:extLst>
          </p:cNvPr>
          <p:cNvSpPr/>
          <p:nvPr/>
        </p:nvSpPr>
        <p:spPr>
          <a:xfrm>
            <a:off x="170745" y="398496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Dashboard Pages 5– Ticket  Analysis</a:t>
            </a:r>
            <a:endParaRPr lang="en-US" sz="27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1B24C6E-4C59-032E-D109-195E756F0530}"/>
              </a:ext>
            </a:extLst>
          </p:cNvPr>
          <p:cNvSpPr/>
          <p:nvPr/>
        </p:nvSpPr>
        <p:spPr>
          <a:xfrm>
            <a:off x="661475" y="5029200"/>
            <a:ext cx="6943551" cy="868164"/>
          </a:xfrm>
          <a:prstGeom prst="rect">
            <a:avLst/>
          </a:prstGeom>
          <a:noFill/>
          <a:ln/>
        </p:spPr>
        <p:txBody>
          <a:bodyPr wrap="square" lIns="0" tIns="56706" rIns="0" bIns="0" rtlCol="0" anchor="t">
            <a:normAutofit/>
          </a:bodyPr>
          <a:lstStyle/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endParaRPr lang="en-US" sz="11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5ADDE582-46FC-4CB0-BB52-EAA47F7067D3}"/>
              </a:ext>
            </a:extLst>
          </p:cNvPr>
          <p:cNvSpPr/>
          <p:nvPr/>
        </p:nvSpPr>
        <p:spPr>
          <a:xfrm>
            <a:off x="8042272" y="3729434"/>
            <a:ext cx="1506996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endParaRPr lang="en-US" sz="85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C07BC0FF-B073-3095-F637-93473A15D965}"/>
              </a:ext>
            </a:extLst>
          </p:cNvPr>
          <p:cNvSpPr/>
          <p:nvPr/>
        </p:nvSpPr>
        <p:spPr>
          <a:xfrm>
            <a:off x="7957244" y="4021832"/>
            <a:ext cx="3579227" cy="1463477"/>
          </a:xfrm>
          <a:prstGeom prst="rect">
            <a:avLst/>
          </a:prstGeom>
          <a:noFill/>
          <a:ln/>
        </p:spPr>
        <p:txBody>
          <a:bodyPr wrap="square" lIns="0" tIns="56706" rIns="0" bIns="0" rtlCol="0" anchor="t">
            <a:normAutofit/>
          </a:bodyPr>
          <a:lstStyle/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endParaRPr lang="en-US" sz="11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FB17BB32-AB67-3AC2-92E4-D6E54D6309BE}"/>
              </a:ext>
            </a:extLst>
          </p:cNvPr>
          <p:cNvSpPr/>
          <p:nvPr/>
        </p:nvSpPr>
        <p:spPr>
          <a:xfrm>
            <a:off x="7865036" y="1277825"/>
            <a:ext cx="3869763" cy="749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IN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PURPOSE</a:t>
            </a:r>
            <a:br>
              <a:rPr lang="en-IN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</a:br>
            <a:r>
              <a:rPr lang="en-IN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Provides a </a:t>
            </a:r>
            <a:r>
              <a:rPr lang="en-IN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</a:t>
            </a:r>
            <a:r>
              <a:rPr lang="en-IN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ailed view of ticket composition, issue categories, workload distribution and priority patterns to understand support demand.</a:t>
            </a:r>
            <a:endParaRPr lang="en-US" sz="950" dirty="0">
              <a:solidFill>
                <a:srgbClr val="BFBFBF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13964F47-DF0F-9E5F-CAFA-E27E2656F6D9}"/>
              </a:ext>
            </a:extLst>
          </p:cNvPr>
          <p:cNvSpPr/>
          <p:nvPr/>
        </p:nvSpPr>
        <p:spPr>
          <a:xfrm>
            <a:off x="7865037" y="2301092"/>
            <a:ext cx="347852" cy="186630"/>
          </a:xfrm>
          <a:prstGeom prst="roundRect">
            <a:avLst>
              <a:gd name="adj" fmla="val 7900"/>
            </a:avLst>
          </a:prstGeom>
          <a:solidFill>
            <a:srgbClr val="49490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49A3C933-375A-B3E2-502A-A46B18FE3651}"/>
              </a:ext>
            </a:extLst>
          </p:cNvPr>
          <p:cNvSpPr/>
          <p:nvPr/>
        </p:nvSpPr>
        <p:spPr>
          <a:xfrm>
            <a:off x="7921228" y="2349911"/>
            <a:ext cx="810200" cy="11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KPIS</a:t>
            </a:r>
            <a:endParaRPr lang="en-US" sz="75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987BE822-4BA9-48C1-CE72-A96FC4B492F1}"/>
              </a:ext>
            </a:extLst>
          </p:cNvPr>
          <p:cNvSpPr/>
          <p:nvPr/>
        </p:nvSpPr>
        <p:spPr>
          <a:xfrm>
            <a:off x="7921228" y="2689502"/>
            <a:ext cx="3609289" cy="866577"/>
          </a:xfrm>
          <a:prstGeom prst="rect">
            <a:avLst/>
          </a:prstGeom>
          <a:noFill/>
          <a:ln/>
        </p:spPr>
        <p:txBody>
          <a:bodyPr wrap="square" lIns="0" tIns="49145" rIns="0" bIns="0" rtlCol="0" anchor="t">
            <a:normAutofit/>
          </a:bodyPr>
          <a:lstStyle/>
          <a:p>
            <a:pPr marL="193040" lvl="0" indent="-193040">
              <a:lnSpc>
                <a:spcPct val="110000"/>
              </a:lnSpc>
              <a:buSzPct val="100000"/>
              <a:buChar char="•"/>
            </a:pPr>
            <a:r>
              <a:rPr lang="en-IN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Tickets </a:t>
            </a:r>
          </a:p>
          <a:p>
            <a:pPr marL="193040" lvl="0" indent="-193040">
              <a:lnSpc>
                <a:spcPct val="110000"/>
              </a:lnSpc>
              <a:buSzPct val="100000"/>
              <a:buChar char="•"/>
            </a:pPr>
            <a:r>
              <a:rPr lang="en-IN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Top Ticket Type </a:t>
            </a:r>
          </a:p>
          <a:p>
            <a:pPr marL="193040" lvl="0" indent="-193040">
              <a:lnSpc>
                <a:spcPct val="110000"/>
              </a:lnSpc>
              <a:buSzPct val="100000"/>
              <a:buChar char="•"/>
            </a:pPr>
            <a:r>
              <a:rPr lang="en-IN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Escalation Rate </a:t>
            </a:r>
          </a:p>
          <a:p>
            <a:pPr marL="193040" lvl="0" indent="-193040">
              <a:lnSpc>
                <a:spcPct val="110000"/>
              </a:lnSpc>
              <a:buSzPct val="100000"/>
              <a:buChar char="•"/>
            </a:pPr>
            <a:r>
              <a:rPr lang="en-IN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Resolved Ticket % </a:t>
            </a:r>
          </a:p>
          <a:p>
            <a:pPr marL="193040" lvl="0" indent="-193040">
              <a:lnSpc>
                <a:spcPct val="110000"/>
              </a:lnSpc>
              <a:buSzPct val="100000"/>
              <a:buChar char="•"/>
            </a:pPr>
            <a:r>
              <a:rPr lang="en-IN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 Priority Open Tickets</a:t>
            </a:r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164485E9-6552-23F7-86D9-BFDCD888F67F}"/>
              </a:ext>
            </a:extLst>
          </p:cNvPr>
          <p:cNvSpPr/>
          <p:nvPr/>
        </p:nvSpPr>
        <p:spPr>
          <a:xfrm>
            <a:off x="7927181" y="3790355"/>
            <a:ext cx="903662" cy="186630"/>
          </a:xfrm>
          <a:prstGeom prst="roundRect">
            <a:avLst>
              <a:gd name="adj" fmla="val 7900"/>
            </a:avLst>
          </a:prstGeom>
          <a:noFill/>
          <a:ln w="6350">
            <a:solidFill>
              <a:srgbClr val="F5F5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5BA7CBFF-48ED-A13A-9CEE-CC0CA19554B0}"/>
              </a:ext>
            </a:extLst>
          </p:cNvPr>
          <p:cNvSpPr/>
          <p:nvPr/>
        </p:nvSpPr>
        <p:spPr>
          <a:xfrm>
            <a:off x="8000800" y="3827165"/>
            <a:ext cx="1366010" cy="11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F5F5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VISUALIZATIONS</a:t>
            </a:r>
            <a:endParaRPr lang="en-US" sz="750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69A37653-8A2E-DA4A-D2AD-E3323F023E04}"/>
              </a:ext>
            </a:extLst>
          </p:cNvPr>
          <p:cNvSpPr/>
          <p:nvPr/>
        </p:nvSpPr>
        <p:spPr>
          <a:xfrm>
            <a:off x="7927181" y="4066777"/>
            <a:ext cx="3807618" cy="866577"/>
          </a:xfrm>
          <a:prstGeom prst="rect">
            <a:avLst/>
          </a:prstGeom>
          <a:noFill/>
          <a:ln/>
        </p:spPr>
        <p:txBody>
          <a:bodyPr wrap="square" lIns="0" tIns="49145" rIns="0" bIns="0" rtlCol="0" anchor="t">
            <a:normAutofit lnSpcReduction="10000"/>
          </a:bodyPr>
          <a:lstStyle/>
          <a:p>
            <a:pPr marL="193040" indent="-193040">
              <a:lnSpc>
                <a:spcPct val="120000"/>
              </a:lnSpc>
              <a:buSzPct val="100000"/>
              <a:buChar char="•"/>
            </a:pPr>
            <a:r>
              <a:rPr lang="en-IN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Ticket distribution by type </a:t>
            </a:r>
          </a:p>
          <a:p>
            <a:pPr marL="193040" indent="-193040">
              <a:lnSpc>
                <a:spcPct val="120000"/>
              </a:lnSpc>
              <a:buSzPct val="100000"/>
              <a:buChar char="•"/>
            </a:pPr>
            <a:r>
              <a:rPr lang="en-IN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Most frequent issue categories </a:t>
            </a:r>
          </a:p>
          <a:p>
            <a:pPr marL="193040" indent="-193040">
              <a:lnSpc>
                <a:spcPct val="120000"/>
              </a:lnSpc>
              <a:buSzPct val="100000"/>
              <a:buChar char="•"/>
            </a:pPr>
            <a:r>
              <a:rPr lang="en-IN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Ticket volume by support queue </a:t>
            </a:r>
          </a:p>
          <a:p>
            <a:pPr marL="193040" indent="-193040">
              <a:lnSpc>
                <a:spcPct val="120000"/>
              </a:lnSpc>
              <a:buSzPct val="100000"/>
              <a:buChar char="•"/>
            </a:pPr>
            <a:r>
              <a:rPr lang="en-IN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Category × priority analysis </a:t>
            </a:r>
          </a:p>
          <a:p>
            <a:pPr marL="193040" indent="-193040">
              <a:lnSpc>
                <a:spcPct val="120000"/>
              </a:lnSpc>
              <a:buSzPct val="100000"/>
              <a:buChar char="•"/>
            </a:pPr>
            <a:r>
              <a:rPr lang="en-IN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Ticket volume by priority</a:t>
            </a:r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696B546F-AAED-0CC5-BB72-53315564B043}"/>
              </a:ext>
            </a:extLst>
          </p:cNvPr>
          <p:cNvSpPr/>
          <p:nvPr/>
        </p:nvSpPr>
        <p:spPr>
          <a:xfrm>
            <a:off x="7865037" y="5453304"/>
            <a:ext cx="3609289" cy="529233"/>
          </a:xfrm>
          <a:prstGeom prst="roundRect">
            <a:avLst>
              <a:gd name="adj" fmla="val 3482"/>
            </a:avLst>
          </a:prstGeom>
          <a:solidFill>
            <a:srgbClr val="79790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1" descr="preencoded.png">
            <a:extLst>
              <a:ext uri="{FF2B5EF4-FFF2-40B4-BE49-F238E27FC236}">
                <a16:creationId xmlns:a16="http://schemas.microsoft.com/office/drawing/2014/main" id="{E7EBF787-7E51-C991-F67D-34251DB64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8963" y="5656502"/>
            <a:ext cx="153488" cy="122833"/>
          </a:xfrm>
          <a:prstGeom prst="rect">
            <a:avLst/>
          </a:prstGeom>
        </p:spPr>
      </p:pic>
      <p:sp>
        <p:nvSpPr>
          <p:cNvPr id="26" name="Text 9">
            <a:extLst>
              <a:ext uri="{FF2B5EF4-FFF2-40B4-BE49-F238E27FC236}">
                <a16:creationId xmlns:a16="http://schemas.microsoft.com/office/drawing/2014/main" id="{F798CA9B-A30A-D58D-B541-09B6C80B8967}"/>
              </a:ext>
            </a:extLst>
          </p:cNvPr>
          <p:cNvSpPr/>
          <p:nvPr/>
        </p:nvSpPr>
        <p:spPr>
          <a:xfrm>
            <a:off x="8366377" y="5484935"/>
            <a:ext cx="3087313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IN" sz="9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Dashboard Role: Identifies major ticket patterns, high-volume issue categories and priority areas requiring attention.</a:t>
            </a:r>
            <a:endParaRPr lang="en-US" sz="900" dirty="0">
              <a:solidFill>
                <a:srgbClr val="BFBFBF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8CA833E5-8885-DE4A-8CB0-1DA49DE31A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188" y="1254625"/>
            <a:ext cx="7434281" cy="5444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281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69182" y="377428"/>
            <a:ext cx="10868745" cy="450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Dashboard Page 6 – Executive Insights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7891840" y="3409247"/>
            <a:ext cx="4048172" cy="1597004"/>
          </a:xfrm>
          <a:prstGeom prst="roundRect">
            <a:avLst>
              <a:gd name="adj" fmla="val 1525"/>
            </a:avLst>
          </a:prstGeom>
          <a:solidFill>
            <a:srgbClr val="1A3A5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Text 3"/>
          <p:cNvSpPr/>
          <p:nvPr/>
        </p:nvSpPr>
        <p:spPr>
          <a:xfrm>
            <a:off x="7981988" y="3769866"/>
            <a:ext cx="4788931" cy="183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🏆</a:t>
            </a:r>
            <a:r>
              <a:rPr lang="en-US" sz="11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Top Performers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981988" y="4078257"/>
            <a:ext cx="5177998" cy="927993"/>
          </a:xfrm>
          <a:prstGeom prst="rect">
            <a:avLst/>
          </a:prstGeom>
          <a:noFill/>
          <a:ln/>
        </p:spPr>
        <p:txBody>
          <a:bodyPr wrap="square" lIns="0" tIns="57651" rIns="0" bIns="0" rtlCol="0" anchor="t">
            <a:normAutofit/>
          </a:bodyPr>
          <a:lstStyle/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Best Performing Region</a:t>
            </a:r>
            <a:endParaRPr lang="en-US" sz="95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Fastest Country</a:t>
            </a:r>
            <a:endParaRPr lang="en-US" sz="95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Fastest Queue</a:t>
            </a:r>
            <a:endParaRPr lang="en-US" sz="95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Best Performing Cluster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947934" y="3764349"/>
            <a:ext cx="5258561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1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⚠️ Areas Requiring Attention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113035" y="4010458"/>
            <a:ext cx="5258561" cy="927993"/>
          </a:xfrm>
          <a:prstGeom prst="rect">
            <a:avLst/>
          </a:prstGeom>
          <a:noFill/>
          <a:ln/>
        </p:spPr>
        <p:txBody>
          <a:bodyPr wrap="square" lIns="0" tIns="57651" rIns="0" bIns="0" rtlCol="0" anchor="t">
            <a:normAutofit/>
          </a:bodyPr>
          <a:lstStyle/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Slowest Country</a:t>
            </a:r>
            <a:endParaRPr lang="en-US" sz="95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 Priority Open Tickets</a:t>
            </a:r>
            <a:endParaRPr lang="en-US" sz="95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SLA Breach Rate</a:t>
            </a:r>
            <a:endParaRPr lang="en-US" sz="95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Largest Cluster Size</a:t>
            </a:r>
            <a:endParaRPr lang="en-US" sz="9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33C8E61-B831-F85A-428A-E4522EAAE7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058" y="1154098"/>
            <a:ext cx="7440602" cy="5456926"/>
          </a:xfrm>
          <a:prstGeom prst="rect">
            <a:avLst/>
          </a:prstGeom>
        </p:spPr>
      </p:pic>
      <p:sp>
        <p:nvSpPr>
          <p:cNvPr id="13" name="Text 1">
            <a:extLst>
              <a:ext uri="{FF2B5EF4-FFF2-40B4-BE49-F238E27FC236}">
                <a16:creationId xmlns:a16="http://schemas.microsoft.com/office/drawing/2014/main" id="{A24BB14C-FE3E-AA86-F510-3D2394FE78BA}"/>
              </a:ext>
            </a:extLst>
          </p:cNvPr>
          <p:cNvSpPr/>
          <p:nvPr/>
        </p:nvSpPr>
        <p:spPr>
          <a:xfrm>
            <a:off x="7932770" y="1041549"/>
            <a:ext cx="3869763" cy="749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IN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PURPOSE</a:t>
            </a:r>
            <a:br>
              <a:rPr lang="en-IN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</a:br>
            <a:r>
              <a:rPr lang="en-IN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Consolidates </a:t>
            </a:r>
            <a:r>
              <a:rPr lang="en-IN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</a:t>
            </a:r>
            <a:r>
              <a:rPr lang="en-IN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findings into actionable insights by highlighting top performers and areas requiring attention.</a:t>
            </a:r>
            <a:endParaRPr lang="en-US" sz="1100" dirty="0">
              <a:solidFill>
                <a:srgbClr val="BFBFBF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AE10CE12-9C75-F566-2FBD-1395BC500DB2}"/>
              </a:ext>
            </a:extLst>
          </p:cNvPr>
          <p:cNvSpPr/>
          <p:nvPr/>
        </p:nvSpPr>
        <p:spPr>
          <a:xfrm>
            <a:off x="7932770" y="2071849"/>
            <a:ext cx="347852" cy="186630"/>
          </a:xfrm>
          <a:prstGeom prst="roundRect">
            <a:avLst>
              <a:gd name="adj" fmla="val 7900"/>
            </a:avLst>
          </a:prstGeom>
          <a:solidFill>
            <a:srgbClr val="49490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0CD27B27-777C-561B-9458-39830A3F4584}"/>
              </a:ext>
            </a:extLst>
          </p:cNvPr>
          <p:cNvSpPr/>
          <p:nvPr/>
        </p:nvSpPr>
        <p:spPr>
          <a:xfrm>
            <a:off x="7981988" y="2103588"/>
            <a:ext cx="810200" cy="11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KPIS</a:t>
            </a:r>
            <a:endParaRPr lang="en-US" sz="75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C2BFEF-1864-9A5B-3369-3BD70953B902}"/>
              </a:ext>
            </a:extLst>
          </p:cNvPr>
          <p:cNvSpPr txBox="1"/>
          <p:nvPr/>
        </p:nvSpPr>
        <p:spPr>
          <a:xfrm>
            <a:off x="8141004" y="2425584"/>
            <a:ext cx="7026674" cy="88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3040" lvl="0" indent="-193040">
              <a:lnSpc>
                <a:spcPct val="110000"/>
              </a:lnSpc>
              <a:buSzPct val="100000"/>
              <a:buChar char="•"/>
            </a:pPr>
            <a:r>
              <a:rPr lang="en-IN" sz="950" dirty="0" err="1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Avg</a:t>
            </a:r>
            <a:r>
              <a:rPr lang="en-IN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Resolution Time </a:t>
            </a:r>
            <a:endParaRPr lang="en-IN" sz="950" dirty="0">
              <a:solidFill>
                <a:srgbClr val="BFBFBF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193040" lvl="0" indent="-193040">
              <a:lnSpc>
                <a:spcPct val="110000"/>
              </a:lnSpc>
              <a:buSzPct val="100000"/>
              <a:buChar char="•"/>
            </a:pPr>
            <a:r>
              <a:rPr lang="en-IN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Cluster </a:t>
            </a: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Similarity Index</a:t>
            </a:r>
            <a:endParaRPr lang="en-IN" sz="950" dirty="0">
              <a:solidFill>
                <a:srgbClr val="BFBFBF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193040" lvl="0" indent="-193040">
              <a:lnSpc>
                <a:spcPct val="110000"/>
              </a:lnSpc>
              <a:buSzPct val="100000"/>
              <a:buChar char="•"/>
            </a:pPr>
            <a:r>
              <a:rPr lang="en-IN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Most </a:t>
            </a: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Frequent Category </a:t>
            </a:r>
            <a:endParaRPr lang="en-IN" sz="950" dirty="0">
              <a:solidFill>
                <a:srgbClr val="BFBFBF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193040" lvl="0" indent="-193040">
              <a:lnSpc>
                <a:spcPct val="110000"/>
              </a:lnSpc>
              <a:buSzPct val="100000"/>
              <a:buChar char="•"/>
            </a:pPr>
            <a:r>
              <a:rPr lang="en-IN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Top </a:t>
            </a: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Region </a:t>
            </a:r>
            <a:endParaRPr lang="en-IN" sz="950" dirty="0">
              <a:solidFill>
                <a:srgbClr val="BFBFBF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lvl="0">
              <a:lnSpc>
                <a:spcPct val="110000"/>
              </a:lnSpc>
              <a:buSzPct val="100000"/>
            </a:pPr>
            <a:endParaRPr lang="en-IN" sz="950" dirty="0">
              <a:solidFill>
                <a:srgbClr val="BFBFBF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72A1669-F85B-3B98-E5A7-960A3074C29C}"/>
              </a:ext>
            </a:extLst>
          </p:cNvPr>
          <p:cNvSpPr txBox="1"/>
          <p:nvPr/>
        </p:nvSpPr>
        <p:spPr>
          <a:xfrm>
            <a:off x="7932770" y="3457533"/>
            <a:ext cx="1272411" cy="238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INSIGHT AREAS</a:t>
            </a:r>
          </a:p>
        </p:txBody>
      </p:sp>
      <p:sp>
        <p:nvSpPr>
          <p:cNvPr id="25" name="Shape 8">
            <a:extLst>
              <a:ext uri="{FF2B5EF4-FFF2-40B4-BE49-F238E27FC236}">
                <a16:creationId xmlns:a16="http://schemas.microsoft.com/office/drawing/2014/main" id="{5979E9C4-AFDE-A58E-4E94-4E6865317199}"/>
              </a:ext>
            </a:extLst>
          </p:cNvPr>
          <p:cNvSpPr/>
          <p:nvPr/>
        </p:nvSpPr>
        <p:spPr>
          <a:xfrm>
            <a:off x="7865037" y="5453304"/>
            <a:ext cx="3609289" cy="529233"/>
          </a:xfrm>
          <a:prstGeom prst="roundRect">
            <a:avLst>
              <a:gd name="adj" fmla="val 3482"/>
            </a:avLst>
          </a:prstGeom>
          <a:solidFill>
            <a:srgbClr val="79790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1" descr="preencoded.png">
            <a:extLst>
              <a:ext uri="{FF2B5EF4-FFF2-40B4-BE49-F238E27FC236}">
                <a16:creationId xmlns:a16="http://schemas.microsoft.com/office/drawing/2014/main" id="{02932FDC-6979-9EF9-99C2-B69A364DD9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8963" y="5656502"/>
            <a:ext cx="153488" cy="122833"/>
          </a:xfrm>
          <a:prstGeom prst="rect">
            <a:avLst/>
          </a:prstGeom>
        </p:spPr>
      </p:pic>
      <p:sp>
        <p:nvSpPr>
          <p:cNvPr id="29" name="Text 9">
            <a:extLst>
              <a:ext uri="{FF2B5EF4-FFF2-40B4-BE49-F238E27FC236}">
                <a16:creationId xmlns:a16="http://schemas.microsoft.com/office/drawing/2014/main" id="{441C3853-0F60-D6E2-6DEF-9A9138C19732}"/>
              </a:ext>
            </a:extLst>
          </p:cNvPr>
          <p:cNvSpPr/>
          <p:nvPr/>
        </p:nvSpPr>
        <p:spPr>
          <a:xfrm>
            <a:off x="8366377" y="5484935"/>
            <a:ext cx="3087313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IN" sz="9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Dashboard Role: Transforms analytical results into concise performance insights for quick decision-making and operational review.</a:t>
            </a:r>
            <a:endParaRPr lang="en-US" sz="900" dirty="0">
              <a:solidFill>
                <a:srgbClr val="BFBFBF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8295" y="792361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Module 7 – Dashboard Development Completed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2364680"/>
            <a:ext cx="52614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Dashboard Deliverables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61475" y="2692400"/>
            <a:ext cx="5261439" cy="1847949"/>
          </a:xfrm>
          <a:prstGeom prst="rect">
            <a:avLst/>
          </a:prstGeom>
          <a:noFill/>
          <a:ln/>
        </p:spPr>
        <p:txBody>
          <a:bodyPr wrap="square" lIns="0" tIns="56706" rIns="0" bIns="0" rtlCol="0" anchor="t">
            <a:normAutofit/>
          </a:bodyPr>
          <a:lstStyle/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 Interactive Power BI dashboard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 Six analytical dashboard pages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 KPI-driven performance monitoring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 Geographic and country-level analysis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 Cluster and similarity analysis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 Ticket and category analysis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 Interactive slicers and filtering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 Executive-level insights summary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75131" y="2364680"/>
            <a:ext cx="52614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Key Dashboard KPIs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275131" y="2692400"/>
            <a:ext cx="5261439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Analytical outputs from previous modules were integrated into an interactive Power BI dashboard, enabling performance monitoring, geographic comparison, cluster analysis, ticket workload analysis, and executive-level insight discovery.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75131" y="3605709"/>
            <a:ext cx="5261439" cy="659011"/>
          </a:xfrm>
          <a:prstGeom prst="roundRect">
            <a:avLst>
              <a:gd name="adj" fmla="val 3227"/>
            </a:avLst>
          </a:prstGeom>
          <a:solidFill>
            <a:srgbClr val="79790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812" y="3775770"/>
            <a:ext cx="177200" cy="1416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735693" y="3736777"/>
            <a:ext cx="4659196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Module 7 successfully converts analytical findings into an interactive decision-support dashboard.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61475" y="4697115"/>
            <a:ext cx="2637466" cy="504825"/>
          </a:xfrm>
          <a:prstGeom prst="roundRect">
            <a:avLst>
              <a:gd name="adj" fmla="val 4212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803156" y="4838799"/>
            <a:ext cx="235410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Average Resolution Time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3405202" y="4697115"/>
            <a:ext cx="2637466" cy="504825"/>
          </a:xfrm>
          <a:prstGeom prst="roundRect">
            <a:avLst>
              <a:gd name="adj" fmla="val 4212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3546882" y="4838799"/>
            <a:ext cx="235410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Most Frequent Categories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148928" y="4697115"/>
            <a:ext cx="2637466" cy="504825"/>
          </a:xfrm>
          <a:prstGeom prst="roundRect">
            <a:avLst>
              <a:gd name="adj" fmla="val 4212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290609" y="4838799"/>
            <a:ext cx="235410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Cluster Similarity Index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8892655" y="4697115"/>
            <a:ext cx="2637565" cy="504825"/>
          </a:xfrm>
          <a:prstGeom prst="roundRect">
            <a:avLst>
              <a:gd name="adj" fmla="val 4212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9034336" y="4838799"/>
            <a:ext cx="235420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Top Performing Regions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245F27-9BBD-E6E6-DA78-1D4E962229DF}"/>
              </a:ext>
            </a:extLst>
          </p:cNvPr>
          <p:cNvSpPr txBox="1"/>
          <p:nvPr/>
        </p:nvSpPr>
        <p:spPr>
          <a:xfrm>
            <a:off x="2396067" y="2277533"/>
            <a:ext cx="890693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 THANK YOU </a:t>
            </a:r>
            <a:endParaRPr lang="en-IN" sz="9600" dirty="0">
              <a:solidFill>
                <a:schemeClr val="bg1"/>
              </a:solidFill>
            </a:endParaRPr>
          </a:p>
          <a:p>
            <a:endParaRPr lang="en-IN" sz="9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8197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743</Words>
  <Application>Microsoft Office PowerPoint</Application>
  <PresentationFormat>Widescreen</PresentationFormat>
  <Paragraphs>150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Twemoji Mozilla</vt:lpstr>
      <vt:lpstr>Instrument Sans Medium</vt:lpstr>
      <vt:lpstr>Arial</vt:lpstr>
      <vt:lpstr>Open Sans Bold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srikanth k</cp:lastModifiedBy>
  <cp:revision>2</cp:revision>
  <dcterms:created xsi:type="dcterms:W3CDTF">2026-08-17T06:11:29Z</dcterms:created>
  <dcterms:modified xsi:type="dcterms:W3CDTF">2026-08-18T03:33:42Z</dcterms:modified>
</cp:coreProperties>
</file>