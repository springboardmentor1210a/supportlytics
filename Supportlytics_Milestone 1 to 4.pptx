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12192000"/>
  <p:embeddedFontLst>
    <p:embeddedFont>
      <p:font typeface="Noto Sans Symbols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regular.fntdata"/><Relationship Id="rId20" Type="http://schemas.openxmlformats.org/officeDocument/2006/relationships/slide" Target="slides/slide16.xml"/><Relationship Id="rId41" Type="http://schemas.openxmlformats.org/officeDocument/2006/relationships/font" Target="fonts/NotoSansSymbols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68c9e176a_2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f68c9e176a_2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f68c9e176a_2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68c9e176a_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f68c9e176a_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f68c9e176a_2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68c9e176a_2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f68c9e176a_2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f68c9e176a_2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8c9e176a_2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68c9e176a_2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68c9e176a_2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c9e176a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68c9e176a_2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68c9e176a_2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8c9e176a_2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68c9e176a_2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f68c9e176a_2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8c9e176a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68c9e176a_2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68c9e176a_2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8c9e176a_2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68c9e176a_2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68c9e176a_2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8c9e176a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68c9e176a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68c9e176a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8c9e176a_2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f68c9e176a_2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68c9e176a_2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8c9e176a_2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68c9e176a_2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68c9e176a_2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8c9e176a_2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68c9e176a_2_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68c9e176a_2_2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8c9e176a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68c9e176a_2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68c9e176a_2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8cd4d3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98cd4d3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98cd4d34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98cd4d34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98cd4d34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98cd4d34c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98cd4d34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f98cd4d34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98cd4d34c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8cd4d34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98cd4d34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98cd4d34c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98cd4d34c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f98cd4d34c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98cd4d34c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98cd4d34c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98cd4d34c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98cd4d34c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98cd4d34c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f98cd4d34c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98cd4d34c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8cd4d34c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98cd4d34c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98cd4d34c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8cd4d34c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f98cd4d34c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98cd4d34c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9899f2ab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9899f2ab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9899f2ab8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899f2ab8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9899f2ab8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9899f2ab8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8cd4d34c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f98cd4d34c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98cd4d34c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9899f2ab8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9899f2ab8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9899f2ab8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9899f2ab8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f9899f2ab8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9899f2ab8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9899f2ab8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f9899f2ab8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9899f2ab8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68c9e176a_2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f68c9e176a_2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68c9e176a_2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73a01c3a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f73a01c3a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73a01c3a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73a01c3a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f73a01c3a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73a01c3a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73a01c3a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f73a01c3a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73a01c3a7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73a01c3a7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f73a01c3a7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73a01c3a7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73a01c3a7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73a01c3a7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73a01c3a7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7830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SUPPORTLYTICS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286000"/>
            <a:ext cx="10241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Optimizing IT Support Team Performance</a:t>
            </a:r>
            <a:endParaRPr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Advanced Analytics</a:t>
            </a:r>
            <a:endParaRPr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68680" y="3900759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598251" y="178308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25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900253" y="2644301"/>
            <a:ext cx="100584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MileStone 2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MileStone 3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MileStone 4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822960" y="265176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MILESTONE </a:t>
            </a: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22960" y="3108960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Initialization and Data Cleaning and Feature Engineering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868680" y="4562672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/>
          <p:nvPr/>
        </p:nvSpPr>
        <p:spPr>
          <a:xfrm>
            <a:off x="822960" y="403400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1:- Project Initialization and Dataset Setup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|   </a:t>
            </a:r>
            <a:r>
              <a:rPr b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2:- Data Cleaning and Feature Engineering</a:t>
            </a:r>
            <a:endParaRPr sz="15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Initialization and DataSet Setup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6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6"/>
          <p:cNvSpPr/>
          <p:nvPr/>
        </p:nvSpPr>
        <p:spPr>
          <a:xfrm>
            <a:off x="746700" y="3276744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28600" rtl="0" algn="l"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spcBef>
                <a:spcPts val="22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Define objectives, KPIs, and workflow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Load the CSV dataset using pandas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Explore schema, data types, and missing values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6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Calculate initial ticket distribution by Type, Priority, and Category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Project Objective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640075" y="1659705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analyzes IT support ticket data to uncover performance trends, optimize resolution times, and improve overall service efficiency. The analysis will translate raw ticket-level data into actionable operational recommendations for IT support leadership.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 txBox="1"/>
          <p:nvPr/>
        </p:nvSpPr>
        <p:spPr>
          <a:xfrm>
            <a:off x="640075" y="2855485"/>
            <a:ext cx="9537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and process the IT support ticket dataset.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trends in ticket volume, priority, category, and channel distribution.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clusters of similar issues using text similarity and clustering techniques applied to issue descriptions.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Quantify support performance through resolution time, first-response time, SLA compliance, and escalation behavior.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Visualize performance metrics through dashboards and charts.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Summarize the final analytical report and presentation.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 Performance Indicators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640075" y="1792229"/>
            <a:ext cx="95370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Resolution Time: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 time between ticket creation and resolution/closure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Response Time: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average time to the first agent reply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Volume by Category/Type: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count of tickets per issue category (billing, technical, account, etc.)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Volume by Priority: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distribution across low/medium/high/urgent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Volume by Channel: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split across email, chat, phone, social media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SLA Compliance Rate: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% of tickets resolved within target time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Satisfaction Score: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average rating if a satisfaction field exists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/ Open Ticket Rate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proportion of tickets still open/pending vs. closed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Loading Dataset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586213"/>
            <a:ext cx="108559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Handling Dataset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3">
            <a:alphaModFix/>
          </a:blip>
          <a:srcRect b="0" l="0" r="53896" t="0"/>
          <a:stretch/>
        </p:blipFill>
        <p:spPr>
          <a:xfrm>
            <a:off x="640075" y="1644525"/>
            <a:ext cx="4659225" cy="33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0"/>
          <p:cNvPicPr preferRelativeResize="0"/>
          <p:nvPr/>
        </p:nvPicPr>
        <p:blipFill rotWithShape="1">
          <a:blip r:embed="rId4">
            <a:alphaModFix/>
          </a:blip>
          <a:srcRect b="0" l="0" r="68284" t="0"/>
          <a:stretch/>
        </p:blipFill>
        <p:spPr>
          <a:xfrm>
            <a:off x="6431700" y="1644525"/>
            <a:ext cx="4563000" cy="33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>
            <a:off x="640078" y="10966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Check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6431703" y="11873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Values Check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640078" y="5251797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Count By Type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5">
            <a:alphaModFix/>
          </a:blip>
          <a:srcRect b="0" l="0" r="30982" t="0"/>
          <a:stretch/>
        </p:blipFill>
        <p:spPr>
          <a:xfrm>
            <a:off x="640075" y="5650756"/>
            <a:ext cx="219075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/>
          <p:nvPr/>
        </p:nvSpPr>
        <p:spPr>
          <a:xfrm>
            <a:off x="3568903" y="5251797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Count By Priority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6599049" y="5251800"/>
            <a:ext cx="238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Count By Category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0000" y="5709000"/>
            <a:ext cx="2171700" cy="9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0"/>
          <p:cNvPicPr preferRelativeResize="0"/>
          <p:nvPr/>
        </p:nvPicPr>
        <p:blipFill rotWithShape="1">
          <a:blip r:embed="rId7">
            <a:alphaModFix/>
          </a:blip>
          <a:srcRect b="56614" l="0" r="0" t="0"/>
          <a:stretch/>
        </p:blipFill>
        <p:spPr>
          <a:xfrm>
            <a:off x="6497725" y="5627050"/>
            <a:ext cx="21717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7">
            <a:alphaModFix/>
          </a:blip>
          <a:srcRect b="0" l="0" r="0" t="45025"/>
          <a:stretch/>
        </p:blipFill>
        <p:spPr>
          <a:xfrm>
            <a:off x="8823000" y="5367500"/>
            <a:ext cx="2171700" cy="12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 Cleaning and Feature Engineering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1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1"/>
          <p:cNvSpPr/>
          <p:nvPr/>
        </p:nvSpPr>
        <p:spPr>
          <a:xfrm>
            <a:off x="746700" y="3538681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68580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Handle missing or incorrect data in text fields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Create new features: Resolution_Duration and Priority_Score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Save processed data for analysis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spcBef>
                <a:spcPts val="1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Deliverables: Cleaned dataset, Feature engineering summary, Data dictionary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 Changing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353875"/>
            <a:ext cx="4085025" cy="50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/>
          <p:nvPr/>
        </p:nvSpPr>
        <p:spPr>
          <a:xfrm>
            <a:off x="5623675" y="1353871"/>
            <a:ext cx="5715000" cy="2159100"/>
          </a:xfrm>
          <a:prstGeom prst="roundRect">
            <a:avLst>
              <a:gd fmla="val 1720" name="adj"/>
            </a:avLst>
          </a:prstGeom>
          <a:solidFill>
            <a:srgbClr val="2129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/>
          <p:nvPr/>
        </p:nvSpPr>
        <p:spPr>
          <a:xfrm>
            <a:off x="5852265" y="159628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5852265" y="1916325"/>
            <a:ext cx="5257800" cy="13716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6016857" y="2026053"/>
            <a:ext cx="4937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df['ticket_created_date'] = pd.to_datetime(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df['ticket_created_date'])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df['ticket_resolved_date'] = pd.to_datetime(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df['ticket_resolved_date'])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df[['ticket_created_date',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'ticket_resolved_date']].dtypes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 &amp; Missing Values Handling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353875"/>
            <a:ext cx="4085025" cy="50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/>
          <p:nvPr/>
        </p:nvSpPr>
        <p:spPr>
          <a:xfrm>
            <a:off x="5623675" y="1353871"/>
            <a:ext cx="5715000" cy="2159100"/>
          </a:xfrm>
          <a:prstGeom prst="roundRect">
            <a:avLst>
              <a:gd fmla="val 1720" name="adj"/>
            </a:avLst>
          </a:prstGeom>
          <a:solidFill>
            <a:srgbClr val="2129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5852265" y="159628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5852265" y="1916325"/>
            <a:ext cx="5257800" cy="13716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6016857" y="2026053"/>
            <a:ext cx="4937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df['ticket_created_date'] = pd.to_datetime(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df['ticket_created_date'])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df['ticket_resolved_date'] = pd.to_datetime(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df['ticket_resolved_date'])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df[['ticket_created_date',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'ticket_resolved_date']].dtypes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3"/>
          <p:cNvPicPr preferRelativeResize="0"/>
          <p:nvPr/>
        </p:nvPicPr>
        <p:blipFill rotWithShape="1">
          <a:blip r:embed="rId4">
            <a:alphaModFix/>
          </a:blip>
          <a:srcRect b="0" l="0" r="62138" t="0"/>
          <a:stretch/>
        </p:blipFill>
        <p:spPr>
          <a:xfrm>
            <a:off x="5623675" y="3741888"/>
            <a:ext cx="3689650" cy="64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/>
          <p:nvPr/>
        </p:nvSpPr>
        <p:spPr>
          <a:xfrm>
            <a:off x="5628200" y="4601899"/>
            <a:ext cx="5715000" cy="1795800"/>
          </a:xfrm>
          <a:prstGeom prst="roundRect">
            <a:avLst>
              <a:gd fmla="val 1720" name="adj"/>
            </a:avLst>
          </a:prstGeom>
          <a:solidFill>
            <a:srgbClr val="2129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5856790" y="4803515"/>
            <a:ext cx="27432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5856790" y="5069693"/>
            <a:ext cx="5257800" cy="1140900"/>
          </a:xfrm>
          <a:prstGeom prst="roundRect">
            <a:avLst>
              <a:gd fmla="val 4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021382" y="5160953"/>
            <a:ext cx="49377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df.drop(columns=['browser'], inplace=True)</a:t>
            </a:r>
            <a:endParaRPr sz="1100">
              <a:solidFill>
                <a:srgbClr val="E2E8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print('browser' in df.columns)</a:t>
            </a:r>
            <a:endParaRPr sz="1100">
              <a:solidFill>
                <a:srgbClr val="E2E8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print(df.shape)</a:t>
            </a:r>
            <a:endParaRPr sz="1100">
              <a:solidFill>
                <a:srgbClr val="E2E8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t/>
            </a:r>
            <a:endParaRPr sz="12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New Features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40078" y="10966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5318920" y="1096619"/>
            <a:ext cx="508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Resolution_Duration and Priority_Score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644550"/>
            <a:ext cx="4148875" cy="346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925" y="1644550"/>
            <a:ext cx="6106325" cy="34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New Features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640078" y="10966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640681"/>
            <a:ext cx="4767875" cy="39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525" y="3295000"/>
            <a:ext cx="53361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/>
          <p:nvPr/>
        </p:nvSpPr>
        <p:spPr>
          <a:xfrm>
            <a:off x="822960" y="403400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3: – Exploratory Visualization 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4:- Similarity and Cluster Insights</a:t>
            </a:r>
            <a:endParaRPr sz="15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822960" y="265176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MILESTONE </a:t>
            </a: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6"/>
          <p:cNvCxnSpPr/>
          <p:nvPr/>
        </p:nvCxnSpPr>
        <p:spPr>
          <a:xfrm>
            <a:off x="868680" y="4562672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16"/>
          <p:cNvSpPr/>
          <p:nvPr/>
        </p:nvSpPr>
        <p:spPr>
          <a:xfrm>
            <a:off x="822960" y="3108960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Exploratory Visualization &amp; Similarity and Cluster Insights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7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7"/>
          <p:cNvSpPr/>
          <p:nvPr/>
        </p:nvSpPr>
        <p:spPr>
          <a:xfrm>
            <a:off x="746700" y="3416653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685800" rtl="0" algn="l">
              <a:spcBef>
                <a:spcPts val="23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Plot ticket type distribution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6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Identify top categories and clusters by frequency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Visualize tickets by priority and queue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Exploratory Visualization 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Visualization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847850"/>
            <a:ext cx="4995550" cy="358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640078" y="10966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Count By Type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971673" y="1096625"/>
            <a:ext cx="344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 Issue Categories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2975" y="1885532"/>
            <a:ext cx="5507167" cy="34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640175" y="5449721"/>
            <a:ext cx="512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"Request" is the largest ticket type (~80K), while Problem and Incident are close to each other (~60K each).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make up roughly 40% of all tickets, more than the other two types combined proportionally.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289750" y="5449730"/>
            <a:ext cx="51207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10 categories have nearly the same volume (~19,800–20,200 tickets each), with Feature Request slightly on top and Account Suspension slightly lowest.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single issue category dominates — problems are spread almost evenly across all types.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Visualization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40078" y="10966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Ticket Count By Type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345744" y="1096625"/>
            <a:ext cx="344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 Issue Categories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890713"/>
            <a:ext cx="43243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9425" y="1890725"/>
            <a:ext cx="6222286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40175" y="5303183"/>
            <a:ext cx="512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priorities (High, Urgent, Medium, Low) have nearly equal volume (~50K each).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priority level is over- or under-represented — tickets are evenly split by priority.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289750" y="5303191"/>
            <a:ext cx="5120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 Management, Billing Support, and Technical Support each handle almost double (~40K each) the tickets of the other four teams (~20K each).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workload is concentrated in 3 queues, while Product, Infrastructure, Security, and Development teams share a smaller, evenly split load.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0"/>
          <p:cNvSpPr/>
          <p:nvPr/>
        </p:nvSpPr>
        <p:spPr>
          <a:xfrm>
            <a:off x="746700" y="3416653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685800" rtl="0" algn="l">
              <a:spcBef>
                <a:spcPts val="22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Analyze average similarity scores within clusters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Compare cluster size vs. issue type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Visualize performance gaps using boxplots and scatter plots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685800" rtl="0" algn="l">
              <a:spcBef>
                <a:spcPts val="16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Deliverables: Minimum 8 visualizations, Summary of key patterns and problem clusters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Similarity and Cluster Insights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40078" y="1096625"/>
            <a:ext cx="189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Labeling The Cluster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40069" y="3809563"/>
            <a:ext cx="344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 Cosine Similarity Scores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644550"/>
            <a:ext cx="28670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75" y="4312125"/>
            <a:ext cx="28670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200" y="1644550"/>
            <a:ext cx="5862350" cy="35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5297024" y="1096625"/>
            <a:ext cx="26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Size Distribution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289750" y="5303191"/>
            <a:ext cx="51207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0 is by far the largest, with ~99,695 tickets — almost half of all tickets.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Clusters 1 and 3 are similar in size (~40K each), while Cluster 2 is the smallest (~20K) — so ticket clusters are unevenly distributed, unlike most other metrics in this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40074" y="1140688"/>
            <a:ext cx="26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Size Distribution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075" y="1732675"/>
            <a:ext cx="5276025" cy="293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6048" y="1910050"/>
            <a:ext cx="47244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/>
          <p:nvPr/>
        </p:nvSpPr>
        <p:spPr>
          <a:xfrm>
            <a:off x="6496050" y="1140700"/>
            <a:ext cx="336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vs Issue Type (Stacked Bar)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40175" y="4991789"/>
            <a:ext cx="5120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2 has a perfect similarity score (1.0), meaning all its tickets are almost identical to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0 has the lowest score (0.45), meaning it's the most diverse/mixed group of tickets.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6289750" y="4991797"/>
            <a:ext cx="51207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4 clusters have nearly the same mix of issue types — around 30% Incident, 30% Problem, 40% Request.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type distribution doesn't change much across clusters, so what makes clusters different isn't the type of issue, but likely something else (like similarity/content, as seen in the other chart).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640075" y="1140700"/>
            <a:ext cx="5363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Time Boxplot per Cluster (Performance Gap)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496050" y="1140700"/>
            <a:ext cx="50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Satisfaction Score Boxplot per Cluster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910050"/>
            <a:ext cx="5174975" cy="316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6050" y="1985975"/>
            <a:ext cx="5006100" cy="30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640175" y="5156644"/>
            <a:ext cx="5120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4 clusters have a very similar spread of resolution times (median ~120 hours, range roughly 0–240 hours).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cluster resolves tickets noticeably faster or slower — resolution time patterns look basically the same everywhere.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289750" y="5156653"/>
            <a:ext cx="5120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clusters have the same median satisfaction score (~3.0) and similar spread (1 to 5).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Satisfaction doesn't differ meaningfully by cluster — every cluster has the same range of happy and unhappy customers.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/>
          <p:nvPr/>
        </p:nvSpPr>
        <p:spPr>
          <a:xfrm>
            <a:off x="822960" y="403400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5:- Performance Trend Analysis</a:t>
            </a: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b="1"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6:- Geographic and Category-Level Insights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822960" y="265176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MILESTONE </a:t>
            </a: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24"/>
          <p:cNvCxnSpPr/>
          <p:nvPr/>
        </p:nvCxnSpPr>
        <p:spPr>
          <a:xfrm>
            <a:off x="868680" y="4562672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24"/>
          <p:cNvSpPr/>
          <p:nvPr/>
        </p:nvSpPr>
        <p:spPr>
          <a:xfrm>
            <a:off x="822960" y="3108960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Performance Trend Analysis</a:t>
            </a:r>
            <a:r>
              <a:rPr lang="en-US" sz="3000">
                <a:solidFill>
                  <a:schemeClr val="lt1"/>
                </a:solidFill>
              </a:rPr>
              <a:t>  &amp; </a:t>
            </a: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Geographic and Category-Level Insights</a:t>
            </a:r>
            <a:r>
              <a:rPr lang="en-US" sz="3000">
                <a:solidFill>
                  <a:schemeClr val="lt1"/>
                </a:solidFill>
              </a:rPr>
              <a:t> 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5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25"/>
          <p:cNvSpPr/>
          <p:nvPr/>
        </p:nvSpPr>
        <p:spPr>
          <a:xfrm>
            <a:off x="746700" y="3416653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685800" rtl="0" algn="l">
              <a:spcBef>
                <a:spcPts val="22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Analyze average resolution times by priority and type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Determine which countries or teams handle tickets fastest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6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Identify high-priority unresolved issues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Performance Trend Analysis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/>
          <p:nvPr/>
        </p:nvSpPr>
        <p:spPr>
          <a:xfrm>
            <a:off x="640080" y="1291879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</a:t>
            </a:r>
            <a:r>
              <a:rPr b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Resolution</a:t>
            </a:r>
            <a:r>
              <a:rPr b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Time by Priority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6217920" y="1291879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Resolution Time by Region</a:t>
            </a:r>
            <a:endParaRPr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25" y="1639964"/>
            <a:ext cx="5120700" cy="36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2052" y="1835339"/>
            <a:ext cx="5308401" cy="32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Performance Trend Analysis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640175" y="5254892"/>
            <a:ext cx="512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Low, Urgent, High, and Medium tickets all take about the same time (~120 hours) to resolve.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doesn't really speed things up -  even "Urgent" isn't much faster than "Low."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6289750" y="5254900"/>
            <a:ext cx="5120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region takes roughly the same time too (~120 hours).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Europe is a touch slower, Africa/North America a touch faster, but the difference is tiny.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/>
          <p:nvPr/>
        </p:nvSpPr>
        <p:spPr>
          <a:xfrm>
            <a:off x="640080" y="1356822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Resolution Time by Queue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6217920" y="1356822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Status Breakdown of Unresolved High/Urgent Tickets</a:t>
            </a:r>
            <a:endParaRPr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575" y="1895432"/>
            <a:ext cx="5288100" cy="34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0" l="0" r="1244" t="1990"/>
          <a:stretch/>
        </p:blipFill>
        <p:spPr>
          <a:xfrm>
            <a:off x="726100" y="2034957"/>
            <a:ext cx="5120700" cy="330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Performance Trend Analysis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895000" y="5531175"/>
            <a:ext cx="495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All teams take about the same time (~120 hours), from Development Team (fastest) to Technical Support (slowest).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No team is significantly faster or slower — the gap between best and worst is barely half an hour.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6134225" y="5541798"/>
            <a:ext cx="528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Tickets are almost evenly split across Resolved, Pending Customer, Open, and In Progress — all around 20,000 each.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 huge number of High/Urgent tickets (~20,000 each stage) are still stuck unresolved, showing a major backlog regardless of status.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28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28"/>
          <p:cNvSpPr/>
          <p:nvPr/>
        </p:nvSpPr>
        <p:spPr>
          <a:xfrm>
            <a:off x="746700" y="3416653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685800" rtl="0" algn="l">
              <a:spcBef>
                <a:spcPts val="22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Create heatmaps of ticket concentration by region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Map issue categories geographically using latitude/longitude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6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Evaluate the relationship between cluster size and performance score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rtl="0" algn="l">
              <a:spcBef>
                <a:spcPts val="175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Deliverables: Performance metrics summary, Geo-visualizations and comparative charts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Geographic and Category-Level Insights</a:t>
            </a:r>
            <a:endParaRPr b="1" sz="3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/>
          <p:nvPr/>
        </p:nvSpPr>
        <p:spPr>
          <a:xfrm>
            <a:off x="640080" y="1200477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 what 'region' actually contains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758778"/>
            <a:ext cx="4476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/>
          <p:nvPr/>
        </p:nvSpPr>
        <p:spPr>
          <a:xfrm>
            <a:off x="5760770" y="119054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Heatmap: Ticket Concentration by Region x Category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2925" y="1593911"/>
            <a:ext cx="5691825" cy="38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 and Category-Level Insights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640075" y="2806392"/>
            <a:ext cx="425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There are exactly 6 unique regions in the data — North America, South America, Europe, Asia, Africa, and Australia.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confirms the "region" field is clean, with no duplicates or unexpected values.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5824827" y="5401917"/>
            <a:ext cx="489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Ticket counts are fairly evenly spread (~3,200–3,470 per cell), no single region or category dominates overall.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Some hotspots stand out — like Africa's "Performance Issue" and North America's "Bug Report" — showing slightly higher concentrations of specific problems in specific regions.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/>
          <p:nvPr/>
        </p:nvSpPr>
        <p:spPr>
          <a:xfrm>
            <a:off x="444283" y="1022012"/>
            <a:ext cx="5577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 Mapping — region -&gt; country centroid lookup</a:t>
            </a:r>
            <a:endParaRPr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88" y="1539969"/>
            <a:ext cx="6044376" cy="31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0"/>
          <p:cNvSpPr/>
          <p:nvPr/>
        </p:nvSpPr>
        <p:spPr>
          <a:xfrm>
            <a:off x="6689245" y="97872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Size vs Performance Score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9248" y="1377494"/>
            <a:ext cx="4697600" cy="350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0"/>
          <p:cNvSpPr/>
          <p:nvPr/>
        </p:nvSpPr>
        <p:spPr>
          <a:xfrm>
            <a:off x="640080" y="430742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 and Category-Level Insights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6689250" y="5154092"/>
            <a:ext cx="487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There are 4 ticket clusters of very different sizes — the biggest (Cluster 0, ~99,695 tickets) has the lowest performance score, while the smallest clusters have higher scores.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Bigger clusters tend to have slightly worse performance scores, suggesting that as ticket volume grows in a cluster, satisfaction/resolution efficiency dips a bit.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444275" y="4717917"/>
            <a:ext cx="4600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Most regions (North America, South America, Africa, Australia) are dominated by "Subscription Cancellation" tickets.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Asia stands out differently — dominated by "Data Sync Issue".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51522" r="0" t="0"/>
          <a:stretch/>
        </p:blipFill>
        <p:spPr>
          <a:xfrm>
            <a:off x="640075" y="1957100"/>
            <a:ext cx="4873875" cy="35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/>
          <p:nvPr/>
        </p:nvSpPr>
        <p:spPr>
          <a:xfrm>
            <a:off x="640075" y="1230924"/>
            <a:ext cx="51207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Satisfaction score by Region</a:t>
            </a:r>
            <a:endParaRPr b="1" sz="17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 and Category-Level Insights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6289100" y="1957100"/>
            <a:ext cx="457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Satisfaction scores are also nearly identical across regions, all sitting around 3.0 (out of 5).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No region stands out as clearly happier or unhappier — satisfaction looks flat everywhere.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822960" y="265176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MILESTONE </a:t>
            </a: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32"/>
          <p:cNvCxnSpPr/>
          <p:nvPr/>
        </p:nvCxnSpPr>
        <p:spPr>
          <a:xfrm>
            <a:off x="868680" y="4562672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32"/>
          <p:cNvSpPr/>
          <p:nvPr/>
        </p:nvSpPr>
        <p:spPr>
          <a:xfrm>
            <a:off x="822960" y="403400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7:- Dashboard/Report Preparation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1"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Module 8 :- Documentation and Presentation</a:t>
            </a:r>
            <a:endParaRPr sz="15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822960" y="3108960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Dashboard/Report Preparation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Documentation and Presentation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3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3"/>
          <p:cNvSpPr/>
          <p:nvPr/>
        </p:nvSpPr>
        <p:spPr>
          <a:xfrm>
            <a:off x="822960" y="1344841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MODULE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33"/>
          <p:cNvCxnSpPr/>
          <p:nvPr/>
        </p:nvCxnSpPr>
        <p:spPr>
          <a:xfrm>
            <a:off x="868680" y="2746277"/>
            <a:ext cx="2011800" cy="0"/>
          </a:xfrm>
          <a:prstGeom prst="straightConnector1">
            <a:avLst/>
          </a:prstGeom>
          <a:noFill/>
          <a:ln cap="flat" cmpd="sng" w="317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33"/>
          <p:cNvSpPr/>
          <p:nvPr/>
        </p:nvSpPr>
        <p:spPr>
          <a:xfrm>
            <a:off x="746700" y="3416653"/>
            <a:ext cx="106986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685800" rtl="0" algn="l">
              <a:spcBef>
                <a:spcPts val="24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Combine visual insights into an interactive Power BI or Streamlit dashboard</a:t>
            </a:r>
            <a:endParaRPr sz="1700">
              <a:solidFill>
                <a:srgbClr val="CADCF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6550" lvl="0" marL="685800" marR="90805" rtl="0" algn="l">
              <a:lnSpc>
                <a:spcPct val="110833"/>
              </a:lnSpc>
              <a:spcBef>
                <a:spcPts val="16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Noto Sans Symbols"/>
              <a:buChar char="●"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Organize visualizations into performance KPIs: Average Resolution Time, Most Frequent Categories, Cluster Similarity Index, Top Performing Regions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822960" y="1868495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Dashboard/Report Preparation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/>
          <p:nvPr/>
        </p:nvSpPr>
        <p:spPr>
          <a:xfrm>
            <a:off x="640080" y="1291879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90805" rtl="0" algn="l">
              <a:lnSpc>
                <a:spcPct val="110833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1: Executive Overview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Dashboard/Report Preparation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4"/>
          <p:cNvSpPr txBox="1"/>
          <p:nvPr/>
        </p:nvSpPr>
        <p:spPr>
          <a:xfrm>
            <a:off x="6289750" y="1291875"/>
            <a:ext cx="5120700" cy="27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numbers: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200K tickets total, ~120 hrs to resolve, satisfaction and SLA numbers look off/need checking.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Ticket Type: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are the biggest chunk (40%), Incidents and Problems split the rest evenly.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Trend Over Time: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Ticket volume goes up and down each month, no clear pattern.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 Compliance: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Exactly half of tickets breached SLA, half didn't.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Satisfaction by Channel: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 channel (chat, email, phone, etc.) scores the same — 3.0. No difference between them.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Ticket Status: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Tickets are spread evenly across all statuses (Open, Closed, In Progress, etc.) — about 20% each.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Level: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High, Low, Medium, Urgent all have the exact same number of tickets (50K each).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239875"/>
            <a:ext cx="5521000" cy="32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/>
          <p:nvPr/>
        </p:nvSpPr>
        <p:spPr>
          <a:xfrm>
            <a:off x="640080" y="1291879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90805" rtl="0" algn="l">
              <a:lnSpc>
                <a:spcPct val="110833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2: Category Performance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Dashboard/Report Preparation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 txBox="1"/>
          <p:nvPr/>
        </p:nvSpPr>
        <p:spPr>
          <a:xfrm>
            <a:off x="6289750" y="1291875"/>
            <a:ext cx="51207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Ticket Volume by Category: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categories (Account Suspension, Bug Report, Data Sync, etc.) have exactly 20K tickets each — perfectly even.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Resolution Time by Category: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 category takes about the same time, ~120–121 hours, no real difference between them.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Resolution Time by Priority: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High, Low, Medium, Urgent all take ~120–121 hours too — priority doesn't speed things up.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Team Performance: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Account Management, Billing Support, and Technical Support handle more tickets (~40K each) than the other four teams (~20K each), but status mix (Open, Closed, etc.) is evenly split within each.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Product-wise Support Issues: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 product (Billing System, Cloud Storage, CRM, etc.) has the same 20K tickets — no product stands out as more problematic.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1" name="Google Shape;3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360466"/>
            <a:ext cx="5450150" cy="323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/>
          <p:nvPr/>
        </p:nvSpPr>
        <p:spPr>
          <a:xfrm>
            <a:off x="640080" y="1291879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90805" rtl="0" algn="l">
              <a:lnSpc>
                <a:spcPct val="110833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3: Cluster Insights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Dashboard/Report Preparation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6289750" y="1291875"/>
            <a:ext cx="5120700" cy="30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Ticket Distribution Across Clusters: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 is the biggest (~50% of all tickets), followed by Cluster 3 (20%), Cluster 2 (20%), and Cluster 1 (10%) — clusters are unevenly sized.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Similarity Score by Cluster: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Cluster 2 has the highest similarity (1.00, meaning tickets inside it are very alike), while Cluster 0 has the lowest (0.45, meaning it's the most mixed/diverse group.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Priority Distribution: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 has the most tickets split evenly across all 4 priorities (25K each); Cluster 1 is smaller but still evenly split (10K each).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Cluster-wise Ticket Category Analysis: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Cluster 0 has way more tickets across every category (~10K each) compared to Clusters 1, 2, and 3, which are much smaller.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90805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Queue Performance: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 dominates every team's workload (Account Management, Technical Support, Billing Support, etc.), while Clusters 1–3 contribute smaller, similar-sized shares.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0" name="Google Shape;3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273875"/>
            <a:ext cx="5428500" cy="31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/>
          <p:nvPr/>
        </p:nvSpPr>
        <p:spPr>
          <a:xfrm>
            <a:off x="640080" y="1291879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90805" rtl="0" algn="l">
              <a:lnSpc>
                <a:spcPct val="110833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4: Regional Performance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7"/>
          <p:cNvSpPr/>
          <p:nvPr/>
        </p:nvSpPr>
        <p:spPr>
          <a:xfrm>
            <a:off x="640080" y="45720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B8D9"/>
              </a:buClr>
              <a:buSzPts val="13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Dashboard/Report Preparation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6289750" y="1291875"/>
            <a:ext cx="5120700" cy="21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Resolution Time by Region: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time is nearly identical everywhere (~120–121 hours), regardless of region.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First Response Time: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regions respond in about the same time too (~36 hours) — flat across the board.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Ticket Volume vs Customer Satisfaction: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Satisfaction scores barely vary (2.99–3.01) across regions, and there's no real link between ticket volume and satisfaction — it's basically random scatter.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KPI Matrix: 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Confirms everything above in one table — every region is nearly identical on volume, resolution time, satisfaction, and response time, with only tiny decimal-level differences.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9" name="Google Shape;3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142900"/>
            <a:ext cx="5422851" cy="31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