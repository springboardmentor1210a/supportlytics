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4361" r:id="rId1"/>
  </p:sldMasterIdLst>
  <p:sldIdLst>
    <p:sldId id="276" r:id="rId2"/>
    <p:sldId id="257" r:id="rId3"/>
    <p:sldId id="258" r:id="rId4"/>
    <p:sldId id="259" r:id="rId5"/>
    <p:sldId id="260" r:id="rId6"/>
    <p:sldId id="273" r:id="rId7"/>
    <p:sldId id="261" r:id="rId8"/>
    <p:sldId id="262" r:id="rId9"/>
    <p:sldId id="263" r:id="rId10"/>
    <p:sldId id="264" r:id="rId11"/>
    <p:sldId id="265" r:id="rId12"/>
    <p:sldId id="268" r:id="rId13"/>
    <p:sldId id="267" r:id="rId14"/>
    <p:sldId id="266" r:id="rId15"/>
    <p:sldId id="270" r:id="rId16"/>
    <p:sldId id="271" r:id="rId17"/>
    <p:sldId id="269" r:id="rId18"/>
    <p:sldId id="272" r:id="rId19"/>
    <p:sldId id="274" r:id="rId20"/>
    <p:sldId id="275" r:id="rId2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8" d="100"/>
          <a:sy n="78" d="100"/>
        </p:scale>
        <p:origin x="878"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54955" y="1447800"/>
            <a:ext cx="8825658" cy="3329581"/>
          </a:xfrm>
        </p:spPr>
        <p:txBody>
          <a:bodyPr anchor="b"/>
          <a:lstStyle>
            <a:lvl1pPr>
              <a:defRPr sz="7200"/>
            </a:lvl1pPr>
          </a:lstStyle>
          <a:p>
            <a:r>
              <a:rPr lang="en-US"/>
              <a:t>Click to edit Master title style</a:t>
            </a:r>
            <a:endParaRPr lang="en-US" dirty="0"/>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bg2">
                    <a:lumMod val="40000"/>
                    <a:lumOff val="6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24C64BBB-7E66-4950-AED1-8D8DEC1C015B}" type="datetimeFigureOut">
              <a:rPr lang="en-IN" smtClean="0"/>
              <a:t>18-08-2026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3C859C1-D947-4850-B316-73B8427B0D7F}" type="slidenum">
              <a:rPr lang="en-IN" smtClean="0"/>
              <a:t>‹#›</a:t>
            </a:fld>
            <a:endParaRPr lang="en-IN"/>
          </a:p>
        </p:txBody>
      </p:sp>
    </p:spTree>
    <p:extLst>
      <p:ext uri="{BB962C8B-B14F-4D97-AF65-F5344CB8AC3E}">
        <p14:creationId xmlns:p14="http://schemas.microsoft.com/office/powerpoint/2010/main" val="360071846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3"/>
          <p:cNvSpPr>
            <a:spLocks noGrp="1"/>
          </p:cNvSpPr>
          <p:nvPr>
            <p:ph type="dt" sz="half" idx="10"/>
          </p:nvPr>
        </p:nvSpPr>
        <p:spPr/>
        <p:txBody>
          <a:bodyPr/>
          <a:lstStyle/>
          <a:p>
            <a:fld id="{24C64BBB-7E66-4950-AED1-8D8DEC1C015B}" type="datetimeFigureOut">
              <a:rPr lang="en-IN" smtClean="0"/>
              <a:t>18-08-2026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3C859C1-D947-4850-B316-73B8427B0D7F}" type="slidenum">
              <a:rPr lang="en-IN" smtClean="0"/>
              <a:t>‹#›</a:t>
            </a:fld>
            <a:endParaRPr lang="en-IN"/>
          </a:p>
        </p:txBody>
      </p:sp>
    </p:spTree>
    <p:extLst>
      <p:ext uri="{BB962C8B-B14F-4D97-AF65-F5344CB8AC3E}">
        <p14:creationId xmlns:p14="http://schemas.microsoft.com/office/powerpoint/2010/main" val="247217339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54956" y="2861733"/>
            <a:ext cx="8825657" cy="1915647"/>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all">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C64BBB-7E66-4950-AED1-8D8DEC1C015B}" type="datetimeFigureOut">
              <a:rPr lang="en-IN" smtClean="0"/>
              <a:t>18-08-2026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3C859C1-D947-4850-B316-73B8427B0D7F}" type="slidenum">
              <a:rPr lang="en-IN" smtClean="0"/>
              <a:t>‹#›</a:t>
            </a:fld>
            <a:endParaRPr lang="en-IN"/>
          </a:p>
        </p:txBody>
      </p:sp>
    </p:spTree>
    <p:extLst>
      <p:ext uri="{BB962C8B-B14F-4D97-AF65-F5344CB8AC3E}">
        <p14:creationId xmlns:p14="http://schemas.microsoft.com/office/powerpoint/2010/main" val="163775004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03312" y="2060575"/>
            <a:ext cx="4396339"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654493" y="2056092"/>
            <a:ext cx="4396341"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24C64BBB-7E66-4950-AED1-8D8DEC1C015B}" type="datetimeFigureOut">
              <a:rPr lang="en-IN" smtClean="0"/>
              <a:t>18-08-2026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23C859C1-D947-4850-B316-73B8427B0D7F}" type="slidenum">
              <a:rPr lang="en-IN" smtClean="0"/>
              <a:t>‹#›</a:t>
            </a:fld>
            <a:endParaRPr lang="en-IN"/>
          </a:p>
        </p:txBody>
      </p:sp>
    </p:spTree>
    <p:extLst>
      <p:ext uri="{BB962C8B-B14F-4D97-AF65-F5344CB8AC3E}">
        <p14:creationId xmlns:p14="http://schemas.microsoft.com/office/powerpoint/2010/main" val="145815056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03313" y="1905000"/>
            <a:ext cx="4396338"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03312"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654495" y="1905000"/>
            <a:ext cx="4396339"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654495"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24C64BBB-7E66-4950-AED1-8D8DEC1C015B}" type="datetimeFigureOut">
              <a:rPr lang="en-IN" smtClean="0"/>
              <a:t>18-08-2026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23C859C1-D947-4850-B316-73B8427B0D7F}" type="slidenum">
              <a:rPr lang="en-IN" smtClean="0"/>
              <a:t>‹#›</a:t>
            </a:fld>
            <a:endParaRPr lang="en-IN"/>
          </a:p>
        </p:txBody>
      </p:sp>
    </p:spTree>
    <p:extLst>
      <p:ext uri="{BB962C8B-B14F-4D97-AF65-F5344CB8AC3E}">
        <p14:creationId xmlns:p14="http://schemas.microsoft.com/office/powerpoint/2010/main" val="148393415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7" name="Date Placeholder 2"/>
          <p:cNvSpPr>
            <a:spLocks noGrp="1"/>
          </p:cNvSpPr>
          <p:nvPr>
            <p:ph type="dt" sz="half" idx="10"/>
          </p:nvPr>
        </p:nvSpPr>
        <p:spPr/>
        <p:txBody>
          <a:bodyPr/>
          <a:lstStyle/>
          <a:p>
            <a:fld id="{24C64BBB-7E66-4950-AED1-8D8DEC1C015B}" type="datetimeFigureOut">
              <a:rPr lang="en-IN" smtClean="0"/>
              <a:t>18-08-2026</a:t>
            </a:fld>
            <a:endParaRPr lang="en-IN"/>
          </a:p>
        </p:txBody>
      </p:sp>
      <p:sp>
        <p:nvSpPr>
          <p:cNvPr id="5" name="Footer Placeholder 3"/>
          <p:cNvSpPr>
            <a:spLocks noGrp="1"/>
          </p:cNvSpPr>
          <p:nvPr>
            <p:ph type="ftr" sz="quarter" idx="11"/>
          </p:nvPr>
        </p:nvSpPr>
        <p:spPr/>
        <p:txBody>
          <a:bodyPr/>
          <a:lstStyle/>
          <a:p>
            <a:endParaRPr lang="en-IN"/>
          </a:p>
        </p:txBody>
      </p:sp>
      <p:sp>
        <p:nvSpPr>
          <p:cNvPr id="6" name="Slide Number Placeholder 4"/>
          <p:cNvSpPr>
            <a:spLocks noGrp="1"/>
          </p:cNvSpPr>
          <p:nvPr>
            <p:ph type="sldNum" sz="quarter" idx="12"/>
          </p:nvPr>
        </p:nvSpPr>
        <p:spPr/>
        <p:txBody>
          <a:bodyPr/>
          <a:lstStyle/>
          <a:p>
            <a:fld id="{23C859C1-D947-4850-B316-73B8427B0D7F}" type="slidenum">
              <a:rPr lang="en-IN" smtClean="0"/>
              <a:t>‹#›</a:t>
            </a:fld>
            <a:endParaRPr lang="en-IN"/>
          </a:p>
        </p:txBody>
      </p:sp>
    </p:spTree>
    <p:extLst>
      <p:ext uri="{BB962C8B-B14F-4D97-AF65-F5344CB8AC3E}">
        <p14:creationId xmlns:p14="http://schemas.microsoft.com/office/powerpoint/2010/main" val="329435833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24C64BBB-7E66-4950-AED1-8D8DEC1C015B}" type="datetimeFigureOut">
              <a:rPr lang="en-IN" smtClean="0"/>
              <a:t>18-08-2026</a:t>
            </a:fld>
            <a:endParaRPr lang="en-IN"/>
          </a:p>
        </p:txBody>
      </p:sp>
      <p:sp>
        <p:nvSpPr>
          <p:cNvPr id="5" name="Footer Placeholder 2"/>
          <p:cNvSpPr>
            <a:spLocks noGrp="1"/>
          </p:cNvSpPr>
          <p:nvPr>
            <p:ph type="ftr" sz="quarter" idx="11"/>
          </p:nvPr>
        </p:nvSpPr>
        <p:spPr/>
        <p:txBody>
          <a:bodyPr/>
          <a:lstStyle/>
          <a:p>
            <a:endParaRPr lang="en-IN"/>
          </a:p>
        </p:txBody>
      </p:sp>
      <p:sp>
        <p:nvSpPr>
          <p:cNvPr id="6" name="Slide Number Placeholder 3"/>
          <p:cNvSpPr>
            <a:spLocks noGrp="1"/>
          </p:cNvSpPr>
          <p:nvPr>
            <p:ph type="sldNum" sz="quarter" idx="12"/>
          </p:nvPr>
        </p:nvSpPr>
        <p:spPr/>
        <p:txBody>
          <a:bodyPr/>
          <a:lstStyle/>
          <a:p>
            <a:fld id="{23C859C1-D947-4850-B316-73B8427B0D7F}" type="slidenum">
              <a:rPr lang="en-IN" smtClean="0"/>
              <a:t>‹#›</a:t>
            </a:fld>
            <a:endParaRPr lang="en-IN"/>
          </a:p>
        </p:txBody>
      </p:sp>
    </p:spTree>
    <p:extLst>
      <p:ext uri="{BB962C8B-B14F-4D97-AF65-F5344CB8AC3E}">
        <p14:creationId xmlns:p14="http://schemas.microsoft.com/office/powerpoint/2010/main" val="244249041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3" y="1447800"/>
            <a:ext cx="3401064" cy="14478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4784616" y="1447800"/>
            <a:ext cx="5195997"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54953" y="3129280"/>
            <a:ext cx="3401063"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7" name="Date Placeholder 4"/>
          <p:cNvSpPr>
            <a:spLocks noGrp="1"/>
          </p:cNvSpPr>
          <p:nvPr>
            <p:ph type="dt" sz="half" idx="10"/>
          </p:nvPr>
        </p:nvSpPr>
        <p:spPr/>
        <p:txBody>
          <a:bodyPr/>
          <a:lstStyle/>
          <a:p>
            <a:fld id="{24C64BBB-7E66-4950-AED1-8D8DEC1C015B}" type="datetimeFigureOut">
              <a:rPr lang="en-IN" smtClean="0"/>
              <a:t>18-08-2026</a:t>
            </a:fld>
            <a:endParaRPr lang="en-IN"/>
          </a:p>
        </p:txBody>
      </p:sp>
      <p:sp>
        <p:nvSpPr>
          <p:cNvPr id="5" name="Footer Placeholder 5"/>
          <p:cNvSpPr>
            <a:spLocks noGrp="1"/>
          </p:cNvSpPr>
          <p:nvPr>
            <p:ph type="ftr" sz="quarter" idx="11"/>
          </p:nvPr>
        </p:nvSpPr>
        <p:spPr/>
        <p:txBody>
          <a:bodyPr/>
          <a:lstStyle/>
          <a:p>
            <a:endParaRPr lang="en-IN"/>
          </a:p>
        </p:txBody>
      </p:sp>
      <p:sp>
        <p:nvSpPr>
          <p:cNvPr id="6" name="Slide Number Placeholder 6"/>
          <p:cNvSpPr>
            <a:spLocks noGrp="1"/>
          </p:cNvSpPr>
          <p:nvPr>
            <p:ph type="sldNum" sz="quarter" idx="12"/>
          </p:nvPr>
        </p:nvSpPr>
        <p:spPr/>
        <p:txBody>
          <a:bodyPr/>
          <a:lstStyle/>
          <a:p>
            <a:fld id="{23C859C1-D947-4850-B316-73B8427B0D7F}" type="slidenum">
              <a:rPr lang="en-IN" smtClean="0"/>
              <a:t>‹#›</a:t>
            </a:fld>
            <a:endParaRPr lang="en-IN"/>
          </a:p>
        </p:txBody>
      </p:sp>
    </p:spTree>
    <p:extLst>
      <p:ext uri="{BB962C8B-B14F-4D97-AF65-F5344CB8AC3E}">
        <p14:creationId xmlns:p14="http://schemas.microsoft.com/office/powerpoint/2010/main" val="182516877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3907" y="1854192"/>
            <a:ext cx="5092906" cy="1574808"/>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949546" y="1143000"/>
            <a:ext cx="3200400"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4" y="3657600"/>
            <a:ext cx="5084979"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24C64BBB-7E66-4950-AED1-8D8DEC1C015B}" type="datetimeFigureOut">
              <a:rPr lang="en-IN" smtClean="0"/>
              <a:t>18-08-2026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23C859C1-D947-4850-B316-73B8427B0D7F}" type="slidenum">
              <a:rPr lang="en-IN" smtClean="0"/>
              <a:t>‹#›</a:t>
            </a:fld>
            <a:endParaRPr lang="en-IN"/>
          </a:p>
        </p:txBody>
      </p:sp>
    </p:spTree>
    <p:extLst>
      <p:ext uri="{BB962C8B-B14F-4D97-AF65-F5344CB8AC3E}">
        <p14:creationId xmlns:p14="http://schemas.microsoft.com/office/powerpoint/2010/main" val="24794204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6" y="4800587"/>
            <a:ext cx="882565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5" y="685800"/>
            <a:ext cx="8825658" cy="3640666"/>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6" y="5367325"/>
            <a:ext cx="882565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24C64BBB-7E66-4950-AED1-8D8DEC1C015B}" type="datetimeFigureOut">
              <a:rPr lang="en-IN" smtClean="0"/>
              <a:t>18-08-2026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23C859C1-D947-4850-B316-73B8427B0D7F}" type="slidenum">
              <a:rPr lang="en-IN" smtClean="0"/>
              <a:t>‹#›</a:t>
            </a:fld>
            <a:endParaRPr lang="en-IN"/>
          </a:p>
        </p:txBody>
      </p:sp>
    </p:spTree>
    <p:extLst>
      <p:ext uri="{BB962C8B-B14F-4D97-AF65-F5344CB8AC3E}">
        <p14:creationId xmlns:p14="http://schemas.microsoft.com/office/powerpoint/2010/main" val="275327023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8825659" cy="1981200"/>
          </a:xfrm>
        </p:spPr>
        <p:txBody>
          <a:bodyPr/>
          <a:lstStyle>
            <a:lvl1pPr>
              <a:defRPr sz="4800"/>
            </a:lvl1pPr>
          </a:lstStyle>
          <a:p>
            <a:r>
              <a:rPr lang="en-US"/>
              <a:t>Click to edit Master title style</a:t>
            </a:r>
            <a:endParaRPr lang="en-US" dirty="0"/>
          </a:p>
        </p:txBody>
      </p:sp>
      <p:sp>
        <p:nvSpPr>
          <p:cNvPr id="8" name="Text Placeholder 3"/>
          <p:cNvSpPr>
            <a:spLocks noGrp="1"/>
          </p:cNvSpPr>
          <p:nvPr>
            <p:ph type="body" sz="half" idx="2"/>
          </p:nvPr>
        </p:nvSpPr>
        <p:spPr>
          <a:xfrm>
            <a:off x="1154954" y="3657600"/>
            <a:ext cx="8825659"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24C64BBB-7E66-4950-AED1-8D8DEC1C015B}" type="datetimeFigureOut">
              <a:rPr lang="en-IN" smtClean="0"/>
              <a:t>18-08-2026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3C859C1-D947-4850-B316-73B8427B0D7F}" type="slidenum">
              <a:rPr lang="en-IN" smtClean="0"/>
              <a:t>‹#›</a:t>
            </a:fld>
            <a:endParaRPr lang="en-IN"/>
          </a:p>
        </p:txBody>
      </p:sp>
    </p:spTree>
    <p:extLst>
      <p:ext uri="{BB962C8B-B14F-4D97-AF65-F5344CB8AC3E}">
        <p14:creationId xmlns:p14="http://schemas.microsoft.com/office/powerpoint/2010/main" val="112491359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74801" y="1447800"/>
            <a:ext cx="7999315" cy="2323374"/>
          </a:xfrm>
        </p:spPr>
        <p:txBody>
          <a:bodyPr/>
          <a:lstStyle>
            <a:lvl1pPr>
              <a:defRPr sz="4800"/>
            </a:lvl1pPr>
          </a:lstStyle>
          <a:p>
            <a:r>
              <a:rPr lang="en-US"/>
              <a:t>Click to edit Master title style</a:t>
            </a:r>
            <a:endParaRPr lang="en-US" dirty="0"/>
          </a:p>
        </p:txBody>
      </p:sp>
      <p:sp>
        <p:nvSpPr>
          <p:cNvPr id="11" name="Text Placeholder 3"/>
          <p:cNvSpPr>
            <a:spLocks noGrp="1"/>
          </p:cNvSpPr>
          <p:nvPr>
            <p:ph type="body" sz="half" idx="14"/>
          </p:nvPr>
        </p:nvSpPr>
        <p:spPr>
          <a:xfrm>
            <a:off x="1930400" y="3771174"/>
            <a:ext cx="7279649" cy="342174"/>
          </a:xfrm>
        </p:spPr>
        <p:txBody>
          <a:bodyPr vert="horz" lIns="91440" tIns="45720" rIns="91440" bIns="45720" rtlCol="0" anchor="t">
            <a:normAutofit/>
          </a:bodyPr>
          <a:lstStyle>
            <a:lvl1pPr marL="0" indent="0">
              <a:buNone/>
              <a:defRPr lang="en-US" sz="1400" b="0" i="0" kern="1200" cap="small" dirty="0">
                <a:solidFill>
                  <a:schemeClr val="bg2">
                    <a:lumMod val="40000"/>
                    <a:lumOff val="60000"/>
                  </a:schemeClr>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lvl="0" indent="0">
              <a:buNone/>
            </a:pPr>
            <a:r>
              <a:rPr lang="en-US"/>
              <a:t>Click to edit Master text styles</a:t>
            </a:r>
          </a:p>
        </p:txBody>
      </p:sp>
      <p:sp>
        <p:nvSpPr>
          <p:cNvPr id="10" name="Text Placeholder 3"/>
          <p:cNvSpPr>
            <a:spLocks noGrp="1"/>
          </p:cNvSpPr>
          <p:nvPr>
            <p:ph type="body" sz="half" idx="2"/>
          </p:nvPr>
        </p:nvSpPr>
        <p:spPr>
          <a:xfrm>
            <a:off x="1154954" y="4350657"/>
            <a:ext cx="8825659"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24C64BBB-7E66-4950-AED1-8D8DEC1C015B}" type="datetimeFigureOut">
              <a:rPr lang="en-IN" smtClean="0"/>
              <a:t>18-08-2026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3C859C1-D947-4850-B316-73B8427B0D7F}" type="slidenum">
              <a:rPr lang="en-IN" smtClean="0"/>
              <a:t>‹#›</a:t>
            </a:fld>
            <a:endParaRPr lang="en-IN"/>
          </a:p>
        </p:txBody>
      </p:sp>
      <p:sp>
        <p:nvSpPr>
          <p:cNvPr id="12" name="TextBox 11"/>
          <p:cNvSpPr txBox="1"/>
          <p:nvPr/>
        </p:nvSpPr>
        <p:spPr>
          <a:xfrm>
            <a:off x="898295" y="971253"/>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
        <p:nvSpPr>
          <p:cNvPr id="15" name="TextBox 14"/>
          <p:cNvSpPr txBox="1"/>
          <p:nvPr/>
        </p:nvSpPr>
        <p:spPr>
          <a:xfrm>
            <a:off x="9330490" y="2613787"/>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Tree>
    <p:extLst>
      <p:ext uri="{BB962C8B-B14F-4D97-AF65-F5344CB8AC3E}">
        <p14:creationId xmlns:p14="http://schemas.microsoft.com/office/powerpoint/2010/main" val="72460238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54954" y="3124201"/>
            <a:ext cx="8825660" cy="165318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4" y="4777381"/>
            <a:ext cx="8825659" cy="860400"/>
          </a:xfrm>
        </p:spPr>
        <p:txBody>
          <a:bodyPr anchor="t"/>
          <a:lstStyle>
            <a:lvl1pPr marL="0" indent="0" algn="l">
              <a:buNone/>
              <a:defRPr sz="2000" cap="none">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C64BBB-7E66-4950-AED1-8D8DEC1C015B}" type="datetimeFigureOut">
              <a:rPr lang="en-IN" smtClean="0"/>
              <a:t>18-08-2026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3C859C1-D947-4850-B316-73B8427B0D7F}" type="slidenum">
              <a:rPr lang="en-IN" smtClean="0"/>
              <a:t>‹#›</a:t>
            </a:fld>
            <a:endParaRPr lang="en-IN"/>
          </a:p>
        </p:txBody>
      </p:sp>
    </p:spTree>
    <p:extLst>
      <p:ext uri="{BB962C8B-B14F-4D97-AF65-F5344CB8AC3E}">
        <p14:creationId xmlns:p14="http://schemas.microsoft.com/office/powerpoint/2010/main" val="264175663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32947" y="1981200"/>
            <a:ext cx="2946866"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3"/>
          <p:cNvSpPr>
            <a:spLocks noGrp="1"/>
          </p:cNvSpPr>
          <p:nvPr>
            <p:ph type="body" sz="half" idx="15"/>
          </p:nvPr>
        </p:nvSpPr>
        <p:spPr>
          <a:xfrm>
            <a:off x="652463" y="266700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3659" y="1981200"/>
            <a:ext cx="2936241"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Text Placeholder 3"/>
          <p:cNvSpPr>
            <a:spLocks noGrp="1"/>
          </p:cNvSpPr>
          <p:nvPr>
            <p:ph type="body" sz="half" idx="16"/>
          </p:nvPr>
        </p:nvSpPr>
        <p:spPr>
          <a:xfrm>
            <a:off x="3873106" y="266700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1981200"/>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3"/>
          <p:cNvSpPr>
            <a:spLocks noGrp="1"/>
          </p:cNvSpPr>
          <p:nvPr>
            <p:ph type="body" sz="half" idx="17"/>
          </p:nvPr>
        </p:nvSpPr>
        <p:spPr>
          <a:xfrm>
            <a:off x="7124700" y="266700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24C64BBB-7E66-4950-AED1-8D8DEC1C015B}" type="datetimeFigureOut">
              <a:rPr lang="en-IN" smtClean="0"/>
              <a:t>18-08-2026</a:t>
            </a:fld>
            <a:endParaRPr lang="en-IN"/>
          </a:p>
        </p:txBody>
      </p:sp>
      <p:sp>
        <p:nvSpPr>
          <p:cNvPr id="4"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3C859C1-D947-4850-B316-73B8427B0D7F}" type="slidenum">
              <a:rPr lang="en-IN" smtClean="0"/>
              <a:t>‹#›</a:t>
            </a:fld>
            <a:endParaRPr lang="en-IN"/>
          </a:p>
        </p:txBody>
      </p:sp>
    </p:spTree>
    <p:extLst>
      <p:ext uri="{BB962C8B-B14F-4D97-AF65-F5344CB8AC3E}">
        <p14:creationId xmlns:p14="http://schemas.microsoft.com/office/powerpoint/2010/main" val="395064491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52463" y="4250949"/>
            <a:ext cx="2940050"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9" name="Picture Placeholder 2"/>
          <p:cNvSpPr>
            <a:spLocks noGrp="1" noChangeAspect="1"/>
          </p:cNvSpPr>
          <p:nvPr>
            <p:ph type="pic" idx="15"/>
          </p:nvPr>
        </p:nvSpPr>
        <p:spPr>
          <a:xfrm>
            <a:off x="652463" y="2209800"/>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652463" y="4827211"/>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9375" y="4250949"/>
            <a:ext cx="2930525"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0" name="Picture Placeholder 2"/>
          <p:cNvSpPr>
            <a:spLocks noGrp="1" noChangeAspect="1"/>
          </p:cNvSpPr>
          <p:nvPr>
            <p:ph type="pic" idx="21"/>
          </p:nvPr>
        </p:nvSpPr>
        <p:spPr>
          <a:xfrm>
            <a:off x="3889374" y="2209800"/>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3888022" y="4827210"/>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4250949"/>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1" name="Picture Placeholder 2"/>
          <p:cNvSpPr>
            <a:spLocks noGrp="1" noChangeAspect="1"/>
          </p:cNvSpPr>
          <p:nvPr>
            <p:ph type="pic" idx="22"/>
          </p:nvPr>
        </p:nvSpPr>
        <p:spPr>
          <a:xfrm>
            <a:off x="7124699" y="2209800"/>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7124575" y="4827208"/>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9" name="Straight Connector 18"/>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24C64BBB-7E66-4950-AED1-8D8DEC1C015B}" type="datetimeFigureOut">
              <a:rPr lang="en-IN" smtClean="0"/>
              <a:t>18-08-2026</a:t>
            </a:fld>
            <a:endParaRPr lang="en-IN"/>
          </a:p>
        </p:txBody>
      </p:sp>
      <p:sp>
        <p:nvSpPr>
          <p:cNvPr id="4"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3C859C1-D947-4850-B316-73B8427B0D7F}" type="slidenum">
              <a:rPr lang="en-IN" smtClean="0"/>
              <a:t>‹#›</a:t>
            </a:fld>
            <a:endParaRPr lang="en-IN"/>
          </a:p>
        </p:txBody>
      </p:sp>
    </p:spTree>
    <p:extLst>
      <p:ext uri="{BB962C8B-B14F-4D97-AF65-F5344CB8AC3E}">
        <p14:creationId xmlns:p14="http://schemas.microsoft.com/office/powerpoint/2010/main" val="391377035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4C64BBB-7E66-4950-AED1-8D8DEC1C015B}" type="datetimeFigureOut">
              <a:rPr lang="en-IN" smtClean="0"/>
              <a:t>18-08-2026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3C859C1-D947-4850-B316-73B8427B0D7F}" type="slidenum">
              <a:rPr lang="en-IN" smtClean="0"/>
              <a:t>‹#›</a:t>
            </a:fld>
            <a:endParaRPr lang="en-IN"/>
          </a:p>
        </p:txBody>
      </p:sp>
    </p:spTree>
    <p:extLst>
      <p:ext uri="{BB962C8B-B14F-4D97-AF65-F5344CB8AC3E}">
        <p14:creationId xmlns:p14="http://schemas.microsoft.com/office/powerpoint/2010/main" val="28670766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304212" y="430213"/>
            <a:ext cx="1752601" cy="5826125"/>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652463" y="887414"/>
            <a:ext cx="7423149" cy="536892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4C64BBB-7E66-4950-AED1-8D8DEC1C015B}" type="datetimeFigureOut">
              <a:rPr lang="en-IN" smtClean="0"/>
              <a:t>18-08-2026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3C859C1-D947-4850-B316-73B8427B0D7F}" type="slidenum">
              <a:rPr lang="en-IN" smtClean="0"/>
              <a:t>‹#›</a:t>
            </a:fld>
            <a:endParaRPr lang="en-IN"/>
          </a:p>
        </p:txBody>
      </p:sp>
    </p:spTree>
    <p:extLst>
      <p:ext uri="{BB962C8B-B14F-4D97-AF65-F5344CB8AC3E}">
        <p14:creationId xmlns:p14="http://schemas.microsoft.com/office/powerpoint/2010/main" val="118868788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cSld name="Content">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FE6C4595-90D4-94E6-CEBA-82807457D2BE}"/>
              </a:ext>
            </a:extLst>
          </p:cNvPr>
          <p:cNvSpPr>
            <a:spLocks noGrp="1"/>
          </p:cNvSpPr>
          <p:nvPr>
            <p:ph type="title"/>
          </p:nvPr>
        </p:nvSpPr>
        <p:spPr>
          <a:xfrm>
            <a:off x="731520" y="365760"/>
            <a:ext cx="10741152" cy="1132258"/>
          </a:xfrm>
        </p:spPr>
        <p:txBody>
          <a:bodyPr/>
          <a:lstStyle/>
          <a:p>
            <a:r>
              <a:rPr lang="en-US"/>
              <a:t>Click to edit Master title style</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tx1"/>
                </a:solidFill>
              </a:defRPr>
            </a:lvl1pPr>
          </a:lstStyle>
          <a:p>
            <a:endParaRPr lang="en-IN"/>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a:xfrm>
            <a:off x="731520" y="1658679"/>
            <a:ext cx="10780776" cy="4925000"/>
          </a:xfrm>
        </p:spPr>
        <p:txBody>
          <a:bodyPr>
            <a:normAutofit/>
          </a:bodyPr>
          <a:lstStyle>
            <a:lvl1pPr>
              <a:defRPr sz="1800">
                <a:solidFill>
                  <a:schemeClr val="tx1"/>
                </a:solidFill>
              </a:defRPr>
            </a:lvl1pPr>
            <a:lvl2pPr>
              <a:defRPr sz="1600">
                <a:solidFill>
                  <a:schemeClr val="tx1"/>
                </a:solidFill>
              </a:defRPr>
            </a:lvl2pPr>
            <a:lvl3pPr>
              <a:defRPr sz="1400">
                <a:solidFill>
                  <a:schemeClr val="tx1"/>
                </a:solidFill>
              </a:defRPr>
            </a:lvl3pPr>
            <a:lvl4pPr>
              <a:defRPr sz="1200">
                <a:solidFill>
                  <a:schemeClr val="tx1"/>
                </a:solidFill>
              </a:defRPr>
            </a:lvl4pPr>
            <a:lvl5pPr>
              <a:defRPr sz="1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lvl1pPr>
              <a:defRPr>
                <a:solidFill>
                  <a:schemeClr val="tx1"/>
                </a:solidFill>
              </a:defRPr>
            </a:lvl1pPr>
          </a:lstStyle>
          <a:p>
            <a:fld id="{24C64BBB-7E66-4950-AED1-8D8DEC1C015B}" type="datetimeFigureOut">
              <a:rPr lang="en-IN" smtClean="0"/>
              <a:t>18-08-2026</a:t>
            </a:fld>
            <a:endParaRPr lang="en-IN"/>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tx1"/>
                </a:solidFill>
              </a:defRPr>
            </a:lvl1pPr>
          </a:lstStyle>
          <a:p>
            <a:fld id="{23C859C1-D947-4850-B316-73B8427B0D7F}" type="slidenum">
              <a:rPr lang="en-IN" smtClean="0"/>
              <a:t>‹#›</a:t>
            </a:fld>
            <a:endParaRPr lang="en-IN"/>
          </a:p>
        </p:txBody>
      </p:sp>
    </p:spTree>
    <p:extLst>
      <p:ext uri="{BB962C8B-B14F-4D97-AF65-F5344CB8AC3E}">
        <p14:creationId xmlns:p14="http://schemas.microsoft.com/office/powerpoint/2010/main" val="366554449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image" Target="../media/image3.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image" Target="../media/image5.png"/><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4.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20">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7" name="Picture 6"/>
          <p:cNvPicPr>
            <a:picLocks noChangeAspect="1"/>
          </p:cNvPicPr>
          <p:nvPr/>
        </p:nvPicPr>
        <p:blipFill rotWithShape="1">
          <a:blip r:embed="rId21">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6" name="Oval 15"/>
          <p:cNvSpPr/>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pic>
        <p:nvPicPr>
          <p:cNvPr id="9" name="Picture 8"/>
          <p:cNvPicPr>
            <a:picLocks noChangeAspect="1"/>
          </p:cNvPicPr>
          <p:nvPr/>
        </p:nvPicPr>
        <p:blipFill rotWithShape="1">
          <a:blip r:embed="rId22">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0" name="Picture 9"/>
          <p:cNvPicPr>
            <a:picLocks noChangeAspect="1"/>
          </p:cNvPicPr>
          <p:nvPr/>
        </p:nvPicPr>
        <p:blipFill rotWithShape="1">
          <a:blip r:embed="rId23">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646111" y="452718"/>
            <a:ext cx="9404723" cy="1400530"/>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p:cNvSpPr>
            <a:spLocks noGrp="1"/>
          </p:cNvSpPr>
          <p:nvPr>
            <p:ph type="body" idx="1"/>
          </p:nvPr>
        </p:nvSpPr>
        <p:spPr>
          <a:xfrm>
            <a:off x="1103312" y="2052918"/>
            <a:ext cx="8946541" cy="419548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rot="5400000">
            <a:off x="10155639" y="1790701"/>
            <a:ext cx="990599" cy="30479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fld id="{24C64BBB-7E66-4950-AED1-8D8DEC1C015B}" type="datetimeFigureOut">
              <a:rPr lang="en-IN" smtClean="0"/>
              <a:t>18-08-2026</a:t>
            </a:fld>
            <a:endParaRPr lang="en-IN"/>
          </a:p>
        </p:txBody>
      </p:sp>
      <p:sp>
        <p:nvSpPr>
          <p:cNvPr id="5" name="Footer Placeholder 4"/>
          <p:cNvSpPr>
            <a:spLocks noGrp="1"/>
          </p:cNvSpPr>
          <p:nvPr>
            <p:ph type="ftr" sz="quarter" idx="3"/>
          </p:nvPr>
        </p:nvSpPr>
        <p:spPr>
          <a:xfrm rot="5400000">
            <a:off x="8951573" y="3225297"/>
            <a:ext cx="3859795" cy="304801"/>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endParaRPr lang="en-IN"/>
          </a:p>
        </p:txBody>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tx1">
                    <a:tint val="75000"/>
                  </a:schemeClr>
                </a:solidFill>
              </a:defRPr>
            </a:lvl1pPr>
          </a:lstStyle>
          <a:p>
            <a:fld id="{23C859C1-D947-4850-B316-73B8427B0D7F}" type="slidenum">
              <a:rPr lang="en-IN" smtClean="0"/>
              <a:t>‹#›</a:t>
            </a:fld>
            <a:endParaRPr lang="en-IN"/>
          </a:p>
        </p:txBody>
      </p:sp>
    </p:spTree>
    <p:extLst>
      <p:ext uri="{BB962C8B-B14F-4D97-AF65-F5344CB8AC3E}">
        <p14:creationId xmlns:p14="http://schemas.microsoft.com/office/powerpoint/2010/main" val="858136681"/>
      </p:ext>
    </p:extLst>
  </p:cSld>
  <p:clrMap bg1="dk1" tx1="lt1" bg2="dk2" tx2="lt2" accent1="accent1" accent2="accent2" accent3="accent3" accent4="accent4" accent5="accent5" accent6="accent6" hlink="hlink" folHlink="folHlink"/>
  <p:sldLayoutIdLst>
    <p:sldLayoutId id="2147484362" r:id="rId1"/>
    <p:sldLayoutId id="2147484363" r:id="rId2"/>
    <p:sldLayoutId id="2147484364" r:id="rId3"/>
    <p:sldLayoutId id="2147484365" r:id="rId4"/>
    <p:sldLayoutId id="2147484366" r:id="rId5"/>
    <p:sldLayoutId id="2147484367" r:id="rId6"/>
    <p:sldLayoutId id="2147484368" r:id="rId7"/>
    <p:sldLayoutId id="2147484369" r:id="rId8"/>
    <p:sldLayoutId id="2147484370" r:id="rId9"/>
    <p:sldLayoutId id="2147484371" r:id="rId10"/>
    <p:sldLayoutId id="2147484372" r:id="rId11"/>
    <p:sldLayoutId id="2147484373" r:id="rId12"/>
    <p:sldLayoutId id="2147484374" r:id="rId13"/>
    <p:sldLayoutId id="2147484375" r:id="rId14"/>
    <p:sldLayoutId id="2147484376" r:id="rId15"/>
    <p:sldLayoutId id="2147484377" r:id="rId16"/>
    <p:sldLayoutId id="2147484378" r:id="rId17"/>
    <p:sldLayoutId id="2147484379" r:id="rId18"/>
  </p:sldLayoutIdLst>
  <p:txStyles>
    <p:title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06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18.xml"/><Relationship Id="rId4" Type="http://schemas.openxmlformats.org/officeDocument/2006/relationships/image" Target="../media/image8.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8.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8.xml"/></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18.xml"/><Relationship Id="rId5" Type="http://schemas.openxmlformats.org/officeDocument/2006/relationships/image" Target="../media/image14.png"/><Relationship Id="rId4" Type="http://schemas.openxmlformats.org/officeDocument/2006/relationships/image" Target="../media/image13.png"/></Relationships>
</file>

<file path=ppt/slides/_rels/slide1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8.xml"/></Relationships>
</file>

<file path=ppt/slides/_rels/slide11.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8.xml"/></Relationships>
</file>

<file path=ppt/slides/_rels/slide12.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8.xml"/></Relationships>
</file>

<file path=ppt/slides/_rels/slide13.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18.xml"/></Relationships>
</file>

<file path=ppt/slides/_rels/slide14.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18.xml"/></Relationships>
</file>

<file path=ppt/slides/_rels/slide15.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18.xml"/></Relationships>
</file>

<file path=ppt/slides/_rels/slide16.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18.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0.xml.rels><?xml version="1.0" encoding="UTF-8" standalone="yes"?>
<Relationships xmlns="http://schemas.openxmlformats.org/package/2006/relationships"><Relationship Id="rId3" Type="http://schemas.openxmlformats.org/officeDocument/2006/relationships/hyperlink" Target="https://www.publicdomainpictures.net/en/view-image.php?image=80234&amp;picture=thank-you-text" TargetMode="External"/><Relationship Id="rId2" Type="http://schemas.openxmlformats.org/officeDocument/2006/relationships/image" Target="../media/image22.jpg"/><Relationship Id="rId1" Type="http://schemas.openxmlformats.org/officeDocument/2006/relationships/slideLayout" Target="../slideLayouts/slideLayout1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026A85-E825-34E0-2A4D-B12D9700799C}"/>
              </a:ext>
            </a:extLst>
          </p:cNvPr>
          <p:cNvSpPr>
            <a:spLocks noGrp="1"/>
          </p:cNvSpPr>
          <p:nvPr>
            <p:ph type="title"/>
          </p:nvPr>
        </p:nvSpPr>
        <p:spPr>
          <a:xfrm>
            <a:off x="551590" y="1453896"/>
            <a:ext cx="3093228" cy="331325"/>
          </a:xfrm>
        </p:spPr>
        <p:txBody>
          <a:bodyPr/>
          <a:lstStyle/>
          <a:p>
            <a:r>
              <a:rPr lang="en-US" sz="1400" b="1" kern="0" spc="300" dirty="0">
                <a:solidFill>
                  <a:srgbClr val="0D9488"/>
                </a:solidFill>
                <a:latin typeface="Calibri" pitchFamily="34" charset="0"/>
                <a:ea typeface="Calibri" pitchFamily="34" charset="-122"/>
                <a:cs typeface="Calibri" pitchFamily="34" charset="-120"/>
              </a:rPr>
              <a:t>DATA ANALYTICS PROJECT</a:t>
            </a:r>
            <a:br>
              <a:rPr lang="en-US" sz="1400" dirty="0"/>
            </a:br>
            <a:endParaRPr lang="en-IN" sz="1400" dirty="0"/>
          </a:p>
        </p:txBody>
      </p:sp>
      <p:sp>
        <p:nvSpPr>
          <p:cNvPr id="3" name="Content Placeholder 2">
            <a:extLst>
              <a:ext uri="{FF2B5EF4-FFF2-40B4-BE49-F238E27FC236}">
                <a16:creationId xmlns:a16="http://schemas.microsoft.com/office/drawing/2014/main" id="{803936D2-6E56-BAB3-E6EC-1E5D531B3A17}"/>
              </a:ext>
            </a:extLst>
          </p:cNvPr>
          <p:cNvSpPr>
            <a:spLocks noGrp="1"/>
          </p:cNvSpPr>
          <p:nvPr>
            <p:ph idx="1"/>
          </p:nvPr>
        </p:nvSpPr>
        <p:spPr>
          <a:xfrm>
            <a:off x="407056" y="2061802"/>
            <a:ext cx="7163783" cy="1625295"/>
          </a:xfrm>
        </p:spPr>
        <p:txBody>
          <a:bodyPr>
            <a:normAutofit/>
          </a:bodyPr>
          <a:lstStyle/>
          <a:p>
            <a:pPr marL="0" indent="0">
              <a:lnSpc>
                <a:spcPts val="4600"/>
              </a:lnSpc>
              <a:buNone/>
            </a:pPr>
            <a:r>
              <a:rPr lang="en-US" sz="3600" b="1" dirty="0">
                <a:solidFill>
                  <a:srgbClr val="FFFFFF"/>
                </a:solidFill>
                <a:latin typeface="Cambria" pitchFamily="34" charset="0"/>
                <a:ea typeface="Cambria" pitchFamily="34" charset="-122"/>
                <a:cs typeface="Cambria" pitchFamily="34" charset="-120"/>
              </a:rPr>
              <a:t>IT Support Tickets:</a:t>
            </a:r>
            <a:endParaRPr lang="en-US" sz="3600" dirty="0"/>
          </a:p>
          <a:p>
            <a:pPr marL="0" indent="0">
              <a:lnSpc>
                <a:spcPts val="4600"/>
              </a:lnSpc>
              <a:buNone/>
            </a:pPr>
            <a:r>
              <a:rPr lang="en-US" sz="3600" b="1" dirty="0">
                <a:solidFill>
                  <a:srgbClr val="FFFFFF"/>
                </a:solidFill>
                <a:latin typeface="Cambria" pitchFamily="34" charset="0"/>
                <a:ea typeface="Cambria" pitchFamily="34" charset="-122"/>
                <a:cs typeface="Cambria" pitchFamily="34" charset="-120"/>
              </a:rPr>
              <a:t>Exploratory Data Analysis</a:t>
            </a:r>
            <a:endParaRPr lang="en-US" sz="3600" dirty="0"/>
          </a:p>
          <a:p>
            <a:endParaRPr lang="en-IN" sz="3600" dirty="0"/>
          </a:p>
        </p:txBody>
      </p:sp>
      <p:sp>
        <p:nvSpPr>
          <p:cNvPr id="6" name="Shape 2">
            <a:extLst>
              <a:ext uri="{FF2B5EF4-FFF2-40B4-BE49-F238E27FC236}">
                <a16:creationId xmlns:a16="http://schemas.microsoft.com/office/drawing/2014/main" id="{2BB166E7-A5C9-7844-25A9-C032AD4CCDC2}"/>
              </a:ext>
            </a:extLst>
          </p:cNvPr>
          <p:cNvSpPr/>
          <p:nvPr/>
        </p:nvSpPr>
        <p:spPr>
          <a:xfrm>
            <a:off x="640080" y="429768"/>
            <a:ext cx="822960" cy="822960"/>
          </a:xfrm>
          <a:prstGeom prst="ellipse">
            <a:avLst/>
          </a:prstGeom>
          <a:solidFill>
            <a:srgbClr val="0D9488"/>
          </a:solidFill>
          <a:ln/>
        </p:spPr>
      </p:sp>
      <p:pic>
        <p:nvPicPr>
          <p:cNvPr id="9" name="Image 0" descr="preencoded.png">
            <a:extLst>
              <a:ext uri="{FF2B5EF4-FFF2-40B4-BE49-F238E27FC236}">
                <a16:creationId xmlns:a16="http://schemas.microsoft.com/office/drawing/2014/main" id="{EF6034E6-94C7-C1F8-25D0-F8E6ADACCBB0}"/>
              </a:ext>
            </a:extLst>
          </p:cNvPr>
          <p:cNvPicPr>
            <a:picLocks noChangeAspect="1"/>
          </p:cNvPicPr>
          <p:nvPr/>
        </p:nvPicPr>
        <p:blipFill>
          <a:blip r:embed="rId2"/>
          <a:stretch>
            <a:fillRect/>
          </a:stretch>
        </p:blipFill>
        <p:spPr>
          <a:xfrm>
            <a:off x="841248" y="630936"/>
            <a:ext cx="420624" cy="420624"/>
          </a:xfrm>
          <a:prstGeom prst="rect">
            <a:avLst/>
          </a:prstGeom>
        </p:spPr>
      </p:pic>
      <p:sp>
        <p:nvSpPr>
          <p:cNvPr id="10" name="TextBox 9">
            <a:extLst>
              <a:ext uri="{FF2B5EF4-FFF2-40B4-BE49-F238E27FC236}">
                <a16:creationId xmlns:a16="http://schemas.microsoft.com/office/drawing/2014/main" id="{F549BC8F-9E18-A88A-B99B-B37648F93B26}"/>
              </a:ext>
            </a:extLst>
          </p:cNvPr>
          <p:cNvSpPr txBox="1"/>
          <p:nvPr/>
        </p:nvSpPr>
        <p:spPr>
          <a:xfrm>
            <a:off x="407056" y="3687097"/>
            <a:ext cx="9096529" cy="646331"/>
          </a:xfrm>
          <a:prstGeom prst="rect">
            <a:avLst/>
          </a:prstGeom>
          <a:noFill/>
        </p:spPr>
        <p:txBody>
          <a:bodyPr wrap="none" rtlCol="0">
            <a:spAutoFit/>
          </a:bodyPr>
          <a:lstStyle/>
          <a:p>
            <a:r>
              <a:rPr lang="en-US" i="1" dirty="0">
                <a:solidFill>
                  <a:srgbClr val="CADCFC"/>
                </a:solidFill>
                <a:latin typeface="Calibri" pitchFamily="34" charset="0"/>
                <a:ea typeface="Calibri" pitchFamily="34" charset="-122"/>
                <a:cs typeface="Calibri" pitchFamily="34" charset="-120"/>
              </a:rPr>
              <a:t>Exploring Schema, Data Types, and Missing Values in a 100K Synthetic IT Support Ticket Dataset</a:t>
            </a:r>
            <a:endParaRPr lang="en-US" dirty="0"/>
          </a:p>
          <a:p>
            <a:endParaRPr lang="en-IN" dirty="0"/>
          </a:p>
        </p:txBody>
      </p:sp>
      <p:sp>
        <p:nvSpPr>
          <p:cNvPr id="13" name="Shape 6">
            <a:extLst>
              <a:ext uri="{FF2B5EF4-FFF2-40B4-BE49-F238E27FC236}">
                <a16:creationId xmlns:a16="http://schemas.microsoft.com/office/drawing/2014/main" id="{5CFFF9D5-C58B-C2C5-AAD0-58F47963CA64}"/>
              </a:ext>
            </a:extLst>
          </p:cNvPr>
          <p:cNvSpPr/>
          <p:nvPr/>
        </p:nvSpPr>
        <p:spPr>
          <a:xfrm>
            <a:off x="640080" y="5349240"/>
            <a:ext cx="1005840" cy="0"/>
          </a:xfrm>
          <a:prstGeom prst="line">
            <a:avLst/>
          </a:prstGeom>
          <a:noFill/>
          <a:ln w="25400">
            <a:solidFill>
              <a:srgbClr val="0D9488"/>
            </a:solidFill>
            <a:prstDash val="solid"/>
          </a:ln>
        </p:spPr>
      </p:sp>
      <p:sp>
        <p:nvSpPr>
          <p:cNvPr id="14" name="TextBox 13">
            <a:extLst>
              <a:ext uri="{FF2B5EF4-FFF2-40B4-BE49-F238E27FC236}">
                <a16:creationId xmlns:a16="http://schemas.microsoft.com/office/drawing/2014/main" id="{233F9CA5-C7B4-4165-86A6-D11FC90BAAB8}"/>
              </a:ext>
            </a:extLst>
          </p:cNvPr>
          <p:cNvSpPr txBox="1"/>
          <p:nvPr/>
        </p:nvSpPr>
        <p:spPr>
          <a:xfrm>
            <a:off x="568048" y="5458202"/>
            <a:ext cx="1693371" cy="646331"/>
          </a:xfrm>
          <a:prstGeom prst="rect">
            <a:avLst/>
          </a:prstGeom>
          <a:noFill/>
        </p:spPr>
        <p:txBody>
          <a:bodyPr wrap="square" rtlCol="0">
            <a:spAutoFit/>
          </a:bodyPr>
          <a:lstStyle/>
          <a:p>
            <a:r>
              <a:rPr lang="en-US" b="1" dirty="0">
                <a:solidFill>
                  <a:srgbClr val="FFFFFF"/>
                </a:solidFill>
                <a:latin typeface="Calibri" pitchFamily="34" charset="0"/>
                <a:ea typeface="Calibri" pitchFamily="34" charset="-122"/>
                <a:cs typeface="Calibri" pitchFamily="34" charset="-120"/>
              </a:rPr>
              <a:t>Varsha B O</a:t>
            </a:r>
            <a:endParaRPr lang="en-US" dirty="0"/>
          </a:p>
          <a:p>
            <a:endParaRPr lang="en-IN" dirty="0"/>
          </a:p>
        </p:txBody>
      </p:sp>
      <p:sp>
        <p:nvSpPr>
          <p:cNvPr id="15" name="TextBox 14">
            <a:extLst>
              <a:ext uri="{FF2B5EF4-FFF2-40B4-BE49-F238E27FC236}">
                <a16:creationId xmlns:a16="http://schemas.microsoft.com/office/drawing/2014/main" id="{11A697FF-D3D4-40AF-AE6B-0C1C374FF6BE}"/>
              </a:ext>
            </a:extLst>
          </p:cNvPr>
          <p:cNvSpPr txBox="1"/>
          <p:nvPr/>
        </p:nvSpPr>
        <p:spPr>
          <a:xfrm>
            <a:off x="555266" y="5837213"/>
            <a:ext cx="5831492" cy="718145"/>
          </a:xfrm>
          <a:prstGeom prst="rect">
            <a:avLst/>
          </a:prstGeom>
          <a:noFill/>
        </p:spPr>
        <p:txBody>
          <a:bodyPr wrap="square" rtlCol="0">
            <a:spAutoFit/>
          </a:bodyPr>
          <a:lstStyle/>
          <a:p>
            <a:pPr>
              <a:lnSpc>
                <a:spcPts val="1600"/>
              </a:lnSpc>
            </a:pPr>
            <a:r>
              <a:rPr lang="en-US" sz="1400" dirty="0">
                <a:solidFill>
                  <a:srgbClr val="8FA3C4"/>
                </a:solidFill>
                <a:latin typeface="Calibri" pitchFamily="34" charset="0"/>
                <a:ea typeface="Calibri" pitchFamily="34" charset="-122"/>
                <a:cs typeface="Calibri" pitchFamily="34" charset="-120"/>
              </a:rPr>
              <a:t>B.E. Computer Science &amp; Engineering (Data Science)</a:t>
            </a:r>
            <a:endParaRPr lang="en-US" sz="1400" dirty="0"/>
          </a:p>
          <a:p>
            <a:pPr>
              <a:lnSpc>
                <a:spcPts val="1600"/>
              </a:lnSpc>
            </a:pPr>
            <a:r>
              <a:rPr lang="en-US" sz="1400" dirty="0">
                <a:solidFill>
                  <a:srgbClr val="8FA3C4"/>
                </a:solidFill>
                <a:latin typeface="Calibri" pitchFamily="34" charset="0"/>
                <a:ea typeface="Calibri" pitchFamily="34" charset="-122"/>
                <a:cs typeface="Calibri" pitchFamily="34" charset="-120"/>
              </a:rPr>
              <a:t>Bapuji Institute of Engineering and Technology, Davangere</a:t>
            </a:r>
            <a:endParaRPr lang="en-US" sz="1400" dirty="0"/>
          </a:p>
          <a:p>
            <a:endParaRPr lang="en-IN" sz="1400" dirty="0"/>
          </a:p>
        </p:txBody>
      </p:sp>
      <p:pic>
        <p:nvPicPr>
          <p:cNvPr id="18" name="Image 1" descr="preencoded.png">
            <a:extLst>
              <a:ext uri="{FF2B5EF4-FFF2-40B4-BE49-F238E27FC236}">
                <a16:creationId xmlns:a16="http://schemas.microsoft.com/office/drawing/2014/main" id="{787A1F2F-10DB-EC41-9CB8-67677F0C40E6}"/>
              </a:ext>
            </a:extLst>
          </p:cNvPr>
          <p:cNvPicPr>
            <a:picLocks noChangeAspect="1"/>
          </p:cNvPicPr>
          <p:nvPr/>
        </p:nvPicPr>
        <p:blipFill>
          <a:blip r:embed="rId3"/>
          <a:stretch>
            <a:fillRect/>
          </a:stretch>
        </p:blipFill>
        <p:spPr>
          <a:xfrm>
            <a:off x="10881360" y="5989320"/>
            <a:ext cx="365760" cy="365760"/>
          </a:xfrm>
          <a:prstGeom prst="rect">
            <a:avLst/>
          </a:prstGeom>
        </p:spPr>
      </p:pic>
      <p:pic>
        <p:nvPicPr>
          <p:cNvPr id="21" name="Image 2" descr="preencoded.png">
            <a:extLst>
              <a:ext uri="{FF2B5EF4-FFF2-40B4-BE49-F238E27FC236}">
                <a16:creationId xmlns:a16="http://schemas.microsoft.com/office/drawing/2014/main" id="{44B47DE4-4E7F-4012-BE5F-F0B486118C73}"/>
              </a:ext>
            </a:extLst>
          </p:cNvPr>
          <p:cNvPicPr>
            <a:picLocks noChangeAspect="1"/>
          </p:cNvPicPr>
          <p:nvPr/>
        </p:nvPicPr>
        <p:blipFill>
          <a:blip r:embed="rId4"/>
          <a:stretch>
            <a:fillRect/>
          </a:stretch>
        </p:blipFill>
        <p:spPr>
          <a:xfrm>
            <a:off x="11430000" y="5989320"/>
            <a:ext cx="365760" cy="365760"/>
          </a:xfrm>
          <a:prstGeom prst="rect">
            <a:avLst/>
          </a:prstGeom>
        </p:spPr>
      </p:pic>
    </p:spTree>
    <p:extLst>
      <p:ext uri="{BB962C8B-B14F-4D97-AF65-F5344CB8AC3E}">
        <p14:creationId xmlns:p14="http://schemas.microsoft.com/office/powerpoint/2010/main" val="200880162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DF1919-2F44-44D6-2BD9-66D4DA5408DD}"/>
              </a:ext>
            </a:extLst>
          </p:cNvPr>
          <p:cNvSpPr>
            <a:spLocks noGrp="1"/>
          </p:cNvSpPr>
          <p:nvPr>
            <p:ph type="title"/>
          </p:nvPr>
        </p:nvSpPr>
        <p:spPr>
          <a:xfrm>
            <a:off x="838200" y="365126"/>
            <a:ext cx="10515600" cy="677094"/>
          </a:xfrm>
        </p:spPr>
        <p:txBody>
          <a:bodyPr>
            <a:normAutofit/>
          </a:bodyPr>
          <a:lstStyle/>
          <a:p>
            <a:pPr algn="ctr"/>
            <a:r>
              <a:rPr lang="en-IN" sz="2800" dirty="0">
                <a:solidFill>
                  <a:schemeClr val="tx1"/>
                </a:solidFill>
                <a:latin typeface="Times New Roman" panose="02020603050405020304" pitchFamily="18" charset="0"/>
                <a:cs typeface="Times New Roman" panose="02020603050405020304" pitchFamily="18" charset="0"/>
              </a:rPr>
              <a:t>Project Overview</a:t>
            </a:r>
          </a:p>
        </p:txBody>
      </p:sp>
      <p:sp>
        <p:nvSpPr>
          <p:cNvPr id="3" name="Content Placeholder 2">
            <a:extLst>
              <a:ext uri="{FF2B5EF4-FFF2-40B4-BE49-F238E27FC236}">
                <a16:creationId xmlns:a16="http://schemas.microsoft.com/office/drawing/2014/main" id="{E6C0F047-F993-C44B-BA6A-E70A025BB6D7}"/>
              </a:ext>
            </a:extLst>
          </p:cNvPr>
          <p:cNvSpPr>
            <a:spLocks noGrp="1"/>
          </p:cNvSpPr>
          <p:nvPr>
            <p:ph idx="1"/>
          </p:nvPr>
        </p:nvSpPr>
        <p:spPr>
          <a:xfrm>
            <a:off x="838200" y="1042220"/>
            <a:ext cx="10515600" cy="5450654"/>
          </a:xfrm>
        </p:spPr>
        <p:txBody>
          <a:bodyPr>
            <a:normAutofit fontScale="77500" lnSpcReduction="20000"/>
          </a:bodyPr>
          <a:lstStyle/>
          <a:p>
            <a:pPr marL="0" indent="0" algn="just">
              <a:buNone/>
            </a:pPr>
            <a:r>
              <a:rPr lang="en-IN" sz="3400" b="1" dirty="0">
                <a:latin typeface="Times New Roman" panose="02020603050405020304" pitchFamily="18" charset="0"/>
                <a:cs typeface="Times New Roman" panose="02020603050405020304" pitchFamily="18" charset="0"/>
              </a:rPr>
              <a:t>What is </a:t>
            </a:r>
            <a:r>
              <a:rPr lang="en-IN" sz="3400" b="1" dirty="0" err="1">
                <a:latin typeface="Times New Roman" panose="02020603050405020304" pitchFamily="18" charset="0"/>
                <a:cs typeface="Times New Roman" panose="02020603050405020304" pitchFamily="18" charset="0"/>
              </a:rPr>
              <a:t>Supportlytics</a:t>
            </a:r>
            <a:r>
              <a:rPr lang="en-IN" sz="3400" b="1" dirty="0">
                <a:latin typeface="Times New Roman" panose="02020603050405020304" pitchFamily="18" charset="0"/>
                <a:cs typeface="Times New Roman" panose="02020603050405020304" pitchFamily="18" charset="0"/>
              </a:rPr>
              <a:t>?</a:t>
            </a:r>
            <a:endParaRPr lang="en-IN" sz="3400" dirty="0">
              <a:latin typeface="Times New Roman" panose="02020603050405020304" pitchFamily="18" charset="0"/>
              <a:cs typeface="Times New Roman" panose="02020603050405020304" pitchFamily="18" charset="0"/>
            </a:endParaRPr>
          </a:p>
          <a:p>
            <a:pPr marL="0" indent="0" algn="just">
              <a:lnSpc>
                <a:spcPct val="150000"/>
              </a:lnSpc>
              <a:buNone/>
            </a:pPr>
            <a:r>
              <a:rPr lang="en-IN" sz="2400" dirty="0" err="1">
                <a:latin typeface="Times New Roman" panose="02020603050405020304" pitchFamily="18" charset="0"/>
                <a:cs typeface="Times New Roman" panose="02020603050405020304" pitchFamily="18" charset="0"/>
              </a:rPr>
              <a:t>Supportlytics</a:t>
            </a:r>
            <a:r>
              <a:rPr lang="en-IN" sz="2400" dirty="0">
                <a:latin typeface="Times New Roman" panose="02020603050405020304" pitchFamily="18" charset="0"/>
                <a:cs typeface="Times New Roman" panose="02020603050405020304" pitchFamily="18" charset="0"/>
              </a:rPr>
              <a:t> is an analytics-driven IT support performance system that </a:t>
            </a:r>
            <a:r>
              <a:rPr lang="en-IN" sz="2400" dirty="0" err="1">
                <a:latin typeface="Times New Roman" panose="02020603050405020304" pitchFamily="18" charset="0"/>
                <a:cs typeface="Times New Roman" panose="02020603050405020304" pitchFamily="18" charset="0"/>
              </a:rPr>
              <a:t>analyzes</a:t>
            </a:r>
            <a:r>
              <a:rPr lang="en-IN" sz="2400" dirty="0">
                <a:latin typeface="Times New Roman" panose="02020603050405020304" pitchFamily="18" charset="0"/>
                <a:cs typeface="Times New Roman" panose="02020603050405020304" pitchFamily="18" charset="0"/>
              </a:rPr>
              <a:t> support tickets to identify patterns in ticket volume, priority, resolution time, customer satisfaction, geographical distribution, and issue clusters.</a:t>
            </a:r>
          </a:p>
          <a:p>
            <a:pPr marL="0" indent="0">
              <a:buNone/>
            </a:pPr>
            <a:endParaRPr lang="en-IN" sz="3400" b="1" dirty="0"/>
          </a:p>
          <a:p>
            <a:pPr marL="0" indent="0" algn="ctr">
              <a:buNone/>
            </a:pPr>
            <a:r>
              <a:rPr lang="en-IN" sz="4000" b="1" dirty="0">
                <a:latin typeface="Times New Roman" panose="02020603050405020304" pitchFamily="18" charset="0"/>
                <a:cs typeface="Times New Roman" panose="02020603050405020304" pitchFamily="18" charset="0"/>
              </a:rPr>
              <a:t>Technologies</a:t>
            </a:r>
            <a:endParaRPr lang="en-IN" sz="4000" dirty="0">
              <a:latin typeface="Times New Roman" panose="02020603050405020304" pitchFamily="18" charset="0"/>
              <a:cs typeface="Times New Roman" panose="02020603050405020304" pitchFamily="18" charset="0"/>
            </a:endParaRPr>
          </a:p>
          <a:p>
            <a:pPr lvl="0">
              <a:lnSpc>
                <a:spcPct val="170000"/>
              </a:lnSpc>
            </a:pPr>
            <a:r>
              <a:rPr lang="en-IN" sz="2400" dirty="0">
                <a:latin typeface="Times New Roman" panose="02020603050405020304" pitchFamily="18" charset="0"/>
                <a:cs typeface="Times New Roman" panose="02020603050405020304" pitchFamily="18" charset="0"/>
              </a:rPr>
              <a:t>Python </a:t>
            </a:r>
          </a:p>
          <a:p>
            <a:pPr lvl="0">
              <a:lnSpc>
                <a:spcPct val="170000"/>
              </a:lnSpc>
            </a:pPr>
            <a:r>
              <a:rPr lang="en-IN" sz="2400" dirty="0">
                <a:latin typeface="Times New Roman" panose="02020603050405020304" pitchFamily="18" charset="0"/>
                <a:cs typeface="Times New Roman" panose="02020603050405020304" pitchFamily="18" charset="0"/>
              </a:rPr>
              <a:t>Pandas / NumPy </a:t>
            </a:r>
          </a:p>
          <a:p>
            <a:pPr lvl="0">
              <a:lnSpc>
                <a:spcPct val="170000"/>
              </a:lnSpc>
            </a:pPr>
            <a:r>
              <a:rPr lang="en-IN" sz="2400" dirty="0">
                <a:latin typeface="Times New Roman" panose="02020603050405020304" pitchFamily="18" charset="0"/>
                <a:cs typeface="Times New Roman" panose="02020603050405020304" pitchFamily="18" charset="0"/>
              </a:rPr>
              <a:t>Machine Learning / Clustering </a:t>
            </a:r>
          </a:p>
          <a:p>
            <a:pPr lvl="0">
              <a:lnSpc>
                <a:spcPct val="170000"/>
              </a:lnSpc>
            </a:pPr>
            <a:r>
              <a:rPr lang="en-IN" sz="2400" dirty="0">
                <a:latin typeface="Times New Roman" panose="02020603050405020304" pitchFamily="18" charset="0"/>
                <a:cs typeface="Times New Roman" panose="02020603050405020304" pitchFamily="18" charset="0"/>
              </a:rPr>
              <a:t>Power BI </a:t>
            </a:r>
          </a:p>
          <a:p>
            <a:pPr lvl="0">
              <a:lnSpc>
                <a:spcPct val="170000"/>
              </a:lnSpc>
            </a:pPr>
            <a:r>
              <a:rPr lang="en-IN" sz="2400" dirty="0">
                <a:latin typeface="Times New Roman" panose="02020603050405020304" pitchFamily="18" charset="0"/>
                <a:cs typeface="Times New Roman" panose="02020603050405020304" pitchFamily="18" charset="0"/>
              </a:rPr>
              <a:t>Data Visualization</a:t>
            </a:r>
          </a:p>
          <a:p>
            <a:pPr marL="0" indent="0" algn="just">
              <a:buNone/>
            </a:pPr>
            <a:endParaRPr lang="en-IN" dirty="0">
              <a:latin typeface="Times New Roman" panose="02020603050405020304" pitchFamily="18" charset="0"/>
              <a:cs typeface="Times New Roman" panose="02020603050405020304" pitchFamily="18" charset="0"/>
            </a:endParaRPr>
          </a:p>
          <a:p>
            <a:pPr algn="just"/>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7734377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691472-5A7C-EAD7-B910-17C959AC7471}"/>
              </a:ext>
            </a:extLst>
          </p:cNvPr>
          <p:cNvSpPr>
            <a:spLocks noGrp="1"/>
          </p:cNvSpPr>
          <p:nvPr>
            <p:ph type="title"/>
          </p:nvPr>
        </p:nvSpPr>
        <p:spPr>
          <a:xfrm>
            <a:off x="731520" y="365760"/>
            <a:ext cx="10741152" cy="735453"/>
          </a:xfrm>
        </p:spPr>
        <p:txBody>
          <a:bodyPr/>
          <a:lstStyle/>
          <a:p>
            <a:pPr algn="ctr"/>
            <a:r>
              <a:rPr lang="en-IN" sz="2800" dirty="0">
                <a:latin typeface="Times New Roman" panose="02020603050405020304" pitchFamily="18" charset="0"/>
                <a:cs typeface="Times New Roman" panose="02020603050405020304" pitchFamily="18" charset="0"/>
              </a:rPr>
              <a:t>Problem Statement</a:t>
            </a:r>
          </a:p>
        </p:txBody>
      </p:sp>
      <p:sp>
        <p:nvSpPr>
          <p:cNvPr id="3" name="Content Placeholder 2">
            <a:extLst>
              <a:ext uri="{FF2B5EF4-FFF2-40B4-BE49-F238E27FC236}">
                <a16:creationId xmlns:a16="http://schemas.microsoft.com/office/drawing/2014/main" id="{B191BEE5-83BA-D5ED-DD4E-F9555235948E}"/>
              </a:ext>
            </a:extLst>
          </p:cNvPr>
          <p:cNvSpPr>
            <a:spLocks noGrp="1"/>
          </p:cNvSpPr>
          <p:nvPr>
            <p:ph idx="1"/>
          </p:nvPr>
        </p:nvSpPr>
        <p:spPr>
          <a:xfrm>
            <a:off x="731520" y="1170039"/>
            <a:ext cx="10780776" cy="3185651"/>
          </a:xfrm>
        </p:spPr>
        <p:txBody>
          <a:bodyPr/>
          <a:lstStyle/>
          <a:p>
            <a:pPr marL="0" indent="0">
              <a:buNone/>
            </a:pPr>
            <a:r>
              <a:rPr lang="en-IN" dirty="0"/>
              <a:t>IT support teams handle large numbers of tickets with different priorities, issue types, customer segments, regions, and resolution times. Without centralized analytics, it is difficult to:</a:t>
            </a:r>
          </a:p>
          <a:p>
            <a:pPr lvl="0"/>
            <a:r>
              <a:rPr lang="en-IN" dirty="0"/>
              <a:t>Identify high-volume issues </a:t>
            </a:r>
          </a:p>
          <a:p>
            <a:pPr lvl="0"/>
            <a:r>
              <a:rPr lang="en-IN" dirty="0"/>
              <a:t>Detect high-priority unresolved tickets </a:t>
            </a:r>
          </a:p>
          <a:p>
            <a:pPr lvl="0"/>
            <a:r>
              <a:rPr lang="en-IN" dirty="0"/>
              <a:t>Measure support performance </a:t>
            </a:r>
          </a:p>
          <a:p>
            <a:pPr lvl="0"/>
            <a:r>
              <a:rPr lang="en-IN" dirty="0"/>
              <a:t>Compare regional performance </a:t>
            </a:r>
          </a:p>
          <a:p>
            <a:pPr lvl="0"/>
            <a:r>
              <a:rPr lang="en-IN" dirty="0"/>
              <a:t>Identify similar issue groups </a:t>
            </a:r>
          </a:p>
          <a:p>
            <a:pPr lvl="0"/>
            <a:r>
              <a:rPr lang="en-IN" dirty="0"/>
              <a:t>Monitor customer satisfaction</a:t>
            </a:r>
          </a:p>
        </p:txBody>
      </p:sp>
      <p:sp>
        <p:nvSpPr>
          <p:cNvPr id="4" name="TextBox 3">
            <a:extLst>
              <a:ext uri="{FF2B5EF4-FFF2-40B4-BE49-F238E27FC236}">
                <a16:creationId xmlns:a16="http://schemas.microsoft.com/office/drawing/2014/main" id="{0DD79133-63AD-6CE8-6E9B-6858CA354707}"/>
              </a:ext>
            </a:extLst>
          </p:cNvPr>
          <p:cNvSpPr txBox="1"/>
          <p:nvPr/>
        </p:nvSpPr>
        <p:spPr>
          <a:xfrm>
            <a:off x="731520" y="4424516"/>
            <a:ext cx="10701528" cy="523220"/>
          </a:xfrm>
          <a:prstGeom prst="rect">
            <a:avLst/>
          </a:prstGeom>
          <a:noFill/>
        </p:spPr>
        <p:txBody>
          <a:bodyPr wrap="square" rtlCol="0">
            <a:spAutoFit/>
          </a:bodyPr>
          <a:lstStyle/>
          <a:p>
            <a:pPr algn="ctr"/>
            <a:r>
              <a:rPr lang="en-IN" sz="2800" dirty="0">
                <a:latin typeface="Times New Roman" panose="02020603050405020304" pitchFamily="18" charset="0"/>
                <a:cs typeface="Times New Roman" panose="02020603050405020304" pitchFamily="18" charset="0"/>
              </a:rPr>
              <a:t>Goal</a:t>
            </a:r>
          </a:p>
        </p:txBody>
      </p:sp>
      <p:sp>
        <p:nvSpPr>
          <p:cNvPr id="5" name="TextBox 4">
            <a:extLst>
              <a:ext uri="{FF2B5EF4-FFF2-40B4-BE49-F238E27FC236}">
                <a16:creationId xmlns:a16="http://schemas.microsoft.com/office/drawing/2014/main" id="{5F48F9A4-07D1-F39C-551C-DD00BDBD8D6F}"/>
              </a:ext>
            </a:extLst>
          </p:cNvPr>
          <p:cNvSpPr txBox="1"/>
          <p:nvPr/>
        </p:nvSpPr>
        <p:spPr>
          <a:xfrm>
            <a:off x="652272" y="5211096"/>
            <a:ext cx="10780776" cy="646331"/>
          </a:xfrm>
          <a:prstGeom prst="rect">
            <a:avLst/>
          </a:prstGeom>
          <a:noFill/>
        </p:spPr>
        <p:txBody>
          <a:bodyPr wrap="square" rtlCol="0">
            <a:spAutoFit/>
          </a:bodyPr>
          <a:lstStyle/>
          <a:p>
            <a:r>
              <a:rPr lang="en-IN" dirty="0"/>
              <a:t>Build an interactive analytics dashboard that converts raw support-ticket data into actionable business insights.</a:t>
            </a:r>
          </a:p>
        </p:txBody>
      </p:sp>
    </p:spTree>
    <p:extLst>
      <p:ext uri="{BB962C8B-B14F-4D97-AF65-F5344CB8AC3E}">
        <p14:creationId xmlns:p14="http://schemas.microsoft.com/office/powerpoint/2010/main" val="261706433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3239A8-99D7-505A-E599-3036597A4EF3}"/>
              </a:ext>
            </a:extLst>
          </p:cNvPr>
          <p:cNvSpPr>
            <a:spLocks noGrp="1"/>
          </p:cNvSpPr>
          <p:nvPr>
            <p:ph type="title"/>
          </p:nvPr>
        </p:nvSpPr>
        <p:spPr>
          <a:xfrm>
            <a:off x="731520" y="365760"/>
            <a:ext cx="10741152" cy="686292"/>
          </a:xfrm>
        </p:spPr>
        <p:txBody>
          <a:bodyPr/>
          <a:lstStyle/>
          <a:p>
            <a:pPr algn="ctr"/>
            <a:r>
              <a:rPr lang="en-IN" sz="2800" dirty="0">
                <a:latin typeface="Times New Roman" panose="02020603050405020304" pitchFamily="18" charset="0"/>
                <a:cs typeface="Times New Roman" panose="02020603050405020304" pitchFamily="18" charset="0"/>
              </a:rPr>
              <a:t>Project Objectives</a:t>
            </a:r>
          </a:p>
        </p:txBody>
      </p:sp>
      <p:sp>
        <p:nvSpPr>
          <p:cNvPr id="3" name="Content Placeholder 2">
            <a:extLst>
              <a:ext uri="{FF2B5EF4-FFF2-40B4-BE49-F238E27FC236}">
                <a16:creationId xmlns:a16="http://schemas.microsoft.com/office/drawing/2014/main" id="{77E820DB-1F92-B492-0C3E-C1466BFC09D2}"/>
              </a:ext>
            </a:extLst>
          </p:cNvPr>
          <p:cNvSpPr>
            <a:spLocks noGrp="1"/>
          </p:cNvSpPr>
          <p:nvPr>
            <p:ph idx="1"/>
          </p:nvPr>
        </p:nvSpPr>
        <p:spPr>
          <a:xfrm>
            <a:off x="731520" y="1199535"/>
            <a:ext cx="10780776" cy="5384144"/>
          </a:xfrm>
        </p:spPr>
        <p:txBody>
          <a:bodyPr/>
          <a:lstStyle/>
          <a:p>
            <a:pPr lvl="0"/>
            <a:r>
              <a:rPr lang="en-IN" dirty="0" err="1">
                <a:latin typeface="Times New Roman" panose="02020603050405020304" pitchFamily="18" charset="0"/>
                <a:cs typeface="Times New Roman" panose="02020603050405020304" pitchFamily="18" charset="0"/>
              </a:rPr>
              <a:t>Analyze</a:t>
            </a:r>
            <a:r>
              <a:rPr lang="en-IN" dirty="0">
                <a:latin typeface="Times New Roman" panose="02020603050405020304" pitchFamily="18" charset="0"/>
                <a:cs typeface="Times New Roman" panose="02020603050405020304" pitchFamily="18" charset="0"/>
              </a:rPr>
              <a:t> IT support ticket patterns. </a:t>
            </a:r>
          </a:p>
          <a:p>
            <a:pPr lvl="0"/>
            <a:r>
              <a:rPr lang="en-IN" dirty="0">
                <a:latin typeface="Times New Roman" panose="02020603050405020304" pitchFamily="18" charset="0"/>
                <a:cs typeface="Times New Roman" panose="02020603050405020304" pitchFamily="18" charset="0"/>
              </a:rPr>
              <a:t>Identify the most common issue types. </a:t>
            </a:r>
          </a:p>
          <a:p>
            <a:pPr lvl="0"/>
            <a:r>
              <a:rPr lang="en-IN" dirty="0">
                <a:latin typeface="Times New Roman" panose="02020603050405020304" pitchFamily="18" charset="0"/>
                <a:cs typeface="Times New Roman" panose="02020603050405020304" pitchFamily="18" charset="0"/>
              </a:rPr>
              <a:t>Measure ticket resolution performance. </a:t>
            </a:r>
          </a:p>
          <a:p>
            <a:pPr lvl="0"/>
            <a:r>
              <a:rPr lang="en-IN" dirty="0" err="1">
                <a:latin typeface="Times New Roman" panose="02020603050405020304" pitchFamily="18" charset="0"/>
                <a:cs typeface="Times New Roman" panose="02020603050405020304" pitchFamily="18" charset="0"/>
              </a:rPr>
              <a:t>Analyze</a:t>
            </a:r>
            <a:r>
              <a:rPr lang="en-IN" dirty="0">
                <a:latin typeface="Times New Roman" panose="02020603050405020304" pitchFamily="18" charset="0"/>
                <a:cs typeface="Times New Roman" panose="02020603050405020304" pitchFamily="18" charset="0"/>
              </a:rPr>
              <a:t> priority and unresolved tickets. </a:t>
            </a:r>
          </a:p>
          <a:p>
            <a:pPr lvl="0"/>
            <a:r>
              <a:rPr lang="en-IN" dirty="0">
                <a:latin typeface="Times New Roman" panose="02020603050405020304" pitchFamily="18" charset="0"/>
                <a:cs typeface="Times New Roman" panose="02020603050405020304" pitchFamily="18" charset="0"/>
              </a:rPr>
              <a:t>Identify similar ticket clusters. </a:t>
            </a:r>
          </a:p>
          <a:p>
            <a:pPr lvl="0"/>
            <a:r>
              <a:rPr lang="en-IN" dirty="0">
                <a:latin typeface="Times New Roman" panose="02020603050405020304" pitchFamily="18" charset="0"/>
                <a:cs typeface="Times New Roman" panose="02020603050405020304" pitchFamily="18" charset="0"/>
              </a:rPr>
              <a:t>Compare regional performance. </a:t>
            </a:r>
          </a:p>
          <a:p>
            <a:pPr lvl="0"/>
            <a:r>
              <a:rPr lang="en-IN" dirty="0" err="1">
                <a:latin typeface="Times New Roman" panose="02020603050405020304" pitchFamily="18" charset="0"/>
                <a:cs typeface="Times New Roman" panose="02020603050405020304" pitchFamily="18" charset="0"/>
              </a:rPr>
              <a:t>Analyze</a:t>
            </a:r>
            <a:r>
              <a:rPr lang="en-IN" dirty="0">
                <a:latin typeface="Times New Roman" panose="02020603050405020304" pitchFamily="18" charset="0"/>
                <a:cs typeface="Times New Roman" panose="02020603050405020304" pitchFamily="18" charset="0"/>
              </a:rPr>
              <a:t> customer satisfaction. </a:t>
            </a:r>
          </a:p>
          <a:p>
            <a:pPr lvl="0"/>
            <a:r>
              <a:rPr lang="en-IN" dirty="0">
                <a:latin typeface="Times New Roman" panose="02020603050405020304" pitchFamily="18" charset="0"/>
                <a:cs typeface="Times New Roman" panose="02020603050405020304" pitchFamily="18" charset="0"/>
              </a:rPr>
              <a:t>Build an interactive Power BI dashboard. </a:t>
            </a:r>
          </a:p>
          <a:p>
            <a:pPr lvl="0"/>
            <a:r>
              <a:rPr lang="en-IN" dirty="0">
                <a:latin typeface="Times New Roman" panose="02020603050405020304" pitchFamily="18" charset="0"/>
                <a:cs typeface="Times New Roman" panose="02020603050405020304" pitchFamily="18" charset="0"/>
              </a:rPr>
              <a:t>Generate actionable recommendations.</a:t>
            </a:r>
          </a:p>
          <a:p>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09234090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FC6A1F-D99D-8F57-572E-DA48FCF8DCBA}"/>
              </a:ext>
            </a:extLst>
          </p:cNvPr>
          <p:cNvSpPr>
            <a:spLocks noGrp="1"/>
          </p:cNvSpPr>
          <p:nvPr>
            <p:ph type="title"/>
          </p:nvPr>
        </p:nvSpPr>
        <p:spPr>
          <a:xfrm>
            <a:off x="731520" y="245807"/>
            <a:ext cx="10741152" cy="678426"/>
          </a:xfrm>
        </p:spPr>
        <p:txBody>
          <a:bodyPr/>
          <a:lstStyle/>
          <a:p>
            <a:pPr algn="ctr"/>
            <a:r>
              <a:rPr lang="en-IN" sz="2800" dirty="0">
                <a:latin typeface="Times New Roman" panose="02020603050405020304" pitchFamily="18" charset="0"/>
                <a:cs typeface="Times New Roman" panose="02020603050405020304" pitchFamily="18" charset="0"/>
              </a:rPr>
              <a:t>Project Scope </a:t>
            </a:r>
          </a:p>
        </p:txBody>
      </p:sp>
      <p:sp>
        <p:nvSpPr>
          <p:cNvPr id="9" name="Content Placeholder 8">
            <a:extLst>
              <a:ext uri="{FF2B5EF4-FFF2-40B4-BE49-F238E27FC236}">
                <a16:creationId xmlns:a16="http://schemas.microsoft.com/office/drawing/2014/main" id="{C9B44FCB-AB58-251B-270C-5358E1CDBDF4}"/>
              </a:ext>
            </a:extLst>
          </p:cNvPr>
          <p:cNvSpPr>
            <a:spLocks noGrp="1"/>
          </p:cNvSpPr>
          <p:nvPr>
            <p:ph idx="1"/>
          </p:nvPr>
        </p:nvSpPr>
        <p:spPr>
          <a:xfrm>
            <a:off x="731520" y="1091381"/>
            <a:ext cx="10780776" cy="5673212"/>
          </a:xfrm>
        </p:spPr>
        <p:txBody>
          <a:bodyPr>
            <a:normAutofit fontScale="77500" lnSpcReduction="20000"/>
          </a:bodyPr>
          <a:lstStyle/>
          <a:p>
            <a:pPr lvl="0"/>
            <a:r>
              <a:rPr lang="en-IN" sz="2100" dirty="0">
                <a:latin typeface="Times New Roman" panose="02020603050405020304" pitchFamily="18" charset="0"/>
                <a:cs typeface="Times New Roman" panose="02020603050405020304" pitchFamily="18" charset="0"/>
              </a:rPr>
              <a:t>📊 </a:t>
            </a:r>
            <a:r>
              <a:rPr lang="en-IN" sz="2100" b="1" dirty="0">
                <a:latin typeface="Times New Roman" panose="02020603050405020304" pitchFamily="18" charset="0"/>
                <a:cs typeface="Times New Roman" panose="02020603050405020304" pitchFamily="18" charset="0"/>
              </a:rPr>
              <a:t>Data Preprocessing</a:t>
            </a:r>
            <a:r>
              <a:rPr lang="en-IN" sz="2100" dirty="0">
                <a:latin typeface="Times New Roman" panose="02020603050405020304" pitchFamily="18" charset="0"/>
                <a:cs typeface="Times New Roman" panose="02020603050405020304" pitchFamily="18" charset="0"/>
              </a:rPr>
              <a:t> – Clean and prepare IT support ticket data </a:t>
            </a:r>
          </a:p>
          <a:p>
            <a:pPr lvl="0"/>
            <a:r>
              <a:rPr lang="en-IN" sz="2100" dirty="0">
                <a:latin typeface="Times New Roman" panose="02020603050405020304" pitchFamily="18" charset="0"/>
                <a:cs typeface="Times New Roman" panose="02020603050405020304" pitchFamily="18" charset="0"/>
              </a:rPr>
              <a:t>🔍 </a:t>
            </a:r>
            <a:r>
              <a:rPr lang="en-IN" sz="2100" b="1" dirty="0">
                <a:latin typeface="Times New Roman" panose="02020603050405020304" pitchFamily="18" charset="0"/>
                <a:cs typeface="Times New Roman" panose="02020603050405020304" pitchFamily="18" charset="0"/>
              </a:rPr>
              <a:t>Exploratory Analysis</a:t>
            </a:r>
            <a:r>
              <a:rPr lang="en-IN" sz="2100" dirty="0">
                <a:latin typeface="Times New Roman" panose="02020603050405020304" pitchFamily="18" charset="0"/>
                <a:cs typeface="Times New Roman" panose="02020603050405020304" pitchFamily="18" charset="0"/>
              </a:rPr>
              <a:t> – </a:t>
            </a:r>
            <a:r>
              <a:rPr lang="en-IN" sz="2100" dirty="0" err="1">
                <a:latin typeface="Times New Roman" panose="02020603050405020304" pitchFamily="18" charset="0"/>
                <a:cs typeface="Times New Roman" panose="02020603050405020304" pitchFamily="18" charset="0"/>
              </a:rPr>
              <a:t>Analyze</a:t>
            </a:r>
            <a:r>
              <a:rPr lang="en-IN" sz="2100" dirty="0">
                <a:latin typeface="Times New Roman" panose="02020603050405020304" pitchFamily="18" charset="0"/>
                <a:cs typeface="Times New Roman" panose="02020603050405020304" pitchFamily="18" charset="0"/>
              </a:rPr>
              <a:t> ticket trends, priorities and categories </a:t>
            </a:r>
          </a:p>
          <a:p>
            <a:pPr lvl="0"/>
            <a:r>
              <a:rPr lang="en-IN" sz="2100" dirty="0">
                <a:latin typeface="Times New Roman" panose="02020603050405020304" pitchFamily="18" charset="0"/>
                <a:cs typeface="Times New Roman" panose="02020603050405020304" pitchFamily="18" charset="0"/>
              </a:rPr>
              <a:t>🎯 </a:t>
            </a:r>
            <a:r>
              <a:rPr lang="en-IN" sz="2100" b="1" dirty="0">
                <a:latin typeface="Times New Roman" panose="02020603050405020304" pitchFamily="18" charset="0"/>
                <a:cs typeface="Times New Roman" panose="02020603050405020304" pitchFamily="18" charset="0"/>
              </a:rPr>
              <a:t>Cluster Analysis</a:t>
            </a:r>
            <a:r>
              <a:rPr lang="en-IN" sz="2100" dirty="0">
                <a:latin typeface="Times New Roman" panose="02020603050405020304" pitchFamily="18" charset="0"/>
                <a:cs typeface="Times New Roman" panose="02020603050405020304" pitchFamily="18" charset="0"/>
              </a:rPr>
              <a:t> – Identify similar issues and problem clusters </a:t>
            </a:r>
          </a:p>
          <a:p>
            <a:pPr lvl="0"/>
            <a:r>
              <a:rPr lang="en-IN" sz="2100" dirty="0">
                <a:latin typeface="Times New Roman" panose="02020603050405020304" pitchFamily="18" charset="0"/>
                <a:cs typeface="Times New Roman" panose="02020603050405020304" pitchFamily="18" charset="0"/>
              </a:rPr>
              <a:t>🌍 </a:t>
            </a:r>
            <a:r>
              <a:rPr lang="en-IN" sz="2100" b="1" dirty="0">
                <a:latin typeface="Times New Roman" panose="02020603050405020304" pitchFamily="18" charset="0"/>
                <a:cs typeface="Times New Roman" panose="02020603050405020304" pitchFamily="18" charset="0"/>
              </a:rPr>
              <a:t>Geographic Analysis</a:t>
            </a:r>
            <a:r>
              <a:rPr lang="en-IN" sz="2100" dirty="0">
                <a:latin typeface="Times New Roman" panose="02020603050405020304" pitchFamily="18" charset="0"/>
                <a:cs typeface="Times New Roman" panose="02020603050405020304" pitchFamily="18" charset="0"/>
              </a:rPr>
              <a:t> – </a:t>
            </a:r>
            <a:r>
              <a:rPr lang="en-IN" sz="2100" dirty="0" err="1">
                <a:latin typeface="Times New Roman" panose="02020603050405020304" pitchFamily="18" charset="0"/>
                <a:cs typeface="Times New Roman" panose="02020603050405020304" pitchFamily="18" charset="0"/>
              </a:rPr>
              <a:t>Analyze</a:t>
            </a:r>
            <a:r>
              <a:rPr lang="en-IN" sz="2100" dirty="0">
                <a:latin typeface="Times New Roman" panose="02020603050405020304" pitchFamily="18" charset="0"/>
                <a:cs typeface="Times New Roman" panose="02020603050405020304" pitchFamily="18" charset="0"/>
              </a:rPr>
              <a:t> regional ticket distribution and performance </a:t>
            </a:r>
          </a:p>
          <a:p>
            <a:pPr lvl="0"/>
            <a:r>
              <a:rPr lang="en-IN" sz="2100" dirty="0">
                <a:latin typeface="Times New Roman" panose="02020603050405020304" pitchFamily="18" charset="0"/>
                <a:cs typeface="Times New Roman" panose="02020603050405020304" pitchFamily="18" charset="0"/>
              </a:rPr>
              <a:t>⏱️ </a:t>
            </a:r>
            <a:r>
              <a:rPr lang="en-IN" sz="2100" b="1" dirty="0">
                <a:latin typeface="Times New Roman" panose="02020603050405020304" pitchFamily="18" charset="0"/>
                <a:cs typeface="Times New Roman" panose="02020603050405020304" pitchFamily="18" charset="0"/>
              </a:rPr>
              <a:t>Performance Analysis</a:t>
            </a:r>
            <a:r>
              <a:rPr lang="en-IN" sz="2100" dirty="0">
                <a:latin typeface="Times New Roman" panose="02020603050405020304" pitchFamily="18" charset="0"/>
                <a:cs typeface="Times New Roman" panose="02020603050405020304" pitchFamily="18" charset="0"/>
              </a:rPr>
              <a:t> – Evaluate resolution time, priority and CSAT </a:t>
            </a:r>
          </a:p>
          <a:p>
            <a:pPr lvl="0"/>
            <a:r>
              <a:rPr lang="en-IN" sz="2100" dirty="0">
                <a:latin typeface="Times New Roman" panose="02020603050405020304" pitchFamily="18" charset="0"/>
                <a:cs typeface="Times New Roman" panose="02020603050405020304" pitchFamily="18" charset="0"/>
              </a:rPr>
              <a:t>📈 </a:t>
            </a:r>
            <a:r>
              <a:rPr lang="en-IN" sz="2100" b="1" dirty="0">
                <a:latin typeface="Times New Roman" panose="02020603050405020304" pitchFamily="18" charset="0"/>
                <a:cs typeface="Times New Roman" panose="02020603050405020304" pitchFamily="18" charset="0"/>
              </a:rPr>
              <a:t>Interactive Visualization</a:t>
            </a:r>
            <a:r>
              <a:rPr lang="en-IN" sz="2100" dirty="0">
                <a:latin typeface="Times New Roman" panose="02020603050405020304" pitchFamily="18" charset="0"/>
                <a:cs typeface="Times New Roman" panose="02020603050405020304" pitchFamily="18" charset="0"/>
              </a:rPr>
              <a:t> – Develop interconnected Power BI dashboards </a:t>
            </a:r>
          </a:p>
          <a:p>
            <a:pPr lvl="0"/>
            <a:r>
              <a:rPr lang="en-IN" sz="2100" dirty="0">
                <a:latin typeface="Times New Roman" panose="02020603050405020304" pitchFamily="18" charset="0"/>
                <a:cs typeface="Times New Roman" panose="02020603050405020304" pitchFamily="18" charset="0"/>
              </a:rPr>
              <a:t>📋 </a:t>
            </a:r>
            <a:r>
              <a:rPr lang="en-IN" sz="2100" b="1" dirty="0">
                <a:latin typeface="Times New Roman" panose="02020603050405020304" pitchFamily="18" charset="0"/>
                <a:cs typeface="Times New Roman" panose="02020603050405020304" pitchFamily="18" charset="0"/>
              </a:rPr>
              <a:t>Executive Reporting</a:t>
            </a:r>
            <a:r>
              <a:rPr lang="en-IN" sz="2100" dirty="0">
                <a:latin typeface="Times New Roman" panose="02020603050405020304" pitchFamily="18" charset="0"/>
                <a:cs typeface="Times New Roman" panose="02020603050405020304" pitchFamily="18" charset="0"/>
              </a:rPr>
              <a:t> – Present key insights and recommendations</a:t>
            </a:r>
          </a:p>
          <a:p>
            <a:pPr marL="0" indent="0" algn="ctr">
              <a:lnSpc>
                <a:spcPct val="170000"/>
              </a:lnSpc>
              <a:buNone/>
            </a:pPr>
            <a:r>
              <a:rPr lang="en-IN" sz="3600" dirty="0">
                <a:latin typeface="Times New Roman" panose="02020603050405020304" pitchFamily="18" charset="0"/>
                <a:cs typeface="Times New Roman" panose="02020603050405020304" pitchFamily="18" charset="0"/>
              </a:rPr>
              <a:t>Analytical Coverage</a:t>
            </a:r>
          </a:p>
          <a:p>
            <a:pPr lvl="0"/>
            <a:r>
              <a:rPr lang="en-IN" sz="2300" dirty="0">
                <a:latin typeface="Times New Roman" panose="02020603050405020304" pitchFamily="18" charset="0"/>
                <a:cs typeface="Times New Roman" panose="02020603050405020304" pitchFamily="18" charset="0"/>
              </a:rPr>
              <a:t>Data preprocessing </a:t>
            </a:r>
          </a:p>
          <a:p>
            <a:pPr lvl="0"/>
            <a:r>
              <a:rPr lang="en-IN" sz="2300" dirty="0">
                <a:latin typeface="Times New Roman" panose="02020603050405020304" pitchFamily="18" charset="0"/>
                <a:cs typeface="Times New Roman" panose="02020603050405020304" pitchFamily="18" charset="0"/>
              </a:rPr>
              <a:t>Exploratory analysis </a:t>
            </a:r>
          </a:p>
          <a:p>
            <a:pPr lvl="0"/>
            <a:r>
              <a:rPr lang="en-IN" sz="2300" dirty="0">
                <a:latin typeface="Times New Roman" panose="02020603050405020304" pitchFamily="18" charset="0"/>
                <a:cs typeface="Times New Roman" panose="02020603050405020304" pitchFamily="18" charset="0"/>
              </a:rPr>
              <a:t>Cluster analysis </a:t>
            </a:r>
          </a:p>
          <a:p>
            <a:pPr lvl="0"/>
            <a:r>
              <a:rPr lang="en-IN" sz="2300" dirty="0">
                <a:latin typeface="Times New Roman" panose="02020603050405020304" pitchFamily="18" charset="0"/>
                <a:cs typeface="Times New Roman" panose="02020603050405020304" pitchFamily="18" charset="0"/>
              </a:rPr>
              <a:t>Geographic analysis </a:t>
            </a:r>
          </a:p>
          <a:p>
            <a:pPr lvl="0"/>
            <a:r>
              <a:rPr lang="en-IN" sz="2300" dirty="0">
                <a:latin typeface="Times New Roman" panose="02020603050405020304" pitchFamily="18" charset="0"/>
                <a:cs typeface="Times New Roman" panose="02020603050405020304" pitchFamily="18" charset="0"/>
              </a:rPr>
              <a:t>Performance analysis </a:t>
            </a:r>
          </a:p>
          <a:p>
            <a:pPr lvl="0"/>
            <a:r>
              <a:rPr lang="en-IN" sz="2300" dirty="0">
                <a:latin typeface="Times New Roman" panose="02020603050405020304" pitchFamily="18" charset="0"/>
                <a:cs typeface="Times New Roman" panose="02020603050405020304" pitchFamily="18" charset="0"/>
              </a:rPr>
              <a:t>Interactive visualization </a:t>
            </a:r>
          </a:p>
          <a:p>
            <a:pPr lvl="0"/>
            <a:r>
              <a:rPr lang="en-IN" sz="2300" dirty="0">
                <a:latin typeface="Times New Roman" panose="02020603050405020304" pitchFamily="18" charset="0"/>
                <a:cs typeface="Times New Roman" panose="02020603050405020304" pitchFamily="18" charset="0"/>
              </a:rPr>
              <a:t>Executive reporting</a:t>
            </a:r>
          </a:p>
          <a:p>
            <a:pPr marL="0" indent="0">
              <a:buNone/>
            </a:pPr>
            <a:endParaRPr lang="en-IN" sz="3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8388574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321263-9EE8-7021-708D-10EABAF8E3BF}"/>
              </a:ext>
            </a:extLst>
          </p:cNvPr>
          <p:cNvSpPr>
            <a:spLocks noGrp="1"/>
          </p:cNvSpPr>
          <p:nvPr>
            <p:ph type="title"/>
          </p:nvPr>
        </p:nvSpPr>
        <p:spPr/>
        <p:txBody>
          <a:bodyPr/>
          <a:lstStyle/>
          <a:p>
            <a:pPr algn="ctr"/>
            <a:r>
              <a:rPr lang="en-IN" sz="2800" dirty="0">
                <a:latin typeface="Times New Roman" panose="02020603050405020304" pitchFamily="18" charset="0"/>
                <a:cs typeface="Times New Roman" panose="02020603050405020304" pitchFamily="18" charset="0"/>
              </a:rPr>
              <a:t>Project Workflow</a:t>
            </a:r>
          </a:p>
        </p:txBody>
      </p:sp>
      <p:pic>
        <p:nvPicPr>
          <p:cNvPr id="4" name="Content Placeholder 3">
            <a:extLst>
              <a:ext uri="{FF2B5EF4-FFF2-40B4-BE49-F238E27FC236}">
                <a16:creationId xmlns:a16="http://schemas.microsoft.com/office/drawing/2014/main" id="{57F2C5E5-8BCB-D7D7-BCFF-5FB9D0DCE048}"/>
              </a:ext>
            </a:extLst>
          </p:cNvPr>
          <p:cNvPicPr>
            <a:picLocks noGrp="1" noChangeAspect="1"/>
          </p:cNvPicPr>
          <p:nvPr>
            <p:ph idx="1"/>
          </p:nvPr>
        </p:nvPicPr>
        <p:blipFill>
          <a:blip r:embed="rId2"/>
          <a:stretch>
            <a:fillRect/>
          </a:stretch>
        </p:blipFill>
        <p:spPr>
          <a:xfrm>
            <a:off x="1210678" y="1926400"/>
            <a:ext cx="9823031" cy="4389500"/>
          </a:xfrm>
          <a:prstGeom prst="rect">
            <a:avLst/>
          </a:prstGeom>
        </p:spPr>
      </p:pic>
    </p:spTree>
    <p:extLst>
      <p:ext uri="{BB962C8B-B14F-4D97-AF65-F5344CB8AC3E}">
        <p14:creationId xmlns:p14="http://schemas.microsoft.com/office/powerpoint/2010/main" val="390277955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D5A7FA-660D-980E-A85D-0ED8A26CB589}"/>
              </a:ext>
            </a:extLst>
          </p:cNvPr>
          <p:cNvSpPr>
            <a:spLocks noGrp="1"/>
          </p:cNvSpPr>
          <p:nvPr>
            <p:ph type="title"/>
          </p:nvPr>
        </p:nvSpPr>
        <p:spPr/>
        <p:txBody>
          <a:bodyPr/>
          <a:lstStyle/>
          <a:p>
            <a:pPr algn="ctr"/>
            <a:r>
              <a:rPr lang="en-IN" sz="2800" dirty="0">
                <a:latin typeface="Times New Roman" panose="02020603050405020304" pitchFamily="18" charset="0"/>
                <a:cs typeface="Times New Roman" panose="02020603050405020304" pitchFamily="18" charset="0"/>
              </a:rPr>
              <a:t>Dataset Overview</a:t>
            </a:r>
            <a:endParaRPr lang="en-IN" sz="2800" dirty="0"/>
          </a:p>
        </p:txBody>
      </p:sp>
      <p:sp>
        <p:nvSpPr>
          <p:cNvPr id="3" name="Content Placeholder 2">
            <a:extLst>
              <a:ext uri="{FF2B5EF4-FFF2-40B4-BE49-F238E27FC236}">
                <a16:creationId xmlns:a16="http://schemas.microsoft.com/office/drawing/2014/main" id="{48252D0C-239F-EDA0-75DE-72163ED0680C}"/>
              </a:ext>
            </a:extLst>
          </p:cNvPr>
          <p:cNvSpPr>
            <a:spLocks noGrp="1"/>
          </p:cNvSpPr>
          <p:nvPr>
            <p:ph idx="1"/>
          </p:nvPr>
        </p:nvSpPr>
        <p:spPr>
          <a:xfrm>
            <a:off x="564371" y="1101213"/>
            <a:ext cx="10780776" cy="5492298"/>
          </a:xfrm>
        </p:spPr>
        <p:txBody>
          <a:bodyPr/>
          <a:lstStyle/>
          <a:p>
            <a:r>
              <a:rPr lang="en-IN" b="1" dirty="0">
                <a:latin typeface="Times New Roman" panose="02020603050405020304" pitchFamily="18" charset="0"/>
                <a:cs typeface="Times New Roman" panose="02020603050405020304" pitchFamily="18" charset="0"/>
              </a:rPr>
              <a:t>Dataset Name:</a:t>
            </a:r>
            <a:br>
              <a:rPr lang="en-IN"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Synthetic IT Support Tickets Dataset</a:t>
            </a:r>
          </a:p>
          <a:p>
            <a:r>
              <a:rPr lang="en-IN" b="1" dirty="0">
                <a:latin typeface="Times New Roman" panose="02020603050405020304" pitchFamily="18" charset="0"/>
                <a:cs typeface="Times New Roman" panose="02020603050405020304" pitchFamily="18" charset="0"/>
              </a:rPr>
              <a:t>Source:</a:t>
            </a:r>
            <a:br>
              <a:rPr lang="en-IN"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Kaggle – Synthetic IT Support Tickets Dataset</a:t>
            </a:r>
          </a:p>
          <a:p>
            <a:pPr marL="0" indent="0" algn="ctr">
              <a:buNone/>
            </a:pPr>
            <a:r>
              <a:rPr lang="en-IN" sz="2400" b="1" dirty="0">
                <a:latin typeface="Times New Roman" panose="02020603050405020304" pitchFamily="18" charset="0"/>
                <a:cs typeface="Times New Roman" panose="02020603050405020304" pitchFamily="18" charset="0"/>
              </a:rPr>
              <a:t>Important fields:</a:t>
            </a:r>
          </a:p>
          <a:p>
            <a:endParaRPr lang="en-IN" dirty="0"/>
          </a:p>
        </p:txBody>
      </p:sp>
      <p:graphicFrame>
        <p:nvGraphicFramePr>
          <p:cNvPr id="14" name="Table 13">
            <a:extLst>
              <a:ext uri="{FF2B5EF4-FFF2-40B4-BE49-F238E27FC236}">
                <a16:creationId xmlns:a16="http://schemas.microsoft.com/office/drawing/2014/main" id="{13A14E06-A3F4-D3EC-C68E-5AFC8F21E5CE}"/>
              </a:ext>
            </a:extLst>
          </p:cNvPr>
          <p:cNvGraphicFramePr>
            <a:graphicFrameLocks noGrp="1"/>
          </p:cNvGraphicFramePr>
          <p:nvPr>
            <p:extLst>
              <p:ext uri="{D42A27DB-BD31-4B8C-83A1-F6EECF244321}">
                <p14:modId xmlns:p14="http://schemas.microsoft.com/office/powerpoint/2010/main" val="352844476"/>
              </p:ext>
            </p:extLst>
          </p:nvPr>
        </p:nvGraphicFramePr>
        <p:xfrm>
          <a:off x="2255193" y="2972941"/>
          <a:ext cx="8392814" cy="3726430"/>
        </p:xfrm>
        <a:graphic>
          <a:graphicData uri="http://schemas.openxmlformats.org/drawingml/2006/table">
            <a:tbl>
              <a:tblPr firstRow="1" bandRow="1">
                <a:tableStyleId>{5C22544A-7EE6-4342-B048-85BDC9FD1C3A}</a:tableStyleId>
              </a:tblPr>
              <a:tblGrid>
                <a:gridCol w="3292866">
                  <a:extLst>
                    <a:ext uri="{9D8B030D-6E8A-4147-A177-3AD203B41FA5}">
                      <a16:colId xmlns:a16="http://schemas.microsoft.com/office/drawing/2014/main" val="3311320661"/>
                    </a:ext>
                  </a:extLst>
                </a:gridCol>
                <a:gridCol w="5099948">
                  <a:extLst>
                    <a:ext uri="{9D8B030D-6E8A-4147-A177-3AD203B41FA5}">
                      <a16:colId xmlns:a16="http://schemas.microsoft.com/office/drawing/2014/main" val="1908184171"/>
                    </a:ext>
                  </a:extLst>
                </a:gridCol>
              </a:tblGrid>
              <a:tr h="369196">
                <a:tc>
                  <a:txBody>
                    <a:bodyPr/>
                    <a:lstStyle/>
                    <a:p>
                      <a:pPr algn="ctr">
                        <a:buNone/>
                      </a:pPr>
                      <a:r>
                        <a:rPr lang="en-IN" dirty="0">
                          <a:latin typeface="Times New Roman" panose="02020603050405020304" pitchFamily="18" charset="0"/>
                          <a:cs typeface="Times New Roman" panose="02020603050405020304" pitchFamily="18" charset="0"/>
                        </a:rPr>
                        <a:t>Category</a:t>
                      </a:r>
                    </a:p>
                  </a:txBody>
                  <a:tcPr anchor="ctr"/>
                </a:tc>
                <a:tc>
                  <a:txBody>
                    <a:bodyPr/>
                    <a:lstStyle/>
                    <a:p>
                      <a:pPr algn="ctr"/>
                      <a:r>
                        <a:rPr lang="en-IN" dirty="0">
                          <a:latin typeface="Times New Roman" panose="02020603050405020304" pitchFamily="18" charset="0"/>
                          <a:cs typeface="Times New Roman" panose="02020603050405020304" pitchFamily="18" charset="0"/>
                        </a:rPr>
                        <a:t>Examples</a:t>
                      </a:r>
                    </a:p>
                  </a:txBody>
                  <a:tcPr/>
                </a:tc>
                <a:extLst>
                  <a:ext uri="{0D108BD9-81ED-4DB2-BD59-A6C34878D82A}">
                    <a16:rowId xmlns:a16="http://schemas.microsoft.com/office/drawing/2014/main" val="3467365859"/>
                  </a:ext>
                </a:extLst>
              </a:tr>
              <a:tr h="373026">
                <a:tc>
                  <a:txBody>
                    <a:bodyPr/>
                    <a:lstStyle/>
                    <a:p>
                      <a:pPr algn="ctr"/>
                      <a:r>
                        <a:rPr lang="en-IN" dirty="0">
                          <a:latin typeface="Times New Roman" panose="02020603050405020304" pitchFamily="18" charset="0"/>
                          <a:cs typeface="Times New Roman" panose="02020603050405020304" pitchFamily="18" charset="0"/>
                        </a:rPr>
                        <a:t>Ticket Information</a:t>
                      </a:r>
                    </a:p>
                  </a:txBody>
                  <a:tcPr/>
                </a:tc>
                <a:tc>
                  <a:txBody>
                    <a:bodyPr/>
                    <a:lstStyle/>
                    <a:p>
                      <a:pPr algn="ctr"/>
                      <a:r>
                        <a:rPr lang="en-IN" sz="1800" kern="1200" dirty="0" err="1">
                          <a:solidFill>
                            <a:schemeClr val="dk1"/>
                          </a:solidFill>
                          <a:latin typeface="Times New Roman" panose="02020603050405020304" pitchFamily="18" charset="0"/>
                          <a:cs typeface="Times New Roman" panose="02020603050405020304" pitchFamily="18" charset="0"/>
                        </a:rPr>
                        <a:t>ticket_id</a:t>
                      </a:r>
                      <a:r>
                        <a:rPr lang="en-IN" dirty="0">
                          <a:latin typeface="Times New Roman" panose="02020603050405020304" pitchFamily="18" charset="0"/>
                          <a:cs typeface="Times New Roman" panose="02020603050405020304" pitchFamily="18" charset="0"/>
                        </a:rPr>
                        <a:t>, </a:t>
                      </a:r>
                      <a:r>
                        <a:rPr lang="en-IN" sz="1800" kern="1200" dirty="0" err="1">
                          <a:solidFill>
                            <a:schemeClr val="dk1"/>
                          </a:solidFill>
                          <a:latin typeface="Times New Roman" panose="02020603050405020304" pitchFamily="18" charset="0"/>
                          <a:cs typeface="Times New Roman" panose="02020603050405020304" pitchFamily="18" charset="0"/>
                        </a:rPr>
                        <a:t>created_at</a:t>
                      </a:r>
                      <a:endParaRPr lang="en-IN"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858117399"/>
                  </a:ext>
                </a:extLst>
              </a:tr>
              <a:tr h="373026">
                <a:tc>
                  <a:txBody>
                    <a:bodyPr/>
                    <a:lstStyle/>
                    <a:p>
                      <a:pPr algn="ctr"/>
                      <a:r>
                        <a:rPr lang="en-IN" dirty="0">
                          <a:latin typeface="Times New Roman" panose="02020603050405020304" pitchFamily="18" charset="0"/>
                          <a:cs typeface="Times New Roman" panose="02020603050405020304" pitchFamily="18" charset="0"/>
                        </a:rPr>
                        <a:t>Customer</a:t>
                      </a:r>
                    </a:p>
                  </a:txBody>
                  <a:tcPr/>
                </a:tc>
                <a:tc>
                  <a:txBody>
                    <a:bodyPr/>
                    <a:lstStyle/>
                    <a:p>
                      <a:pPr algn="ctr"/>
                      <a:r>
                        <a:rPr lang="en-IN" sz="1800" kern="1200" dirty="0" err="1">
                          <a:solidFill>
                            <a:schemeClr val="dk1"/>
                          </a:solidFill>
                          <a:latin typeface="Times New Roman" panose="02020603050405020304" pitchFamily="18" charset="0"/>
                          <a:cs typeface="Times New Roman" panose="02020603050405020304" pitchFamily="18" charset="0"/>
                        </a:rPr>
                        <a:t>customer_id</a:t>
                      </a:r>
                      <a:r>
                        <a:rPr lang="en-IN" dirty="0">
                          <a:latin typeface="Times New Roman" panose="02020603050405020304" pitchFamily="18" charset="0"/>
                          <a:cs typeface="Times New Roman" panose="02020603050405020304" pitchFamily="18" charset="0"/>
                        </a:rPr>
                        <a:t>, </a:t>
                      </a:r>
                      <a:r>
                        <a:rPr lang="en-IN" sz="1800" kern="1200" dirty="0" err="1">
                          <a:solidFill>
                            <a:schemeClr val="dk1"/>
                          </a:solidFill>
                          <a:latin typeface="Times New Roman" panose="02020603050405020304" pitchFamily="18" charset="0"/>
                          <a:cs typeface="Times New Roman" panose="02020603050405020304" pitchFamily="18" charset="0"/>
                        </a:rPr>
                        <a:t>customer_segment</a:t>
                      </a:r>
                      <a:endParaRPr lang="en-IN"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985589949"/>
                  </a:ext>
                </a:extLst>
              </a:tr>
              <a:tr h="373026">
                <a:tc>
                  <a:txBody>
                    <a:bodyPr/>
                    <a:lstStyle/>
                    <a:p>
                      <a:pPr algn="ctr"/>
                      <a:r>
                        <a:rPr lang="en-IN" dirty="0">
                          <a:latin typeface="Times New Roman" panose="02020603050405020304" pitchFamily="18" charset="0"/>
                          <a:cs typeface="Times New Roman" panose="02020603050405020304" pitchFamily="18" charset="0"/>
                        </a:rPr>
                        <a:t>Issue</a:t>
                      </a:r>
                    </a:p>
                  </a:txBody>
                  <a:tcPr/>
                </a:tc>
                <a:tc>
                  <a:txBody>
                    <a:bodyPr/>
                    <a:lstStyle/>
                    <a:p>
                      <a:pPr algn="ctr"/>
                      <a:r>
                        <a:rPr lang="en-IN" sz="1800" kern="1200" dirty="0" err="1">
                          <a:solidFill>
                            <a:schemeClr val="dk1"/>
                          </a:solidFill>
                          <a:latin typeface="Times New Roman" panose="02020603050405020304" pitchFamily="18" charset="0"/>
                          <a:cs typeface="Times New Roman" panose="02020603050405020304" pitchFamily="18" charset="0"/>
                        </a:rPr>
                        <a:t>issue_type</a:t>
                      </a:r>
                      <a:r>
                        <a:rPr lang="en-IN" dirty="0">
                          <a:latin typeface="Times New Roman" panose="02020603050405020304" pitchFamily="18" charset="0"/>
                          <a:cs typeface="Times New Roman" panose="02020603050405020304" pitchFamily="18" charset="0"/>
                        </a:rPr>
                        <a:t>, </a:t>
                      </a:r>
                      <a:r>
                        <a:rPr lang="en-IN" sz="1800" kern="1200" dirty="0" err="1">
                          <a:solidFill>
                            <a:schemeClr val="dk1"/>
                          </a:solidFill>
                          <a:latin typeface="Times New Roman" panose="02020603050405020304" pitchFamily="18" charset="0"/>
                          <a:cs typeface="Times New Roman" panose="02020603050405020304" pitchFamily="18" charset="0"/>
                        </a:rPr>
                        <a:t>product_area</a:t>
                      </a:r>
                      <a:endParaRPr lang="en-IN"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284743842"/>
                  </a:ext>
                </a:extLst>
              </a:tr>
              <a:tr h="373026">
                <a:tc>
                  <a:txBody>
                    <a:bodyPr/>
                    <a:lstStyle/>
                    <a:p>
                      <a:pPr algn="ctr"/>
                      <a:r>
                        <a:rPr lang="en-IN" dirty="0">
                          <a:latin typeface="Times New Roman" panose="02020603050405020304" pitchFamily="18" charset="0"/>
                          <a:cs typeface="Times New Roman" panose="02020603050405020304" pitchFamily="18" charset="0"/>
                        </a:rPr>
                        <a:t>Priority</a:t>
                      </a:r>
                    </a:p>
                  </a:txBody>
                  <a:tcPr/>
                </a:tc>
                <a:tc>
                  <a:txBody>
                    <a:bodyPr/>
                    <a:lstStyle/>
                    <a:p>
                      <a:pPr algn="ctr"/>
                      <a:r>
                        <a:rPr lang="en-IN" sz="1800" kern="1200" dirty="0">
                          <a:solidFill>
                            <a:schemeClr val="dk1"/>
                          </a:solidFill>
                          <a:latin typeface="Times New Roman" panose="02020603050405020304" pitchFamily="18" charset="0"/>
                          <a:cs typeface="Times New Roman" panose="02020603050405020304" pitchFamily="18" charset="0"/>
                        </a:rPr>
                        <a:t>priority</a:t>
                      </a:r>
                      <a:r>
                        <a:rPr lang="en-IN" dirty="0">
                          <a:latin typeface="Times New Roman" panose="02020603050405020304" pitchFamily="18" charset="0"/>
                          <a:cs typeface="Times New Roman" panose="02020603050405020304" pitchFamily="18" charset="0"/>
                        </a:rPr>
                        <a:t>, </a:t>
                      </a:r>
                      <a:r>
                        <a:rPr lang="en-IN" sz="1800" kern="1200" dirty="0" err="1">
                          <a:solidFill>
                            <a:schemeClr val="dk1"/>
                          </a:solidFill>
                          <a:latin typeface="Times New Roman" panose="02020603050405020304" pitchFamily="18" charset="0"/>
                          <a:cs typeface="Times New Roman" panose="02020603050405020304" pitchFamily="18" charset="0"/>
                        </a:rPr>
                        <a:t>Priority_Score</a:t>
                      </a:r>
                      <a:endParaRPr lang="en-IN"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66013657"/>
                  </a:ext>
                </a:extLst>
              </a:tr>
              <a:tr h="373026">
                <a:tc>
                  <a:txBody>
                    <a:bodyPr/>
                    <a:lstStyle/>
                    <a:p>
                      <a:pPr algn="ctr"/>
                      <a:r>
                        <a:rPr lang="en-IN" dirty="0">
                          <a:latin typeface="Times New Roman" panose="02020603050405020304" pitchFamily="18" charset="0"/>
                          <a:cs typeface="Times New Roman" panose="02020603050405020304" pitchFamily="18" charset="0"/>
                        </a:rPr>
                        <a:t>Status</a:t>
                      </a:r>
                    </a:p>
                  </a:txBody>
                  <a:tcPr/>
                </a:tc>
                <a:tc>
                  <a:txBody>
                    <a:bodyPr/>
                    <a:lstStyle/>
                    <a:p>
                      <a:pPr algn="ctr"/>
                      <a:r>
                        <a:rPr lang="en-IN" sz="1800" kern="1200" dirty="0">
                          <a:solidFill>
                            <a:schemeClr val="dk1"/>
                          </a:solidFill>
                          <a:latin typeface="Times New Roman" panose="02020603050405020304" pitchFamily="18" charset="0"/>
                          <a:cs typeface="Times New Roman" panose="02020603050405020304" pitchFamily="18" charset="0"/>
                        </a:rPr>
                        <a:t>status</a:t>
                      </a:r>
                      <a:r>
                        <a:rPr lang="en-IN" dirty="0">
                          <a:latin typeface="Times New Roman" panose="02020603050405020304" pitchFamily="18" charset="0"/>
                          <a:cs typeface="Times New Roman" panose="02020603050405020304" pitchFamily="18" charset="0"/>
                        </a:rPr>
                        <a:t>, </a:t>
                      </a:r>
                      <a:r>
                        <a:rPr lang="en-IN" sz="1800" kern="1200" dirty="0">
                          <a:solidFill>
                            <a:schemeClr val="dk1"/>
                          </a:solidFill>
                          <a:latin typeface="Times New Roman" panose="02020603050405020304" pitchFamily="18" charset="0"/>
                          <a:cs typeface="Times New Roman" panose="02020603050405020304" pitchFamily="18" charset="0"/>
                        </a:rPr>
                        <a:t>reopened</a:t>
                      </a:r>
                      <a:endParaRPr lang="en-IN" b="1"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863579146"/>
                  </a:ext>
                </a:extLst>
              </a:tr>
              <a:tr h="373026">
                <a:tc>
                  <a:txBody>
                    <a:bodyPr/>
                    <a:lstStyle/>
                    <a:p>
                      <a:pPr algn="ctr"/>
                      <a:r>
                        <a:rPr lang="en-IN" dirty="0">
                          <a:latin typeface="Times New Roman" panose="02020603050405020304" pitchFamily="18" charset="0"/>
                          <a:cs typeface="Times New Roman" panose="02020603050405020304" pitchFamily="18" charset="0"/>
                        </a:rPr>
                        <a:t>Performance</a:t>
                      </a:r>
                    </a:p>
                  </a:txBody>
                  <a:tcPr/>
                </a:tc>
                <a:tc>
                  <a:txBody>
                    <a:bodyPr/>
                    <a:lstStyle/>
                    <a:p>
                      <a:pPr algn="ctr"/>
                      <a:r>
                        <a:rPr lang="en-IN" sz="1800" kern="1200" dirty="0" err="1">
                          <a:solidFill>
                            <a:schemeClr val="dk1"/>
                          </a:solidFill>
                          <a:latin typeface="Times New Roman" panose="02020603050405020304" pitchFamily="18" charset="0"/>
                          <a:ea typeface="+mn-ea"/>
                          <a:cs typeface="Times New Roman" panose="02020603050405020304" pitchFamily="18" charset="0"/>
                        </a:rPr>
                        <a:t>resolution_time_hours</a:t>
                      </a:r>
                      <a:r>
                        <a:rPr lang="en-IN" dirty="0">
                          <a:latin typeface="Times New Roman" panose="02020603050405020304" pitchFamily="18" charset="0"/>
                          <a:cs typeface="Times New Roman" panose="02020603050405020304" pitchFamily="18" charset="0"/>
                        </a:rPr>
                        <a:t>, </a:t>
                      </a:r>
                      <a:r>
                        <a:rPr lang="en-IN" sz="1800" kern="1200" dirty="0" err="1">
                          <a:solidFill>
                            <a:schemeClr val="dk1"/>
                          </a:solidFill>
                          <a:latin typeface="Times New Roman" panose="02020603050405020304" pitchFamily="18" charset="0"/>
                          <a:ea typeface="+mn-ea"/>
                          <a:cs typeface="Times New Roman" panose="02020603050405020304" pitchFamily="18" charset="0"/>
                        </a:rPr>
                        <a:t>Resolution_Duration</a:t>
                      </a:r>
                      <a:endParaRPr lang="en-IN" b="1"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755165607"/>
                  </a:ext>
                </a:extLst>
              </a:tr>
              <a:tr h="373026">
                <a:tc>
                  <a:txBody>
                    <a:bodyPr/>
                    <a:lstStyle/>
                    <a:p>
                      <a:pPr algn="ctr"/>
                      <a:r>
                        <a:rPr lang="en-IN" dirty="0">
                          <a:latin typeface="Times New Roman" panose="02020603050405020304" pitchFamily="18" charset="0"/>
                          <a:cs typeface="Times New Roman" panose="02020603050405020304" pitchFamily="18" charset="0"/>
                        </a:rPr>
                        <a:t>Satisfaction</a:t>
                      </a:r>
                    </a:p>
                  </a:txBody>
                  <a:tcPr/>
                </a:tc>
                <a:tc>
                  <a:txBody>
                    <a:bodyPr/>
                    <a:lstStyle/>
                    <a:p>
                      <a:pPr algn="ctr"/>
                      <a:r>
                        <a:rPr lang="en-IN" sz="1800" kern="1200" dirty="0" err="1">
                          <a:solidFill>
                            <a:schemeClr val="dk1"/>
                          </a:solidFill>
                          <a:latin typeface="Times New Roman" panose="02020603050405020304" pitchFamily="18" charset="0"/>
                          <a:ea typeface="+mn-ea"/>
                          <a:cs typeface="Times New Roman" panose="02020603050405020304" pitchFamily="18" charset="0"/>
                        </a:rPr>
                        <a:t>csat_score</a:t>
                      </a:r>
                      <a:r>
                        <a:rPr lang="en-IN" dirty="0">
                          <a:latin typeface="Times New Roman" panose="02020603050405020304" pitchFamily="18" charset="0"/>
                          <a:cs typeface="Times New Roman" panose="02020603050405020304" pitchFamily="18" charset="0"/>
                        </a:rPr>
                        <a:t>, </a:t>
                      </a:r>
                      <a:r>
                        <a:rPr lang="en-IN" sz="1800" kern="1200" dirty="0" err="1">
                          <a:solidFill>
                            <a:schemeClr val="dk1"/>
                          </a:solidFill>
                          <a:latin typeface="Times New Roman" panose="02020603050405020304" pitchFamily="18" charset="0"/>
                          <a:ea typeface="+mn-ea"/>
                          <a:cs typeface="Times New Roman" panose="02020603050405020304" pitchFamily="18" charset="0"/>
                        </a:rPr>
                        <a:t>customer_sentiment</a:t>
                      </a:r>
                      <a:endParaRPr lang="en-IN" b="1"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4283707771"/>
                  </a:ext>
                </a:extLst>
              </a:tr>
              <a:tr h="373026">
                <a:tc>
                  <a:txBody>
                    <a:bodyPr/>
                    <a:lstStyle/>
                    <a:p>
                      <a:pPr algn="ctr"/>
                      <a:r>
                        <a:rPr lang="en-IN" dirty="0">
                          <a:latin typeface="Times New Roman" panose="02020603050405020304" pitchFamily="18" charset="0"/>
                          <a:cs typeface="Times New Roman" panose="02020603050405020304" pitchFamily="18" charset="0"/>
                        </a:rPr>
                        <a:t>Geography</a:t>
                      </a:r>
                    </a:p>
                  </a:txBody>
                  <a:tcPr/>
                </a:tc>
                <a:tc>
                  <a:txBody>
                    <a:bodyPr/>
                    <a:lstStyle/>
                    <a:p>
                      <a:pPr algn="ctr"/>
                      <a:r>
                        <a:rPr lang="en-IN" sz="1800" kern="1200" dirty="0">
                          <a:solidFill>
                            <a:schemeClr val="dk1"/>
                          </a:solidFill>
                          <a:latin typeface="Times New Roman" panose="02020603050405020304" pitchFamily="18" charset="0"/>
                          <a:ea typeface="+mn-ea"/>
                          <a:cs typeface="Times New Roman" panose="02020603050405020304" pitchFamily="18" charset="0"/>
                        </a:rPr>
                        <a:t>region</a:t>
                      </a:r>
                      <a:r>
                        <a:rPr lang="en-IN" dirty="0">
                          <a:latin typeface="Times New Roman" panose="02020603050405020304" pitchFamily="18" charset="0"/>
                          <a:cs typeface="Times New Roman" panose="02020603050405020304" pitchFamily="18" charset="0"/>
                        </a:rPr>
                        <a:t>, </a:t>
                      </a:r>
                      <a:r>
                        <a:rPr lang="en-IN" sz="1800" kern="1200" dirty="0">
                          <a:solidFill>
                            <a:schemeClr val="dk1"/>
                          </a:solidFill>
                          <a:latin typeface="Times New Roman" panose="02020603050405020304" pitchFamily="18" charset="0"/>
                          <a:ea typeface="+mn-ea"/>
                          <a:cs typeface="Times New Roman" panose="02020603050405020304" pitchFamily="18" charset="0"/>
                        </a:rPr>
                        <a:t>Latitude</a:t>
                      </a:r>
                      <a:r>
                        <a:rPr lang="en-IN" dirty="0">
                          <a:latin typeface="Times New Roman" panose="02020603050405020304" pitchFamily="18" charset="0"/>
                          <a:cs typeface="Times New Roman" panose="02020603050405020304" pitchFamily="18" charset="0"/>
                        </a:rPr>
                        <a:t>, </a:t>
                      </a:r>
                      <a:r>
                        <a:rPr lang="en-IN" sz="1800" kern="1200" dirty="0">
                          <a:solidFill>
                            <a:schemeClr val="dk1"/>
                          </a:solidFill>
                          <a:latin typeface="Times New Roman" panose="02020603050405020304" pitchFamily="18" charset="0"/>
                          <a:ea typeface="+mn-ea"/>
                          <a:cs typeface="Times New Roman" panose="02020603050405020304" pitchFamily="18" charset="0"/>
                        </a:rPr>
                        <a:t>Longitude</a:t>
                      </a:r>
                      <a:endParaRPr lang="en-IN" b="1"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102437752"/>
                  </a:ext>
                </a:extLst>
              </a:tr>
              <a:tr h="373026">
                <a:tc>
                  <a:txBody>
                    <a:bodyPr/>
                    <a:lstStyle/>
                    <a:p>
                      <a:pPr algn="ctr"/>
                      <a:r>
                        <a:rPr lang="en-IN" dirty="0">
                          <a:latin typeface="Times New Roman" panose="02020603050405020304" pitchFamily="18" charset="0"/>
                          <a:cs typeface="Times New Roman" panose="02020603050405020304" pitchFamily="18" charset="0"/>
                        </a:rPr>
                        <a:t>ML Features</a:t>
                      </a:r>
                    </a:p>
                  </a:txBody>
                  <a:tcPr/>
                </a:tc>
                <a:tc>
                  <a:txBody>
                    <a:bodyPr/>
                    <a:lstStyle/>
                    <a:p>
                      <a:pPr algn="ctr"/>
                      <a:r>
                        <a:rPr lang="en-IN" sz="1800" kern="1200" dirty="0">
                          <a:solidFill>
                            <a:schemeClr val="dk1"/>
                          </a:solidFill>
                          <a:latin typeface="Times New Roman" panose="02020603050405020304" pitchFamily="18" charset="0"/>
                          <a:ea typeface="+mn-ea"/>
                          <a:cs typeface="Times New Roman" panose="02020603050405020304" pitchFamily="18" charset="0"/>
                        </a:rPr>
                        <a:t>Cluster</a:t>
                      </a:r>
                      <a:r>
                        <a:rPr lang="en-IN" dirty="0">
                          <a:latin typeface="Times New Roman" panose="02020603050405020304" pitchFamily="18" charset="0"/>
                          <a:cs typeface="Times New Roman" panose="02020603050405020304" pitchFamily="18" charset="0"/>
                        </a:rPr>
                        <a:t>, </a:t>
                      </a:r>
                      <a:r>
                        <a:rPr lang="en-IN" sz="1800" kern="1200" dirty="0" err="1">
                          <a:solidFill>
                            <a:schemeClr val="dk1"/>
                          </a:solidFill>
                          <a:latin typeface="Times New Roman" panose="02020603050405020304" pitchFamily="18" charset="0"/>
                          <a:ea typeface="+mn-ea"/>
                          <a:cs typeface="Times New Roman" panose="02020603050405020304" pitchFamily="18" charset="0"/>
                        </a:rPr>
                        <a:t>Similarity_Score</a:t>
                      </a:r>
                      <a:endParaRPr lang="en-IN" b="1"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066100208"/>
                  </a:ext>
                </a:extLst>
              </a:tr>
            </a:tbl>
          </a:graphicData>
        </a:graphic>
      </p:graphicFrame>
    </p:spTree>
    <p:extLst>
      <p:ext uri="{BB962C8B-B14F-4D97-AF65-F5344CB8AC3E}">
        <p14:creationId xmlns:p14="http://schemas.microsoft.com/office/powerpoint/2010/main" val="393644801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A0A57A-A80D-592F-E23F-144A26ECC8C4}"/>
              </a:ext>
            </a:extLst>
          </p:cNvPr>
          <p:cNvSpPr>
            <a:spLocks noGrp="1"/>
          </p:cNvSpPr>
          <p:nvPr>
            <p:ph type="title"/>
          </p:nvPr>
        </p:nvSpPr>
        <p:spPr>
          <a:xfrm>
            <a:off x="731520" y="365760"/>
            <a:ext cx="10741152" cy="646963"/>
          </a:xfrm>
        </p:spPr>
        <p:txBody>
          <a:bodyPr/>
          <a:lstStyle/>
          <a:p>
            <a:pPr algn="ctr"/>
            <a:r>
              <a:rPr lang="en-IN" sz="2800" dirty="0">
                <a:latin typeface="Times New Roman" panose="02020603050405020304" pitchFamily="18" charset="0"/>
                <a:cs typeface="Times New Roman" panose="02020603050405020304" pitchFamily="18" charset="0"/>
              </a:rPr>
              <a:t>Data Preparation</a:t>
            </a:r>
          </a:p>
        </p:txBody>
      </p:sp>
      <p:sp>
        <p:nvSpPr>
          <p:cNvPr id="7" name="Content Placeholder 6">
            <a:extLst>
              <a:ext uri="{FF2B5EF4-FFF2-40B4-BE49-F238E27FC236}">
                <a16:creationId xmlns:a16="http://schemas.microsoft.com/office/drawing/2014/main" id="{E035CB01-96BD-E2F0-C33D-5796D9236A2B}"/>
              </a:ext>
            </a:extLst>
          </p:cNvPr>
          <p:cNvSpPr>
            <a:spLocks noGrp="1"/>
          </p:cNvSpPr>
          <p:nvPr>
            <p:ph idx="1"/>
          </p:nvPr>
        </p:nvSpPr>
        <p:spPr>
          <a:xfrm>
            <a:off x="6381135" y="1189703"/>
            <a:ext cx="5131160" cy="5393976"/>
          </a:xfrm>
        </p:spPr>
        <p:txBody>
          <a:bodyPr/>
          <a:lstStyle/>
          <a:p>
            <a:pPr marL="0" indent="0">
              <a:buNone/>
            </a:pPr>
            <a:r>
              <a:rPr lang="en-IN" dirty="0">
                <a:latin typeface="Times New Roman" panose="02020603050405020304" pitchFamily="18" charset="0"/>
                <a:cs typeface="Times New Roman" panose="02020603050405020304" pitchFamily="18" charset="0"/>
              </a:rPr>
              <a:t>Important engineered fields:</a:t>
            </a:r>
          </a:p>
          <a:p>
            <a:pPr lvl="0"/>
            <a:r>
              <a:rPr lang="en-IN" dirty="0" err="1">
                <a:latin typeface="Times New Roman" panose="02020603050405020304" pitchFamily="18" charset="0"/>
                <a:cs typeface="Times New Roman" panose="02020603050405020304" pitchFamily="18" charset="0"/>
              </a:rPr>
              <a:t>Resolution_Duration</a:t>
            </a:r>
            <a:r>
              <a:rPr lang="en-IN" dirty="0">
                <a:latin typeface="Times New Roman" panose="02020603050405020304" pitchFamily="18" charset="0"/>
                <a:cs typeface="Times New Roman" panose="02020603050405020304" pitchFamily="18" charset="0"/>
              </a:rPr>
              <a:t> </a:t>
            </a:r>
          </a:p>
          <a:p>
            <a:pPr lvl="0"/>
            <a:r>
              <a:rPr lang="en-IN" dirty="0" err="1">
                <a:latin typeface="Times New Roman" panose="02020603050405020304" pitchFamily="18" charset="0"/>
                <a:cs typeface="Times New Roman" panose="02020603050405020304" pitchFamily="18" charset="0"/>
              </a:rPr>
              <a:t>Priority_Score</a:t>
            </a:r>
            <a:r>
              <a:rPr lang="en-IN" dirty="0">
                <a:latin typeface="Times New Roman" panose="02020603050405020304" pitchFamily="18" charset="0"/>
                <a:cs typeface="Times New Roman" panose="02020603050405020304" pitchFamily="18" charset="0"/>
              </a:rPr>
              <a:t> </a:t>
            </a:r>
          </a:p>
          <a:p>
            <a:pPr lvl="0"/>
            <a:r>
              <a:rPr lang="en-IN" dirty="0">
                <a:latin typeface="Times New Roman" panose="02020603050405020304" pitchFamily="18" charset="0"/>
                <a:cs typeface="Times New Roman" panose="02020603050405020304" pitchFamily="18" charset="0"/>
              </a:rPr>
              <a:t>Cluster </a:t>
            </a:r>
          </a:p>
          <a:p>
            <a:pPr lvl="0"/>
            <a:r>
              <a:rPr lang="en-IN" dirty="0" err="1">
                <a:latin typeface="Times New Roman" panose="02020603050405020304" pitchFamily="18" charset="0"/>
                <a:cs typeface="Times New Roman" panose="02020603050405020304" pitchFamily="18" charset="0"/>
              </a:rPr>
              <a:t>Similarity_Score</a:t>
            </a:r>
            <a:endParaRPr lang="en-IN" dirty="0">
              <a:latin typeface="Times New Roman" panose="02020603050405020304" pitchFamily="18" charset="0"/>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p:txBody>
      </p:sp>
      <p:pic>
        <p:nvPicPr>
          <p:cNvPr id="9" name="Content Placeholder 4">
            <a:extLst>
              <a:ext uri="{FF2B5EF4-FFF2-40B4-BE49-F238E27FC236}">
                <a16:creationId xmlns:a16="http://schemas.microsoft.com/office/drawing/2014/main" id="{407D5279-09BD-D846-1C87-5ECC677896F9}"/>
              </a:ext>
            </a:extLst>
          </p:cNvPr>
          <p:cNvPicPr>
            <a:picLocks noChangeAspect="1"/>
          </p:cNvPicPr>
          <p:nvPr/>
        </p:nvPicPr>
        <p:blipFill>
          <a:blip r:embed="rId2"/>
          <a:srcRect l="22192" r="23267"/>
          <a:stretch>
            <a:fillRect/>
          </a:stretch>
        </p:blipFill>
        <p:spPr>
          <a:xfrm>
            <a:off x="511278" y="1098499"/>
            <a:ext cx="4955458" cy="4924425"/>
          </a:xfrm>
          <a:prstGeom prst="rect">
            <a:avLst/>
          </a:prstGeom>
        </p:spPr>
      </p:pic>
    </p:spTree>
    <p:extLst>
      <p:ext uri="{BB962C8B-B14F-4D97-AF65-F5344CB8AC3E}">
        <p14:creationId xmlns:p14="http://schemas.microsoft.com/office/powerpoint/2010/main" val="199197844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0E956A-8E57-CECF-47BE-8AC207D49987}"/>
              </a:ext>
            </a:extLst>
          </p:cNvPr>
          <p:cNvSpPr>
            <a:spLocks noGrp="1"/>
          </p:cNvSpPr>
          <p:nvPr>
            <p:ph type="title"/>
          </p:nvPr>
        </p:nvSpPr>
        <p:spPr>
          <a:xfrm>
            <a:off x="731520" y="0"/>
            <a:ext cx="10741152" cy="698090"/>
          </a:xfrm>
        </p:spPr>
        <p:txBody>
          <a:bodyPr/>
          <a:lstStyle/>
          <a:p>
            <a:pPr algn="ctr"/>
            <a:r>
              <a:rPr lang="en-IN" sz="2800" dirty="0">
                <a:latin typeface="Times New Roman" panose="02020603050405020304" pitchFamily="18" charset="0"/>
                <a:cs typeface="Times New Roman" panose="02020603050405020304" pitchFamily="18" charset="0"/>
              </a:rPr>
              <a:t>Exploratory Data Analysis</a:t>
            </a:r>
          </a:p>
        </p:txBody>
      </p:sp>
      <p:pic>
        <p:nvPicPr>
          <p:cNvPr id="5" name="Content Placeholder 4">
            <a:extLst>
              <a:ext uri="{FF2B5EF4-FFF2-40B4-BE49-F238E27FC236}">
                <a16:creationId xmlns:a16="http://schemas.microsoft.com/office/drawing/2014/main" id="{20F792E3-9B24-C911-C5B2-45ACE063B683}"/>
              </a:ext>
            </a:extLst>
          </p:cNvPr>
          <p:cNvPicPr>
            <a:picLocks noGrp="1" noChangeAspect="1"/>
          </p:cNvPicPr>
          <p:nvPr>
            <p:ph idx="1"/>
          </p:nvPr>
        </p:nvPicPr>
        <p:blipFill>
          <a:blip r:embed="rId2"/>
          <a:stretch>
            <a:fillRect/>
          </a:stretch>
        </p:blipFill>
        <p:spPr>
          <a:xfrm>
            <a:off x="923728" y="698090"/>
            <a:ext cx="4434852" cy="3136049"/>
          </a:xfrm>
          <a:prstGeom prst="rect">
            <a:avLst/>
          </a:prstGeom>
        </p:spPr>
      </p:pic>
      <p:pic>
        <p:nvPicPr>
          <p:cNvPr id="7" name="Picture 6">
            <a:extLst>
              <a:ext uri="{FF2B5EF4-FFF2-40B4-BE49-F238E27FC236}">
                <a16:creationId xmlns:a16="http://schemas.microsoft.com/office/drawing/2014/main" id="{AA1A2D58-5B45-5517-6AAE-9BD4DFA0615F}"/>
              </a:ext>
            </a:extLst>
          </p:cNvPr>
          <p:cNvPicPr>
            <a:picLocks noChangeAspect="1"/>
          </p:cNvPicPr>
          <p:nvPr/>
        </p:nvPicPr>
        <p:blipFill>
          <a:blip r:embed="rId3"/>
          <a:stretch>
            <a:fillRect/>
          </a:stretch>
        </p:blipFill>
        <p:spPr>
          <a:xfrm>
            <a:off x="6096000" y="757526"/>
            <a:ext cx="4286865" cy="3136050"/>
          </a:xfrm>
          <a:prstGeom prst="rect">
            <a:avLst/>
          </a:prstGeom>
        </p:spPr>
      </p:pic>
      <p:pic>
        <p:nvPicPr>
          <p:cNvPr id="11" name="Picture 10">
            <a:extLst>
              <a:ext uri="{FF2B5EF4-FFF2-40B4-BE49-F238E27FC236}">
                <a16:creationId xmlns:a16="http://schemas.microsoft.com/office/drawing/2014/main" id="{114A7A7F-68B7-211B-1895-A587D3606F9B}"/>
              </a:ext>
            </a:extLst>
          </p:cNvPr>
          <p:cNvPicPr>
            <a:picLocks noChangeAspect="1"/>
          </p:cNvPicPr>
          <p:nvPr/>
        </p:nvPicPr>
        <p:blipFill>
          <a:blip r:embed="rId4"/>
          <a:stretch>
            <a:fillRect/>
          </a:stretch>
        </p:blipFill>
        <p:spPr>
          <a:xfrm>
            <a:off x="923727" y="4011561"/>
            <a:ext cx="4434853" cy="2723536"/>
          </a:xfrm>
          <a:prstGeom prst="rect">
            <a:avLst/>
          </a:prstGeom>
        </p:spPr>
      </p:pic>
      <p:pic>
        <p:nvPicPr>
          <p:cNvPr id="13" name="Picture 12">
            <a:extLst>
              <a:ext uri="{FF2B5EF4-FFF2-40B4-BE49-F238E27FC236}">
                <a16:creationId xmlns:a16="http://schemas.microsoft.com/office/drawing/2014/main" id="{79659630-07E7-4ED6-9269-15BA538BC6C7}"/>
              </a:ext>
            </a:extLst>
          </p:cNvPr>
          <p:cNvPicPr>
            <a:picLocks noChangeAspect="1"/>
          </p:cNvPicPr>
          <p:nvPr/>
        </p:nvPicPr>
        <p:blipFill>
          <a:blip r:embed="rId5"/>
          <a:stretch>
            <a:fillRect/>
          </a:stretch>
        </p:blipFill>
        <p:spPr>
          <a:xfrm>
            <a:off x="6095999" y="4011561"/>
            <a:ext cx="4286865" cy="2723536"/>
          </a:xfrm>
          <a:prstGeom prst="rect">
            <a:avLst/>
          </a:prstGeom>
        </p:spPr>
      </p:pic>
    </p:spTree>
    <p:extLst>
      <p:ext uri="{BB962C8B-B14F-4D97-AF65-F5344CB8AC3E}">
        <p14:creationId xmlns:p14="http://schemas.microsoft.com/office/powerpoint/2010/main" val="123870329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95DCD4-A69F-2B28-AB78-4B67949D30ED}"/>
              </a:ext>
            </a:extLst>
          </p:cNvPr>
          <p:cNvSpPr>
            <a:spLocks noGrp="1"/>
          </p:cNvSpPr>
          <p:nvPr>
            <p:ph type="title"/>
          </p:nvPr>
        </p:nvSpPr>
        <p:spPr>
          <a:xfrm>
            <a:off x="731520" y="274322"/>
            <a:ext cx="10741152" cy="738402"/>
          </a:xfrm>
        </p:spPr>
        <p:txBody>
          <a:bodyPr/>
          <a:lstStyle/>
          <a:p>
            <a:pPr algn="ctr"/>
            <a:r>
              <a:rPr lang="en-IN" sz="2800" dirty="0">
                <a:latin typeface="Times New Roman" panose="02020603050405020304" pitchFamily="18" charset="0"/>
                <a:cs typeface="Times New Roman" panose="02020603050405020304" pitchFamily="18" charset="0"/>
              </a:rPr>
              <a:t>Dashboard Architecture</a:t>
            </a:r>
          </a:p>
        </p:txBody>
      </p:sp>
      <p:pic>
        <p:nvPicPr>
          <p:cNvPr id="5" name="Content Placeholder 4">
            <a:extLst>
              <a:ext uri="{FF2B5EF4-FFF2-40B4-BE49-F238E27FC236}">
                <a16:creationId xmlns:a16="http://schemas.microsoft.com/office/drawing/2014/main" id="{6DF6D43F-8B29-DFF0-632A-561999EE703E}"/>
              </a:ext>
            </a:extLst>
          </p:cNvPr>
          <p:cNvPicPr>
            <a:picLocks noGrp="1" noChangeAspect="1"/>
          </p:cNvPicPr>
          <p:nvPr>
            <p:ph idx="1"/>
          </p:nvPr>
        </p:nvPicPr>
        <p:blipFill>
          <a:blip r:embed="rId2"/>
          <a:stretch>
            <a:fillRect/>
          </a:stretch>
        </p:blipFill>
        <p:spPr>
          <a:xfrm>
            <a:off x="973394" y="1307712"/>
            <a:ext cx="10499278" cy="3219972"/>
          </a:xfrm>
          <a:prstGeom prst="rect">
            <a:avLst/>
          </a:prstGeom>
        </p:spPr>
      </p:pic>
    </p:spTree>
    <p:extLst>
      <p:ext uri="{BB962C8B-B14F-4D97-AF65-F5344CB8AC3E}">
        <p14:creationId xmlns:p14="http://schemas.microsoft.com/office/powerpoint/2010/main" val="183633189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5ED73E-09B6-950F-C0DF-0632D8568949}"/>
              </a:ext>
            </a:extLst>
          </p:cNvPr>
          <p:cNvSpPr>
            <a:spLocks noGrp="1"/>
          </p:cNvSpPr>
          <p:nvPr>
            <p:ph type="title"/>
          </p:nvPr>
        </p:nvSpPr>
        <p:spPr>
          <a:xfrm>
            <a:off x="731520" y="365760"/>
            <a:ext cx="10741152" cy="597801"/>
          </a:xfrm>
        </p:spPr>
        <p:txBody>
          <a:bodyPr/>
          <a:lstStyle/>
          <a:p>
            <a:pPr algn="ctr"/>
            <a:r>
              <a:rPr lang="en-IN" sz="2800" dirty="0">
                <a:latin typeface="Times New Roman" panose="02020603050405020304" pitchFamily="18" charset="0"/>
                <a:cs typeface="Times New Roman" panose="02020603050405020304" pitchFamily="18" charset="0"/>
              </a:rPr>
              <a:t>Overview Dashboard</a:t>
            </a:r>
          </a:p>
        </p:txBody>
      </p:sp>
      <p:pic>
        <p:nvPicPr>
          <p:cNvPr id="5" name="Content Placeholder 4">
            <a:extLst>
              <a:ext uri="{FF2B5EF4-FFF2-40B4-BE49-F238E27FC236}">
                <a16:creationId xmlns:a16="http://schemas.microsoft.com/office/drawing/2014/main" id="{3B1C327C-C2CE-EEA0-F1E6-6E654C598282}"/>
              </a:ext>
            </a:extLst>
          </p:cNvPr>
          <p:cNvPicPr>
            <a:picLocks noGrp="1" noChangeAspect="1"/>
          </p:cNvPicPr>
          <p:nvPr>
            <p:ph idx="1"/>
          </p:nvPr>
        </p:nvPicPr>
        <p:blipFill>
          <a:blip r:embed="rId2"/>
          <a:stretch>
            <a:fillRect/>
          </a:stretch>
        </p:blipFill>
        <p:spPr>
          <a:xfrm>
            <a:off x="1540630" y="1295145"/>
            <a:ext cx="8887824" cy="4924425"/>
          </a:xfrm>
          <a:prstGeom prst="rect">
            <a:avLst/>
          </a:prstGeom>
        </p:spPr>
      </p:pic>
    </p:spTree>
    <p:extLst>
      <p:ext uri="{BB962C8B-B14F-4D97-AF65-F5344CB8AC3E}">
        <p14:creationId xmlns:p14="http://schemas.microsoft.com/office/powerpoint/2010/main" val="176481565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D67246-1B3C-2DF5-70CD-1083EC8C1F4B}"/>
              </a:ext>
            </a:extLst>
          </p:cNvPr>
          <p:cNvSpPr>
            <a:spLocks noGrp="1"/>
          </p:cNvSpPr>
          <p:nvPr>
            <p:ph type="title"/>
          </p:nvPr>
        </p:nvSpPr>
        <p:spPr/>
        <p:txBody>
          <a:bodyPr/>
          <a:lstStyle/>
          <a:p>
            <a:pPr algn="ctr"/>
            <a:r>
              <a:rPr lang="en-IN" sz="2800" dirty="0">
                <a:latin typeface="Times New Roman" panose="02020603050405020304" pitchFamily="18" charset="0"/>
                <a:cs typeface="Times New Roman" panose="02020603050405020304" pitchFamily="18" charset="0"/>
              </a:rPr>
              <a:t>Tickets Analysis</a:t>
            </a:r>
          </a:p>
        </p:txBody>
      </p:sp>
      <p:pic>
        <p:nvPicPr>
          <p:cNvPr id="7" name="Content Placeholder 6">
            <a:extLst>
              <a:ext uri="{FF2B5EF4-FFF2-40B4-BE49-F238E27FC236}">
                <a16:creationId xmlns:a16="http://schemas.microsoft.com/office/drawing/2014/main" id="{20F194C0-FCAC-F0A3-AC6D-785E0D5D317A}"/>
              </a:ext>
            </a:extLst>
          </p:cNvPr>
          <p:cNvPicPr>
            <a:picLocks noGrp="1" noChangeAspect="1"/>
          </p:cNvPicPr>
          <p:nvPr>
            <p:ph idx="1"/>
          </p:nvPr>
        </p:nvPicPr>
        <p:blipFill>
          <a:blip r:embed="rId2"/>
          <a:srcRect l="624" r="1039"/>
          <a:stretch>
            <a:fillRect/>
          </a:stretch>
        </p:blipFill>
        <p:spPr>
          <a:xfrm>
            <a:off x="1751549" y="1658938"/>
            <a:ext cx="8741290" cy="4924425"/>
          </a:xfrm>
          <a:prstGeom prst="rect">
            <a:avLst/>
          </a:prstGeom>
        </p:spPr>
      </p:pic>
    </p:spTree>
    <p:extLst>
      <p:ext uri="{BB962C8B-B14F-4D97-AF65-F5344CB8AC3E}">
        <p14:creationId xmlns:p14="http://schemas.microsoft.com/office/powerpoint/2010/main" val="9371708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FF0696-CA71-F001-2A44-016296BEFC5D}"/>
              </a:ext>
            </a:extLst>
          </p:cNvPr>
          <p:cNvSpPr>
            <a:spLocks noGrp="1"/>
          </p:cNvSpPr>
          <p:nvPr>
            <p:ph type="title"/>
          </p:nvPr>
        </p:nvSpPr>
        <p:spPr/>
        <p:txBody>
          <a:bodyPr/>
          <a:lstStyle/>
          <a:p>
            <a:pPr algn="ctr"/>
            <a:r>
              <a:rPr lang="en-IN" sz="2800" dirty="0">
                <a:latin typeface="Times New Roman" panose="02020603050405020304" pitchFamily="18" charset="0"/>
                <a:cs typeface="Times New Roman" panose="02020603050405020304" pitchFamily="18" charset="0"/>
              </a:rPr>
              <a:t>Cluster Intelligence</a:t>
            </a:r>
          </a:p>
        </p:txBody>
      </p:sp>
      <p:pic>
        <p:nvPicPr>
          <p:cNvPr id="5" name="Content Placeholder 4">
            <a:extLst>
              <a:ext uri="{FF2B5EF4-FFF2-40B4-BE49-F238E27FC236}">
                <a16:creationId xmlns:a16="http://schemas.microsoft.com/office/drawing/2014/main" id="{3C89F355-4CA8-F60A-1114-0448B5B6D629}"/>
              </a:ext>
            </a:extLst>
          </p:cNvPr>
          <p:cNvPicPr>
            <a:picLocks noGrp="1" noChangeAspect="1"/>
          </p:cNvPicPr>
          <p:nvPr>
            <p:ph idx="1"/>
          </p:nvPr>
        </p:nvPicPr>
        <p:blipFill>
          <a:blip r:embed="rId2"/>
          <a:stretch>
            <a:fillRect/>
          </a:stretch>
        </p:blipFill>
        <p:spPr>
          <a:xfrm>
            <a:off x="1662779" y="1658938"/>
            <a:ext cx="8918829" cy="4924425"/>
          </a:xfrm>
          <a:prstGeom prst="rect">
            <a:avLst/>
          </a:prstGeom>
        </p:spPr>
      </p:pic>
    </p:spTree>
    <p:extLst>
      <p:ext uri="{BB962C8B-B14F-4D97-AF65-F5344CB8AC3E}">
        <p14:creationId xmlns:p14="http://schemas.microsoft.com/office/powerpoint/2010/main" val="132023360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149DAB-7F08-B27C-3C32-215F2881E65F}"/>
              </a:ext>
            </a:extLst>
          </p:cNvPr>
          <p:cNvSpPr>
            <a:spLocks noGrp="1"/>
          </p:cNvSpPr>
          <p:nvPr>
            <p:ph type="title"/>
          </p:nvPr>
        </p:nvSpPr>
        <p:spPr/>
        <p:txBody>
          <a:bodyPr/>
          <a:lstStyle/>
          <a:p>
            <a:pPr algn="ctr"/>
            <a:r>
              <a:rPr lang="en-IN" sz="2800" dirty="0">
                <a:latin typeface="Times New Roman" panose="02020603050405020304" pitchFamily="18" charset="0"/>
                <a:cs typeface="Times New Roman" panose="02020603050405020304" pitchFamily="18" charset="0"/>
              </a:rPr>
              <a:t>Geographical Insights</a:t>
            </a:r>
          </a:p>
        </p:txBody>
      </p:sp>
      <p:pic>
        <p:nvPicPr>
          <p:cNvPr id="5" name="Content Placeholder 4">
            <a:extLst>
              <a:ext uri="{FF2B5EF4-FFF2-40B4-BE49-F238E27FC236}">
                <a16:creationId xmlns:a16="http://schemas.microsoft.com/office/drawing/2014/main" id="{DC65C759-1E43-E040-95B8-56DF6327AC85}"/>
              </a:ext>
            </a:extLst>
          </p:cNvPr>
          <p:cNvPicPr>
            <a:picLocks noGrp="1" noChangeAspect="1"/>
          </p:cNvPicPr>
          <p:nvPr>
            <p:ph idx="1"/>
          </p:nvPr>
        </p:nvPicPr>
        <p:blipFill>
          <a:blip r:embed="rId2"/>
          <a:stretch>
            <a:fillRect/>
          </a:stretch>
        </p:blipFill>
        <p:spPr>
          <a:xfrm>
            <a:off x="1698781" y="1658938"/>
            <a:ext cx="8846825" cy="4924425"/>
          </a:xfrm>
          <a:prstGeom prst="rect">
            <a:avLst/>
          </a:prstGeom>
        </p:spPr>
      </p:pic>
    </p:spTree>
    <p:extLst>
      <p:ext uri="{BB962C8B-B14F-4D97-AF65-F5344CB8AC3E}">
        <p14:creationId xmlns:p14="http://schemas.microsoft.com/office/powerpoint/2010/main" val="36032673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0A23D6-9118-1462-65F5-0B9C8B1D043B}"/>
              </a:ext>
            </a:extLst>
          </p:cNvPr>
          <p:cNvSpPr>
            <a:spLocks noGrp="1"/>
          </p:cNvSpPr>
          <p:nvPr>
            <p:ph type="title"/>
          </p:nvPr>
        </p:nvSpPr>
        <p:spPr/>
        <p:txBody>
          <a:bodyPr/>
          <a:lstStyle/>
          <a:p>
            <a:pPr algn="ctr"/>
            <a:r>
              <a:rPr lang="en-IN" sz="2800" dirty="0">
                <a:latin typeface="Times New Roman" panose="02020603050405020304" pitchFamily="18" charset="0"/>
                <a:cs typeface="Times New Roman" panose="02020603050405020304" pitchFamily="18" charset="0"/>
              </a:rPr>
              <a:t>Performance Analysis</a:t>
            </a:r>
          </a:p>
        </p:txBody>
      </p:sp>
      <p:pic>
        <p:nvPicPr>
          <p:cNvPr id="5" name="Content Placeholder 4">
            <a:extLst>
              <a:ext uri="{FF2B5EF4-FFF2-40B4-BE49-F238E27FC236}">
                <a16:creationId xmlns:a16="http://schemas.microsoft.com/office/drawing/2014/main" id="{C6F9276C-8108-32C1-15E2-6AC2AEA87E59}"/>
              </a:ext>
            </a:extLst>
          </p:cNvPr>
          <p:cNvPicPr>
            <a:picLocks noGrp="1" noChangeAspect="1"/>
          </p:cNvPicPr>
          <p:nvPr>
            <p:ph idx="1"/>
          </p:nvPr>
        </p:nvPicPr>
        <p:blipFill>
          <a:blip r:embed="rId2"/>
          <a:stretch>
            <a:fillRect/>
          </a:stretch>
        </p:blipFill>
        <p:spPr>
          <a:xfrm>
            <a:off x="1734618" y="1658938"/>
            <a:ext cx="8775152" cy="4924425"/>
          </a:xfrm>
          <a:prstGeom prst="rect">
            <a:avLst/>
          </a:prstGeom>
        </p:spPr>
      </p:pic>
    </p:spTree>
    <p:extLst>
      <p:ext uri="{BB962C8B-B14F-4D97-AF65-F5344CB8AC3E}">
        <p14:creationId xmlns:p14="http://schemas.microsoft.com/office/powerpoint/2010/main" val="296358977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8DA835-DC4A-B9C0-B490-369669335533}"/>
              </a:ext>
            </a:extLst>
          </p:cNvPr>
          <p:cNvSpPr>
            <a:spLocks noGrp="1"/>
          </p:cNvSpPr>
          <p:nvPr>
            <p:ph type="title"/>
          </p:nvPr>
        </p:nvSpPr>
        <p:spPr/>
        <p:txBody>
          <a:bodyPr/>
          <a:lstStyle/>
          <a:p>
            <a:pPr algn="ctr"/>
            <a:r>
              <a:rPr lang="en-IN" sz="2800" dirty="0">
                <a:latin typeface="Times New Roman" panose="02020603050405020304" pitchFamily="18" charset="0"/>
                <a:cs typeface="Times New Roman" panose="02020603050405020304" pitchFamily="18" charset="0"/>
              </a:rPr>
              <a:t>Executive Report</a:t>
            </a:r>
          </a:p>
        </p:txBody>
      </p:sp>
      <p:pic>
        <p:nvPicPr>
          <p:cNvPr id="5" name="Content Placeholder 4">
            <a:extLst>
              <a:ext uri="{FF2B5EF4-FFF2-40B4-BE49-F238E27FC236}">
                <a16:creationId xmlns:a16="http://schemas.microsoft.com/office/drawing/2014/main" id="{08675AC5-B96C-D59C-90C6-9E54A3225882}"/>
              </a:ext>
            </a:extLst>
          </p:cNvPr>
          <p:cNvPicPr>
            <a:picLocks noGrp="1" noChangeAspect="1"/>
          </p:cNvPicPr>
          <p:nvPr>
            <p:ph idx="1"/>
          </p:nvPr>
        </p:nvPicPr>
        <p:blipFill>
          <a:blip r:embed="rId2"/>
          <a:stretch>
            <a:fillRect/>
          </a:stretch>
        </p:blipFill>
        <p:spPr>
          <a:xfrm>
            <a:off x="1725150" y="1658938"/>
            <a:ext cx="8794087" cy="4924425"/>
          </a:xfrm>
          <a:prstGeom prst="rect">
            <a:avLst/>
          </a:prstGeom>
        </p:spPr>
      </p:pic>
    </p:spTree>
    <p:extLst>
      <p:ext uri="{BB962C8B-B14F-4D97-AF65-F5344CB8AC3E}">
        <p14:creationId xmlns:p14="http://schemas.microsoft.com/office/powerpoint/2010/main" val="54153742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006A3D-C13F-1E72-9687-789BA1093904}"/>
              </a:ext>
            </a:extLst>
          </p:cNvPr>
          <p:cNvSpPr>
            <a:spLocks noGrp="1"/>
          </p:cNvSpPr>
          <p:nvPr>
            <p:ph type="title"/>
          </p:nvPr>
        </p:nvSpPr>
        <p:spPr/>
        <p:txBody>
          <a:bodyPr/>
          <a:lstStyle/>
          <a:p>
            <a:pPr algn="ctr"/>
            <a:r>
              <a:rPr lang="en-IN" sz="2800" dirty="0">
                <a:latin typeface="Times New Roman" panose="02020603050405020304" pitchFamily="18" charset="0"/>
                <a:cs typeface="Times New Roman" panose="02020603050405020304" pitchFamily="18" charset="0"/>
              </a:rPr>
              <a:t>Recommendations</a:t>
            </a:r>
          </a:p>
        </p:txBody>
      </p:sp>
      <p:graphicFrame>
        <p:nvGraphicFramePr>
          <p:cNvPr id="4" name="Content Placeholder 3">
            <a:extLst>
              <a:ext uri="{FF2B5EF4-FFF2-40B4-BE49-F238E27FC236}">
                <a16:creationId xmlns:a16="http://schemas.microsoft.com/office/drawing/2014/main" id="{3101FCEA-FE67-66DE-DFAF-D585BD8EC0AD}"/>
              </a:ext>
            </a:extLst>
          </p:cNvPr>
          <p:cNvGraphicFramePr>
            <a:graphicFrameLocks noGrp="1"/>
          </p:cNvGraphicFramePr>
          <p:nvPr>
            <p:ph idx="1"/>
            <p:extLst>
              <p:ext uri="{D42A27DB-BD31-4B8C-83A1-F6EECF244321}">
                <p14:modId xmlns:p14="http://schemas.microsoft.com/office/powerpoint/2010/main" val="1455182497"/>
              </p:ext>
            </p:extLst>
          </p:nvPr>
        </p:nvGraphicFramePr>
        <p:xfrm>
          <a:off x="731838" y="1658938"/>
          <a:ext cx="11243852" cy="2966720"/>
        </p:xfrm>
        <a:graphic>
          <a:graphicData uri="http://schemas.openxmlformats.org/drawingml/2006/table">
            <a:tbl>
              <a:tblPr firstRow="1" bandRow="1">
                <a:tableStyleId>{5C22544A-7EE6-4342-B048-85BDC9FD1C3A}</a:tableStyleId>
              </a:tblPr>
              <a:tblGrid>
                <a:gridCol w="4712707">
                  <a:extLst>
                    <a:ext uri="{9D8B030D-6E8A-4147-A177-3AD203B41FA5}">
                      <a16:colId xmlns:a16="http://schemas.microsoft.com/office/drawing/2014/main" val="3124065591"/>
                    </a:ext>
                  </a:extLst>
                </a:gridCol>
                <a:gridCol w="6531145">
                  <a:extLst>
                    <a:ext uri="{9D8B030D-6E8A-4147-A177-3AD203B41FA5}">
                      <a16:colId xmlns:a16="http://schemas.microsoft.com/office/drawing/2014/main" val="4228478933"/>
                    </a:ext>
                  </a:extLst>
                </a:gridCol>
              </a:tblGrid>
              <a:tr h="370840">
                <a:tc>
                  <a:txBody>
                    <a:bodyPr/>
                    <a:lstStyle/>
                    <a:p>
                      <a:pPr algn="ctr">
                        <a:buNone/>
                      </a:pPr>
                      <a:r>
                        <a:rPr lang="en-IN" dirty="0">
                          <a:latin typeface="Times New Roman" panose="02020603050405020304" pitchFamily="18" charset="0"/>
                          <a:cs typeface="Times New Roman" panose="02020603050405020304" pitchFamily="18" charset="0"/>
                        </a:rPr>
                        <a:t>Finding</a:t>
                      </a:r>
                    </a:p>
                  </a:txBody>
                  <a:tcPr anchor="ctr"/>
                </a:tc>
                <a:tc>
                  <a:txBody>
                    <a:bodyPr/>
                    <a:lstStyle/>
                    <a:p>
                      <a:pPr algn="ctr"/>
                      <a:r>
                        <a:rPr lang="en-IN" dirty="0">
                          <a:latin typeface="Times New Roman" panose="02020603050405020304" pitchFamily="18" charset="0"/>
                          <a:cs typeface="Times New Roman" panose="02020603050405020304" pitchFamily="18" charset="0"/>
                        </a:rPr>
                        <a:t>Recommendation</a:t>
                      </a:r>
                    </a:p>
                  </a:txBody>
                  <a:tcPr/>
                </a:tc>
                <a:extLst>
                  <a:ext uri="{0D108BD9-81ED-4DB2-BD59-A6C34878D82A}">
                    <a16:rowId xmlns:a16="http://schemas.microsoft.com/office/drawing/2014/main" val="4180440587"/>
                  </a:ext>
                </a:extLst>
              </a:tr>
              <a:tr h="370840">
                <a:tc>
                  <a:txBody>
                    <a:bodyPr/>
                    <a:lstStyle/>
                    <a:p>
                      <a:pPr algn="ctr"/>
                      <a:r>
                        <a:rPr lang="en-IN" dirty="0">
                          <a:latin typeface="Times New Roman" panose="02020603050405020304" pitchFamily="18" charset="0"/>
                          <a:cs typeface="Times New Roman" panose="02020603050405020304" pitchFamily="18" charset="0"/>
                        </a:rPr>
                        <a:t>MEA has highest ticket volume</a:t>
                      </a:r>
                    </a:p>
                  </a:txBody>
                  <a:tcPr/>
                </a:tc>
                <a:tc>
                  <a:txBody>
                    <a:bodyPr/>
                    <a:lstStyle/>
                    <a:p>
                      <a:pPr algn="ctr"/>
                      <a:r>
                        <a:rPr lang="en-IN" dirty="0">
                          <a:latin typeface="Times New Roman" panose="02020603050405020304" pitchFamily="18" charset="0"/>
                          <a:cs typeface="Times New Roman" panose="02020603050405020304" pitchFamily="18" charset="0"/>
                        </a:rPr>
                        <a:t>Allocate additional support resources</a:t>
                      </a:r>
                    </a:p>
                  </a:txBody>
                  <a:tcPr/>
                </a:tc>
                <a:extLst>
                  <a:ext uri="{0D108BD9-81ED-4DB2-BD59-A6C34878D82A}">
                    <a16:rowId xmlns:a16="http://schemas.microsoft.com/office/drawing/2014/main" val="2386818278"/>
                  </a:ext>
                </a:extLst>
              </a:tr>
              <a:tr h="370840">
                <a:tc>
                  <a:txBody>
                    <a:bodyPr/>
                    <a:lstStyle/>
                    <a:p>
                      <a:pPr algn="ctr"/>
                      <a:r>
                        <a:rPr lang="en-IN" dirty="0">
                          <a:latin typeface="Times New Roman" panose="02020603050405020304" pitchFamily="18" charset="0"/>
                          <a:cs typeface="Times New Roman" panose="02020603050405020304" pitchFamily="18" charset="0"/>
                        </a:rPr>
                        <a:t>High/urgent unresolved tickets</a:t>
                      </a:r>
                    </a:p>
                  </a:txBody>
                  <a:tcPr/>
                </a:tc>
                <a:tc>
                  <a:txBody>
                    <a:bodyPr/>
                    <a:lstStyle/>
                    <a:p>
                      <a:pPr algn="ctr"/>
                      <a:r>
                        <a:rPr lang="en-IN" dirty="0">
                          <a:latin typeface="Times New Roman" panose="02020603050405020304" pitchFamily="18" charset="0"/>
                          <a:cs typeface="Times New Roman" panose="02020603050405020304" pitchFamily="18" charset="0"/>
                        </a:rPr>
                        <a:t>Create priority escalation and monitoring</a:t>
                      </a:r>
                    </a:p>
                  </a:txBody>
                  <a:tcPr/>
                </a:tc>
                <a:extLst>
                  <a:ext uri="{0D108BD9-81ED-4DB2-BD59-A6C34878D82A}">
                    <a16:rowId xmlns:a16="http://schemas.microsoft.com/office/drawing/2014/main" val="1572022402"/>
                  </a:ext>
                </a:extLst>
              </a:tr>
              <a:tr h="370840">
                <a:tc>
                  <a:txBody>
                    <a:bodyPr/>
                    <a:lstStyle/>
                    <a:p>
                      <a:pPr algn="ctr"/>
                      <a:r>
                        <a:rPr lang="en-IN" dirty="0">
                          <a:latin typeface="Times New Roman" panose="02020603050405020304" pitchFamily="18" charset="0"/>
                          <a:cs typeface="Times New Roman" panose="02020603050405020304" pitchFamily="18" charset="0"/>
                        </a:rPr>
                        <a:t>EU has faster resolution</a:t>
                      </a:r>
                    </a:p>
                  </a:txBody>
                  <a:tcPr/>
                </a:tc>
                <a:tc>
                  <a:txBody>
                    <a:bodyPr/>
                    <a:lstStyle/>
                    <a:p>
                      <a:pPr algn="ctr"/>
                      <a:r>
                        <a:rPr lang="en-IN" dirty="0">
                          <a:latin typeface="Times New Roman" panose="02020603050405020304" pitchFamily="18" charset="0"/>
                          <a:cs typeface="Times New Roman" panose="02020603050405020304" pitchFamily="18" charset="0"/>
                        </a:rPr>
                        <a:t>Study and replicate effective practices</a:t>
                      </a:r>
                    </a:p>
                  </a:txBody>
                  <a:tcPr/>
                </a:tc>
                <a:extLst>
                  <a:ext uri="{0D108BD9-81ED-4DB2-BD59-A6C34878D82A}">
                    <a16:rowId xmlns:a16="http://schemas.microsoft.com/office/drawing/2014/main" val="4165766640"/>
                  </a:ext>
                </a:extLst>
              </a:tr>
              <a:tr h="370840">
                <a:tc>
                  <a:txBody>
                    <a:bodyPr/>
                    <a:lstStyle/>
                    <a:p>
                      <a:pPr algn="ctr"/>
                      <a:r>
                        <a:rPr lang="en-IN" dirty="0">
                          <a:latin typeface="Times New Roman" panose="02020603050405020304" pitchFamily="18" charset="0"/>
                          <a:cs typeface="Times New Roman" panose="02020603050405020304" pitchFamily="18" charset="0"/>
                        </a:rPr>
                        <a:t>APAC has strong cluster performance</a:t>
                      </a:r>
                    </a:p>
                  </a:txBody>
                  <a:tcPr/>
                </a:tc>
                <a:tc>
                  <a:txBody>
                    <a:bodyPr/>
                    <a:lstStyle/>
                    <a:p>
                      <a:pPr algn="ctr"/>
                      <a:r>
                        <a:rPr lang="en-IN" dirty="0">
                          <a:latin typeface="Times New Roman" panose="02020603050405020304" pitchFamily="18" charset="0"/>
                          <a:cs typeface="Times New Roman" panose="02020603050405020304" pitchFamily="18" charset="0"/>
                        </a:rPr>
                        <a:t>Identify successful support practices</a:t>
                      </a:r>
                    </a:p>
                  </a:txBody>
                  <a:tcPr/>
                </a:tc>
                <a:extLst>
                  <a:ext uri="{0D108BD9-81ED-4DB2-BD59-A6C34878D82A}">
                    <a16:rowId xmlns:a16="http://schemas.microsoft.com/office/drawing/2014/main" val="1680987438"/>
                  </a:ext>
                </a:extLst>
              </a:tr>
              <a:tr h="370840">
                <a:tc>
                  <a:txBody>
                    <a:bodyPr/>
                    <a:lstStyle/>
                    <a:p>
                      <a:pPr algn="ctr">
                        <a:buNone/>
                      </a:pPr>
                      <a:r>
                        <a:rPr lang="en-IN" dirty="0">
                          <a:latin typeface="Times New Roman" panose="02020603050405020304" pitchFamily="18" charset="0"/>
                          <a:cs typeface="Times New Roman" panose="02020603050405020304" pitchFamily="18" charset="0"/>
                        </a:rPr>
                        <a:t>Different cluster issue concentrations</a:t>
                      </a:r>
                    </a:p>
                  </a:txBody>
                  <a:tcPr anchor="ctr"/>
                </a:tc>
                <a:tc>
                  <a:txBody>
                    <a:bodyPr/>
                    <a:lstStyle/>
                    <a:p>
                      <a:pPr algn="ctr"/>
                      <a:r>
                        <a:rPr lang="en-IN" dirty="0">
                          <a:latin typeface="Times New Roman" panose="02020603050405020304" pitchFamily="18" charset="0"/>
                          <a:cs typeface="Times New Roman" panose="02020603050405020304" pitchFamily="18" charset="0"/>
                        </a:rPr>
                        <a:t>Create specialized support workflows</a:t>
                      </a:r>
                    </a:p>
                  </a:txBody>
                  <a:tcPr/>
                </a:tc>
                <a:extLst>
                  <a:ext uri="{0D108BD9-81ED-4DB2-BD59-A6C34878D82A}">
                    <a16:rowId xmlns:a16="http://schemas.microsoft.com/office/drawing/2014/main" val="372273499"/>
                  </a:ext>
                </a:extLst>
              </a:tr>
              <a:tr h="370840">
                <a:tc>
                  <a:txBody>
                    <a:bodyPr/>
                    <a:lstStyle/>
                    <a:p>
                      <a:pPr algn="ctr"/>
                      <a:r>
                        <a:rPr lang="en-IN" dirty="0">
                          <a:latin typeface="Times New Roman" panose="02020603050405020304" pitchFamily="18" charset="0"/>
                          <a:cs typeface="Times New Roman" panose="02020603050405020304" pitchFamily="18" charset="0"/>
                        </a:rPr>
                        <a:t>CSAT is relatively low</a:t>
                      </a:r>
                    </a:p>
                  </a:txBody>
                  <a:tcPr/>
                </a:tc>
                <a:tc>
                  <a:txBody>
                    <a:bodyPr/>
                    <a:lstStyle/>
                    <a:p>
                      <a:pPr algn="ctr"/>
                      <a:r>
                        <a:rPr lang="en-IN" dirty="0" err="1">
                          <a:latin typeface="Times New Roman" panose="02020603050405020304" pitchFamily="18" charset="0"/>
                          <a:cs typeface="Times New Roman" panose="02020603050405020304" pitchFamily="18" charset="0"/>
                        </a:rPr>
                        <a:t>Analyze</a:t>
                      </a:r>
                      <a:r>
                        <a:rPr lang="en-IN" dirty="0">
                          <a:latin typeface="Times New Roman" panose="02020603050405020304" pitchFamily="18" charset="0"/>
                          <a:cs typeface="Times New Roman" panose="02020603050405020304" pitchFamily="18" charset="0"/>
                        </a:rPr>
                        <a:t> customer feedback and improve resolution quality</a:t>
                      </a:r>
                    </a:p>
                  </a:txBody>
                  <a:tcPr/>
                </a:tc>
                <a:extLst>
                  <a:ext uri="{0D108BD9-81ED-4DB2-BD59-A6C34878D82A}">
                    <a16:rowId xmlns:a16="http://schemas.microsoft.com/office/drawing/2014/main" val="2509257798"/>
                  </a:ext>
                </a:extLst>
              </a:tr>
              <a:tr h="370840">
                <a:tc>
                  <a:txBody>
                    <a:bodyPr/>
                    <a:lstStyle/>
                    <a:p>
                      <a:pPr algn="ctr"/>
                      <a:r>
                        <a:rPr lang="en-IN" dirty="0">
                          <a:latin typeface="Times New Roman" panose="02020603050405020304" pitchFamily="18" charset="0"/>
                          <a:cs typeface="Times New Roman" panose="02020603050405020304" pitchFamily="18" charset="0"/>
                        </a:rPr>
                        <a:t>Queue performance varies</a:t>
                      </a:r>
                    </a:p>
                  </a:txBody>
                  <a:tcPr/>
                </a:tc>
                <a:tc>
                  <a:txBody>
                    <a:bodyPr/>
                    <a:lstStyle/>
                    <a:p>
                      <a:pPr algn="ctr"/>
                      <a:r>
                        <a:rPr lang="en-IN" dirty="0">
                          <a:latin typeface="Times New Roman" panose="02020603050405020304" pitchFamily="18" charset="0"/>
                          <a:cs typeface="Times New Roman" panose="02020603050405020304" pitchFamily="18" charset="0"/>
                        </a:rPr>
                        <a:t>Optimize workload distribution</a:t>
                      </a:r>
                    </a:p>
                  </a:txBody>
                  <a:tcPr/>
                </a:tc>
                <a:extLst>
                  <a:ext uri="{0D108BD9-81ED-4DB2-BD59-A6C34878D82A}">
                    <a16:rowId xmlns:a16="http://schemas.microsoft.com/office/drawing/2014/main" val="3485071036"/>
                  </a:ext>
                </a:extLst>
              </a:tr>
            </a:tbl>
          </a:graphicData>
        </a:graphic>
      </p:graphicFrame>
    </p:spTree>
    <p:extLst>
      <p:ext uri="{BB962C8B-B14F-4D97-AF65-F5344CB8AC3E}">
        <p14:creationId xmlns:p14="http://schemas.microsoft.com/office/powerpoint/2010/main" val="133854713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0BE1DA-B16D-E9B4-B174-361CBAA9E89A}"/>
              </a:ext>
            </a:extLst>
          </p:cNvPr>
          <p:cNvSpPr>
            <a:spLocks noGrp="1"/>
          </p:cNvSpPr>
          <p:nvPr>
            <p:ph type="title"/>
          </p:nvPr>
        </p:nvSpPr>
        <p:spPr/>
        <p:txBody>
          <a:bodyPr/>
          <a:lstStyle/>
          <a:p>
            <a:pPr algn="ctr"/>
            <a:r>
              <a:rPr lang="en-IN" sz="2800" dirty="0">
                <a:latin typeface="Times New Roman" panose="02020603050405020304" pitchFamily="18" charset="0"/>
                <a:cs typeface="Times New Roman" panose="02020603050405020304" pitchFamily="18" charset="0"/>
              </a:rPr>
              <a:t>Business Impact</a:t>
            </a:r>
          </a:p>
        </p:txBody>
      </p:sp>
      <p:sp>
        <p:nvSpPr>
          <p:cNvPr id="3" name="Content Placeholder 2">
            <a:extLst>
              <a:ext uri="{FF2B5EF4-FFF2-40B4-BE49-F238E27FC236}">
                <a16:creationId xmlns:a16="http://schemas.microsoft.com/office/drawing/2014/main" id="{B21A32DC-221A-31A1-7426-7D5F94A12072}"/>
              </a:ext>
            </a:extLst>
          </p:cNvPr>
          <p:cNvSpPr>
            <a:spLocks noGrp="1"/>
          </p:cNvSpPr>
          <p:nvPr>
            <p:ph idx="1"/>
          </p:nvPr>
        </p:nvSpPr>
        <p:spPr>
          <a:xfrm>
            <a:off x="731520" y="1052052"/>
            <a:ext cx="10780776" cy="5531627"/>
          </a:xfrm>
        </p:spPr>
        <p:txBody>
          <a:bodyPr/>
          <a:lstStyle/>
          <a:p>
            <a:pPr marL="0" indent="0">
              <a:buNone/>
            </a:pPr>
            <a:r>
              <a:rPr lang="en-IN" b="1" dirty="0"/>
              <a:t>1.  Operational Efficiency</a:t>
            </a:r>
            <a:endParaRPr lang="en-IN" dirty="0"/>
          </a:p>
          <a:p>
            <a:pPr lvl="0"/>
            <a:r>
              <a:rPr lang="en-IN" dirty="0"/>
              <a:t>Better workload allocation </a:t>
            </a:r>
          </a:p>
          <a:p>
            <a:pPr lvl="0"/>
            <a:r>
              <a:rPr lang="en-IN" dirty="0"/>
              <a:t>Faster resolution </a:t>
            </a:r>
          </a:p>
          <a:p>
            <a:pPr marL="0" indent="0">
              <a:buNone/>
            </a:pPr>
            <a:r>
              <a:rPr lang="en-IN" b="1" dirty="0"/>
              <a:t>2.  Customer Experience</a:t>
            </a:r>
            <a:endParaRPr lang="en-IN" dirty="0"/>
          </a:p>
          <a:p>
            <a:pPr lvl="0"/>
            <a:r>
              <a:rPr lang="en-IN" dirty="0"/>
              <a:t>Improved CSAT </a:t>
            </a:r>
          </a:p>
          <a:p>
            <a:pPr lvl="0"/>
            <a:r>
              <a:rPr lang="en-IN" dirty="0"/>
              <a:t>Better handling of priority issues </a:t>
            </a:r>
          </a:p>
          <a:p>
            <a:pPr marL="0" indent="0">
              <a:buNone/>
            </a:pPr>
            <a:r>
              <a:rPr lang="en-IN" b="1" dirty="0"/>
              <a:t>3.  Management</a:t>
            </a:r>
            <a:endParaRPr lang="en-IN" dirty="0"/>
          </a:p>
          <a:p>
            <a:pPr lvl="0"/>
            <a:r>
              <a:rPr lang="en-IN" dirty="0"/>
              <a:t>Data-driven decision making </a:t>
            </a:r>
          </a:p>
          <a:p>
            <a:pPr lvl="0"/>
            <a:r>
              <a:rPr lang="en-IN" dirty="0"/>
              <a:t>Regional performance monitoring </a:t>
            </a:r>
          </a:p>
          <a:p>
            <a:pPr marL="0" indent="0">
              <a:buNone/>
            </a:pPr>
            <a:r>
              <a:rPr lang="en-IN" b="1" dirty="0"/>
              <a:t>4.  Support Team</a:t>
            </a:r>
            <a:endParaRPr lang="en-IN" dirty="0"/>
          </a:p>
          <a:p>
            <a:pPr lvl="0"/>
            <a:r>
              <a:rPr lang="en-IN" dirty="0"/>
              <a:t>Better queue management </a:t>
            </a:r>
          </a:p>
          <a:p>
            <a:pPr lvl="0"/>
            <a:r>
              <a:rPr lang="en-IN" dirty="0"/>
              <a:t>Identification of recurring issues</a:t>
            </a:r>
          </a:p>
          <a:p>
            <a:endParaRPr lang="en-IN" dirty="0"/>
          </a:p>
        </p:txBody>
      </p:sp>
    </p:spTree>
    <p:extLst>
      <p:ext uri="{BB962C8B-B14F-4D97-AF65-F5344CB8AC3E}">
        <p14:creationId xmlns:p14="http://schemas.microsoft.com/office/powerpoint/2010/main" val="273997853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6FE65F-009F-B47D-CDA1-989C7076E83B}"/>
              </a:ext>
            </a:extLst>
          </p:cNvPr>
          <p:cNvSpPr>
            <a:spLocks noGrp="1"/>
          </p:cNvSpPr>
          <p:nvPr>
            <p:ph type="title"/>
          </p:nvPr>
        </p:nvSpPr>
        <p:spPr/>
        <p:txBody>
          <a:bodyPr/>
          <a:lstStyle/>
          <a:p>
            <a:pPr algn="ctr"/>
            <a:r>
              <a:rPr lang="en-IN" sz="2800" b="1" dirty="0">
                <a:latin typeface="Times New Roman" panose="02020603050405020304" pitchFamily="18" charset="0"/>
                <a:cs typeface="Times New Roman" panose="02020603050405020304" pitchFamily="18" charset="0"/>
              </a:rPr>
              <a:t>Conclusion</a:t>
            </a:r>
            <a:br>
              <a:rPr lang="en-IN" sz="2800" b="1" dirty="0">
                <a:latin typeface="Times New Roman" panose="02020603050405020304" pitchFamily="18" charset="0"/>
                <a:cs typeface="Times New Roman" panose="02020603050405020304" pitchFamily="18" charset="0"/>
              </a:rPr>
            </a:br>
            <a:endParaRPr lang="en-IN" sz="28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49E4D0C5-CC6A-95E9-FC61-C484C098C531}"/>
              </a:ext>
            </a:extLst>
          </p:cNvPr>
          <p:cNvSpPr>
            <a:spLocks noGrp="1"/>
          </p:cNvSpPr>
          <p:nvPr>
            <p:ph idx="1"/>
          </p:nvPr>
        </p:nvSpPr>
        <p:spPr>
          <a:xfrm>
            <a:off x="731520" y="1061884"/>
            <a:ext cx="10780776" cy="5521795"/>
          </a:xfrm>
        </p:spPr>
        <p:txBody>
          <a:bodyPr>
            <a:normAutofit lnSpcReduction="10000"/>
          </a:bodyPr>
          <a:lstStyle/>
          <a:p>
            <a:pPr marL="0" indent="0" algn="just">
              <a:buNone/>
            </a:pPr>
            <a:r>
              <a:rPr lang="en-IN" dirty="0" err="1">
                <a:latin typeface="Times New Roman" panose="02020603050405020304" pitchFamily="18" charset="0"/>
                <a:cs typeface="Times New Roman" panose="02020603050405020304" pitchFamily="18" charset="0"/>
              </a:rPr>
              <a:t>Supportlytics</a:t>
            </a:r>
            <a:r>
              <a:rPr lang="en-IN" dirty="0">
                <a:latin typeface="Times New Roman" panose="02020603050405020304" pitchFamily="18" charset="0"/>
                <a:cs typeface="Times New Roman" panose="02020603050405020304" pitchFamily="18" charset="0"/>
              </a:rPr>
              <a:t> successfully transforms raw IT support ticket data into an interactive analytical solution. The dashboard provides insights into ticket workload, priorities, issue clusters, geographical performance, resolution efficiency, and customer satisfaction. These insights can support better resource allocation, priority management, and continuous improvement of IT support operations.</a:t>
            </a:r>
          </a:p>
          <a:p>
            <a:pPr marL="0" indent="0" algn="just">
              <a:buNone/>
            </a:pPr>
            <a:endParaRPr lang="en-IN" dirty="0">
              <a:latin typeface="Times New Roman" panose="02020603050405020304" pitchFamily="18" charset="0"/>
              <a:cs typeface="Times New Roman" panose="02020603050405020304" pitchFamily="18" charset="0"/>
            </a:endParaRPr>
          </a:p>
          <a:p>
            <a:pPr marL="0" indent="0" algn="ctr">
              <a:buNone/>
            </a:pPr>
            <a:r>
              <a:rPr lang="en-IN" sz="2800" dirty="0">
                <a:latin typeface="Times New Roman" panose="02020603050405020304" pitchFamily="18" charset="0"/>
                <a:cs typeface="Times New Roman" panose="02020603050405020304" pitchFamily="18" charset="0"/>
              </a:rPr>
              <a:t>Future Scope</a:t>
            </a:r>
          </a:p>
          <a:p>
            <a:pPr marL="0" indent="0">
              <a:buNone/>
            </a:pPr>
            <a:endParaRPr lang="en-IN" sz="2800" dirty="0">
              <a:latin typeface="Times New Roman" panose="02020603050405020304" pitchFamily="18" charset="0"/>
              <a:cs typeface="Times New Roman" panose="02020603050405020304" pitchFamily="18" charset="0"/>
            </a:endParaRPr>
          </a:p>
          <a:p>
            <a:pPr lvl="0"/>
            <a:r>
              <a:rPr lang="en-IN" sz="1900" dirty="0"/>
              <a:t>Real-time ticket monitoring </a:t>
            </a:r>
          </a:p>
          <a:p>
            <a:pPr lvl="0"/>
            <a:r>
              <a:rPr lang="en-IN" sz="1900" dirty="0"/>
              <a:t>Automated alerts for high-priority tickets </a:t>
            </a:r>
          </a:p>
          <a:p>
            <a:pPr lvl="0"/>
            <a:r>
              <a:rPr lang="en-IN" sz="1900" dirty="0"/>
              <a:t>Predictive ticket resolution time </a:t>
            </a:r>
          </a:p>
          <a:p>
            <a:pPr lvl="0"/>
            <a:r>
              <a:rPr lang="en-IN" sz="1900" dirty="0"/>
              <a:t>Ticket escalation prediction </a:t>
            </a:r>
          </a:p>
          <a:p>
            <a:pPr lvl="0"/>
            <a:r>
              <a:rPr lang="en-IN" sz="1900" dirty="0"/>
              <a:t>Sentiment-based support prioritization </a:t>
            </a:r>
          </a:p>
          <a:p>
            <a:pPr lvl="0"/>
            <a:r>
              <a:rPr lang="en-IN" sz="1900" dirty="0"/>
              <a:t>Automated monthly performance reports </a:t>
            </a:r>
          </a:p>
          <a:p>
            <a:pPr lvl="0"/>
            <a:r>
              <a:rPr lang="en-IN" sz="1900" dirty="0"/>
              <a:t>Integration with live IT service-management systems </a:t>
            </a:r>
          </a:p>
          <a:p>
            <a:pPr marL="0" indent="0">
              <a:buNone/>
            </a:pPr>
            <a:endParaRPr lang="en-IN"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7206582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93AADC-BB8B-36FA-8630-B9B7E1B77F82}"/>
              </a:ext>
            </a:extLst>
          </p:cNvPr>
          <p:cNvSpPr>
            <a:spLocks noGrp="1"/>
          </p:cNvSpPr>
          <p:nvPr>
            <p:ph type="title"/>
          </p:nvPr>
        </p:nvSpPr>
        <p:spPr/>
        <p:txBody>
          <a:bodyPr/>
          <a:lstStyle/>
          <a:p>
            <a:r>
              <a:rPr lang="en-US" dirty="0"/>
              <a:t>    </a:t>
            </a:r>
            <a:br>
              <a:rPr lang="en-US" dirty="0"/>
            </a:br>
            <a:endParaRPr lang="en-IN" dirty="0"/>
          </a:p>
        </p:txBody>
      </p:sp>
      <p:pic>
        <p:nvPicPr>
          <p:cNvPr id="8" name="Content Placeholder 7">
            <a:extLst>
              <a:ext uri="{FF2B5EF4-FFF2-40B4-BE49-F238E27FC236}">
                <a16:creationId xmlns:a16="http://schemas.microsoft.com/office/drawing/2014/main" id="{B2511E21-147A-061C-42A5-084863D1D248}"/>
              </a:ext>
            </a:extLst>
          </p:cNvPr>
          <p:cNvPicPr>
            <a:picLocks noGrp="1" noChangeAspect="1"/>
          </p:cNvPicPr>
          <p:nvPr>
            <p:ph idx="1"/>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tretch>
            <a:fillRect/>
          </a:stretch>
        </p:blipFill>
        <p:spPr>
          <a:xfrm>
            <a:off x="3067337" y="2042532"/>
            <a:ext cx="5818377" cy="2486034"/>
          </a:xfrm>
        </p:spPr>
      </p:pic>
    </p:spTree>
    <p:extLst>
      <p:ext uri="{BB962C8B-B14F-4D97-AF65-F5344CB8AC3E}">
        <p14:creationId xmlns:p14="http://schemas.microsoft.com/office/powerpoint/2010/main" val="654250838"/>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a:themeElements>
    <a:clrScheme name="Violet">
      <a:dk1>
        <a:sysClr val="windowText" lastClr="000000"/>
      </a:dk1>
      <a:lt1>
        <a:sysClr val="window" lastClr="FFFFFF"/>
      </a:lt1>
      <a:dk2>
        <a:srgbClr val="373545"/>
      </a:dk2>
      <a:lt2>
        <a:srgbClr val="DCD8DC"/>
      </a:lt2>
      <a:accent1>
        <a:srgbClr val="AD84C6"/>
      </a:accent1>
      <a:accent2>
        <a:srgbClr val="8784C7"/>
      </a:accent2>
      <a:accent3>
        <a:srgbClr val="5D739A"/>
      </a:accent3>
      <a:accent4>
        <a:srgbClr val="6997AF"/>
      </a:accent4>
      <a:accent5>
        <a:srgbClr val="84ACB6"/>
      </a:accent5>
      <a:accent6>
        <a:srgbClr val="6F8183"/>
      </a:accent6>
      <a:hlink>
        <a:srgbClr val="69A020"/>
      </a:hlink>
      <a:folHlink>
        <a:srgbClr val="8C8C8C"/>
      </a:folHlink>
    </a:clrScheme>
    <a:fontScheme name="I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7000"/>
                <a:hueMod val="88000"/>
                <a:satMod val="130000"/>
                <a:lumMod val="124000"/>
              </a:schemeClr>
            </a:gs>
            <a:gs pos="100000">
              <a:schemeClr val="phClr">
                <a:tint val="96000"/>
                <a:shade val="88000"/>
                <a:hueMod val="108000"/>
                <a:satMod val="164000"/>
                <a:lumMod val="76000"/>
              </a:schemeClr>
            </a:gs>
          </a:gsLst>
          <a:path path="circle">
            <a:fillToRect l="45000" t="65000" r="125000" b="100000"/>
          </a:path>
        </a:gradFill>
        <a:blipFill rotWithShape="1">
          <a:blip xmlns:r="http://schemas.openxmlformats.org/officeDocument/2006/relationships" r:embed="rId1">
            <a:duotone>
              <a:schemeClr val="phClr">
                <a:shade val="69000"/>
                <a:hueMod val="108000"/>
                <a:satMod val="164000"/>
                <a:lumMod val="74000"/>
              </a:schemeClr>
              <a:schemeClr val="phClr">
                <a:tint val="96000"/>
                <a:hueMod val="88000"/>
                <a:satMod val="140000"/>
                <a:lumMod val="132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292E63A9-BB86-4E3D-B92A-7223C6510D2E}"/>
    </a:ext>
  </a:extLst>
</a:theme>
</file>

<file path=docProps/app.xml><?xml version="1.0" encoding="utf-8"?>
<Properties xmlns="http://schemas.openxmlformats.org/officeDocument/2006/extended-properties" xmlns:vt="http://schemas.openxmlformats.org/officeDocument/2006/docPropsVTypes">
  <Template>Ion</Template>
  <TotalTime>760</TotalTime>
  <Words>638</Words>
  <Application>Microsoft Office PowerPoint</Application>
  <PresentationFormat>Widescreen</PresentationFormat>
  <Paragraphs>135</Paragraphs>
  <Slides>20</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20</vt:i4>
      </vt:variant>
    </vt:vector>
  </HeadingPairs>
  <TitlesOfParts>
    <vt:vector size="26" baseType="lpstr">
      <vt:lpstr>Calibri</vt:lpstr>
      <vt:lpstr>Cambria</vt:lpstr>
      <vt:lpstr>Century Gothic</vt:lpstr>
      <vt:lpstr>Times New Roman</vt:lpstr>
      <vt:lpstr>Wingdings 3</vt:lpstr>
      <vt:lpstr>Ion</vt:lpstr>
      <vt:lpstr>DATA ANALYTICS PROJECT </vt:lpstr>
      <vt:lpstr>Project Overview</vt:lpstr>
      <vt:lpstr>Problem Statement</vt:lpstr>
      <vt:lpstr>Project Objectives</vt:lpstr>
      <vt:lpstr>Project Scope </vt:lpstr>
      <vt:lpstr>Project Workflow</vt:lpstr>
      <vt:lpstr>Dataset Overview</vt:lpstr>
      <vt:lpstr>Data Preparation</vt:lpstr>
      <vt:lpstr>Exploratory Data Analysis</vt:lpstr>
      <vt:lpstr>Dashboard Architecture</vt:lpstr>
      <vt:lpstr>Overview Dashboard</vt:lpstr>
      <vt:lpstr>Tickets Analysis</vt:lpstr>
      <vt:lpstr>Cluster Intelligence</vt:lpstr>
      <vt:lpstr>Geographical Insights</vt:lpstr>
      <vt:lpstr>Performance Analysis</vt:lpstr>
      <vt:lpstr>Executive Report</vt:lpstr>
      <vt:lpstr>Recommendations</vt:lpstr>
      <vt:lpstr>Business Impact</vt:lpstr>
      <vt:lpstr>Conclusion </vt:lpstr>
      <vt:lpstr>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varsha bo</dc:creator>
  <cp:lastModifiedBy>varsha bo</cp:lastModifiedBy>
  <cp:revision>2</cp:revision>
  <dcterms:created xsi:type="dcterms:W3CDTF">2026-08-15T04:39:30Z</dcterms:created>
  <dcterms:modified xsi:type="dcterms:W3CDTF">2026-08-18T14:10:49Z</dcterms:modified>
</cp:coreProperties>
</file>