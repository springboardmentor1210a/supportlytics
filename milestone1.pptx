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13"/>
  </p:notesMasterIdLst>
  <p:sldIdLst>
    <p:sldId id="256" r:id="rId2"/>
    <p:sldId id="259" r:id="rId3"/>
    <p:sldId id="257" r:id="rId4"/>
    <p:sldId id="258" r:id="rId5"/>
    <p:sldId id="265" r:id="rId6"/>
    <p:sldId id="266" r:id="rId7"/>
    <p:sldId id="260" r:id="rId8"/>
    <p:sldId id="261" r:id="rId9"/>
    <p:sldId id="262" r:id="rId10"/>
    <p:sldId id="263"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701"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74C613-FE83-487E-B356-D723893875FF}" type="datetimeFigureOut">
              <a:rPr lang="en-IN" smtClean="0"/>
              <a:t>18-08-2026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E983F3-F4D5-4118-AEB6-0E2AE53716D5}" type="slidenum">
              <a:rPr lang="en-IN" smtClean="0"/>
              <a:t>‹#›</a:t>
            </a:fld>
            <a:endParaRPr lang="en-IN"/>
          </a:p>
        </p:txBody>
      </p:sp>
    </p:spTree>
    <p:extLst>
      <p:ext uri="{BB962C8B-B14F-4D97-AF65-F5344CB8AC3E}">
        <p14:creationId xmlns:p14="http://schemas.microsoft.com/office/powerpoint/2010/main" val="3250535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BD0EECF-55E5-4852-A4D2-393585EA421C}"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DC68D4-C44B-42E3-BF15-CCFFE5E58E00}" type="slidenum">
              <a:rPr lang="en-IN" smtClean="0"/>
              <a:t>‹#›</a:t>
            </a:fld>
            <a:endParaRPr lang="en-IN"/>
          </a:p>
        </p:txBody>
      </p:sp>
    </p:spTree>
    <p:extLst>
      <p:ext uri="{BB962C8B-B14F-4D97-AF65-F5344CB8AC3E}">
        <p14:creationId xmlns:p14="http://schemas.microsoft.com/office/powerpoint/2010/main" val="2335804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D0EECF-55E5-4852-A4D2-393585EA421C}"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DC68D4-C44B-42E3-BF15-CCFFE5E58E00}" type="slidenum">
              <a:rPr lang="en-IN" smtClean="0"/>
              <a:t>‹#›</a:t>
            </a:fld>
            <a:endParaRPr lang="en-IN"/>
          </a:p>
        </p:txBody>
      </p:sp>
    </p:spTree>
    <p:extLst>
      <p:ext uri="{BB962C8B-B14F-4D97-AF65-F5344CB8AC3E}">
        <p14:creationId xmlns:p14="http://schemas.microsoft.com/office/powerpoint/2010/main" val="587530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0EECF-55E5-4852-A4D2-393585EA421C}"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DC68D4-C44B-42E3-BF15-CCFFE5E58E00}" type="slidenum">
              <a:rPr lang="en-IN" smtClean="0"/>
              <a:t>‹#›</a:t>
            </a:fld>
            <a:endParaRPr lang="en-IN"/>
          </a:p>
        </p:txBody>
      </p:sp>
    </p:spTree>
    <p:extLst>
      <p:ext uri="{BB962C8B-B14F-4D97-AF65-F5344CB8AC3E}">
        <p14:creationId xmlns:p14="http://schemas.microsoft.com/office/powerpoint/2010/main" val="3270795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D0EECF-55E5-4852-A4D2-393585EA421C}" type="datetimeFigureOut">
              <a:rPr lang="en-IN" smtClean="0"/>
              <a:t>18-08-2026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DC68D4-C44B-42E3-BF15-CCFFE5E58E00}" type="slidenum">
              <a:rPr lang="en-IN" smtClean="0"/>
              <a:t>‹#›</a:t>
            </a:fld>
            <a:endParaRPr lang="en-IN"/>
          </a:p>
        </p:txBody>
      </p:sp>
    </p:spTree>
    <p:extLst>
      <p:ext uri="{BB962C8B-B14F-4D97-AF65-F5344CB8AC3E}">
        <p14:creationId xmlns:p14="http://schemas.microsoft.com/office/powerpoint/2010/main" val="2839633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BD0EECF-55E5-4852-A4D2-393585EA421C}" type="datetimeFigureOut">
              <a:rPr lang="en-IN" smtClean="0"/>
              <a:t>18-08-2026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1DC68D4-C44B-42E3-BF15-CCFFE5E58E00}" type="slidenum">
              <a:rPr lang="en-IN" smtClean="0"/>
              <a:t>‹#›</a:t>
            </a:fld>
            <a:endParaRPr lang="en-IN"/>
          </a:p>
        </p:txBody>
      </p:sp>
    </p:spTree>
    <p:extLst>
      <p:ext uri="{BB962C8B-B14F-4D97-AF65-F5344CB8AC3E}">
        <p14:creationId xmlns:p14="http://schemas.microsoft.com/office/powerpoint/2010/main" val="267356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BD0EECF-55E5-4852-A4D2-393585EA421C}" type="datetimeFigureOut">
              <a:rPr lang="en-IN" smtClean="0"/>
              <a:t>18-08-2026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1DC68D4-C44B-42E3-BF15-CCFFE5E58E00}" type="slidenum">
              <a:rPr lang="en-IN" smtClean="0"/>
              <a:t>‹#›</a:t>
            </a:fld>
            <a:endParaRPr lang="en-IN"/>
          </a:p>
        </p:txBody>
      </p:sp>
    </p:spTree>
    <p:extLst>
      <p:ext uri="{BB962C8B-B14F-4D97-AF65-F5344CB8AC3E}">
        <p14:creationId xmlns:p14="http://schemas.microsoft.com/office/powerpoint/2010/main" val="2112928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D0EECF-55E5-4852-A4D2-393585EA421C}" type="datetimeFigureOut">
              <a:rPr lang="en-IN" smtClean="0"/>
              <a:t>18-08-2026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1DC68D4-C44B-42E3-BF15-CCFFE5E58E00}" type="slidenum">
              <a:rPr lang="en-IN" smtClean="0"/>
              <a:t>‹#›</a:t>
            </a:fld>
            <a:endParaRPr lang="en-IN"/>
          </a:p>
        </p:txBody>
      </p:sp>
    </p:spTree>
    <p:extLst>
      <p:ext uri="{BB962C8B-B14F-4D97-AF65-F5344CB8AC3E}">
        <p14:creationId xmlns:p14="http://schemas.microsoft.com/office/powerpoint/2010/main" val="3391620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D0EECF-55E5-4852-A4D2-393585EA421C}" type="datetimeFigureOut">
              <a:rPr lang="en-IN" smtClean="0"/>
              <a:t>18-08-2026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DC68D4-C44B-42E3-BF15-CCFFE5E58E00}" type="slidenum">
              <a:rPr lang="en-IN" smtClean="0"/>
              <a:t>‹#›</a:t>
            </a:fld>
            <a:endParaRPr lang="en-IN"/>
          </a:p>
        </p:txBody>
      </p:sp>
    </p:spTree>
    <p:extLst>
      <p:ext uri="{BB962C8B-B14F-4D97-AF65-F5344CB8AC3E}">
        <p14:creationId xmlns:p14="http://schemas.microsoft.com/office/powerpoint/2010/main" val="2367399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D0EECF-55E5-4852-A4D2-393585EA421C}" type="datetimeFigureOut">
              <a:rPr lang="en-IN" smtClean="0"/>
              <a:t>18-08-2026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DC68D4-C44B-42E3-BF15-CCFFE5E58E00}" type="slidenum">
              <a:rPr lang="en-IN" smtClean="0"/>
              <a:t>‹#›</a:t>
            </a:fld>
            <a:endParaRPr lang="en-IN"/>
          </a:p>
        </p:txBody>
      </p:sp>
    </p:spTree>
    <p:extLst>
      <p:ext uri="{BB962C8B-B14F-4D97-AF65-F5344CB8AC3E}">
        <p14:creationId xmlns:p14="http://schemas.microsoft.com/office/powerpoint/2010/main" val="3098041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D0EECF-55E5-4852-A4D2-393585EA421C}" type="datetimeFigureOut">
              <a:rPr lang="en-IN" smtClean="0"/>
              <a:t>18-08-2026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DC68D4-C44B-42E3-BF15-CCFFE5E58E00}" type="slidenum">
              <a:rPr lang="en-IN" smtClean="0"/>
              <a:t>‹#›</a:t>
            </a:fld>
            <a:endParaRPr lang="en-IN"/>
          </a:p>
        </p:txBody>
      </p:sp>
    </p:spTree>
    <p:extLst>
      <p:ext uri="{BB962C8B-B14F-4D97-AF65-F5344CB8AC3E}">
        <p14:creationId xmlns:p14="http://schemas.microsoft.com/office/powerpoint/2010/main" val="125985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D0EECF-55E5-4852-A4D2-393585EA421C}" type="datetimeFigureOut">
              <a:rPr lang="en-IN" smtClean="0"/>
              <a:t>18-08-2026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DC68D4-C44B-42E3-BF15-CCFFE5E58E00}" type="slidenum">
              <a:rPr lang="en-IN" smtClean="0"/>
              <a:t>‹#›</a:t>
            </a:fld>
            <a:endParaRPr lang="en-IN"/>
          </a:p>
        </p:txBody>
      </p:sp>
    </p:spTree>
    <p:extLst>
      <p:ext uri="{BB962C8B-B14F-4D97-AF65-F5344CB8AC3E}">
        <p14:creationId xmlns:p14="http://schemas.microsoft.com/office/powerpoint/2010/main" val="37703315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D0EECF-55E5-4852-A4D2-393585EA421C}" type="datetimeFigureOut">
              <a:rPr lang="en-IN" smtClean="0"/>
              <a:t>18-08-2026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DC68D4-C44B-42E3-BF15-CCFFE5E58E00}"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738061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D0EECF-55E5-4852-A4D2-393585EA421C}" type="datetimeFigureOut">
              <a:rPr lang="en-IN" smtClean="0"/>
              <a:t>18-08-2026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DC68D4-C44B-42E3-BF15-CCFFE5E58E00}" type="slidenum">
              <a:rPr lang="en-IN" smtClean="0"/>
              <a:t>‹#›</a:t>
            </a:fld>
            <a:endParaRPr lang="en-IN"/>
          </a:p>
        </p:txBody>
      </p:sp>
    </p:spTree>
    <p:extLst>
      <p:ext uri="{BB962C8B-B14F-4D97-AF65-F5344CB8AC3E}">
        <p14:creationId xmlns:p14="http://schemas.microsoft.com/office/powerpoint/2010/main" val="4051803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BD0EECF-55E5-4852-A4D2-393585EA421C}" type="datetimeFigureOut">
              <a:rPr lang="en-IN" smtClean="0"/>
              <a:t>18-08-2026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1DC68D4-C44B-42E3-BF15-CCFFE5E58E00}" type="slidenum">
              <a:rPr lang="en-IN" smtClean="0"/>
              <a:t>‹#›</a:t>
            </a:fld>
            <a:endParaRPr lang="en-IN"/>
          </a:p>
        </p:txBody>
      </p:sp>
    </p:spTree>
    <p:extLst>
      <p:ext uri="{BB962C8B-B14F-4D97-AF65-F5344CB8AC3E}">
        <p14:creationId xmlns:p14="http://schemas.microsoft.com/office/powerpoint/2010/main" val="21325930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BD0EECF-55E5-4852-A4D2-393585EA421C}" type="datetimeFigureOut">
              <a:rPr lang="en-IN" smtClean="0"/>
              <a:t>18-08-2026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1DC68D4-C44B-42E3-BF15-CCFFE5E58E00}" type="slidenum">
              <a:rPr lang="en-IN" smtClean="0"/>
              <a:t>‹#›</a:t>
            </a:fld>
            <a:endParaRPr lang="en-IN"/>
          </a:p>
        </p:txBody>
      </p:sp>
    </p:spTree>
    <p:extLst>
      <p:ext uri="{BB962C8B-B14F-4D97-AF65-F5344CB8AC3E}">
        <p14:creationId xmlns:p14="http://schemas.microsoft.com/office/powerpoint/2010/main" val="31481283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D0EECF-55E5-4852-A4D2-393585EA421C}"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DC68D4-C44B-42E3-BF15-CCFFE5E58E00}" type="slidenum">
              <a:rPr lang="en-IN" smtClean="0"/>
              <a:t>‹#›</a:t>
            </a:fld>
            <a:endParaRPr lang="en-IN"/>
          </a:p>
        </p:txBody>
      </p:sp>
    </p:spTree>
    <p:extLst>
      <p:ext uri="{BB962C8B-B14F-4D97-AF65-F5344CB8AC3E}">
        <p14:creationId xmlns:p14="http://schemas.microsoft.com/office/powerpoint/2010/main" val="7987080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D0EECF-55E5-4852-A4D2-393585EA421C}"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DC68D4-C44B-42E3-BF15-CCFFE5E58E00}" type="slidenum">
              <a:rPr lang="en-IN" smtClean="0"/>
              <a:t>‹#›</a:t>
            </a:fld>
            <a:endParaRPr lang="en-IN"/>
          </a:p>
        </p:txBody>
      </p:sp>
    </p:spTree>
    <p:extLst>
      <p:ext uri="{BB962C8B-B14F-4D97-AF65-F5344CB8AC3E}">
        <p14:creationId xmlns:p14="http://schemas.microsoft.com/office/powerpoint/2010/main" val="41361609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1686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7BD0EECF-55E5-4852-A4D2-393585EA421C}" type="datetimeFigureOut">
              <a:rPr lang="en-IN" smtClean="0"/>
              <a:t>18-08-2026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1DC68D4-C44B-42E3-BF15-CCFFE5E58E00}" type="slidenum">
              <a:rPr lang="en-IN" smtClean="0"/>
              <a:t>‹#›</a:t>
            </a:fld>
            <a:endParaRPr lang="en-IN"/>
          </a:p>
        </p:txBody>
      </p:sp>
    </p:spTree>
    <p:extLst>
      <p:ext uri="{BB962C8B-B14F-4D97-AF65-F5344CB8AC3E}">
        <p14:creationId xmlns:p14="http://schemas.microsoft.com/office/powerpoint/2010/main" val="37914795"/>
      </p:ext>
    </p:extLst>
  </p:cSld>
  <p:clrMap bg1="dk1" tx1="lt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0D9488">
              <a:alpha val="12000"/>
            </a:srgbClr>
          </a:solidFill>
          <a:ln/>
        </p:spPr>
      </p:sp>
      <p:sp>
        <p:nvSpPr>
          <p:cNvPr id="3" name="Shape 1"/>
          <p:cNvSpPr/>
          <p:nvPr/>
        </p:nvSpPr>
        <p:spPr>
          <a:xfrm>
            <a:off x="10241280" y="3291840"/>
            <a:ext cx="3108960" cy="3108960"/>
          </a:xfrm>
          <a:prstGeom prst="ellipse">
            <a:avLst/>
          </a:prstGeom>
          <a:solidFill>
            <a:srgbClr val="0D9488">
              <a:alpha val="16000"/>
            </a:srgbClr>
          </a:solidFill>
          <a:ln/>
        </p:spPr>
      </p:sp>
      <p:sp>
        <p:nvSpPr>
          <p:cNvPr id="4" name="Shape 2"/>
          <p:cNvSpPr/>
          <p:nvPr/>
        </p:nvSpPr>
        <p:spPr>
          <a:xfrm>
            <a:off x="640080" y="640080"/>
            <a:ext cx="822960" cy="822960"/>
          </a:xfrm>
          <a:prstGeom prst="ellipse">
            <a:avLst/>
          </a:prstGeom>
          <a:solidFill>
            <a:srgbClr val="0D9488"/>
          </a:solidFill>
          <a:ln/>
        </p:spPr>
      </p:sp>
      <p:pic>
        <p:nvPicPr>
          <p:cNvPr id="5" name="Image 0" descr="preencoded.png"/>
          <p:cNvPicPr>
            <a:picLocks noChangeAspect="1"/>
          </p:cNvPicPr>
          <p:nvPr/>
        </p:nvPicPr>
        <p:blipFill>
          <a:blip r:embed="rId3"/>
          <a:stretch>
            <a:fillRect/>
          </a:stretch>
        </p:blipFill>
        <p:spPr>
          <a:xfrm>
            <a:off x="841248" y="841248"/>
            <a:ext cx="420624" cy="420624"/>
          </a:xfrm>
          <a:prstGeom prst="rect">
            <a:avLst/>
          </a:prstGeom>
        </p:spPr>
      </p:pic>
      <p:sp>
        <p:nvSpPr>
          <p:cNvPr id="6" name="Text 3"/>
          <p:cNvSpPr/>
          <p:nvPr/>
        </p:nvSpPr>
        <p:spPr>
          <a:xfrm>
            <a:off x="640080" y="1691640"/>
            <a:ext cx="7315200" cy="365760"/>
          </a:xfrm>
          <a:prstGeom prst="rect">
            <a:avLst/>
          </a:prstGeom>
          <a:noFill/>
          <a:ln/>
        </p:spPr>
        <p:txBody>
          <a:bodyPr wrap="square" rtlCol="0" anchor="ctr"/>
          <a:lstStyle/>
          <a:p>
            <a:pPr marL="0" indent="0">
              <a:buNone/>
            </a:pPr>
            <a:r>
              <a:rPr lang="en-US" sz="1400" b="1" kern="0" spc="300" dirty="0">
                <a:solidFill>
                  <a:srgbClr val="0D9488"/>
                </a:solidFill>
                <a:latin typeface="Calibri" pitchFamily="34" charset="0"/>
                <a:ea typeface="Calibri" pitchFamily="34" charset="-122"/>
                <a:cs typeface="Calibri" pitchFamily="34" charset="-120"/>
              </a:rPr>
              <a:t>DATA ANALYTICS PROJECT</a:t>
            </a:r>
            <a:endParaRPr lang="en-US" sz="1400" dirty="0"/>
          </a:p>
        </p:txBody>
      </p:sp>
      <p:sp>
        <p:nvSpPr>
          <p:cNvPr id="7" name="Text 4"/>
          <p:cNvSpPr/>
          <p:nvPr/>
        </p:nvSpPr>
        <p:spPr>
          <a:xfrm>
            <a:off x="640080" y="2103120"/>
            <a:ext cx="8686800" cy="1737360"/>
          </a:xfrm>
          <a:prstGeom prst="rect">
            <a:avLst/>
          </a:prstGeom>
          <a:noFill/>
          <a:ln/>
        </p:spPr>
        <p:txBody>
          <a:bodyPr wrap="square"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IT Support Tickets:</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Exploratory Data Analysis</a:t>
            </a:r>
            <a:endParaRPr lang="en-US" sz="4000" dirty="0"/>
          </a:p>
        </p:txBody>
      </p:sp>
      <p:sp>
        <p:nvSpPr>
          <p:cNvPr id="8" name="Text 5"/>
          <p:cNvSpPr/>
          <p:nvPr/>
        </p:nvSpPr>
        <p:spPr>
          <a:xfrm>
            <a:off x="640080" y="3794760"/>
            <a:ext cx="7863840" cy="64008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Exploring Schema, Data Types, and Missing Values in a 100K Synthetic IT Support Ticket Dataset</a:t>
            </a:r>
            <a:endParaRPr lang="en-US" sz="1600" dirty="0"/>
          </a:p>
        </p:txBody>
      </p:sp>
      <p:sp>
        <p:nvSpPr>
          <p:cNvPr id="9" name="Shape 6"/>
          <p:cNvSpPr/>
          <p:nvPr/>
        </p:nvSpPr>
        <p:spPr>
          <a:xfrm>
            <a:off x="640080" y="5349240"/>
            <a:ext cx="1005840" cy="0"/>
          </a:xfrm>
          <a:prstGeom prst="line">
            <a:avLst/>
          </a:prstGeom>
          <a:noFill/>
          <a:ln w="25400">
            <a:solidFill>
              <a:srgbClr val="0D9488"/>
            </a:solidFill>
            <a:prstDash val="solid"/>
          </a:ln>
        </p:spPr>
      </p:sp>
      <p:sp>
        <p:nvSpPr>
          <p:cNvPr id="10" name="Text 7"/>
          <p:cNvSpPr/>
          <p:nvPr/>
        </p:nvSpPr>
        <p:spPr>
          <a:xfrm>
            <a:off x="640080" y="5486400"/>
            <a:ext cx="5486400" cy="4114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Varsha B O</a:t>
            </a:r>
            <a:endParaRPr lang="en-US" sz="2000" dirty="0"/>
          </a:p>
        </p:txBody>
      </p:sp>
      <p:sp>
        <p:nvSpPr>
          <p:cNvPr id="11" name="Text 8"/>
          <p:cNvSpPr/>
          <p:nvPr/>
        </p:nvSpPr>
        <p:spPr>
          <a:xfrm>
            <a:off x="640080" y="5897880"/>
            <a:ext cx="6858000" cy="640080"/>
          </a:xfrm>
          <a:prstGeom prst="rect">
            <a:avLst/>
          </a:prstGeom>
          <a:noFill/>
          <a:ln/>
        </p:spPr>
        <p:txBody>
          <a:bodyPr wrap="square" rtlCol="0" anchor="ctr"/>
          <a:lstStyle/>
          <a:p>
            <a:pPr marL="0" indent="0">
              <a:lnSpc>
                <a:spcPts val="1600"/>
              </a:lnSpc>
              <a:buNone/>
            </a:pPr>
            <a:r>
              <a:rPr lang="en-US" sz="1250" dirty="0">
                <a:solidFill>
                  <a:srgbClr val="8FA3C4"/>
                </a:solidFill>
                <a:latin typeface="Calibri" pitchFamily="34" charset="0"/>
                <a:ea typeface="Calibri" pitchFamily="34" charset="-122"/>
                <a:cs typeface="Calibri" pitchFamily="34" charset="-120"/>
              </a:rPr>
              <a:t>B.E. Computer Science &amp; Engineering (Data Science)</a:t>
            </a:r>
            <a:endParaRPr lang="en-US" sz="1250" dirty="0"/>
          </a:p>
          <a:p>
            <a:pPr marL="0" indent="0">
              <a:lnSpc>
                <a:spcPts val="1600"/>
              </a:lnSpc>
              <a:buNone/>
            </a:pPr>
            <a:r>
              <a:rPr lang="en-US" sz="1250" dirty="0">
                <a:solidFill>
                  <a:srgbClr val="8FA3C4"/>
                </a:solidFill>
                <a:latin typeface="Calibri" pitchFamily="34" charset="0"/>
                <a:ea typeface="Calibri" pitchFamily="34" charset="-122"/>
                <a:cs typeface="Calibri" pitchFamily="34" charset="-120"/>
              </a:rPr>
              <a:t>Bapuji Institute of Engineering and Technology, Davangere</a:t>
            </a:r>
            <a:endParaRPr lang="en-US" sz="1250" dirty="0"/>
          </a:p>
        </p:txBody>
      </p:sp>
      <p:pic>
        <p:nvPicPr>
          <p:cNvPr id="12" name="Image 1" descr="preencoded.png"/>
          <p:cNvPicPr>
            <a:picLocks noChangeAspect="1"/>
          </p:cNvPicPr>
          <p:nvPr/>
        </p:nvPicPr>
        <p:blipFill>
          <a:blip r:embed="rId4"/>
          <a:stretch>
            <a:fillRect/>
          </a:stretch>
        </p:blipFill>
        <p:spPr>
          <a:xfrm>
            <a:off x="10881360" y="5989320"/>
            <a:ext cx="365760" cy="365760"/>
          </a:xfrm>
          <a:prstGeom prst="rect">
            <a:avLst/>
          </a:prstGeom>
        </p:spPr>
      </p:pic>
      <p:pic>
        <p:nvPicPr>
          <p:cNvPr id="13" name="Image 2" descr="preencoded.png"/>
          <p:cNvPicPr>
            <a:picLocks noChangeAspect="1"/>
          </p:cNvPicPr>
          <p:nvPr/>
        </p:nvPicPr>
        <p:blipFill>
          <a:blip r:embed="rId5"/>
          <a:stretch>
            <a:fillRect/>
          </a:stretch>
        </p:blipFill>
        <p:spPr>
          <a:xfrm>
            <a:off x="11430000" y="5989320"/>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0CC7D-2B08-53BC-C7DB-CF07737758ED}"/>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Introduction </a:t>
            </a:r>
          </a:p>
        </p:txBody>
      </p:sp>
      <p:sp>
        <p:nvSpPr>
          <p:cNvPr id="3" name="Content Placeholder 2">
            <a:extLst>
              <a:ext uri="{FF2B5EF4-FFF2-40B4-BE49-F238E27FC236}">
                <a16:creationId xmlns:a16="http://schemas.microsoft.com/office/drawing/2014/main" id="{A243C6AA-9DB1-B89B-E2A9-3F1969E39656}"/>
              </a:ext>
            </a:extLst>
          </p:cNvPr>
          <p:cNvSpPr>
            <a:spLocks noGrp="1"/>
          </p:cNvSpPr>
          <p:nvPr>
            <p:ph idx="1"/>
          </p:nvPr>
        </p:nvSpPr>
        <p:spPr>
          <a:xfrm>
            <a:off x="838200" y="1825625"/>
            <a:ext cx="10515600" cy="1603375"/>
          </a:xfrm>
        </p:spPr>
        <p:txBody>
          <a:bodyPr>
            <a:normAutofit fontScale="92500"/>
          </a:bodyPr>
          <a:lstStyle/>
          <a:p>
            <a:pPr marL="0" indent="0">
              <a:buNone/>
            </a:pPr>
            <a:r>
              <a:rPr lang="en-IN" sz="2000" dirty="0">
                <a:latin typeface="Times New Roman" panose="02020603050405020304" pitchFamily="18" charset="0"/>
                <a:cs typeface="Times New Roman" panose="02020603050405020304" pitchFamily="18" charset="0"/>
              </a:rPr>
              <a:t>IT support teams handle a large number of customer support tickets every day.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these tickets helps organizations understand common issues, measure support performance, and improve service quality. This project uses data analytics techniques to clean,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and visualize IT support ticket data, enabling faster issue resolution, better resource allocation, and data-driven decision-making.</a:t>
            </a:r>
          </a:p>
        </p:txBody>
      </p:sp>
    </p:spTree>
    <p:extLst>
      <p:ext uri="{BB962C8B-B14F-4D97-AF65-F5344CB8AC3E}">
        <p14:creationId xmlns:p14="http://schemas.microsoft.com/office/powerpoint/2010/main" val="2240978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306AB-EAAB-3828-1AF5-0DD50CFF0868}"/>
              </a:ext>
            </a:extLst>
          </p:cNvPr>
          <p:cNvSpPr>
            <a:spLocks noGrp="1"/>
          </p:cNvSpPr>
          <p:nvPr>
            <p:ph type="title"/>
          </p:nvPr>
        </p:nvSpPr>
        <p:spPr>
          <a:xfrm>
            <a:off x="919119" y="376601"/>
            <a:ext cx="10353761" cy="1326321"/>
          </a:xfrm>
        </p:spPr>
        <p:txBody>
          <a:bodyPr>
            <a:normAutofit/>
          </a:bodyPr>
          <a:lstStyle/>
          <a:p>
            <a:r>
              <a:rPr lang="en-IN" sz="2800" b="1" dirty="0">
                <a:latin typeface="Times New Roman" panose="02020603050405020304" pitchFamily="18" charset="0"/>
                <a:cs typeface="Times New Roman" panose="02020603050405020304" pitchFamily="18" charset="0"/>
              </a:rPr>
              <a:t>Problem Statement</a:t>
            </a:r>
            <a:br>
              <a:rPr lang="en-IN" sz="2800"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9838385-C472-67A6-1C12-1CFBA5D3E1EA}"/>
              </a:ext>
            </a:extLst>
          </p:cNvPr>
          <p:cNvSpPr>
            <a:spLocks noGrp="1"/>
          </p:cNvSpPr>
          <p:nvPr>
            <p:ph idx="1"/>
          </p:nvPr>
        </p:nvSpPr>
        <p:spPr>
          <a:xfrm>
            <a:off x="838200" y="1219201"/>
            <a:ext cx="10515600" cy="1612489"/>
          </a:xfrm>
        </p:spPr>
        <p:txBody>
          <a:bodyPr>
            <a:normAutofit fontScale="92500" lnSpcReduction="20000"/>
          </a:bodyPr>
          <a:lstStyle/>
          <a:p>
            <a:pPr marL="0" indent="0" algn="just">
              <a:buNone/>
            </a:pPr>
            <a:r>
              <a:rPr lang="en-IN" sz="2000" dirty="0">
                <a:latin typeface="Times New Roman" panose="02020603050405020304" pitchFamily="18" charset="0"/>
                <a:cs typeface="Times New Roman" panose="02020603050405020304" pitchFamily="18" charset="0"/>
              </a:rPr>
              <a:t>IT support organizations generate large volumes of support tickets containing information about customer issues, priorities, and resolutions. However, the raw data often contains missing values, inconsistent formats, and unstructured text, making analysis difficult. This project focuses on cleaning and preparing the dataset, creating meaningful features, and establishing a reliable foundation for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IT support performance and improving operational efficiency.</a:t>
            </a:r>
          </a:p>
          <a:p>
            <a:pPr algn="just"/>
            <a:endParaRPr lang="en-IN" dirty="0"/>
          </a:p>
        </p:txBody>
      </p:sp>
      <p:sp>
        <p:nvSpPr>
          <p:cNvPr id="5" name="TextBox 4">
            <a:extLst>
              <a:ext uri="{FF2B5EF4-FFF2-40B4-BE49-F238E27FC236}">
                <a16:creationId xmlns:a16="http://schemas.microsoft.com/office/drawing/2014/main" id="{AC6445ED-0DD7-F794-28BF-995039DA4AC1}"/>
              </a:ext>
            </a:extLst>
          </p:cNvPr>
          <p:cNvSpPr txBox="1"/>
          <p:nvPr/>
        </p:nvSpPr>
        <p:spPr>
          <a:xfrm>
            <a:off x="4426975" y="3011129"/>
            <a:ext cx="3458496" cy="461665"/>
          </a:xfrm>
          <a:prstGeom prst="rect">
            <a:avLst/>
          </a:prstGeom>
          <a:noFill/>
        </p:spPr>
        <p:txBody>
          <a:bodyPr wrap="square" rtlCol="0">
            <a:spAutoFit/>
          </a:bodyPr>
          <a:lstStyle/>
          <a:p>
            <a:pPr algn="just"/>
            <a:r>
              <a:rPr lang="en-IN" sz="2400" dirty="0">
                <a:latin typeface="Times New Roman" panose="02020603050405020304" pitchFamily="18" charset="0"/>
                <a:cs typeface="Times New Roman" panose="02020603050405020304" pitchFamily="18" charset="0"/>
              </a:rPr>
              <a:t>PROPOSED SYSTEM</a:t>
            </a:r>
            <a:endParaRPr lang="en-IN" sz="2400" dirty="0"/>
          </a:p>
        </p:txBody>
      </p:sp>
      <p:sp>
        <p:nvSpPr>
          <p:cNvPr id="6" name="TextBox 5">
            <a:extLst>
              <a:ext uri="{FF2B5EF4-FFF2-40B4-BE49-F238E27FC236}">
                <a16:creationId xmlns:a16="http://schemas.microsoft.com/office/drawing/2014/main" id="{D05F3322-BCE5-812F-CE78-4DDF411ED340}"/>
              </a:ext>
            </a:extLst>
          </p:cNvPr>
          <p:cNvSpPr txBox="1"/>
          <p:nvPr/>
        </p:nvSpPr>
        <p:spPr>
          <a:xfrm>
            <a:off x="838200" y="3854245"/>
            <a:ext cx="10515600" cy="163121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The proposed system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IT support ticket data using data analytics techniques. It cleans and preprocesses the dataset, creates useful features such as </a:t>
            </a:r>
            <a:r>
              <a:rPr lang="en-IN" sz="2000" b="1" dirty="0">
                <a:latin typeface="Times New Roman" panose="02020603050405020304" pitchFamily="18" charset="0"/>
                <a:cs typeface="Times New Roman" panose="02020603050405020304" pitchFamily="18" charset="0"/>
              </a:rPr>
              <a:t>Resolution Duration</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Priority Score</a:t>
            </a:r>
            <a:r>
              <a:rPr lang="en-IN" sz="2000" dirty="0">
                <a:latin typeface="Times New Roman" panose="02020603050405020304" pitchFamily="18" charset="0"/>
                <a:cs typeface="Times New Roman" panose="02020603050405020304" pitchFamily="18" charset="0"/>
              </a:rPr>
              <a:t>, and performs analysis to identify ticket trends, measure support team performance, and improve service efficiency through interactive dashboards and data-driven insights.</a:t>
            </a:r>
          </a:p>
          <a:p>
            <a:pPr algn="just"/>
            <a:endParaRPr lang="en-IN" sz="2000" dirty="0"/>
          </a:p>
        </p:txBody>
      </p:sp>
    </p:spTree>
    <p:extLst>
      <p:ext uri="{BB962C8B-B14F-4D97-AF65-F5344CB8AC3E}">
        <p14:creationId xmlns:p14="http://schemas.microsoft.com/office/powerpoint/2010/main" val="2021081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770E8-0096-B2D5-F05A-DEAB131CD2A2}"/>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Objectives </a:t>
            </a:r>
          </a:p>
        </p:txBody>
      </p:sp>
      <p:sp>
        <p:nvSpPr>
          <p:cNvPr id="3" name="Content Placeholder 2">
            <a:extLst>
              <a:ext uri="{FF2B5EF4-FFF2-40B4-BE49-F238E27FC236}">
                <a16:creationId xmlns:a16="http://schemas.microsoft.com/office/drawing/2014/main" id="{5109A073-2D00-F41D-8C22-C74370DFA494}"/>
              </a:ext>
            </a:extLst>
          </p:cNvPr>
          <p:cNvSpPr>
            <a:spLocks noGrp="1"/>
          </p:cNvSpPr>
          <p:nvPr>
            <p:ph idx="1"/>
          </p:nvPr>
        </p:nvSpPr>
        <p:spPr/>
        <p:txBody>
          <a:bodyPr>
            <a:normAutofit/>
          </a:bodyPr>
          <a:lstStyle/>
          <a:p>
            <a:pPr algn="just">
              <a:buFont typeface="Wingdings" panose="05000000000000000000" pitchFamily="2" charset="2"/>
              <a:buChar char="Ø"/>
            </a:pPr>
            <a:r>
              <a:rPr lang="en-IN" sz="2000" dirty="0" err="1"/>
              <a:t>Analyze</a:t>
            </a:r>
            <a:r>
              <a:rPr lang="en-IN" sz="2000" dirty="0"/>
              <a:t> IT support ticket data to identify trends and patterns. </a:t>
            </a:r>
          </a:p>
          <a:p>
            <a:pPr algn="just">
              <a:buFont typeface="Wingdings" panose="05000000000000000000" pitchFamily="2" charset="2"/>
              <a:buChar char="Ø"/>
            </a:pPr>
            <a:r>
              <a:rPr lang="en-IN" sz="2000" dirty="0"/>
              <a:t>Improve ticket resolution time and support team efficiency. </a:t>
            </a:r>
          </a:p>
          <a:p>
            <a:pPr algn="just">
              <a:buFont typeface="Wingdings" panose="05000000000000000000" pitchFamily="2" charset="2"/>
              <a:buChar char="Ø"/>
            </a:pPr>
            <a:r>
              <a:rPr lang="en-IN" sz="2000" dirty="0"/>
              <a:t>Evaluate support performance using key performance indicators (KPIs). </a:t>
            </a:r>
          </a:p>
          <a:p>
            <a:pPr algn="just">
              <a:buFont typeface="Wingdings" panose="05000000000000000000" pitchFamily="2" charset="2"/>
              <a:buChar char="Ø"/>
            </a:pPr>
            <a:r>
              <a:rPr lang="en-IN" sz="2000" dirty="0"/>
              <a:t>Build interactive dashboards for performance monitoring. </a:t>
            </a:r>
          </a:p>
          <a:p>
            <a:pPr algn="just">
              <a:buFont typeface="Wingdings" panose="05000000000000000000" pitchFamily="2" charset="2"/>
              <a:buChar char="Ø"/>
            </a:pPr>
            <a:r>
              <a:rPr lang="en-IN" sz="2000" dirty="0"/>
              <a:t>Provide data-driven recommendations to enhance IT support services. </a:t>
            </a:r>
          </a:p>
          <a:p>
            <a:pPr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2968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63616-4432-3A75-5B8E-8F69E8581BA9}"/>
              </a:ext>
            </a:extLst>
          </p:cNvPr>
          <p:cNvSpPr>
            <a:spLocks noGrp="1"/>
          </p:cNvSpPr>
          <p:nvPr>
            <p:ph type="title"/>
          </p:nvPr>
        </p:nvSpPr>
        <p:spPr/>
        <p:txBody>
          <a:bodyPr>
            <a:normAutofit/>
          </a:bodyPr>
          <a:lstStyle/>
          <a:p>
            <a:r>
              <a:rPr lang="en-IN" sz="2800" dirty="0"/>
              <a:t>Tools &amp; Technologies</a:t>
            </a:r>
          </a:p>
        </p:txBody>
      </p:sp>
      <p:sp>
        <p:nvSpPr>
          <p:cNvPr id="3" name="Content Placeholder 2">
            <a:extLst>
              <a:ext uri="{FF2B5EF4-FFF2-40B4-BE49-F238E27FC236}">
                <a16:creationId xmlns:a16="http://schemas.microsoft.com/office/drawing/2014/main" id="{08283510-8218-4BDD-8335-D444A90BEFF4}"/>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Python </a:t>
            </a:r>
          </a:p>
          <a:p>
            <a:r>
              <a:rPr lang="en-IN" dirty="0">
                <a:latin typeface="Times New Roman" panose="02020603050405020304" pitchFamily="18" charset="0"/>
                <a:cs typeface="Times New Roman" panose="02020603050405020304" pitchFamily="18" charset="0"/>
              </a:rPr>
              <a:t>Pandas </a:t>
            </a:r>
          </a:p>
          <a:p>
            <a:r>
              <a:rPr lang="en-IN" dirty="0">
                <a:latin typeface="Times New Roman" panose="02020603050405020304" pitchFamily="18" charset="0"/>
                <a:cs typeface="Times New Roman" panose="02020603050405020304" pitchFamily="18" charset="0"/>
              </a:rPr>
              <a:t>NumPy </a:t>
            </a:r>
          </a:p>
          <a:p>
            <a:r>
              <a:rPr lang="en-IN" dirty="0">
                <a:latin typeface="Times New Roman" panose="02020603050405020304" pitchFamily="18" charset="0"/>
                <a:cs typeface="Times New Roman" panose="02020603050405020304" pitchFamily="18" charset="0"/>
              </a:rPr>
              <a:t>Matplotlib </a:t>
            </a:r>
          </a:p>
          <a:p>
            <a:r>
              <a:rPr lang="en-IN" dirty="0">
                <a:latin typeface="Times New Roman" panose="02020603050405020304" pitchFamily="18" charset="0"/>
                <a:cs typeface="Times New Roman" panose="02020603050405020304" pitchFamily="18" charset="0"/>
              </a:rPr>
              <a:t>Seaborn </a:t>
            </a:r>
          </a:p>
          <a:p>
            <a:r>
              <a:rPr lang="en-IN" dirty="0">
                <a:latin typeface="Times New Roman" panose="02020603050405020304" pitchFamily="18" charset="0"/>
                <a:cs typeface="Times New Roman" panose="02020603050405020304" pitchFamily="18" charset="0"/>
              </a:rPr>
              <a:t>Jupyter Notebook </a:t>
            </a:r>
          </a:p>
          <a:p>
            <a:r>
              <a:rPr lang="en-IN" dirty="0">
                <a:latin typeface="Times New Roman" panose="02020603050405020304" pitchFamily="18" charset="0"/>
                <a:cs typeface="Times New Roman" panose="02020603050405020304" pitchFamily="18" charset="0"/>
              </a:rPr>
              <a:t>Power BI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1190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59904-3A4E-A9EE-844B-88742956F5E0}"/>
              </a:ext>
            </a:extLst>
          </p:cNvPr>
          <p:cNvSpPr>
            <a:spLocks noGrp="1"/>
          </p:cNvSpPr>
          <p:nvPr>
            <p:ph type="title"/>
          </p:nvPr>
        </p:nvSpPr>
        <p:spPr/>
        <p:txBody>
          <a:bodyPr/>
          <a:lstStyle/>
          <a:p>
            <a:r>
              <a:rPr lang="en-US" dirty="0"/>
              <a:t>Workflow</a:t>
            </a:r>
            <a:endParaRPr lang="en-IN" dirty="0"/>
          </a:p>
        </p:txBody>
      </p:sp>
      <p:pic>
        <p:nvPicPr>
          <p:cNvPr id="4" name="Content Placeholder 3">
            <a:extLst>
              <a:ext uri="{FF2B5EF4-FFF2-40B4-BE49-F238E27FC236}">
                <a16:creationId xmlns:a16="http://schemas.microsoft.com/office/drawing/2014/main" id="{7EC0D4DB-5C57-36E8-F59A-2ED493BEFC3C}"/>
              </a:ext>
            </a:extLst>
          </p:cNvPr>
          <p:cNvPicPr>
            <a:picLocks noGrp="1" noChangeAspect="1"/>
          </p:cNvPicPr>
          <p:nvPr>
            <p:ph idx="1"/>
          </p:nvPr>
        </p:nvPicPr>
        <p:blipFill>
          <a:blip r:embed="rId2"/>
          <a:stretch>
            <a:fillRect/>
          </a:stretch>
        </p:blipFill>
        <p:spPr>
          <a:xfrm>
            <a:off x="1956031" y="2095500"/>
            <a:ext cx="8270412" cy="3695700"/>
          </a:xfrm>
          <a:prstGeom prst="rect">
            <a:avLst/>
          </a:prstGeom>
        </p:spPr>
      </p:pic>
    </p:spTree>
    <p:extLst>
      <p:ext uri="{BB962C8B-B14F-4D97-AF65-F5344CB8AC3E}">
        <p14:creationId xmlns:p14="http://schemas.microsoft.com/office/powerpoint/2010/main" val="3739274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16D91-B6C2-D4BE-5DBB-3740FC911EEC}"/>
              </a:ext>
            </a:extLst>
          </p:cNvPr>
          <p:cNvSpPr>
            <a:spLocks noGrp="1"/>
          </p:cNvSpPr>
          <p:nvPr>
            <p:ph type="title"/>
          </p:nvPr>
        </p:nvSpPr>
        <p:spPr>
          <a:xfrm>
            <a:off x="838200" y="365125"/>
            <a:ext cx="10515600" cy="775417"/>
          </a:xfrm>
        </p:spPr>
        <p:txBody>
          <a:bodyPr>
            <a:normAutofit/>
          </a:bodyPr>
          <a:lstStyle/>
          <a:p>
            <a:r>
              <a:rPr lang="en-IN" sz="2800" dirty="0">
                <a:latin typeface="Times New Roman" panose="02020603050405020304" pitchFamily="18" charset="0"/>
                <a:cs typeface="Times New Roman" panose="02020603050405020304" pitchFamily="18" charset="0"/>
              </a:rPr>
              <a:t>Dataset Overview</a:t>
            </a:r>
          </a:p>
        </p:txBody>
      </p:sp>
      <p:sp>
        <p:nvSpPr>
          <p:cNvPr id="3" name="Content Placeholder 2">
            <a:extLst>
              <a:ext uri="{FF2B5EF4-FFF2-40B4-BE49-F238E27FC236}">
                <a16:creationId xmlns:a16="http://schemas.microsoft.com/office/drawing/2014/main" id="{598BF882-D86C-8187-370C-94F62EC1AD58}"/>
              </a:ext>
            </a:extLst>
          </p:cNvPr>
          <p:cNvSpPr>
            <a:spLocks noGrp="1"/>
          </p:cNvSpPr>
          <p:nvPr>
            <p:ph idx="1"/>
          </p:nvPr>
        </p:nvSpPr>
        <p:spPr>
          <a:xfrm>
            <a:off x="838200" y="1356852"/>
            <a:ext cx="10515600" cy="4820111"/>
          </a:xfrm>
        </p:spPr>
        <p:txBody>
          <a:bodyPr>
            <a:normAutofit fontScale="92500" lnSpcReduction="20000"/>
          </a:bodyPr>
          <a:lstStyle/>
          <a:p>
            <a:r>
              <a:rPr lang="en-IN" sz="2000" b="1" dirty="0">
                <a:latin typeface="Times New Roman" panose="02020603050405020304" pitchFamily="18" charset="0"/>
                <a:cs typeface="Times New Roman" panose="02020603050405020304" pitchFamily="18" charset="0"/>
              </a:rPr>
              <a:t>Dataset Name: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Synthetic IT Support Tickets Dataset</a:t>
            </a:r>
          </a:p>
          <a:p>
            <a:r>
              <a:rPr lang="en-IN" sz="2000" b="1" dirty="0">
                <a:latin typeface="Times New Roman" panose="02020603050405020304" pitchFamily="18" charset="0"/>
                <a:cs typeface="Times New Roman" panose="02020603050405020304" pitchFamily="18" charset="0"/>
              </a:rPr>
              <a:t>Source: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Kaggle – Synthetic IT Support Tickets Dataset</a:t>
            </a:r>
          </a:p>
          <a:p>
            <a:r>
              <a:rPr lang="en-IN" sz="2000" b="1" dirty="0">
                <a:latin typeface="Times New Roman" panose="02020603050405020304" pitchFamily="18" charset="0"/>
                <a:cs typeface="Times New Roman" panose="02020603050405020304" pitchFamily="18" charset="0"/>
              </a:rPr>
              <a:t>Dataset Size:</a:t>
            </a: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Total Records:</a:t>
            </a:r>
            <a:r>
              <a:rPr lang="en-IN" sz="2000" dirty="0">
                <a:latin typeface="Times New Roman" panose="02020603050405020304" pitchFamily="18" charset="0"/>
                <a:cs typeface="Times New Roman" panose="02020603050405020304" pitchFamily="18" charset="0"/>
              </a:rPr>
              <a:t> 100,000 </a:t>
            </a:r>
          </a:p>
          <a:p>
            <a:r>
              <a:rPr lang="en-IN" sz="2000" b="1" dirty="0">
                <a:latin typeface="Times New Roman" panose="02020603050405020304" pitchFamily="18" charset="0"/>
                <a:cs typeface="Times New Roman" panose="02020603050405020304" pitchFamily="18" charset="0"/>
              </a:rPr>
              <a:t>Total Columns:</a:t>
            </a:r>
            <a:r>
              <a:rPr lang="en-IN" sz="2000" dirty="0">
                <a:latin typeface="Times New Roman" panose="02020603050405020304" pitchFamily="18" charset="0"/>
                <a:cs typeface="Times New Roman" panose="02020603050405020304" pitchFamily="18" charset="0"/>
              </a:rPr>
              <a:t> 20 </a:t>
            </a:r>
          </a:p>
          <a:p>
            <a:r>
              <a:rPr lang="en-IN" sz="2000" b="1" dirty="0">
                <a:latin typeface="Times New Roman" panose="02020603050405020304" pitchFamily="18" charset="0"/>
                <a:cs typeface="Times New Roman" panose="02020603050405020304" pitchFamily="18" charset="0"/>
              </a:rPr>
              <a:t>File Format:</a:t>
            </a:r>
            <a:r>
              <a:rPr lang="en-IN" sz="2000" dirty="0">
                <a:latin typeface="Times New Roman" panose="02020603050405020304" pitchFamily="18" charset="0"/>
                <a:cs typeface="Times New Roman" panose="02020603050405020304" pitchFamily="18" charset="0"/>
              </a:rPr>
              <a:t> CSV (.csv) </a:t>
            </a:r>
          </a:p>
          <a:p>
            <a:r>
              <a:rPr lang="en-IN" sz="2000" b="1" dirty="0">
                <a:latin typeface="Times New Roman" panose="02020603050405020304" pitchFamily="18" charset="0"/>
                <a:cs typeface="Times New Roman" panose="02020603050405020304" pitchFamily="18" charset="0"/>
              </a:rPr>
              <a:t>Purpose of the Dataset: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dataset contains synthetic IT support ticket records generated to simulate real-world help desk operations. It includes information related to customer issues, ticket priorities, support channels, resolution details, customer satisfaction, and regional distribution. This dataset is used 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IT support performance and identify opportunities for improving service quality.</a:t>
            </a:r>
          </a:p>
          <a:p>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3F548F3-5C61-75A9-DD88-E655D3B82162}"/>
              </a:ext>
            </a:extLst>
          </p:cNvPr>
          <p:cNvPicPr>
            <a:picLocks noChangeAspect="1"/>
          </p:cNvPicPr>
          <p:nvPr/>
        </p:nvPicPr>
        <p:blipFill>
          <a:blip r:embed="rId2"/>
          <a:stretch>
            <a:fillRect/>
          </a:stretch>
        </p:blipFill>
        <p:spPr>
          <a:xfrm>
            <a:off x="5089617" y="2861188"/>
            <a:ext cx="6264183" cy="1481296"/>
          </a:xfrm>
          <a:prstGeom prst="rect">
            <a:avLst/>
          </a:prstGeom>
        </p:spPr>
      </p:pic>
    </p:spTree>
    <p:extLst>
      <p:ext uri="{BB962C8B-B14F-4D97-AF65-F5344CB8AC3E}">
        <p14:creationId xmlns:p14="http://schemas.microsoft.com/office/powerpoint/2010/main" val="765747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C8948-AA84-0BA5-6912-C2B0C6F206F9}"/>
              </a:ext>
            </a:extLst>
          </p:cNvPr>
          <p:cNvSpPr>
            <a:spLocks noGrp="1"/>
          </p:cNvSpPr>
          <p:nvPr>
            <p:ph type="title"/>
          </p:nvPr>
        </p:nvSpPr>
        <p:spPr>
          <a:xfrm>
            <a:off x="838200" y="365126"/>
            <a:ext cx="10515600" cy="883572"/>
          </a:xfrm>
        </p:spPr>
        <p:txBody>
          <a:bodyPr>
            <a:normAutofit/>
          </a:bodyPr>
          <a:lstStyle/>
          <a:p>
            <a:r>
              <a:rPr lang="en-IN" sz="2800" dirty="0">
                <a:latin typeface="Times New Roman" panose="02020603050405020304" pitchFamily="18" charset="0"/>
                <a:cs typeface="Times New Roman" panose="02020603050405020304" pitchFamily="18" charset="0"/>
              </a:rPr>
              <a:t>Project Initialization</a:t>
            </a:r>
          </a:p>
        </p:txBody>
      </p:sp>
      <p:sp>
        <p:nvSpPr>
          <p:cNvPr id="3" name="Content Placeholder 2">
            <a:extLst>
              <a:ext uri="{FF2B5EF4-FFF2-40B4-BE49-F238E27FC236}">
                <a16:creationId xmlns:a16="http://schemas.microsoft.com/office/drawing/2014/main" id="{41A7F436-8A22-3692-0550-87EFF1E07D28}"/>
              </a:ext>
            </a:extLst>
          </p:cNvPr>
          <p:cNvSpPr>
            <a:spLocks noGrp="1"/>
          </p:cNvSpPr>
          <p:nvPr>
            <p:ph idx="1"/>
          </p:nvPr>
        </p:nvSpPr>
        <p:spPr>
          <a:xfrm>
            <a:off x="838200" y="1120877"/>
            <a:ext cx="10515600" cy="5056086"/>
          </a:xfrm>
        </p:spPr>
        <p:txBody>
          <a:bodyPr>
            <a:normAutofit/>
          </a:bodyPr>
          <a:lstStyle/>
          <a:p>
            <a:r>
              <a:rPr lang="en-IN" sz="2000" dirty="0">
                <a:latin typeface="Times New Roman" panose="02020603050405020304" pitchFamily="18" charset="0"/>
                <a:cs typeface="Times New Roman" panose="02020603050405020304" pitchFamily="18" charset="0"/>
              </a:rPr>
              <a:t>Loaded CSV using Pandas. </a:t>
            </a:r>
          </a:p>
          <a:p>
            <a:r>
              <a:rPr lang="en-IN" sz="2000" dirty="0">
                <a:latin typeface="Times New Roman" panose="02020603050405020304" pitchFamily="18" charset="0"/>
                <a:cs typeface="Times New Roman" panose="02020603050405020304" pitchFamily="18" charset="0"/>
              </a:rPr>
              <a:t>Explored dataset schema. </a:t>
            </a:r>
          </a:p>
          <a:p>
            <a:r>
              <a:rPr lang="en-IN" sz="2000" dirty="0">
                <a:latin typeface="Times New Roman" panose="02020603050405020304" pitchFamily="18" charset="0"/>
                <a:cs typeface="Times New Roman" panose="02020603050405020304" pitchFamily="18" charset="0"/>
              </a:rPr>
              <a:t>Checked data types. </a:t>
            </a:r>
          </a:p>
          <a:p>
            <a:r>
              <a:rPr lang="en-IN" sz="2000" dirty="0">
                <a:latin typeface="Times New Roman" panose="02020603050405020304" pitchFamily="18" charset="0"/>
                <a:cs typeface="Times New Roman" panose="02020603050405020304" pitchFamily="18" charset="0"/>
              </a:rPr>
              <a:t>Identified missing values. </a:t>
            </a:r>
          </a:p>
          <a:p>
            <a:r>
              <a:rPr lang="en-IN" sz="2000" dirty="0">
                <a:latin typeface="Times New Roman" panose="02020603050405020304" pitchFamily="18" charset="0"/>
                <a:cs typeface="Times New Roman" panose="02020603050405020304" pitchFamily="18" charset="0"/>
              </a:rPr>
              <a:t>Calculated ticket distributions by issue type, priority, and product area.</a:t>
            </a:r>
          </a:p>
          <a:p>
            <a:pPr marL="0" indent="0">
              <a:buNone/>
            </a:pP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7304071-257C-D7DB-047F-96AF5FE68945}"/>
              </a:ext>
            </a:extLst>
          </p:cNvPr>
          <p:cNvPicPr>
            <a:picLocks noChangeAspect="1"/>
          </p:cNvPicPr>
          <p:nvPr/>
        </p:nvPicPr>
        <p:blipFill>
          <a:blip r:embed="rId2"/>
          <a:stretch>
            <a:fillRect/>
          </a:stretch>
        </p:blipFill>
        <p:spPr>
          <a:xfrm>
            <a:off x="401155" y="3588774"/>
            <a:ext cx="6599413" cy="3106993"/>
          </a:xfrm>
          <a:prstGeom prst="rect">
            <a:avLst/>
          </a:prstGeom>
        </p:spPr>
      </p:pic>
      <p:pic>
        <p:nvPicPr>
          <p:cNvPr id="9" name="Picture 8">
            <a:extLst>
              <a:ext uri="{FF2B5EF4-FFF2-40B4-BE49-F238E27FC236}">
                <a16:creationId xmlns:a16="http://schemas.microsoft.com/office/drawing/2014/main" id="{8C5F3AFD-57D9-2D7E-F961-2D953844C17C}"/>
              </a:ext>
            </a:extLst>
          </p:cNvPr>
          <p:cNvPicPr>
            <a:picLocks noChangeAspect="1"/>
          </p:cNvPicPr>
          <p:nvPr/>
        </p:nvPicPr>
        <p:blipFill>
          <a:blip r:embed="rId3"/>
          <a:stretch>
            <a:fillRect/>
          </a:stretch>
        </p:blipFill>
        <p:spPr>
          <a:xfrm>
            <a:off x="8434109" y="2168496"/>
            <a:ext cx="3620239" cy="4008467"/>
          </a:xfrm>
          <a:prstGeom prst="rect">
            <a:avLst/>
          </a:prstGeom>
        </p:spPr>
      </p:pic>
    </p:spTree>
    <p:extLst>
      <p:ext uri="{BB962C8B-B14F-4D97-AF65-F5344CB8AC3E}">
        <p14:creationId xmlns:p14="http://schemas.microsoft.com/office/powerpoint/2010/main" val="2479136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2C3FE-06DC-56CA-A018-D1048B87BF2B}"/>
              </a:ext>
            </a:extLst>
          </p:cNvPr>
          <p:cNvSpPr>
            <a:spLocks noGrp="1"/>
          </p:cNvSpPr>
          <p:nvPr>
            <p:ph type="title"/>
          </p:nvPr>
        </p:nvSpPr>
        <p:spPr>
          <a:xfrm>
            <a:off x="838200" y="365126"/>
            <a:ext cx="10515600" cy="834410"/>
          </a:xfrm>
        </p:spPr>
        <p:txBody>
          <a:bodyPr>
            <a:normAutofit/>
          </a:bodyPr>
          <a:lstStyle/>
          <a:p>
            <a:r>
              <a:rPr lang="en-IN" sz="2800" dirty="0">
                <a:latin typeface="Times New Roman" panose="02020603050405020304" pitchFamily="18" charset="0"/>
                <a:cs typeface="Times New Roman" panose="02020603050405020304" pitchFamily="18" charset="0"/>
              </a:rPr>
              <a:t>Data Cleaning &amp; Feature Engineering</a:t>
            </a:r>
          </a:p>
        </p:txBody>
      </p:sp>
      <p:sp>
        <p:nvSpPr>
          <p:cNvPr id="3" name="Content Placeholder 2">
            <a:extLst>
              <a:ext uri="{FF2B5EF4-FFF2-40B4-BE49-F238E27FC236}">
                <a16:creationId xmlns:a16="http://schemas.microsoft.com/office/drawing/2014/main" id="{2573C867-333E-FBB8-EC71-1676261D9730}"/>
              </a:ext>
            </a:extLst>
          </p:cNvPr>
          <p:cNvSpPr>
            <a:spLocks noGrp="1"/>
          </p:cNvSpPr>
          <p:nvPr>
            <p:ph idx="1"/>
          </p:nvPr>
        </p:nvSpPr>
        <p:spPr>
          <a:xfrm>
            <a:off x="838200" y="1199536"/>
            <a:ext cx="10515600" cy="4977427"/>
          </a:xfrm>
        </p:spPr>
        <p:txBody>
          <a:bodyPr>
            <a:normAutofit/>
          </a:bodyPr>
          <a:lstStyle/>
          <a:p>
            <a:r>
              <a:rPr lang="en-IN" sz="2000" dirty="0">
                <a:latin typeface="Times New Roman" panose="02020603050405020304" pitchFamily="18" charset="0"/>
                <a:cs typeface="Times New Roman" panose="02020603050405020304" pitchFamily="18" charset="0"/>
              </a:rPr>
              <a:t>Removed duplicates. </a:t>
            </a:r>
          </a:p>
          <a:p>
            <a:r>
              <a:rPr lang="en-IN" sz="2000" dirty="0">
                <a:latin typeface="Times New Roman" panose="02020603050405020304" pitchFamily="18" charset="0"/>
                <a:cs typeface="Times New Roman" panose="02020603050405020304" pitchFamily="18" charset="0"/>
              </a:rPr>
              <a:t>Handled missing values. </a:t>
            </a:r>
          </a:p>
          <a:p>
            <a:r>
              <a:rPr lang="en-IN" sz="2000" dirty="0">
                <a:latin typeface="Times New Roman" panose="02020603050405020304" pitchFamily="18" charset="0"/>
                <a:cs typeface="Times New Roman" panose="02020603050405020304" pitchFamily="18" charset="0"/>
              </a:rPr>
              <a:t>Standardized text. </a:t>
            </a:r>
          </a:p>
          <a:p>
            <a:r>
              <a:rPr lang="en-IN" sz="2000" dirty="0">
                <a:latin typeface="Times New Roman" panose="02020603050405020304" pitchFamily="18" charset="0"/>
                <a:cs typeface="Times New Roman" panose="02020603050405020304" pitchFamily="18" charset="0"/>
              </a:rPr>
              <a:t>Created: </a:t>
            </a:r>
          </a:p>
          <a:p>
            <a:pPr lvl="1"/>
            <a:r>
              <a:rPr lang="en-IN" sz="2000" dirty="0" err="1">
                <a:latin typeface="Times New Roman" panose="02020603050405020304" pitchFamily="18" charset="0"/>
                <a:cs typeface="Times New Roman" panose="02020603050405020304" pitchFamily="18" charset="0"/>
              </a:rPr>
              <a:t>Resolution_Duration</a:t>
            </a:r>
            <a:r>
              <a:rPr lang="en-IN" sz="2000" dirty="0">
                <a:latin typeface="Times New Roman" panose="02020603050405020304" pitchFamily="18" charset="0"/>
                <a:cs typeface="Times New Roman" panose="02020603050405020304" pitchFamily="18" charset="0"/>
              </a:rPr>
              <a:t> </a:t>
            </a:r>
          </a:p>
          <a:p>
            <a:pPr lvl="1"/>
            <a:r>
              <a:rPr lang="en-IN" sz="2000" dirty="0" err="1">
                <a:latin typeface="Times New Roman" panose="02020603050405020304" pitchFamily="18" charset="0"/>
                <a:cs typeface="Times New Roman" panose="02020603050405020304" pitchFamily="18" charset="0"/>
              </a:rPr>
              <a:t>Priority_Score</a:t>
            </a:r>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Saved processed dataset.</a:t>
            </a:r>
          </a:p>
          <a:p>
            <a:pPr marL="0" indent="0">
              <a:buNone/>
            </a:pP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16EB83C-DF77-7773-FA6D-4062AB1939D5}"/>
              </a:ext>
            </a:extLst>
          </p:cNvPr>
          <p:cNvPicPr>
            <a:picLocks noChangeAspect="1"/>
          </p:cNvPicPr>
          <p:nvPr/>
        </p:nvPicPr>
        <p:blipFill>
          <a:blip r:embed="rId2"/>
          <a:stretch>
            <a:fillRect/>
          </a:stretch>
        </p:blipFill>
        <p:spPr>
          <a:xfrm>
            <a:off x="4877156" y="1084687"/>
            <a:ext cx="6997396" cy="4138019"/>
          </a:xfrm>
          <a:prstGeom prst="rect">
            <a:avLst/>
          </a:prstGeom>
        </p:spPr>
      </p:pic>
      <p:pic>
        <p:nvPicPr>
          <p:cNvPr id="7" name="Picture 6">
            <a:extLst>
              <a:ext uri="{FF2B5EF4-FFF2-40B4-BE49-F238E27FC236}">
                <a16:creationId xmlns:a16="http://schemas.microsoft.com/office/drawing/2014/main" id="{336571FE-6132-F650-6CBB-B617A1A9B7E5}"/>
              </a:ext>
            </a:extLst>
          </p:cNvPr>
          <p:cNvPicPr>
            <a:picLocks noChangeAspect="1"/>
          </p:cNvPicPr>
          <p:nvPr/>
        </p:nvPicPr>
        <p:blipFill>
          <a:blip r:embed="rId3"/>
          <a:stretch>
            <a:fillRect/>
          </a:stretch>
        </p:blipFill>
        <p:spPr>
          <a:xfrm>
            <a:off x="101494" y="4843053"/>
            <a:ext cx="5217756" cy="1630821"/>
          </a:xfrm>
          <a:prstGeom prst="rect">
            <a:avLst/>
          </a:prstGeom>
        </p:spPr>
      </p:pic>
    </p:spTree>
    <p:extLst>
      <p:ext uri="{BB962C8B-B14F-4D97-AF65-F5344CB8AC3E}">
        <p14:creationId xmlns:p14="http://schemas.microsoft.com/office/powerpoint/2010/main" val="4053858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894908-C7E5-552B-094F-CC1246FFEA72}"/>
              </a:ext>
            </a:extLst>
          </p:cNvPr>
          <p:cNvPicPr>
            <a:picLocks noChangeAspect="1"/>
          </p:cNvPicPr>
          <p:nvPr/>
        </p:nvPicPr>
        <p:blipFill>
          <a:blip r:embed="rId2"/>
          <a:stretch>
            <a:fillRect/>
          </a:stretch>
        </p:blipFill>
        <p:spPr>
          <a:xfrm>
            <a:off x="226890" y="291925"/>
            <a:ext cx="5869110" cy="5863069"/>
          </a:xfrm>
          <a:prstGeom prst="rect">
            <a:avLst/>
          </a:prstGeom>
        </p:spPr>
      </p:pic>
      <p:pic>
        <p:nvPicPr>
          <p:cNvPr id="5" name="Picture 4">
            <a:extLst>
              <a:ext uri="{FF2B5EF4-FFF2-40B4-BE49-F238E27FC236}">
                <a16:creationId xmlns:a16="http://schemas.microsoft.com/office/drawing/2014/main" id="{C2FE7BE1-B56C-17E7-6C75-92C1011B2C6E}"/>
              </a:ext>
            </a:extLst>
          </p:cNvPr>
          <p:cNvPicPr>
            <a:picLocks noChangeAspect="1"/>
          </p:cNvPicPr>
          <p:nvPr/>
        </p:nvPicPr>
        <p:blipFill>
          <a:blip r:embed="rId3"/>
          <a:stretch>
            <a:fillRect/>
          </a:stretch>
        </p:blipFill>
        <p:spPr>
          <a:xfrm>
            <a:off x="6335468" y="291925"/>
            <a:ext cx="5425911" cy="5794243"/>
          </a:xfrm>
          <a:prstGeom prst="rect">
            <a:avLst/>
          </a:prstGeom>
        </p:spPr>
      </p:pic>
    </p:spTree>
    <p:extLst>
      <p:ext uri="{BB962C8B-B14F-4D97-AF65-F5344CB8AC3E}">
        <p14:creationId xmlns:p14="http://schemas.microsoft.com/office/powerpoint/2010/main" val="3627408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26989D-A30E-BA56-1D5C-8C882CCB6F8F}"/>
              </a:ext>
            </a:extLst>
          </p:cNvPr>
          <p:cNvPicPr>
            <a:picLocks noChangeAspect="1"/>
          </p:cNvPicPr>
          <p:nvPr/>
        </p:nvPicPr>
        <p:blipFill>
          <a:blip r:embed="rId2"/>
          <a:stretch>
            <a:fillRect/>
          </a:stretch>
        </p:blipFill>
        <p:spPr>
          <a:xfrm>
            <a:off x="767185" y="557663"/>
            <a:ext cx="5151566" cy="4503810"/>
          </a:xfrm>
          <a:prstGeom prst="rect">
            <a:avLst/>
          </a:prstGeom>
        </p:spPr>
      </p:pic>
    </p:spTree>
    <p:extLst>
      <p:ext uri="{BB962C8B-B14F-4D97-AF65-F5344CB8AC3E}">
        <p14:creationId xmlns:p14="http://schemas.microsoft.com/office/powerpoint/2010/main" val="40294343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Damask</Template>
  <TotalTime>792</TotalTime>
  <Words>466</Words>
  <Application>Microsoft Office PowerPoint</Application>
  <PresentationFormat>Widescreen</PresentationFormat>
  <Paragraphs>51</Paragraphs>
  <Slides>11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Arial</vt:lpstr>
      <vt:lpstr>Bookman Old Style</vt:lpstr>
      <vt:lpstr>Calibri</vt:lpstr>
      <vt:lpstr>Cambria</vt:lpstr>
      <vt:lpstr>Rockwell</vt:lpstr>
      <vt:lpstr>Times New Roman</vt:lpstr>
      <vt:lpstr>Wingdings</vt:lpstr>
      <vt:lpstr>Damask</vt:lpstr>
      <vt:lpstr>PowerPoint Presentation</vt:lpstr>
      <vt:lpstr>Introduction </vt:lpstr>
      <vt:lpstr>Problem Statement </vt:lpstr>
      <vt:lpstr>Objectives </vt:lpstr>
      <vt:lpstr>Tools &amp; Technologies</vt:lpstr>
      <vt:lpstr>Workflow</vt:lpstr>
      <vt:lpstr>Dataset Overview</vt:lpstr>
      <vt:lpstr>Project Initialization</vt:lpstr>
      <vt:lpstr>Data Cleaning &amp; Feature Engineering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varsha bo</dc:creator>
  <cp:lastModifiedBy>varsha bo</cp:lastModifiedBy>
  <cp:revision>2</cp:revision>
  <dcterms:created xsi:type="dcterms:W3CDTF">2026-07-08T15:19:00Z</dcterms:created>
  <dcterms:modified xsi:type="dcterms:W3CDTF">2026-08-18T14:08:03Z</dcterms:modified>
</cp:coreProperties>
</file>