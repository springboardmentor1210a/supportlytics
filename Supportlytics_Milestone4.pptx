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9" r:id="rId7"/>
    <p:sldId id="268" r:id="rId8"/>
    <p:sldId id="267" r:id="rId9"/>
    <p:sldId id="266" r:id="rId10"/>
    <p:sldId id="262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 BABU REPALLI" userId="337d1a51e8d6a876" providerId="LiveId" clId="{23F7D730-FF31-433F-9D63-6BA0F5F646E3}"/>
    <pc:docChg chg="custSel addSld delSld modSld">
      <pc:chgData name="MADHU BABU REPALLI" userId="337d1a51e8d6a876" providerId="LiveId" clId="{23F7D730-FF31-433F-9D63-6BA0F5F646E3}" dt="2026-08-17T11:54:10.858" v="36" actId="931"/>
      <pc:docMkLst>
        <pc:docMk/>
      </pc:docMkLst>
      <pc:sldChg chg="addSp delSp modSp mod">
        <pc:chgData name="MADHU BABU REPALLI" userId="337d1a51e8d6a876" providerId="LiveId" clId="{23F7D730-FF31-433F-9D63-6BA0F5F646E3}" dt="2026-08-17T11:52:35.882" v="14" actId="20577"/>
        <pc:sldMkLst>
          <pc:docMk/>
          <pc:sldMk cId="0" sldId="260"/>
        </pc:sldMkLst>
        <pc:spChg chg="mod">
          <ac:chgData name="MADHU BABU REPALLI" userId="337d1a51e8d6a876" providerId="LiveId" clId="{23F7D730-FF31-433F-9D63-6BA0F5F646E3}" dt="2026-08-17T11:52:35.882" v="14" actId="20577"/>
          <ac:spMkLst>
            <pc:docMk/>
            <pc:sldMk cId="0" sldId="260"/>
            <ac:spMk id="3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1:44.115" v="0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1:47.168" v="1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1:50.358" v="2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1:50.358" v="2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1:50.358" v="2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1:50.358" v="2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2:01.864" v="6" actId="478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MADHU BABU REPALLI" userId="337d1a51e8d6a876" providerId="LiveId" clId="{23F7D730-FF31-433F-9D63-6BA0F5F646E3}" dt="2026-08-17T11:52:00.445" v="5" actId="47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ADHU BABU REPALLI" userId="337d1a51e8d6a876" providerId="LiveId" clId="{23F7D730-FF31-433F-9D63-6BA0F5F646E3}" dt="2026-08-17T11:52:08.046" v="9" actId="6549"/>
          <ac:spMkLst>
            <pc:docMk/>
            <pc:sldMk cId="0" sldId="260"/>
            <ac:spMk id="16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1:50.358" v="2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1:50.358" v="2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1:50.358" v="2" actId="478"/>
          <ac:spMkLst>
            <pc:docMk/>
            <pc:sldMk cId="0" sldId="260"/>
            <ac:spMk id="20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1:50.358" v="2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1:50.358" v="2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2:03.466" v="7" actId="478"/>
          <ac:spMkLst>
            <pc:docMk/>
            <pc:sldMk cId="0" sldId="260"/>
            <ac:spMk id="23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2:10.381" v="10" actId="478"/>
          <ac:spMkLst>
            <pc:docMk/>
            <pc:sldMk cId="0" sldId="260"/>
            <ac:spMk id="26" creationId="{00000000-0000-0000-0000-000000000000}"/>
          </ac:spMkLst>
        </pc:spChg>
        <pc:spChg chg="del">
          <ac:chgData name="MADHU BABU REPALLI" userId="337d1a51e8d6a876" providerId="LiveId" clId="{23F7D730-FF31-433F-9D63-6BA0F5F646E3}" dt="2026-08-17T11:51:50.358" v="2" actId="478"/>
          <ac:spMkLst>
            <pc:docMk/>
            <pc:sldMk cId="0" sldId="260"/>
            <ac:spMk id="28" creationId="{00000000-0000-0000-0000-000000000000}"/>
          </ac:spMkLst>
        </pc:spChg>
        <pc:picChg chg="add mod">
          <ac:chgData name="MADHU BABU REPALLI" userId="337d1a51e8d6a876" providerId="LiveId" clId="{23F7D730-FF31-433F-9D63-6BA0F5F646E3}" dt="2026-08-17T11:52:27.350" v="13" actId="1076"/>
          <ac:picMkLst>
            <pc:docMk/>
            <pc:sldMk cId="0" sldId="260"/>
            <ac:picMk id="30" creationId="{15572B75-71BC-30DD-D906-2EDD1E6E45CD}"/>
          </ac:picMkLst>
        </pc:picChg>
      </pc:sldChg>
      <pc:sldChg chg="del">
        <pc:chgData name="MADHU BABU REPALLI" userId="337d1a51e8d6a876" providerId="LiveId" clId="{23F7D730-FF31-433F-9D63-6BA0F5F646E3}" dt="2026-08-17T11:53:10.806" v="28" actId="47"/>
        <pc:sldMkLst>
          <pc:docMk/>
          <pc:sldMk cId="0" sldId="261"/>
        </pc:sldMkLst>
      </pc:sldChg>
      <pc:sldChg chg="del">
        <pc:chgData name="MADHU BABU REPALLI" userId="337d1a51e8d6a876" providerId="LiveId" clId="{23F7D730-FF31-433F-9D63-6BA0F5F646E3}" dt="2026-08-17T11:53:02.270" v="27" actId="47"/>
        <pc:sldMkLst>
          <pc:docMk/>
          <pc:sldMk cId="0" sldId="263"/>
        </pc:sldMkLst>
      </pc:sldChg>
      <pc:sldChg chg="modSp mod">
        <pc:chgData name="MADHU BABU REPALLI" userId="337d1a51e8d6a876" providerId="LiveId" clId="{23F7D730-FF31-433F-9D63-6BA0F5F646E3}" dt="2026-08-17T11:52:54.360" v="26" actId="20577"/>
        <pc:sldMkLst>
          <pc:docMk/>
          <pc:sldMk cId="0" sldId="264"/>
        </pc:sldMkLst>
        <pc:spChg chg="mod">
          <ac:chgData name="MADHU BABU REPALLI" userId="337d1a51e8d6a876" providerId="LiveId" clId="{23F7D730-FF31-433F-9D63-6BA0F5F646E3}" dt="2026-08-17T11:52:54.360" v="26" actId="20577"/>
          <ac:spMkLst>
            <pc:docMk/>
            <pc:sldMk cId="0" sldId="264"/>
            <ac:spMk id="7" creationId="{00000000-0000-0000-0000-000000000000}"/>
          </ac:spMkLst>
        </pc:spChg>
      </pc:sldChg>
      <pc:sldChg chg="addSp modSp new mod">
        <pc:chgData name="MADHU BABU REPALLI" userId="337d1a51e8d6a876" providerId="LiveId" clId="{23F7D730-FF31-433F-9D63-6BA0F5F646E3}" dt="2026-08-17T11:54:10.858" v="36" actId="931"/>
        <pc:sldMkLst>
          <pc:docMk/>
          <pc:sldMk cId="325905805" sldId="266"/>
        </pc:sldMkLst>
        <pc:picChg chg="add mod">
          <ac:chgData name="MADHU BABU REPALLI" userId="337d1a51e8d6a876" providerId="LiveId" clId="{23F7D730-FF31-433F-9D63-6BA0F5F646E3}" dt="2026-08-17T11:54:10.858" v="36" actId="931"/>
          <ac:picMkLst>
            <pc:docMk/>
            <pc:sldMk cId="325905805" sldId="266"/>
            <ac:picMk id="3" creationId="{9972590A-5132-42A8-D497-5F7086E9BC4F}"/>
          </ac:picMkLst>
        </pc:picChg>
      </pc:sldChg>
      <pc:sldChg chg="addSp modSp new mod">
        <pc:chgData name="MADHU BABU REPALLI" userId="337d1a51e8d6a876" providerId="LiveId" clId="{23F7D730-FF31-433F-9D63-6BA0F5F646E3}" dt="2026-08-17T11:54:03.388" v="35" actId="931"/>
        <pc:sldMkLst>
          <pc:docMk/>
          <pc:sldMk cId="1411956998" sldId="267"/>
        </pc:sldMkLst>
        <pc:picChg chg="add mod">
          <ac:chgData name="MADHU BABU REPALLI" userId="337d1a51e8d6a876" providerId="LiveId" clId="{23F7D730-FF31-433F-9D63-6BA0F5F646E3}" dt="2026-08-17T11:54:03.388" v="35" actId="931"/>
          <ac:picMkLst>
            <pc:docMk/>
            <pc:sldMk cId="1411956998" sldId="267"/>
            <ac:picMk id="3" creationId="{762C3F0C-879E-AC16-DC12-0F087DF03D92}"/>
          </ac:picMkLst>
        </pc:picChg>
      </pc:sldChg>
      <pc:sldChg chg="addSp modSp new mod">
        <pc:chgData name="MADHU BABU REPALLI" userId="337d1a51e8d6a876" providerId="LiveId" clId="{23F7D730-FF31-433F-9D63-6BA0F5F646E3}" dt="2026-08-17T11:53:52.160" v="34" actId="931"/>
        <pc:sldMkLst>
          <pc:docMk/>
          <pc:sldMk cId="1011272000" sldId="268"/>
        </pc:sldMkLst>
        <pc:picChg chg="add mod">
          <ac:chgData name="MADHU BABU REPALLI" userId="337d1a51e8d6a876" providerId="LiveId" clId="{23F7D730-FF31-433F-9D63-6BA0F5F646E3}" dt="2026-08-17T11:53:52.160" v="34" actId="931"/>
          <ac:picMkLst>
            <pc:docMk/>
            <pc:sldMk cId="1011272000" sldId="268"/>
            <ac:picMk id="3" creationId="{6448B11D-6B46-F038-9AA3-A1ADDACDAD93}"/>
          </ac:picMkLst>
        </pc:picChg>
      </pc:sldChg>
      <pc:sldChg chg="addSp modSp new mod">
        <pc:chgData name="MADHU BABU REPALLI" userId="337d1a51e8d6a876" providerId="LiveId" clId="{23F7D730-FF31-433F-9D63-6BA0F5F646E3}" dt="2026-08-17T11:53:44.223" v="33" actId="931"/>
        <pc:sldMkLst>
          <pc:docMk/>
          <pc:sldMk cId="3171322447" sldId="269"/>
        </pc:sldMkLst>
        <pc:picChg chg="add mod">
          <ac:chgData name="MADHU BABU REPALLI" userId="337d1a51e8d6a876" providerId="LiveId" clId="{23F7D730-FF31-433F-9D63-6BA0F5F646E3}" dt="2026-08-17T11:53:44.223" v="33" actId="931"/>
          <ac:picMkLst>
            <pc:docMk/>
            <pc:sldMk cId="3171322447" sldId="269"/>
            <ac:picMk id="3" creationId="{6134768B-8970-8DCE-7169-94A0C15C82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38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F7C82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E08E2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Ticket Analytics — Milestone 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 Preparation  •  Documentation &amp; Presentation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Internship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1463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18470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1–3 summary and where Module 6 left off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24231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Dashboard &amp; Report Prep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8072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 and dashboard design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33832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7673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and interactivity plan (Power BI / Streamlit)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43434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Documentation &amp; Presentation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7274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slides, and GitHub packaging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303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54480" y="53035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 Checklist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56875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at the end of Week 8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Left 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1–6 recap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9385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ticket data cleaned and structured for analysis using SQL and Excel.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92240" y="19385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395728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patterns explored across the ticket dataset in Python.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4178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Categorization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636008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grouped by similarity to surface frequent issue categories.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4178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Category Insights (Module 6)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4636008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Region-level views added; the dataset has no native location fields, so region/lat-long used here is simulated for illustration.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Report Preparation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visual insights from Modules 1–6 into one interactive dashboard, organized around four performance KPIs.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5840" y="2999232"/>
            <a:ext cx="411480" cy="73152"/>
          </a:xfrm>
          <a:prstGeom prst="rect">
            <a:avLst/>
          </a:prstGeom>
          <a:solidFill>
            <a:srgbClr val="E0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31272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Resolution Time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tickets are resolved, tracked over time and by category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7432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37960" y="2999232"/>
            <a:ext cx="411480" cy="73152"/>
          </a:xfrm>
          <a:prstGeom prst="rect">
            <a:avLst/>
          </a:prstGeom>
          <a:solidFill>
            <a:srgbClr val="E0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37960" y="31272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Categories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36118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view of the ticket categories driving the highest volume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7548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005840" y="5010912"/>
            <a:ext cx="411480" cy="73152"/>
          </a:xfrm>
          <a:prstGeom prst="rect">
            <a:avLst/>
          </a:prstGeom>
          <a:solidFill>
            <a:srgbClr val="E0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05840" y="51389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Similarity Index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56235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tightly tickets group within each cluster from the similarity model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47548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537960" y="5010912"/>
            <a:ext cx="411480" cy="73152"/>
          </a:xfrm>
          <a:prstGeom prst="rect">
            <a:avLst/>
          </a:prstGeom>
          <a:solidFill>
            <a:srgbClr val="E0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37960" y="51389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Regions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56235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with the strongest resolution outcomes (simulated region data)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— fill with live Power BI visuals during build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25712" y="2194560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5572B75-71BC-30DD-D906-2EDD1E6E4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15" y="1234440"/>
            <a:ext cx="8567225" cy="48126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D7F4E8-6A3E-5973-30A7-4224FA170541}"/>
              </a:ext>
            </a:extLst>
          </p:cNvPr>
          <p:cNvSpPr txBox="1"/>
          <p:nvPr/>
        </p:nvSpPr>
        <p:spPr>
          <a:xfrm>
            <a:off x="1125416" y="6179735"/>
            <a:ext cx="8567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dashboard gives a real-time view of key metrics. Stakeholders can filter by country, priority or cluster to monitor performance and take quick decisions.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34768B-8970-8DCE-7169-94A0C15C8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40" y="628408"/>
            <a:ext cx="9690935" cy="43555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84BB73-93FF-DDDC-DB9F-E584A85F1511}"/>
              </a:ext>
            </a:extLst>
          </p:cNvPr>
          <p:cNvSpPr txBox="1"/>
          <p:nvPr/>
        </p:nvSpPr>
        <p:spPr>
          <a:xfrm>
            <a:off x="1131140" y="5144756"/>
            <a:ext cx="9620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Ticket volume spikes in Q2 and Q4. This correlates with product releases. Proactive support can be planned during these periods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32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48B11D-6B46-F038-9AA3-A1ADDACDA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47" y="658890"/>
            <a:ext cx="9998306" cy="43049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7D02F8-3FB9-A4DF-7946-EE9A381DC296}"/>
              </a:ext>
            </a:extLst>
          </p:cNvPr>
          <p:cNvSpPr txBox="1"/>
          <p:nvPr/>
        </p:nvSpPr>
        <p:spPr>
          <a:xfrm>
            <a:off x="1096847" y="5174901"/>
            <a:ext cx="9998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Clustering helps us find recurring technical issues. High frequency clusters with low performance are ideal candidates for automation and SOP creation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1272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2C3F0C-879E-AC16-DC12-0F087DF03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56" y="636028"/>
            <a:ext cx="10113303" cy="44283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6B637A-0DF6-5B58-F02C-8FC5C12F6D16}"/>
              </a:ext>
            </a:extLst>
          </p:cNvPr>
          <p:cNvSpPr txBox="1"/>
          <p:nvPr/>
        </p:nvSpPr>
        <p:spPr>
          <a:xfrm>
            <a:off x="1014884" y="5335675"/>
            <a:ext cx="10199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Geographic analysis shows where support demand is concentrated. This helps in resource planning and creating region-specific knowledge bases.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195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2590A-5132-42A8-D497-5F7086E9B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28" y="370623"/>
            <a:ext cx="10747394" cy="45430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70CA2A-FD03-F27A-0D75-85D2145054DB}"/>
              </a:ext>
            </a:extLst>
          </p:cNvPr>
          <p:cNvSpPr txBox="1"/>
          <p:nvPr/>
        </p:nvSpPr>
        <p:spPr>
          <a:xfrm>
            <a:off x="472273" y="5064369"/>
            <a:ext cx="1074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analysis compares resolution efficiency across different groups. It helps us find performance gaps and teams or priorities that are taking longer than average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05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Presentation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six modules of work into a report, a slide deck, and a clean GitHub repo.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0F7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project report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methodology, KPIs, and findings into a PDF / README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3108960"/>
            <a:ext cx="502920" cy="502920"/>
          </a:xfrm>
          <a:prstGeom prst="ellipse">
            <a:avLst/>
          </a:prstGeom>
          <a:solidFill>
            <a:srgbClr val="0F7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34340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4340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presentation slides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43400" y="4206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and recommendations for stakeholders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3108960"/>
            <a:ext cx="502920" cy="502920"/>
          </a:xfrm>
          <a:prstGeom prst="ellipse">
            <a:avLst/>
          </a:prstGeom>
          <a:solidFill>
            <a:srgbClr val="0F7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9552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GitHub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55280" y="4206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visuals, and report organized in the repo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checkpoint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048256"/>
            <a:ext cx="438912" cy="438912"/>
          </a:xfrm>
          <a:prstGeom prst="ellipse">
            <a:avLst/>
          </a:prstGeom>
          <a:solidFill>
            <a:srgbClr val="0F7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048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(Power BI) with all four KPIs live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3081528"/>
            <a:ext cx="438912" cy="438912"/>
          </a:xfrm>
          <a:prstGeom prst="ellipse">
            <a:avLst/>
          </a:prstGeom>
          <a:solidFill>
            <a:srgbClr val="0F7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862072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project documentation (PDF / README)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95344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438912" cy="438912"/>
          </a:xfrm>
          <a:prstGeom prst="ellipse">
            <a:avLst/>
          </a:prstGeom>
          <a:solidFill>
            <a:srgbClr val="0F7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895344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slides highlighting insights &amp; recommendations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2960" y="5148072"/>
            <a:ext cx="438912" cy="438912"/>
          </a:xfrm>
          <a:prstGeom prst="ellipse">
            <a:avLst/>
          </a:prstGeom>
          <a:solidFill>
            <a:srgbClr val="0F7C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5148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928616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visuals, and report uploaded to GitHub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F7C82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 — Infosys Internship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499</Words>
  <Application>Microsoft Office PowerPoint</Application>
  <PresentationFormat>Widescreen</PresentationFormat>
  <Paragraphs>82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MADHU BABU REPALLI</cp:lastModifiedBy>
  <cp:revision>4</cp:revision>
  <dcterms:created xsi:type="dcterms:W3CDTF">2026-08-17T11:42:44Z</dcterms:created>
  <dcterms:modified xsi:type="dcterms:W3CDTF">2026-08-17T13:43:53Z</dcterms:modified>
</cp:coreProperties>
</file>