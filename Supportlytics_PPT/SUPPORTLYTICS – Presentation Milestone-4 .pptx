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" Type="http://schemas.openxmlformats.org/officeDocument/2006/relationships/image" Target="../media/image1.png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png"/><Relationship Id="rId18" Type="http://schemas.openxmlformats.org/officeDocument/2006/relationships/image" Target="../media/image48.png"/><Relationship Id="rId3" Type="http://schemas.openxmlformats.org/officeDocument/2006/relationships/image" Target="../media/image33.png"/><Relationship Id="rId21" Type="http://schemas.openxmlformats.org/officeDocument/2006/relationships/image" Target="../media/image51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17" Type="http://schemas.openxmlformats.org/officeDocument/2006/relationships/image" Target="../media/image47.png"/><Relationship Id="rId2" Type="http://schemas.openxmlformats.org/officeDocument/2006/relationships/image" Target="../media/image1.png"/><Relationship Id="rId16" Type="http://schemas.openxmlformats.org/officeDocument/2006/relationships/image" Target="../media/image46.png"/><Relationship Id="rId20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24" Type="http://schemas.openxmlformats.org/officeDocument/2006/relationships/image" Target="../media/image54.png"/><Relationship Id="rId5" Type="http://schemas.openxmlformats.org/officeDocument/2006/relationships/image" Target="../media/image35.png"/><Relationship Id="rId15" Type="http://schemas.openxmlformats.org/officeDocument/2006/relationships/image" Target="../media/image45.png"/><Relationship Id="rId23" Type="http://schemas.openxmlformats.org/officeDocument/2006/relationships/image" Target="../media/image53.png"/><Relationship Id="rId10" Type="http://schemas.openxmlformats.org/officeDocument/2006/relationships/image" Target="../media/image40.png"/><Relationship Id="rId19" Type="http://schemas.openxmlformats.org/officeDocument/2006/relationships/image" Target="../media/image49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Relationship Id="rId14" Type="http://schemas.openxmlformats.org/officeDocument/2006/relationships/image" Target="../media/image44.png"/><Relationship Id="rId22" Type="http://schemas.openxmlformats.org/officeDocument/2006/relationships/image" Target="../media/image5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10" Type="http://schemas.openxmlformats.org/officeDocument/2006/relationships/image" Target="../media/image69.png"/><Relationship Id="rId4" Type="http://schemas.openxmlformats.org/officeDocument/2006/relationships/image" Target="../media/image63.png"/><Relationship Id="rId9" Type="http://schemas.openxmlformats.org/officeDocument/2006/relationships/image" Target="../media/image6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10" Type="http://schemas.openxmlformats.org/officeDocument/2006/relationships/image" Target="../media/image77.png"/><Relationship Id="rId4" Type="http://schemas.openxmlformats.org/officeDocument/2006/relationships/image" Target="../media/image71.png"/><Relationship Id="rId9" Type="http://schemas.openxmlformats.org/officeDocument/2006/relationships/image" Target="../media/image7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3" Type="http://schemas.openxmlformats.org/officeDocument/2006/relationships/image" Target="../media/image62.png"/><Relationship Id="rId7" Type="http://schemas.openxmlformats.org/officeDocument/2006/relationships/image" Target="../media/image7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10" Type="http://schemas.openxmlformats.org/officeDocument/2006/relationships/image" Target="../media/image81.png"/><Relationship Id="rId4" Type="http://schemas.openxmlformats.org/officeDocument/2006/relationships/image" Target="../media/image63.png"/><Relationship Id="rId9" Type="http://schemas.openxmlformats.org/officeDocument/2006/relationships/image" Target="../media/image8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image" Target="../media/image82.png"/><Relationship Id="rId7" Type="http://schemas.openxmlformats.org/officeDocument/2006/relationships/image" Target="../media/image8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13" Type="http://schemas.openxmlformats.org/officeDocument/2006/relationships/image" Target="../media/image98.png"/><Relationship Id="rId3" Type="http://schemas.openxmlformats.org/officeDocument/2006/relationships/image" Target="../media/image88.png"/><Relationship Id="rId7" Type="http://schemas.openxmlformats.org/officeDocument/2006/relationships/image" Target="../media/image92.png"/><Relationship Id="rId12" Type="http://schemas.openxmlformats.org/officeDocument/2006/relationships/image" Target="../media/image9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1.png"/><Relationship Id="rId11" Type="http://schemas.openxmlformats.org/officeDocument/2006/relationships/image" Target="../media/image96.png"/><Relationship Id="rId5" Type="http://schemas.openxmlformats.org/officeDocument/2006/relationships/image" Target="../media/image90.png"/><Relationship Id="rId10" Type="http://schemas.openxmlformats.org/officeDocument/2006/relationships/image" Target="../media/image95.png"/><Relationship Id="rId4" Type="http://schemas.openxmlformats.org/officeDocument/2006/relationships/image" Target="../media/image89.png"/><Relationship Id="rId9" Type="http://schemas.openxmlformats.org/officeDocument/2006/relationships/image" Target="../media/image9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6477000"/>
            <a:ext cx="11353800" cy="2286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5" y="4860577"/>
            <a:ext cx="6191250" cy="3524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0375" y="4117627"/>
            <a:ext cx="3019425" cy="5143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4117627"/>
            <a:ext cx="3019425" cy="5143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46816" y="2159347"/>
            <a:ext cx="4498218" cy="586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sz="4200" b="1" i="0" u="none">
                <a:solidFill>
                  <a:srgbClr val="0F172A"/>
                </a:solidFill>
                <a:latin typeface="Times New Roman"/>
              </a:rPr>
              <a:t>SUPPORTLYTICS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60570" y="2822227"/>
            <a:ext cx="6870858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2563EB"/>
                </a:solidFill>
                <a:latin typeface="Times New Roman"/>
              </a:rPr>
              <a:t>IT SUPPORT ANALYTICS &amp; PERFORMANCE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76500" y="3298477"/>
            <a:ext cx="72390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Enterprise Business Intelligence Dashboard built with Microsoft Power BI for Monitoring Ticket Workload, Resolution Speeds, SLA Compliance &amp; Similarity Patterns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9100" y="6562725"/>
            <a:ext cx="3434357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Times New Roman SemiBold"/>
              </a:rPr>
              <a:t>SUPPORTLYTICS | IT Support Analytics &amp; Performance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326" y="6562725"/>
            <a:ext cx="587573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Times New Roman SemiBold"/>
              </a:rPr>
              <a:t>Slide 01 / 10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32820" y="1711672"/>
            <a:ext cx="152400" cy="152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461420" y="1711672"/>
            <a:ext cx="3497609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284C7"/>
                </a:solidFill>
                <a:latin typeface="Times New Roman"/>
              </a:rPr>
              <a:t>MILESTONE 4 — WEEK 7–8 | INTERNSHIP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56620" y="5060602"/>
            <a:ext cx="1287660" cy="152400"/>
          </a:xfrm>
          <a:prstGeom prst="rect">
            <a:avLst/>
          </a:prstGeom>
          <a:noFill/>
        </p:spPr>
        <p:txBody>
          <a:bodyPr wrap="square" lIns="13335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475569"/>
                </a:solidFill>
                <a:latin typeface="Times New Roman SemiBold"/>
              </a:rPr>
              <a:t>Microsoft Power BI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96681" y="5060602"/>
            <a:ext cx="46732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475569"/>
                </a:solidFill>
                <a:latin typeface="Times New Roman SemiBold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95813" y="5060602"/>
            <a:ext cx="957708" cy="1524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475569"/>
                </a:solidFill>
                <a:latin typeface="Times New Roman SemiBold"/>
              </a:rPr>
              <a:t>10,000 Tickets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5922" y="5060602"/>
            <a:ext cx="46732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475569"/>
                </a:solidFill>
                <a:latin typeface="Times New Roman SemiBold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5054" y="5060602"/>
            <a:ext cx="930324" cy="152400"/>
          </a:xfrm>
          <a:prstGeom prst="rect">
            <a:avLst/>
          </a:prstGeom>
          <a:noFill/>
        </p:spPr>
        <p:txBody>
          <a:bodyPr wrap="square" lIns="15240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475569"/>
                </a:solidFill>
                <a:latin typeface="Times New Roman SemiBold"/>
              </a:rPr>
              <a:t>38 Attributes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2775" y="4241452"/>
            <a:ext cx="274320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Times New Roman"/>
              </a:rPr>
              <a:t>MODULE 7 DELIVERABLE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2775" y="4355752"/>
            <a:ext cx="27432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Times New Roman"/>
              </a:rPr>
              <a:t>Dashboard / Report Preparation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4600" y="4241452"/>
            <a:ext cx="274320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Times New Roman"/>
              </a:rPr>
              <a:t>MODULE 8 DELIVERABLE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4600" y="4355752"/>
            <a:ext cx="27432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Times New Roman"/>
              </a:rPr>
              <a:t>Documentation &amp; Presentation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56620" y="5060602"/>
            <a:ext cx="133350" cy="1333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95813" y="5060602"/>
            <a:ext cx="114300" cy="1333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05054" y="5060602"/>
            <a:ext cx="152400" cy="13335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E13737BE-4EBB-7028-DEE3-6DB0435C8356}"/>
              </a:ext>
            </a:extLst>
          </p:cNvPr>
          <p:cNvSpPr txBox="1"/>
          <p:nvPr/>
        </p:nvSpPr>
        <p:spPr>
          <a:xfrm>
            <a:off x="3606125" y="5473184"/>
            <a:ext cx="42326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/>
              <a:t>            Presented By : </a:t>
            </a:r>
            <a:r>
              <a:rPr lang="en-IN" sz="2000" b="1" dirty="0"/>
              <a:t>Ayush Gupta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6477000"/>
            <a:ext cx="11353800" cy="2286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6115050"/>
            <a:ext cx="11353800" cy="4000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" y="1500187"/>
            <a:ext cx="5600700" cy="215503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1500187"/>
            <a:ext cx="5600700" cy="215503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00" y="3807618"/>
            <a:ext cx="5600700" cy="2155031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3807618"/>
            <a:ext cx="5600700" cy="215503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9100" y="342900"/>
            <a:ext cx="117729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0F172A"/>
                </a:solidFill>
                <a:latin typeface="Times New Roman"/>
              </a:rPr>
              <a:t>Project Objective &amp; Business Need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19100" y="762000"/>
            <a:ext cx="11353800" cy="190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9100" y="819150"/>
            <a:ext cx="40322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2563EB"/>
                </a:solidFill>
                <a:latin typeface="Times New Roman"/>
              </a:rPr>
              <a:t>STRATEGIC OBJECTIVES &amp; ANALYTICAL WORKFLOW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9100" y="1133475"/>
            <a:ext cx="1135380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334155"/>
                </a:solidFill>
                <a:latin typeface="Times New Roman"/>
              </a:rPr>
              <a:t>Supportlytics provides interactive business intelligence to evaluate IT support ticket operations, identify resolution bottlenecks, track SLA compliance risk, and deliver actionable insights.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9100" y="6562725"/>
            <a:ext cx="2726233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Times New Roman SemiBold"/>
              </a:rPr>
              <a:t>SUPPORTLYTICS | Project Objective &amp; Business Need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326" y="6562725"/>
            <a:ext cx="587573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Times New Roman SemiBold"/>
              </a:rPr>
              <a:t>Slide 02 / 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675" y="6238875"/>
            <a:ext cx="910381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Times New Roman"/>
              </a:rPr>
              <a:t>Support Tickets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90018" y="6248400"/>
            <a:ext cx="85725" cy="1333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155305" y="6238875"/>
            <a:ext cx="781794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Times New Roman"/>
              </a:rPr>
              <a:t>Data Analysis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8060" y="6248400"/>
            <a:ext cx="85725" cy="1333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353347" y="6238875"/>
            <a:ext cx="1197917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Times New Roman"/>
              </a:rPr>
              <a:t>Power BI Dashboard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02226" y="6248400"/>
            <a:ext cx="85725" cy="1333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929413" y="6238875"/>
            <a:ext cx="1174551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Times New Roman"/>
              </a:rPr>
              <a:t>Operational Insights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54926" y="6248400"/>
            <a:ext cx="85725" cy="1333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520213" y="6238875"/>
            <a:ext cx="1051917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Times New Roman"/>
              </a:rPr>
              <a:t>Recommendations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1975" y="2069603"/>
            <a:ext cx="5580697" cy="171450"/>
          </a:xfrm>
          <a:prstGeom prst="rect">
            <a:avLst/>
          </a:prstGeom>
          <a:noFill/>
        </p:spPr>
        <p:txBody>
          <a:bodyPr wrap="square" lIns="15240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563EB"/>
                </a:solidFill>
                <a:latin typeface="Times New Roman"/>
              </a:rPr>
              <a:t>1. Ticket Workload &amp; Categories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15075" y="2069603"/>
            <a:ext cx="5580697" cy="171450"/>
          </a:xfrm>
          <a:prstGeom prst="rect">
            <a:avLst/>
          </a:prstGeom>
          <a:noFill/>
        </p:spPr>
        <p:txBody>
          <a:bodyPr wrap="square" lIns="15240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563EB"/>
                </a:solidFill>
                <a:latin typeface="Times New Roman"/>
              </a:rPr>
              <a:t>2. Performance &amp; SLA Tracking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1975" y="4377035"/>
            <a:ext cx="5580697" cy="171450"/>
          </a:xfrm>
          <a:prstGeom prst="rect">
            <a:avLst/>
          </a:prstGeom>
          <a:noFill/>
        </p:spPr>
        <p:txBody>
          <a:bodyPr wrap="square" lIns="17145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563EB"/>
                </a:solidFill>
                <a:latin typeface="Times New Roman"/>
              </a:rPr>
              <a:t>3. NLP Clusters &amp; Similarity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15075" y="4377035"/>
            <a:ext cx="5580697" cy="171450"/>
          </a:xfrm>
          <a:prstGeom prst="rect">
            <a:avLst/>
          </a:prstGeom>
          <a:noFill/>
        </p:spPr>
        <p:txBody>
          <a:bodyPr wrap="square" lIns="15240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563EB"/>
                </a:solidFill>
                <a:latin typeface="Times New Roman"/>
              </a:rPr>
              <a:t>4. Geographic Benchmarking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9125" y="6238875"/>
            <a:ext cx="133350" cy="1524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26705" y="6238875"/>
            <a:ext cx="152400" cy="1524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24747" y="6238875"/>
            <a:ext cx="152400" cy="1524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38913" y="6238875"/>
            <a:ext cx="114300" cy="1524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291613" y="6238875"/>
            <a:ext cx="152400" cy="1524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61975" y="2069603"/>
            <a:ext cx="152400" cy="1524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52475" y="2317253"/>
            <a:ext cx="5124450" cy="179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sz="1012" b="0" i="0" u="none">
                <a:solidFill>
                  <a:srgbClr val="334155"/>
                </a:solidFill>
                <a:latin typeface="Times New Roman"/>
              </a:rPr>
              <a:t>Categorize support demand across Incident, Request, and Problem ticket types.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2475" y="2573387"/>
            <a:ext cx="5124450" cy="179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sz="1012" b="0" i="0" u="none">
                <a:solidFill>
                  <a:srgbClr val="334155"/>
                </a:solidFill>
                <a:latin typeface="Times New Roman"/>
              </a:rPr>
              <a:t>Identify high-volume issue categories (Security, Hardware, Software).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2475" y="2829520"/>
            <a:ext cx="5124450" cy="179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sz="1012" b="0" i="0" u="none">
                <a:solidFill>
                  <a:srgbClr val="334155"/>
                </a:solidFill>
                <a:latin typeface="Times New Roman"/>
              </a:rPr>
              <a:t>Analyze queue distribution across Finance, IT, and HR departments.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15075" y="2069603"/>
            <a:ext cx="152400" cy="1524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505575" y="2317253"/>
            <a:ext cx="5124450" cy="179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sz="1012" b="0" i="0" u="none">
                <a:solidFill>
                  <a:srgbClr val="334155"/>
                </a:solidFill>
                <a:latin typeface="Times New Roman"/>
              </a:rPr>
              <a:t>Measure resolution speed across priority levels (Critical to Low).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05575" y="2573387"/>
            <a:ext cx="5124450" cy="179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sz="1012" b="0" i="0" u="none">
                <a:solidFill>
                  <a:srgbClr val="334155"/>
                </a:solidFill>
                <a:latin typeface="Times New Roman"/>
              </a:rPr>
              <a:t>Audit SLA compliance rates (Met vs Breached) across operational teams.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05575" y="2829520"/>
            <a:ext cx="5124450" cy="179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sz="1012" b="0" i="0" u="none">
                <a:solidFill>
                  <a:srgbClr val="334155"/>
                </a:solidFill>
                <a:latin typeface="Times New Roman"/>
              </a:rPr>
              <a:t>Monitor unresolved ticket backlog to prevent operational escalations.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61975" y="4377035"/>
            <a:ext cx="171450" cy="1524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752475" y="4624685"/>
            <a:ext cx="5124450" cy="179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sz="1012" b="0" i="0" u="none">
                <a:solidFill>
                  <a:srgbClr val="334155"/>
                </a:solidFill>
                <a:latin typeface="Times New Roman"/>
              </a:rPr>
              <a:t>Group related support tickets using NLP text clustering.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2475" y="4880818"/>
            <a:ext cx="5124450" cy="179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sz="1012" b="0" i="0" u="none">
                <a:solidFill>
                  <a:srgbClr val="334155"/>
                </a:solidFill>
                <a:latin typeface="Times New Roman"/>
              </a:rPr>
              <a:t>Evaluate cluster similarity scores against customer satisfaction.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2475" y="5136951"/>
            <a:ext cx="5124450" cy="179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sz="1012" b="0" i="0" u="none">
                <a:solidFill>
                  <a:srgbClr val="334155"/>
                </a:solidFill>
                <a:latin typeface="Times New Roman"/>
              </a:rPr>
              <a:t>Uncover recurring root-cause patterns (Network, Software, Login).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15075" y="4377035"/>
            <a:ext cx="152400" cy="15240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505575" y="4624685"/>
            <a:ext cx="5124450" cy="179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sz="1012" b="0" i="0" u="none">
                <a:solidFill>
                  <a:srgbClr val="334155"/>
                </a:solidFill>
                <a:latin typeface="Times New Roman"/>
              </a:rPr>
              <a:t>Benchmark support team speeds across global units.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05575" y="4880818"/>
            <a:ext cx="5124450" cy="179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sz="1012" b="0" i="0" u="none">
                <a:solidFill>
                  <a:srgbClr val="334155"/>
                </a:solidFill>
                <a:latin typeface="Times New Roman"/>
              </a:rPr>
              <a:t>Analyze ticket concentration across North America, EMEA, and APAC.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05575" y="5136951"/>
            <a:ext cx="5124450" cy="179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sz="1012" b="0" i="0" u="none">
                <a:solidFill>
                  <a:srgbClr val="334155"/>
                </a:solidFill>
                <a:latin typeface="Times New Roman"/>
              </a:rPr>
              <a:t>Enable interactive multi-dimensional slicing in Power BI.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0075" y="2298203"/>
            <a:ext cx="571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2563EB"/>
                </a:solidFill>
                <a:latin typeface="Times New Roman"/>
              </a:rPr>
              <a:t>•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0075" y="2554337"/>
            <a:ext cx="571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2563EB"/>
                </a:solidFill>
                <a:latin typeface="Times New Roman"/>
              </a:rPr>
              <a:t>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0075" y="2810470"/>
            <a:ext cx="571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2563EB"/>
                </a:solidFill>
                <a:latin typeface="Times New Roman"/>
              </a:rPr>
              <a:t>•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53175" y="2298203"/>
            <a:ext cx="571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2563EB"/>
                </a:solidFill>
                <a:latin typeface="Times New Roman"/>
              </a:rPr>
              <a:t>•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53175" y="2554337"/>
            <a:ext cx="571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2563EB"/>
                </a:solidFill>
                <a:latin typeface="Times New Roman"/>
              </a:rPr>
              <a:t>•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53175" y="2810470"/>
            <a:ext cx="571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2563EB"/>
                </a:solidFill>
                <a:latin typeface="Times New Roman"/>
              </a:rPr>
              <a:t>•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0075" y="4605635"/>
            <a:ext cx="571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2563EB"/>
                </a:solidFill>
                <a:latin typeface="Times New Roman"/>
              </a:rPr>
              <a:t>•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00075" y="4861768"/>
            <a:ext cx="571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2563EB"/>
                </a:solidFill>
                <a:latin typeface="Times New Roman"/>
              </a:rPr>
              <a:t>•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0075" y="5117901"/>
            <a:ext cx="571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2563EB"/>
                </a:solidFill>
                <a:latin typeface="Times New Roman"/>
              </a:rPr>
              <a:t>•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53175" y="4605635"/>
            <a:ext cx="571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2563EB"/>
                </a:solidFill>
                <a:latin typeface="Times New Roman"/>
              </a:rPr>
              <a:t>•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53175" y="4861768"/>
            <a:ext cx="571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2563EB"/>
                </a:solidFill>
                <a:latin typeface="Times New Roman"/>
              </a:rPr>
              <a:t>•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53175" y="5117901"/>
            <a:ext cx="571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2563EB"/>
                </a:solidFill>
                <a:latin typeface="Times New Roman"/>
              </a:rPr>
              <a:t>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6477000"/>
            <a:ext cx="11353800" cy="2286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1133475"/>
            <a:ext cx="1796950" cy="8382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0350" y="1133475"/>
            <a:ext cx="1797099" cy="838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1750" y="1133475"/>
            <a:ext cx="1797099" cy="838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150" y="1133475"/>
            <a:ext cx="1796950" cy="838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4400" y="1133475"/>
            <a:ext cx="1797099" cy="838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75800" y="1133475"/>
            <a:ext cx="1797099" cy="838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8900" y="2105025"/>
            <a:ext cx="5334000" cy="29527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9100" y="2105025"/>
            <a:ext cx="5867400" cy="1833116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9100" y="4033391"/>
            <a:ext cx="5867400" cy="131132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19100" y="342900"/>
            <a:ext cx="117729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0F172A"/>
                </a:solidFill>
                <a:latin typeface="Times New Roman"/>
              </a:rPr>
              <a:t>Dataset &amp; Analytical Foundation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9100" y="762000"/>
            <a:ext cx="11353800" cy="190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9100" y="819150"/>
            <a:ext cx="478021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2563EB"/>
                </a:solidFill>
                <a:latin typeface="Times New Roman"/>
              </a:rPr>
              <a:t>VERIFIED DATASET PROFILE &amp; DATA PIPELINE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9100" y="6562725"/>
            <a:ext cx="2636787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Times New Roman SemiBold"/>
              </a:rPr>
              <a:t>SUPPORTLYTICS | Dataset &amp; Analytical Foundation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5326" y="6562725"/>
            <a:ext cx="587573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Times New Roman SemiBold"/>
              </a:rPr>
              <a:t>Slide 03 / 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1975" y="1266825"/>
            <a:ext cx="15112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475569"/>
                </a:solidFill>
                <a:latin typeface="Times New Roman SemiBold"/>
              </a:rPr>
              <a:t>DATASET SIZE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1975" y="1428750"/>
            <a:ext cx="15112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2563EB"/>
                </a:solidFill>
                <a:latin typeface="Times New Roman"/>
              </a:rPr>
              <a:t>10,000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028" y="1733550"/>
            <a:ext cx="660945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64748B"/>
                </a:solidFill>
                <a:latin typeface="Times New Roman"/>
              </a:rPr>
              <a:t>Support Tickets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73225" y="1266825"/>
            <a:ext cx="1511349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475569"/>
                </a:solidFill>
                <a:latin typeface="Times New Roman SemiBold"/>
              </a:rPr>
              <a:t>ATTRIBUTES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73225" y="1428750"/>
            <a:ext cx="1511349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0F172A"/>
                </a:solidFill>
                <a:latin typeface="Times New Roman"/>
              </a:rPr>
              <a:t>38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28627" y="1733550"/>
            <a:ext cx="800397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64748B"/>
                </a:solidFill>
                <a:latin typeface="Times New Roman"/>
              </a:rPr>
              <a:t>Columns Analyzed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4625" y="1266825"/>
            <a:ext cx="1511349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475569"/>
                </a:solidFill>
                <a:latin typeface="Times New Roman SemiBold"/>
              </a:rPr>
              <a:t>UNIQUE KEYS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4625" y="1428750"/>
            <a:ext cx="1511349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0F172A"/>
                </a:solidFill>
                <a:latin typeface="Times New Roman"/>
              </a:rPr>
              <a:t>10,000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06416" y="1733550"/>
            <a:ext cx="467766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64748B"/>
                </a:solidFill>
                <a:latin typeface="Times New Roman"/>
              </a:rPr>
              <a:t>Ticket_IDs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96025" y="1266825"/>
            <a:ext cx="15112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475569"/>
                </a:solidFill>
                <a:latin typeface="Times New Roman SemiBold"/>
              </a:rPr>
              <a:t>AVG RESOLUTION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96025" y="1428750"/>
            <a:ext cx="15112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2563EB"/>
                </a:solidFill>
                <a:latin typeface="Times New Roman"/>
              </a:rPr>
              <a:t>61.10 hrs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00837" y="1733550"/>
            <a:ext cx="701426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64748B"/>
                </a:solidFill>
                <a:latin typeface="Times New Roman"/>
              </a:rPr>
              <a:t>Across Priorities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07275" y="1266825"/>
            <a:ext cx="1511349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475569"/>
                </a:solidFill>
                <a:latin typeface="Times New Roman SemiBold"/>
              </a:rPr>
              <a:t>SLA RATE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07275" y="1428750"/>
            <a:ext cx="1511349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B91C1C"/>
                </a:solidFill>
                <a:latin typeface="Times New Roman"/>
              </a:rPr>
              <a:t>50.39%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77411" y="1733550"/>
            <a:ext cx="771078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64748B"/>
                </a:solidFill>
                <a:latin typeface="Times New Roman"/>
              </a:rPr>
              <a:t>Compliance Score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18675" y="1266825"/>
            <a:ext cx="1511349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475569"/>
                </a:solidFill>
                <a:latin typeface="Times New Roman SemiBold"/>
              </a:rPr>
              <a:t>AVG CSAT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18675" y="1428750"/>
            <a:ext cx="1511349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B45309"/>
                </a:solidFill>
                <a:latin typeface="Times New Roman"/>
              </a:rPr>
              <a:t>2.98 / 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74225" y="1733550"/>
            <a:ext cx="800248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64748B"/>
                </a:solidFill>
                <a:latin typeface="Times New Roman"/>
              </a:rPr>
              <a:t>Satisfaction Rating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05575" y="2171700"/>
            <a:ext cx="5200650" cy="28194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61975" y="2247900"/>
            <a:ext cx="5860732" cy="161925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Times New Roman"/>
              </a:rPr>
              <a:t>Verified Source &amp; Schema Profile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1975" y="2438400"/>
            <a:ext cx="55816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61975" y="4176266"/>
            <a:ext cx="5860732" cy="161925"/>
          </a:xfrm>
          <a:prstGeom prst="rect">
            <a:avLst/>
          </a:prstGeom>
          <a:noFill/>
        </p:spPr>
        <p:txBody>
          <a:bodyPr wrap="square" lIns="17145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Times New Roman"/>
              </a:rPr>
              <a:t>Power BI Data Modeling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1975" y="4366766"/>
            <a:ext cx="55816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1975" y="2247900"/>
            <a:ext cx="114300" cy="13335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752475" y="2505075"/>
            <a:ext cx="5391150" cy="1894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sz="1012" b="1" i="0" u="none">
                <a:solidFill>
                  <a:srgbClr val="334155"/>
                </a:solidFill>
                <a:latin typeface="Times New Roman"/>
              </a:rPr>
              <a:t>Source File:</a:t>
            </a:r>
            <a:r>
              <a:rPr sz="1012" b="0" i="0" u="none">
                <a:solidFill>
                  <a:srgbClr val="334155"/>
                </a:solidFill>
                <a:latin typeface="Times New Roman"/>
              </a:rPr>
              <a:t> Supportlytics_PowerBI_Data.xlsx (Sheet: Data).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2475" y="2770733"/>
            <a:ext cx="5391150" cy="179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sz="1012" b="1" i="0" u="none">
                <a:solidFill>
                  <a:srgbClr val="334155"/>
                </a:solidFill>
                <a:latin typeface="Times New Roman"/>
              </a:rPr>
              <a:t>Ticket Info:</a:t>
            </a:r>
            <a:r>
              <a:rPr sz="1012" b="0" i="0" u="none">
                <a:solidFill>
                  <a:srgbClr val="334155"/>
                </a:solidFill>
                <a:latin typeface="Times New Roman"/>
              </a:rPr>
              <a:t> Ticket ID, Created Date, Resolution Date, Ticket Type, Status.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2475" y="3026866"/>
            <a:ext cx="5391150" cy="179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sz="1012" b="1" i="0" u="none">
                <a:solidFill>
                  <a:srgbClr val="334155"/>
                </a:solidFill>
                <a:latin typeface="Times New Roman"/>
              </a:rPr>
              <a:t>Operations:</a:t>
            </a:r>
            <a:r>
              <a:rPr sz="1012" b="0" i="0" u="none">
                <a:solidFill>
                  <a:srgbClr val="334155"/>
                </a:solidFill>
                <a:latin typeface="Times New Roman"/>
              </a:rPr>
              <a:t> Priority, Category, Department Queue, Assigned Team &amp; Agent.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2475" y="3282999"/>
            <a:ext cx="5391150" cy="179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sz="1012" b="1" i="0" u="none">
                <a:solidFill>
                  <a:srgbClr val="334155"/>
                </a:solidFill>
                <a:latin typeface="Times New Roman"/>
              </a:rPr>
              <a:t>Geography:</a:t>
            </a:r>
            <a:r>
              <a:rPr sz="1012" b="0" i="0" u="none">
                <a:solidFill>
                  <a:srgbClr val="334155"/>
                </a:solidFill>
                <a:latin typeface="Times New Roman"/>
              </a:rPr>
              <a:t> Country (US, UK, IN, DE, CA), Region (NA, EMEA, APAC).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2475" y="3539132"/>
            <a:ext cx="5391150" cy="179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sz="1012" b="1" i="0" u="none">
                <a:solidFill>
                  <a:srgbClr val="334155"/>
                </a:solidFill>
                <a:latin typeface="Times New Roman"/>
              </a:rPr>
              <a:t>Analytics:</a:t>
            </a:r>
            <a:r>
              <a:rPr sz="1012" b="0" i="0" u="none">
                <a:solidFill>
                  <a:srgbClr val="334155"/>
                </a:solidFill>
                <a:latin typeface="Times New Roman"/>
              </a:rPr>
              <a:t> Resolution Duration, CSAT Score, SLA Status, Similarity Index.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1975" y="4176266"/>
            <a:ext cx="171450" cy="13335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752475" y="4433441"/>
            <a:ext cx="5391150" cy="179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sz="1012" b="1" i="0" u="none">
                <a:solidFill>
                  <a:srgbClr val="334155"/>
                </a:solidFill>
                <a:latin typeface="Times New Roman"/>
              </a:rPr>
              <a:t>Calendar Table:</a:t>
            </a:r>
            <a:r>
              <a:rPr sz="1012" b="0" i="0" u="none">
                <a:solidFill>
                  <a:srgbClr val="334155"/>
                </a:solidFill>
                <a:latin typeface="Times New Roman"/>
              </a:rPr>
              <a:t> Dedicated date dimension integrated for time-series analysis.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2475" y="4689574"/>
            <a:ext cx="5391150" cy="179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sz="1012" b="1" i="0" u="none">
                <a:solidFill>
                  <a:srgbClr val="334155"/>
                </a:solidFill>
                <a:latin typeface="Times New Roman"/>
              </a:rPr>
              <a:t>Geographic Mapping:</a:t>
            </a:r>
            <a:r>
              <a:rPr sz="1012" b="0" i="0" u="none">
                <a:solidFill>
                  <a:srgbClr val="334155"/>
                </a:solidFill>
                <a:latin typeface="Times New Roman"/>
              </a:rPr>
              <a:t> Latitude/Longitude dimensions mapped for spatial visuals.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2475" y="4945707"/>
            <a:ext cx="5391150" cy="179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sz="1012" b="1" i="0" u="none">
                <a:solidFill>
                  <a:srgbClr val="334155"/>
                </a:solidFill>
                <a:latin typeface="Times New Roman"/>
              </a:rPr>
              <a:t>Unresolved Backlog:</a:t>
            </a:r>
            <a:r>
              <a:rPr sz="1012" b="0" i="0" u="none">
                <a:solidFill>
                  <a:srgbClr val="334155"/>
                </a:solidFill>
                <a:latin typeface="Times New Roman"/>
              </a:rPr>
              <a:t> Dedicated DAX logic tracking open high-priority tickets.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0075" y="2486025"/>
            <a:ext cx="571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2563EB"/>
                </a:solidFill>
                <a:latin typeface="Times New Roman"/>
              </a:rPr>
              <a:t>•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0075" y="2751683"/>
            <a:ext cx="571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2563EB"/>
                </a:solidFill>
                <a:latin typeface="Times New Roman"/>
              </a:rPr>
              <a:t>•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0075" y="3007816"/>
            <a:ext cx="571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2563EB"/>
                </a:solidFill>
                <a:latin typeface="Times New Roman"/>
              </a:rPr>
              <a:t>•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0075" y="3263949"/>
            <a:ext cx="571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2563EB"/>
                </a:solidFill>
                <a:latin typeface="Times New Roman"/>
              </a:rPr>
              <a:t>•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0075" y="3520082"/>
            <a:ext cx="571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2563EB"/>
                </a:solidFill>
                <a:latin typeface="Times New Roman"/>
              </a:rPr>
              <a:t>•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00075" y="4414391"/>
            <a:ext cx="571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2563EB"/>
                </a:solidFill>
                <a:latin typeface="Times New Roman"/>
              </a:rPr>
              <a:t>•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0075" y="4670524"/>
            <a:ext cx="571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2563EB"/>
                </a:solidFill>
                <a:latin typeface="Times New Roman"/>
              </a:rPr>
              <a:t>•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0075" y="4926657"/>
            <a:ext cx="571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2563EB"/>
                </a:solidFill>
                <a:latin typeface="Times New Roman"/>
              </a:rPr>
              <a:t>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6477000"/>
            <a:ext cx="11353800" cy="2286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1133475"/>
            <a:ext cx="3695700" cy="26241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8150" y="1133475"/>
            <a:ext cx="3695700" cy="262413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7200" y="1133475"/>
            <a:ext cx="3695700" cy="262413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00" y="3890962"/>
            <a:ext cx="3695700" cy="2624137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48150" y="3890962"/>
            <a:ext cx="3695700" cy="2624137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77200" y="3890962"/>
            <a:ext cx="3695700" cy="2624137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3875" y="1879103"/>
            <a:ext cx="3486150" cy="1143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52925" y="1879103"/>
            <a:ext cx="3486150" cy="11430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81975" y="1879103"/>
            <a:ext cx="3486150" cy="11430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3875" y="4636591"/>
            <a:ext cx="3486150" cy="11430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52925" y="4636591"/>
            <a:ext cx="3486150" cy="11430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81975" y="4636591"/>
            <a:ext cx="3486150" cy="1143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19100" y="342900"/>
            <a:ext cx="117729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0F172A"/>
                </a:solidFill>
                <a:latin typeface="Times New Roman"/>
              </a:rPr>
              <a:t>Power BI Dashboard Architecture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9100" y="762000"/>
            <a:ext cx="11353800" cy="190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9100" y="819150"/>
            <a:ext cx="44734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2563EB"/>
                </a:solidFill>
                <a:latin typeface="Times New Roman"/>
              </a:rPr>
              <a:t>SIX-PAGE MODULAR BUSINESS INTELLIGENCE STRUCTURE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9100" y="6562725"/>
            <a:ext cx="269364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Times New Roman SemiBold"/>
              </a:rPr>
              <a:t>SUPPORTLYTICS | Power BI Dashboard Architecture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85326" y="6562725"/>
            <a:ext cx="587573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Times New Roman SemiBold"/>
              </a:rPr>
              <a:t>Slide 04 / 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875" y="1257300"/>
            <a:ext cx="3486150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Times New Roman"/>
              </a:rPr>
              <a:t>1. Executive Overview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875" y="3510557"/>
            <a:ext cx="3486150" cy="1422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21"/>
              </a:lnSpc>
            </a:pPr>
            <a:r>
              <a:rPr sz="862" b="0" i="0" u="none">
                <a:solidFill>
                  <a:srgbClr val="475569"/>
                </a:solidFill>
                <a:latin typeface="Times New Roman"/>
              </a:rPr>
              <a:t>Enterprise-level KPI summary and core support operations.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52925" y="1257300"/>
            <a:ext cx="3486150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Times New Roman"/>
              </a:rPr>
              <a:t>2. Ticket &amp; Category Analysis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52925" y="3510557"/>
            <a:ext cx="3486150" cy="1422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21"/>
              </a:lnSpc>
            </a:pPr>
            <a:r>
              <a:rPr sz="862" b="0" i="0" u="none">
                <a:solidFill>
                  <a:srgbClr val="475569"/>
                </a:solidFill>
                <a:latin typeface="Times New Roman"/>
              </a:rPr>
              <a:t>Workload and category patterns across enterprise departments.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1975" y="1257300"/>
            <a:ext cx="3486150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Times New Roman"/>
              </a:rPr>
              <a:t>3. Cluster &amp; Similarity Analysis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1975" y="3510557"/>
            <a:ext cx="3486150" cy="1422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21"/>
              </a:lnSpc>
            </a:pPr>
            <a:r>
              <a:rPr sz="862" b="0" i="0" u="none">
                <a:solidFill>
                  <a:srgbClr val="475569"/>
                </a:solidFill>
                <a:latin typeface="Times New Roman"/>
              </a:rPr>
              <a:t>Issue similarity, NLP cluster behavior, and SLA risk patterns.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3875" y="4014787"/>
            <a:ext cx="3486150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Times New Roman"/>
              </a:rPr>
              <a:t>4. Performance Analysis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875" y="6268045"/>
            <a:ext cx="3486150" cy="1422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21"/>
              </a:lnSpc>
            </a:pPr>
            <a:r>
              <a:rPr sz="862" b="0" i="0" u="none">
                <a:solidFill>
                  <a:srgbClr val="475569"/>
                </a:solidFill>
                <a:latin typeface="Times New Roman"/>
              </a:rPr>
              <a:t>Resolution speeds and operational SLA performance benchmarking.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52925" y="4014787"/>
            <a:ext cx="3486150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Times New Roman"/>
              </a:rPr>
              <a:t>5. Geographic Analysis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52925" y="6268045"/>
            <a:ext cx="3486150" cy="1422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21"/>
              </a:lnSpc>
            </a:pPr>
            <a:r>
              <a:rPr sz="862" b="0" i="0" u="none">
                <a:solidFill>
                  <a:srgbClr val="475569"/>
                </a:solidFill>
                <a:latin typeface="Times New Roman"/>
              </a:rPr>
              <a:t>Regional and country-level insights and workload concentration.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1975" y="4014787"/>
            <a:ext cx="3486150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Times New Roman"/>
              </a:rPr>
              <a:t>6. Ticket Details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1975" y="6268045"/>
            <a:ext cx="3486150" cy="1422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21"/>
              </a:lnSpc>
            </a:pPr>
            <a:r>
              <a:rPr sz="862" b="0" i="0" u="none">
                <a:solidFill>
                  <a:srgbClr val="475569"/>
                </a:solidFill>
                <a:latin typeface="Times New Roman"/>
              </a:rPr>
              <a:t>Detailed ticket investigation with robust filtering capabilities.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28578" y="1271587"/>
            <a:ext cx="381446" cy="12382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0550" y="1945778"/>
            <a:ext cx="3352800" cy="100965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57628" y="1271587"/>
            <a:ext cx="381446" cy="123825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19600" y="1945778"/>
            <a:ext cx="3352800" cy="100965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286678" y="1271587"/>
            <a:ext cx="381446" cy="123825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248650" y="1945778"/>
            <a:ext cx="3352800" cy="100965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628578" y="4029075"/>
            <a:ext cx="381446" cy="123825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90550" y="4703266"/>
            <a:ext cx="3352800" cy="100965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457628" y="4029075"/>
            <a:ext cx="381446" cy="123825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419600" y="4703266"/>
            <a:ext cx="3352800" cy="100965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286678" y="4029075"/>
            <a:ext cx="381446" cy="123825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248650" y="4703266"/>
            <a:ext cx="3352800" cy="10096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6477000"/>
            <a:ext cx="11353800" cy="2286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1133475"/>
            <a:ext cx="7700962" cy="53816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2462" y="1133475"/>
            <a:ext cx="3500437" cy="8858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2462" y="2378868"/>
            <a:ext cx="3500437" cy="8858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2462" y="3624262"/>
            <a:ext cx="3500437" cy="8858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2462" y="4869656"/>
            <a:ext cx="3500437" cy="8858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72462" y="6115050"/>
            <a:ext cx="3500437" cy="4000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9100" y="342900"/>
            <a:ext cx="117729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0F172A"/>
                </a:solidFill>
                <a:latin typeface="Times New Roman"/>
              </a:rPr>
              <a:t>Power BI — Executive Overview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9100" y="762000"/>
            <a:ext cx="11353800" cy="190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9100" y="819150"/>
            <a:ext cx="553462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2563EB"/>
                </a:solidFill>
                <a:latin typeface="Times New Roman"/>
              </a:rPr>
              <a:t>PAGE 1 CONSOLIDATED COMMAND CENTER &amp; REQUIRED MODULE 7 KPIS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9100" y="6562725"/>
            <a:ext cx="2630983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Times New Roman SemiBold"/>
              </a:rPr>
              <a:t>SUPPORTLYTICS | Power BI — Executive 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326" y="6562725"/>
            <a:ext cx="587573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Times New Roman SemiBold"/>
              </a:rPr>
              <a:t>Slide 05 / 10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5775" y="1200150"/>
            <a:ext cx="7567612" cy="52482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443912" y="1276350"/>
            <a:ext cx="1432024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2563EB"/>
                </a:solidFill>
                <a:latin typeface="Times New Roman"/>
              </a:rPr>
              <a:t>MODULE 7 REQUIRED KPI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43912" y="1409700"/>
            <a:ext cx="3186112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Times New Roman"/>
              </a:rPr>
              <a:t>Avg Resolution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3912" y="1571625"/>
            <a:ext cx="3186112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2563EB"/>
                </a:solidFill>
                <a:latin typeface="Times New Roman"/>
              </a:rPr>
              <a:t>61.1032 Hours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3912" y="1800225"/>
            <a:ext cx="3186112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Times New Roman"/>
              </a:rPr>
              <a:t>Overall resolution speed across priorities.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3912" y="2521743"/>
            <a:ext cx="1432024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06B6D4"/>
                </a:solidFill>
                <a:latin typeface="Times New Roman"/>
              </a:rPr>
              <a:t>MODULE 7 REQUIRED KPI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43912" y="2655093"/>
            <a:ext cx="3186112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Times New Roman"/>
              </a:rPr>
              <a:t>Most Frequent Category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3912" y="2817018"/>
            <a:ext cx="3186112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6B6D4"/>
                </a:solidFill>
                <a:latin typeface="Times New Roman"/>
              </a:rPr>
              <a:t>Security (2,068)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43912" y="3045618"/>
            <a:ext cx="3186112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Times New Roman"/>
              </a:rPr>
              <a:t>Top support issue category volume driver.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43912" y="3767137"/>
            <a:ext cx="1432024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0B981"/>
                </a:solidFill>
                <a:latin typeface="Times New Roman"/>
              </a:rPr>
              <a:t>MODULE 7 REQUIRED KPI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43912" y="3900487"/>
            <a:ext cx="3186112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Times New Roman"/>
              </a:rPr>
              <a:t>Cluster Similarity Index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43912" y="4062412"/>
            <a:ext cx="3186112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10B981"/>
                </a:solidFill>
                <a:latin typeface="Times New Roman"/>
              </a:rPr>
              <a:t>0.7446 Score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43912" y="4291012"/>
            <a:ext cx="3186112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Times New Roman"/>
              </a:rPr>
              <a:t>Quantifies similarity across recurring issues.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43912" y="5012531"/>
            <a:ext cx="1432024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8B5CF6"/>
                </a:solidFill>
                <a:latin typeface="Times New Roman"/>
              </a:rPr>
              <a:t>MODULE 7 REQUIRED KPI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43912" y="5145881"/>
            <a:ext cx="3186112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Times New Roman"/>
              </a:rPr>
              <a:t>Top Performing Region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43912" y="5307806"/>
            <a:ext cx="3186112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8B5CF6"/>
                </a:solidFill>
                <a:latin typeface="Times New Roman"/>
              </a:rPr>
              <a:t>North America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43912" y="5536406"/>
            <a:ext cx="3186112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Times New Roman"/>
              </a:rPr>
              <a:t>Highest volume &amp; balanced resolution speed.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96287" y="6200775"/>
            <a:ext cx="76572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334155"/>
                </a:solidFill>
                <a:latin typeface="Times New Roman"/>
              </a:rPr>
              <a:t>Additional KPIs: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6477000"/>
            <a:ext cx="11353800" cy="2286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1362075"/>
            <a:ext cx="5600700" cy="3917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" y="5356175"/>
            <a:ext cx="5600700" cy="1158924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1362075"/>
            <a:ext cx="5600700" cy="39179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5356175"/>
            <a:ext cx="5600700" cy="11589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9100" y="342900"/>
            <a:ext cx="117729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0F172A"/>
                </a:solidFill>
                <a:latin typeface="Times New Roman"/>
              </a:rPr>
              <a:t>Ticket, Category &amp; Cluster Intelligence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419100" y="762000"/>
            <a:ext cx="11353800" cy="190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9100" y="819150"/>
            <a:ext cx="7333803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2563EB"/>
                </a:solidFill>
                <a:latin typeface="Times New Roman"/>
              </a:rPr>
              <a:t>PAGES 2 &amp; 3 — WORKLOAD DISTRIBUTION, CATEGORY FREQUENCY &amp; NLP SIMILARITY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100" y="6562725"/>
            <a:ext cx="2947541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Times New Roman SemiBold"/>
              </a:rPr>
              <a:t>SUPPORTLYTICS | Ticket, Category &amp; Cluster 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85326" y="6562725"/>
            <a:ext cx="587573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Times New Roman SemiBold"/>
              </a:rPr>
              <a:t>Slide 06 /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9100" y="1133475"/>
            <a:ext cx="217136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Times New Roman"/>
              </a:rPr>
              <a:t>Ticket &amp; Category Analysis (Page 2)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79069" y="1133475"/>
            <a:ext cx="84073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775" y="1428750"/>
            <a:ext cx="5467350" cy="37845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23875" y="5460950"/>
            <a:ext cx="53911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2563EB"/>
                </a:solidFill>
                <a:latin typeface="Times New Roman"/>
              </a:rPr>
              <a:t>Verified Workload Breakdown: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1133475"/>
            <a:ext cx="228044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Times New Roman"/>
              </a:rPr>
              <a:t>Cluster &amp; Similarity Analysis (Page 3)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56143" y="1133475"/>
            <a:ext cx="716756" cy="1524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38875" y="1428750"/>
            <a:ext cx="5467350" cy="37845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276975" y="5460950"/>
            <a:ext cx="53911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0B981"/>
                </a:solidFill>
                <a:latin typeface="Times New Roman"/>
              </a:rPr>
              <a:t>NLP Similarity Patterns: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4375" y="5641925"/>
            <a:ext cx="5200650" cy="179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sz="1012" b="1" i="0" u="none">
                <a:solidFill>
                  <a:srgbClr val="334155"/>
                </a:solidFill>
                <a:latin typeface="Times New Roman"/>
              </a:rPr>
              <a:t>Ticket Types:</a:t>
            </a:r>
            <a:r>
              <a:rPr sz="1012" b="0" i="0" u="none">
                <a:solidFill>
                  <a:srgbClr val="334155"/>
                </a:solidFill>
                <a:latin typeface="Times New Roman"/>
              </a:rPr>
              <a:t> Request: 3,358 | Problem: 3,342 | Incident: 3,300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4375" y="5898058"/>
            <a:ext cx="5200650" cy="179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sz="1012" b="1" i="0" u="none">
                <a:solidFill>
                  <a:srgbClr val="334155"/>
                </a:solidFill>
                <a:latin typeface="Times New Roman"/>
              </a:rPr>
              <a:t>Categories:</a:t>
            </a:r>
            <a:r>
              <a:rPr sz="1012" b="0" i="0" u="none">
                <a:solidFill>
                  <a:srgbClr val="334155"/>
                </a:solidFill>
                <a:latin typeface="Times New Roman"/>
              </a:rPr>
              <a:t> Security: 2,068 | Hardware: 2,014 | Software: 1,996 | Email: 1,985 | Network: 1,937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4375" y="6154191"/>
            <a:ext cx="5200650" cy="179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sz="1012" b="1" i="0" u="none">
                <a:solidFill>
                  <a:srgbClr val="334155"/>
                </a:solidFill>
                <a:latin typeface="Times New Roman"/>
              </a:rPr>
              <a:t>Queue Focus:</a:t>
            </a:r>
            <a:r>
              <a:rPr sz="1012" b="0" i="0" u="none">
                <a:solidFill>
                  <a:srgbClr val="334155"/>
                </a:solidFill>
                <a:latin typeface="Times New Roman"/>
              </a:rPr>
              <a:t> Finance (3,358) and IT (3,348) account for top queues.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7475" y="5641925"/>
            <a:ext cx="5200650" cy="179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sz="1012" b="1" i="0" u="none">
                <a:solidFill>
                  <a:srgbClr val="334155"/>
                </a:solidFill>
                <a:latin typeface="Times New Roman"/>
              </a:rPr>
              <a:t>Actual Issue Clusters:</a:t>
            </a:r>
            <a:r>
              <a:rPr sz="1012" b="0" i="0" u="none">
                <a:solidFill>
                  <a:srgbClr val="334155"/>
                </a:solidFill>
                <a:latin typeface="Times New Roman"/>
              </a:rPr>
              <a:t> Network (3,370), Software (3,346), Login (3,284).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7475" y="5898058"/>
            <a:ext cx="5200650" cy="179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sz="1012" b="1" i="0" u="none">
                <a:solidFill>
                  <a:srgbClr val="334155"/>
                </a:solidFill>
                <a:latin typeface="Times New Roman"/>
              </a:rPr>
              <a:t>Similarity Index:</a:t>
            </a:r>
            <a:r>
              <a:rPr sz="1012" b="0" i="0" u="none">
                <a:solidFill>
                  <a:srgbClr val="334155"/>
                </a:solidFill>
                <a:latin typeface="Times New Roman"/>
              </a:rPr>
              <a:t> Overall Cluster Similarity Index is </a:t>
            </a:r>
            <a:r>
              <a:rPr sz="1012" b="1" i="0" u="none">
                <a:solidFill>
                  <a:srgbClr val="334155"/>
                </a:solidFill>
                <a:latin typeface="Times New Roman"/>
              </a:rPr>
              <a:t>0.7446</a:t>
            </a:r>
            <a:r>
              <a:rPr sz="1012" b="0" i="0" u="none">
                <a:solidFill>
                  <a:srgbClr val="334155"/>
                </a:solidFill>
                <a:latin typeface="Times New Roman"/>
              </a:rPr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7475" y="6154191"/>
            <a:ext cx="5200650" cy="179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sz="1012" b="1" i="0" u="none">
                <a:solidFill>
                  <a:srgbClr val="334155"/>
                </a:solidFill>
                <a:latin typeface="Times New Roman"/>
              </a:rPr>
              <a:t>SLA Risk:</a:t>
            </a:r>
            <a:r>
              <a:rPr sz="1012" b="0" i="0" u="none">
                <a:solidFill>
                  <a:srgbClr val="334155"/>
                </a:solidFill>
                <a:latin typeface="Times New Roman"/>
              </a:rPr>
              <a:t> Software cluster exhibits high SLA breach ratios requiring root-cause intervention.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1975" y="5622875"/>
            <a:ext cx="571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2563EB"/>
                </a:solidFill>
                <a:latin typeface="Times New Roman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1975" y="5879008"/>
            <a:ext cx="571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2563EB"/>
                </a:solidFill>
                <a:latin typeface="Times New Roman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1975" y="6135141"/>
            <a:ext cx="571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2563EB"/>
                </a:solidFill>
                <a:latin typeface="Times New Roman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15075" y="5622875"/>
            <a:ext cx="571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2563EB"/>
                </a:solidFill>
                <a:latin typeface="Times New Roman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15075" y="5879008"/>
            <a:ext cx="571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2563EB"/>
                </a:solidFill>
                <a:latin typeface="Times New Roman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15075" y="6135141"/>
            <a:ext cx="571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2563EB"/>
                </a:solidFill>
                <a:latin typeface="Times New Roman"/>
              </a:rPr>
              <a:t>•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6477000"/>
            <a:ext cx="11353800" cy="2286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1133475"/>
            <a:ext cx="7588001" cy="53816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9501" y="1133475"/>
            <a:ext cx="3613398" cy="8096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9501" y="3932634"/>
            <a:ext cx="3613398" cy="7810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9501" y="5356026"/>
            <a:ext cx="3613398" cy="115892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59501" y="2585442"/>
            <a:ext cx="1768524" cy="7048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04226" y="2585442"/>
            <a:ext cx="1768673" cy="704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9100" y="342900"/>
            <a:ext cx="117729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0F172A"/>
                </a:solidFill>
                <a:latin typeface="Times New Roman"/>
              </a:rPr>
              <a:t>Performance &amp; SLA Intelligence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9100" y="762000"/>
            <a:ext cx="11353800" cy="190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9100" y="819150"/>
            <a:ext cx="6997749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2563EB"/>
                </a:solidFill>
                <a:latin typeface="Times New Roman"/>
              </a:rPr>
              <a:t>PAGE 4 — RESOLUTION SPEEDS, SLA ADHERENCE &amp; HIGH-PRIORITY UNRESOLVED BACKLOG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9100" y="6562725"/>
            <a:ext cx="2623542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Times New Roman SemiBold"/>
              </a:rPr>
              <a:t>SUPPORTLYTICS | Performance &amp; SLA Intelligence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326" y="6562725"/>
            <a:ext cx="587573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Times New Roman SemiBold"/>
              </a:rPr>
              <a:t>Slide 07 / 10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5775" y="1200150"/>
            <a:ext cx="7454651" cy="52482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02376" y="1266825"/>
            <a:ext cx="3327648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75569"/>
                </a:solidFill>
                <a:latin typeface="Times New Roman SemiBold"/>
              </a:rPr>
              <a:t>AVERAGE RESOLUTION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376" y="1428750"/>
            <a:ext cx="3327648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563EB"/>
                </a:solidFill>
                <a:latin typeface="Times New Roman"/>
              </a:rPr>
              <a:t>61.1032 Hours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376" y="1704975"/>
            <a:ext cx="131817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Times New Roman"/>
              </a:rPr>
              <a:t>Uniform speed across priorities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4276" y="4037409"/>
            <a:ext cx="3403848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B45309"/>
                </a:solidFill>
                <a:latin typeface="Times New Roman"/>
              </a:rPr>
              <a:t>Unresolved Backlog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4276" y="4275534"/>
            <a:ext cx="3403848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DC2626"/>
                </a:solidFill>
                <a:latin typeface="Times New Roman"/>
              </a:rPr>
              <a:t>2,504 Tickets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4276" y="4494609"/>
            <a:ext cx="3403848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78350F"/>
                </a:solidFill>
                <a:latin typeface="Times New Roman"/>
              </a:rPr>
              <a:t>High / Critical Priority tickets in Open or In Progress state.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4276" y="5460801"/>
            <a:ext cx="3403848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F172A"/>
                </a:solidFill>
                <a:latin typeface="Times New Roman"/>
              </a:rPr>
              <a:t>Support Team Speed Benchmarks: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33246" y="2718792"/>
            <a:ext cx="420885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 u="none">
                <a:solidFill>
                  <a:srgbClr val="047857"/>
                </a:solidFill>
                <a:latin typeface="Times New Roman"/>
              </a:rPr>
              <a:t>SLA MET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5226" y="2842617"/>
            <a:ext cx="1597074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75" b="1" i="0" u="none">
                <a:solidFill>
                  <a:srgbClr val="047857"/>
                </a:solidFill>
                <a:latin typeface="Times New Roman"/>
              </a:rPr>
              <a:t>5,039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54801" y="3080742"/>
            <a:ext cx="777775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 u="none">
                <a:solidFill>
                  <a:srgbClr val="047857"/>
                </a:solidFill>
                <a:latin typeface="Times New Roman"/>
              </a:rPr>
              <a:t>50.39% Compliance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6641" y="2718792"/>
            <a:ext cx="743694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 u="none">
                <a:solidFill>
                  <a:srgbClr val="B91C1C"/>
                </a:solidFill>
                <a:latin typeface="Times New Roman"/>
              </a:rPr>
              <a:t>SLA BREACHED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89951" y="2842617"/>
            <a:ext cx="1597223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75" b="1" i="0" u="none">
                <a:solidFill>
                  <a:srgbClr val="B91C1C"/>
                </a:solidFill>
                <a:latin typeface="Times New Roman"/>
              </a:rPr>
              <a:t>4,961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95657" y="3080742"/>
            <a:ext cx="785663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 u="none">
                <a:solidFill>
                  <a:srgbClr val="B91C1C"/>
                </a:solidFill>
                <a:latin typeface="Times New Roman"/>
              </a:rPr>
              <a:t>49.61% Breach Rate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63126" y="4037409"/>
            <a:ext cx="704998" cy="20002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454776" y="5641776"/>
            <a:ext cx="3213348" cy="179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sz="1012" b="1" i="0" u="none">
                <a:solidFill>
                  <a:srgbClr val="334155"/>
                </a:solidFill>
                <a:latin typeface="Times New Roman"/>
              </a:rPr>
              <a:t>L2 Team:</a:t>
            </a:r>
            <a:r>
              <a:rPr sz="1012" b="0" i="0" u="none">
                <a:solidFill>
                  <a:srgbClr val="334155"/>
                </a:solidFill>
                <a:latin typeface="Times New Roman"/>
              </a:rPr>
              <a:t> 60.80 hrs avg resolution (3,358 tickets).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4776" y="5897909"/>
            <a:ext cx="3213348" cy="179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sz="1012" b="1" i="0" u="none">
                <a:solidFill>
                  <a:srgbClr val="334155"/>
                </a:solidFill>
                <a:latin typeface="Times New Roman"/>
              </a:rPr>
              <a:t>L1 Team:</a:t>
            </a:r>
            <a:r>
              <a:rPr sz="1012" b="0" i="0" u="none">
                <a:solidFill>
                  <a:srgbClr val="334155"/>
                </a:solidFill>
                <a:latin typeface="Times New Roman"/>
              </a:rPr>
              <a:t> 61.18 hrs avg resolution (3,365 tickets).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4776" y="6154042"/>
            <a:ext cx="3213348" cy="179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sz="1012" b="1" i="0" u="none">
                <a:solidFill>
                  <a:srgbClr val="334155"/>
                </a:solidFill>
                <a:latin typeface="Times New Roman"/>
              </a:rPr>
              <a:t>Security Team:</a:t>
            </a:r>
            <a:r>
              <a:rPr sz="1012" b="0" i="0" u="none">
                <a:solidFill>
                  <a:srgbClr val="334155"/>
                </a:solidFill>
                <a:latin typeface="Times New Roman"/>
              </a:rPr>
              <a:t> 61.34 hrs avg resolution (3,277 tickets).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02376" y="5622726"/>
            <a:ext cx="571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2563EB"/>
                </a:solidFill>
                <a:latin typeface="Times New Roman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2376" y="5878859"/>
            <a:ext cx="571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2563EB"/>
                </a:solidFill>
                <a:latin typeface="Times New Roman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02376" y="6134992"/>
            <a:ext cx="571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2563EB"/>
                </a:solidFill>
                <a:latin typeface="Times New Roman"/>
              </a:rPr>
              <a:t>•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6477000"/>
            <a:ext cx="11353800" cy="2286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1362075"/>
            <a:ext cx="5600700" cy="3917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" y="5356175"/>
            <a:ext cx="5600700" cy="1158924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1362075"/>
            <a:ext cx="5600700" cy="39179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5356175"/>
            <a:ext cx="5600700" cy="11589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9100" y="342900"/>
            <a:ext cx="117729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0F172A"/>
                </a:solidFill>
                <a:latin typeface="Times New Roman"/>
              </a:rPr>
              <a:t>Geographic &amp; Detailed Ticket Intelligence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419100" y="762000"/>
            <a:ext cx="11353800" cy="190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9100" y="819150"/>
            <a:ext cx="7549306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2563EB"/>
                </a:solidFill>
                <a:latin typeface="Times New Roman"/>
              </a:rPr>
              <a:t>PAGES 5 &amp; 6 — REGIONAL CONCENTRATION, SPATIAL HEATMAPS &amp; GRANULAR TICKET INSPECTION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100" y="6562725"/>
            <a:ext cx="30861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Times New Roman SemiBold"/>
              </a:rPr>
              <a:t>SUPPORTLYTICS | Geographic &amp; Detailed Ticket 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85326" y="6562725"/>
            <a:ext cx="587573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Times New Roman SemiBold"/>
              </a:rPr>
              <a:t>Slide 08 /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9100" y="1133475"/>
            <a:ext cx="17541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Times New Roman"/>
              </a:rPr>
              <a:t>Geographic Analysis (Page 5)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43673" y="1133475"/>
            <a:ext cx="676126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775" y="1428750"/>
            <a:ext cx="5467350" cy="37845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23875" y="5460950"/>
            <a:ext cx="53911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B21A8"/>
                </a:solidFill>
                <a:latin typeface="Times New Roman"/>
              </a:rPr>
              <a:t>Regional Concentration &amp; Speeds: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1133475"/>
            <a:ext cx="134673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Times New Roman"/>
              </a:rPr>
              <a:t>Ticket Details (Page 6)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31450" y="1133475"/>
            <a:ext cx="641449" cy="1524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38875" y="1428750"/>
            <a:ext cx="5467350" cy="37845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276975" y="5460950"/>
            <a:ext cx="53911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91B1B"/>
                </a:solidFill>
                <a:latin typeface="Times New Roman"/>
              </a:rPr>
              <a:t>Micro-Level Audit Inspector: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4375" y="5641925"/>
            <a:ext cx="5200650" cy="179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sz="1012" b="1" i="0" u="none">
                <a:solidFill>
                  <a:srgbClr val="334155"/>
                </a:solidFill>
                <a:latin typeface="Times New Roman"/>
              </a:rPr>
              <a:t>Regional Share:</a:t>
            </a:r>
            <a:r>
              <a:rPr sz="1012" b="0" i="0" u="none">
                <a:solidFill>
                  <a:srgbClr val="334155"/>
                </a:solidFill>
                <a:latin typeface="Times New Roman"/>
              </a:rPr>
              <a:t> North America (40.47%), EMEA (39.10%), APAC (20.43%).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4375" y="5898058"/>
            <a:ext cx="5200650" cy="179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sz="1012" b="1" i="0" u="none">
                <a:solidFill>
                  <a:srgbClr val="334155"/>
                </a:solidFill>
                <a:latin typeface="Times New Roman"/>
              </a:rPr>
              <a:t>Fastest Countries:</a:t>
            </a:r>
            <a:r>
              <a:rPr sz="1012" b="0" i="0" u="none">
                <a:solidFill>
                  <a:srgbClr val="334155"/>
                </a:solidFill>
                <a:latin typeface="Times New Roman"/>
              </a:rPr>
              <a:t> USA (60.15 hrs) and UK (60.64 hrs) record top speeds.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4375" y="6154191"/>
            <a:ext cx="5200650" cy="179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sz="1012" b="1" i="0" u="none">
                <a:solidFill>
                  <a:srgbClr val="334155"/>
                </a:solidFill>
                <a:latin typeface="Times New Roman"/>
              </a:rPr>
              <a:t>Category Heatmap:</a:t>
            </a:r>
            <a:r>
              <a:rPr sz="1012" b="0" i="0" u="none">
                <a:solidFill>
                  <a:srgbClr val="334155"/>
                </a:solidFill>
                <a:latin typeface="Times New Roman"/>
              </a:rPr>
              <a:t> India leads Security issues (454); NA leads Hardware (838).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7475" y="5641925"/>
            <a:ext cx="5200650" cy="179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sz="1012" b="1" i="0" u="none">
                <a:solidFill>
                  <a:srgbClr val="334155"/>
                </a:solidFill>
                <a:latin typeface="Times New Roman"/>
              </a:rPr>
              <a:t>Multi-Slicer Filter Engine:</a:t>
            </a:r>
            <a:r>
              <a:rPr sz="1012" b="0" i="0" u="none">
                <a:solidFill>
                  <a:srgbClr val="334155"/>
                </a:solidFill>
                <a:latin typeface="Times New Roman"/>
              </a:rPr>
              <a:t> Filter by Country, Priority, Status, Team, Category.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7475" y="5898058"/>
            <a:ext cx="5200650" cy="179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sz="1012" b="1" i="0" u="none">
                <a:solidFill>
                  <a:srgbClr val="334155"/>
                </a:solidFill>
                <a:latin typeface="Times New Roman"/>
              </a:rPr>
              <a:t>Individual Search:</a:t>
            </a:r>
            <a:r>
              <a:rPr sz="1012" b="0" i="0" u="none">
                <a:solidFill>
                  <a:srgbClr val="334155"/>
                </a:solidFill>
                <a:latin typeface="Times New Roman"/>
              </a:rPr>
              <a:t> Search by Ticket_ID to inspect individual SLA &amp; CSAT.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7475" y="6154191"/>
            <a:ext cx="5200650" cy="179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sz="1012" b="1" i="0" u="none">
                <a:solidFill>
                  <a:srgbClr val="334155"/>
                </a:solidFill>
                <a:latin typeface="Times New Roman"/>
              </a:rPr>
              <a:t>Operational Auditing:</a:t>
            </a:r>
            <a:r>
              <a:rPr sz="1012" b="0" i="0" u="none">
                <a:solidFill>
                  <a:srgbClr val="334155"/>
                </a:solidFill>
                <a:latin typeface="Times New Roman"/>
              </a:rPr>
              <a:t> Review assigned agent performance and export records.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1975" y="5622875"/>
            <a:ext cx="571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2563EB"/>
                </a:solidFill>
                <a:latin typeface="Times New Roman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1975" y="5879008"/>
            <a:ext cx="571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2563EB"/>
                </a:solidFill>
                <a:latin typeface="Times New Roman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1975" y="6135141"/>
            <a:ext cx="571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2563EB"/>
                </a:solidFill>
                <a:latin typeface="Times New Roman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15075" y="5622875"/>
            <a:ext cx="571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2563EB"/>
                </a:solidFill>
                <a:latin typeface="Times New Roman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15075" y="5879008"/>
            <a:ext cx="571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2563EB"/>
                </a:solidFill>
                <a:latin typeface="Times New Roman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15075" y="6135141"/>
            <a:ext cx="571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2563EB"/>
                </a:solidFill>
                <a:latin typeface="Times New Roman"/>
              </a:rPr>
              <a:t>•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6477000"/>
            <a:ext cx="11353800" cy="2286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1133475"/>
            <a:ext cx="5581650" cy="53816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1133475"/>
            <a:ext cx="5581650" cy="53816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975" y="6076950"/>
            <a:ext cx="5295900" cy="2952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4125" y="6076950"/>
            <a:ext cx="5295900" cy="2952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9100" y="342900"/>
            <a:ext cx="117729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0F172A"/>
                </a:solidFill>
                <a:latin typeface="Times New Roman"/>
              </a:rPr>
              <a:t>Key Insights &amp; Strategic Recommendations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9100" y="762000"/>
            <a:ext cx="11353800" cy="190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9100" y="819150"/>
            <a:ext cx="5463926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2563EB"/>
                </a:solidFill>
                <a:latin typeface="Times New Roman"/>
              </a:rPr>
              <a:t>DATA-DRIVEN FINDINGS &amp; ACTIONABLE OPERATIONAL INTERVENTIONS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100" y="6562725"/>
            <a:ext cx="316036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Times New Roman SemiBold"/>
              </a:rPr>
              <a:t>SUPPORTLYTICS | Key Insights &amp; Strategic Recommendations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85326" y="6562725"/>
            <a:ext cx="587573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Times New Roman SemiBold"/>
              </a:rPr>
              <a:t>Slide 09 /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1975" y="1304925"/>
            <a:ext cx="5560695" cy="180975"/>
          </a:xfrm>
          <a:prstGeom prst="rect">
            <a:avLst/>
          </a:prstGeom>
          <a:noFill/>
        </p:spPr>
        <p:txBody>
          <a:bodyPr wrap="square" lIns="15240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Times New Roman"/>
              </a:rPr>
              <a:t>Verified Operational Insights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1975" y="1533525"/>
            <a:ext cx="52959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34125" y="1304925"/>
            <a:ext cx="5560695" cy="180975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Times New Roman"/>
              </a:rPr>
              <a:t>Strategic Recommendations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34125" y="1533525"/>
            <a:ext cx="52959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1975" y="1304925"/>
            <a:ext cx="152400" cy="1524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52475" y="1638300"/>
            <a:ext cx="5105400" cy="3598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sz="1012" b="1" i="0" u="none">
                <a:solidFill>
                  <a:srgbClr val="334155"/>
                </a:solidFill>
                <a:latin typeface="Times New Roman"/>
              </a:rPr>
              <a:t>Enterprise Workload:</a:t>
            </a:r>
            <a:r>
              <a:rPr sz="1012" b="0" i="0" u="none">
                <a:solidFill>
                  <a:srgbClr val="334155"/>
                </a:solidFill>
                <a:latin typeface="Times New Roman"/>
              </a:rPr>
              <a:t> Analyzed 10,000 tickets with an average resolution duration of </a:t>
            </a:r>
            <a:r>
              <a:rPr sz="1012" b="1" i="0" u="none">
                <a:solidFill>
                  <a:srgbClr val="334155"/>
                </a:solidFill>
                <a:latin typeface="Times New Roman"/>
              </a:rPr>
              <a:t>61.1032 hours</a:t>
            </a:r>
            <a:r>
              <a:rPr sz="1012" b="0" i="0" u="none">
                <a:solidFill>
                  <a:srgbClr val="334155"/>
                </a:solidFill>
                <a:latin typeface="Times New Roman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2475" y="2074366"/>
            <a:ext cx="5105400" cy="3598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sz="1012" b="1" i="0" u="none">
                <a:solidFill>
                  <a:srgbClr val="334155"/>
                </a:solidFill>
                <a:latin typeface="Times New Roman"/>
              </a:rPr>
              <a:t>SLA Compliance Deficit:</a:t>
            </a:r>
            <a:r>
              <a:rPr sz="1012" b="0" i="0" u="none">
                <a:solidFill>
                  <a:srgbClr val="334155"/>
                </a:solidFill>
                <a:latin typeface="Times New Roman"/>
              </a:rPr>
              <a:t> SLA compliance stands at </a:t>
            </a:r>
            <a:r>
              <a:rPr sz="1012" b="1" i="0" u="none">
                <a:solidFill>
                  <a:srgbClr val="334155"/>
                </a:solidFill>
                <a:latin typeface="Times New Roman"/>
              </a:rPr>
              <a:t>50.39%</a:t>
            </a:r>
            <a:r>
              <a:rPr sz="1012" b="0" i="0" u="none">
                <a:solidFill>
                  <a:srgbClr val="334155"/>
                </a:solidFill>
                <a:latin typeface="Times New Roman"/>
              </a:rPr>
              <a:t> (5,039 Met vs 4,961 Breached), highlighting substantial service-level risk.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2475" y="2510432"/>
            <a:ext cx="5105400" cy="3598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sz="1012" b="1" i="0" u="none">
                <a:solidFill>
                  <a:srgbClr val="334155"/>
                </a:solidFill>
                <a:latin typeface="Times New Roman"/>
              </a:rPr>
              <a:t>Critical Backlog:</a:t>
            </a:r>
            <a:r>
              <a:rPr sz="1012" b="0" i="0" u="none">
                <a:solidFill>
                  <a:srgbClr val="334155"/>
                </a:solidFill>
                <a:latin typeface="Times New Roman"/>
              </a:rPr>
              <a:t> </a:t>
            </a:r>
            <a:r>
              <a:rPr sz="1012" b="1" i="0" u="none">
                <a:solidFill>
                  <a:srgbClr val="334155"/>
                </a:solidFill>
                <a:latin typeface="Times New Roman"/>
              </a:rPr>
              <a:t>2,504 High and Critical priority tickets</a:t>
            </a:r>
            <a:r>
              <a:rPr sz="1012" b="0" i="0" u="none">
                <a:solidFill>
                  <a:srgbClr val="334155"/>
                </a:solidFill>
                <a:latin typeface="Times New Roman"/>
              </a:rPr>
              <a:t> remain in an unresolved (Open / In Progress) state.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2475" y="2946499"/>
            <a:ext cx="5105400" cy="3598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sz="1012" b="1" i="0" u="none">
                <a:solidFill>
                  <a:srgbClr val="334155"/>
                </a:solidFill>
                <a:latin typeface="Times New Roman"/>
              </a:rPr>
              <a:t>Category &amp; Cluster Drivers:</a:t>
            </a:r>
            <a:r>
              <a:rPr sz="1012" b="0" i="0" u="none">
                <a:solidFill>
                  <a:srgbClr val="334155"/>
                </a:solidFill>
                <a:latin typeface="Times New Roman"/>
              </a:rPr>
              <a:t> Security leads ticket volume (2,068 tickets). Recurring issue clusters are </a:t>
            </a:r>
            <a:r>
              <a:rPr sz="1012" b="1" i="0" u="none">
                <a:solidFill>
                  <a:srgbClr val="334155"/>
                </a:solidFill>
                <a:latin typeface="Times New Roman"/>
              </a:rPr>
              <a:t>Network, Software, and Login</a:t>
            </a:r>
            <a:r>
              <a:rPr sz="1012" b="0" i="0" u="none">
                <a:solidFill>
                  <a:srgbClr val="334155"/>
                </a:solidFill>
                <a:latin typeface="Times New Roman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475" y="3382565"/>
            <a:ext cx="5105400" cy="3598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sz="1012" b="1" i="0" u="none">
                <a:solidFill>
                  <a:srgbClr val="334155"/>
                </a:solidFill>
                <a:latin typeface="Times New Roman"/>
              </a:rPr>
              <a:t>Satisfaction Benchmark:</a:t>
            </a:r>
            <a:r>
              <a:rPr sz="1012" b="0" i="0" u="none">
                <a:solidFill>
                  <a:srgbClr val="334155"/>
                </a:solidFill>
                <a:latin typeface="Times New Roman"/>
              </a:rPr>
              <a:t> Average CSAT score is </a:t>
            </a:r>
            <a:r>
              <a:rPr sz="1012" b="1" i="0" u="none">
                <a:solidFill>
                  <a:srgbClr val="334155"/>
                </a:solidFill>
                <a:latin typeface="Times New Roman"/>
              </a:rPr>
              <a:t>2.9818 / 5</a:t>
            </a:r>
            <a:r>
              <a:rPr sz="1012" b="0" i="0" u="none">
                <a:solidFill>
                  <a:srgbClr val="334155"/>
                </a:solidFill>
                <a:latin typeface="Times New Roman"/>
              </a:rPr>
              <a:t>, correlating with high SLA breach rates in software queues.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2475" y="3818632"/>
            <a:ext cx="5105400" cy="3598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sz="1012" b="1" i="0" u="none">
                <a:solidFill>
                  <a:srgbClr val="334155"/>
                </a:solidFill>
                <a:latin typeface="Times New Roman"/>
              </a:rPr>
              <a:t>NLP Similarity:</a:t>
            </a:r>
            <a:r>
              <a:rPr sz="1012" b="0" i="0" u="none">
                <a:solidFill>
                  <a:srgbClr val="334155"/>
                </a:solidFill>
                <a:latin typeface="Times New Roman"/>
              </a:rPr>
              <a:t> Overall Cluster Similarity Index is </a:t>
            </a:r>
            <a:r>
              <a:rPr sz="1012" b="1" i="0" u="none">
                <a:solidFill>
                  <a:srgbClr val="334155"/>
                </a:solidFill>
                <a:latin typeface="Times New Roman"/>
              </a:rPr>
              <a:t>0.7446</a:t>
            </a:r>
            <a:r>
              <a:rPr sz="1012" b="0" i="0" u="none">
                <a:solidFill>
                  <a:srgbClr val="334155"/>
                </a:solidFill>
                <a:latin typeface="Times New Roman"/>
              </a:rPr>
              <a:t>, indicating strong structural duplication across issues.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34125" y="1304925"/>
            <a:ext cx="114300" cy="1524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524625" y="1638300"/>
            <a:ext cx="5105400" cy="3598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sz="1012" b="1" i="0" u="none">
                <a:solidFill>
                  <a:srgbClr val="334155"/>
                </a:solidFill>
                <a:latin typeface="Times New Roman"/>
              </a:rPr>
              <a:t>Strengthen SLA Monitoring:</a:t>
            </a:r>
            <a:r>
              <a:rPr sz="1012" b="0" i="0" u="none">
                <a:solidFill>
                  <a:srgbClr val="334155"/>
                </a:solidFill>
                <a:latin typeface="Times New Roman"/>
              </a:rPr>
              <a:t> Implement automated Power BI alerts and escalation protocols for tickets approaching SLA limits.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4625" y="2074366"/>
            <a:ext cx="5105400" cy="3598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sz="1012" b="1" i="0" u="none">
                <a:solidFill>
                  <a:srgbClr val="334155"/>
                </a:solidFill>
                <a:latin typeface="Times New Roman"/>
              </a:rPr>
              <a:t>Prioritize Critical Backlog:</a:t>
            </a:r>
            <a:r>
              <a:rPr sz="1012" b="0" i="0" u="none">
                <a:solidFill>
                  <a:srgbClr val="334155"/>
                </a:solidFill>
                <a:latin typeface="Times New Roman"/>
              </a:rPr>
              <a:t> Mobilize dedicated L2/Security task forces to clear the 2,504 High/Critical unresolved tickets.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4625" y="2510432"/>
            <a:ext cx="5105400" cy="3598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sz="1012" b="1" i="0" u="none">
                <a:solidFill>
                  <a:srgbClr val="334155"/>
                </a:solidFill>
                <a:latin typeface="Times New Roman"/>
              </a:rPr>
              <a:t>Root-Cause Clustering:</a:t>
            </a:r>
            <a:r>
              <a:rPr sz="1012" b="0" i="0" u="none">
                <a:solidFill>
                  <a:srgbClr val="334155"/>
                </a:solidFill>
                <a:latin typeface="Times New Roman"/>
              </a:rPr>
              <a:t> Develop self-service knowledge base modules addressing recurring Login and Network cluster issues.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4625" y="2946499"/>
            <a:ext cx="5105400" cy="3598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sz="1012" b="1" i="0" u="none">
                <a:solidFill>
                  <a:srgbClr val="334155"/>
                </a:solidFill>
                <a:latin typeface="Times New Roman"/>
              </a:rPr>
              <a:t>Optimize Team Allocation:</a:t>
            </a:r>
            <a:r>
              <a:rPr sz="1012" b="0" i="0" u="none">
                <a:solidFill>
                  <a:srgbClr val="334155"/>
                </a:solidFill>
                <a:latin typeface="Times New Roman"/>
              </a:rPr>
              <a:t> Rebalance ticket queues between L1, L2, and Security teams based on category demand.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4625" y="3382565"/>
            <a:ext cx="5105400" cy="3598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sz="1012" b="1" i="0" u="none">
                <a:solidFill>
                  <a:srgbClr val="334155"/>
                </a:solidFill>
                <a:latin typeface="Times New Roman"/>
              </a:rPr>
              <a:t>Investigate Low CSAT:</a:t>
            </a:r>
            <a:r>
              <a:rPr sz="1012" b="0" i="0" u="none">
                <a:solidFill>
                  <a:srgbClr val="334155"/>
                </a:solidFill>
                <a:latin typeface="Times New Roman"/>
              </a:rPr>
              <a:t> Conduct targeted audits on Software cluster tickets to improve customer satisfaction ratings.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4625" y="3818632"/>
            <a:ext cx="5105400" cy="3598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sz="1012" b="1" i="0" u="none">
                <a:solidFill>
                  <a:srgbClr val="334155"/>
                </a:solidFill>
                <a:latin typeface="Times New Roman"/>
              </a:rPr>
              <a:t>Regional Support Tuning:</a:t>
            </a:r>
            <a:r>
              <a:rPr sz="1012" b="0" i="0" u="none">
                <a:solidFill>
                  <a:srgbClr val="334155"/>
                </a:solidFill>
                <a:latin typeface="Times New Roman"/>
              </a:rPr>
              <a:t> Leverage geographic insights to align staffing with peak volume hours in EMEA and North America.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0075" y="1619250"/>
            <a:ext cx="571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2563EB"/>
                </a:solidFill>
                <a:latin typeface="Times New Roman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0075" y="2055316"/>
            <a:ext cx="571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2563EB"/>
                </a:solidFill>
                <a:latin typeface="Times New Roman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0075" y="2491382"/>
            <a:ext cx="571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2563EB"/>
                </a:solidFill>
                <a:latin typeface="Times New Roman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0075" y="2927449"/>
            <a:ext cx="571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2563EB"/>
                </a:solidFill>
                <a:latin typeface="Times New Roman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0075" y="3363515"/>
            <a:ext cx="571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2563EB"/>
                </a:solidFill>
                <a:latin typeface="Times New Roman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0075" y="3799582"/>
            <a:ext cx="571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2563EB"/>
                </a:solidFill>
                <a:latin typeface="Times New Roman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72225" y="1619250"/>
            <a:ext cx="571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2563EB"/>
                </a:solidFill>
                <a:latin typeface="Times New Roman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72225" y="2055316"/>
            <a:ext cx="571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2563EB"/>
                </a:solidFill>
                <a:latin typeface="Times New Roman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72225" y="2491382"/>
            <a:ext cx="571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2563EB"/>
                </a:solidFill>
                <a:latin typeface="Times New Roman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72225" y="2927449"/>
            <a:ext cx="571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2563EB"/>
                </a:solidFill>
                <a:latin typeface="Times New Roman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72225" y="3363515"/>
            <a:ext cx="571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2563EB"/>
                </a:solidFill>
                <a:latin typeface="Times New Roman"/>
              </a:rPr>
              <a:t>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72225" y="3799582"/>
            <a:ext cx="571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2563EB"/>
                </a:solidFill>
                <a:latin typeface="Times New Roman"/>
              </a:rPr>
              <a:t>•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6477000"/>
            <a:ext cx="11353800" cy="2286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50" y="5861000"/>
            <a:ext cx="11353800" cy="5855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" y="1133475"/>
            <a:ext cx="5581650" cy="209773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0" y="1133475"/>
            <a:ext cx="5581650" cy="209773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00" y="4211091"/>
            <a:ext cx="3682900" cy="8096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54400" y="4211091"/>
            <a:ext cx="3683049" cy="8096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9850" y="4211091"/>
            <a:ext cx="3682900" cy="8096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9100" y="342900"/>
            <a:ext cx="117729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0F172A"/>
                </a:solidFill>
                <a:latin typeface="Times New Roman"/>
              </a:rPr>
              <a:t>Milestone 4 — Completion &amp; Deliverables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9100" y="762000"/>
            <a:ext cx="11353800" cy="190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9100" y="819150"/>
            <a:ext cx="601905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2563EB"/>
                </a:solidFill>
                <a:latin typeface="Times New Roman"/>
              </a:rPr>
              <a:t>SUMMARY OF MODULE 7 &amp; MODULE 8 FINAL IMPLEMENTATION DELIVERABLES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9100" y="6562725"/>
            <a:ext cx="2944266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Times New Roman SemiBold"/>
              </a:rPr>
              <a:t>SUPPORTLYTICS | Milestone 4 Completion &amp; Deliverables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326" y="6562725"/>
            <a:ext cx="587573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Times New Roman SemiBold"/>
              </a:rPr>
              <a:t>Slide 10 / 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3742" y="5180557"/>
            <a:ext cx="3227798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800" b="1" i="0" u="none" dirty="0">
                <a:latin typeface="Times New Roman"/>
              </a:rPr>
              <a:t>Thank You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625" y="1276350"/>
            <a:ext cx="5300662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2563EB"/>
                </a:solidFill>
                <a:latin typeface="Times New Roman"/>
              </a:rPr>
              <a:t>Module 7: Dashboard / Report Preparation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1775" y="1276350"/>
            <a:ext cx="5300662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06B6D4"/>
                </a:solidFill>
                <a:latin typeface="Times New Roman"/>
              </a:rPr>
              <a:t>Module 8: Documentation &amp; Presentation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41487" y="4363491"/>
            <a:ext cx="238125" cy="2095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42925" y="4611141"/>
            <a:ext cx="34352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F172A"/>
                </a:solidFill>
                <a:latin typeface="Times New Roman"/>
              </a:rPr>
              <a:t>Power BI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2925" y="4782591"/>
            <a:ext cx="3435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64748B"/>
                </a:solidFill>
                <a:latin typeface="Times New Roman"/>
              </a:rPr>
              <a:t>6 Interactive Pages (.pbix)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91076" y="4363491"/>
            <a:ext cx="209550" cy="2095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378225" y="4611141"/>
            <a:ext cx="3435399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F172A"/>
                </a:solidFill>
                <a:latin typeface="Times New Roman"/>
              </a:rPr>
              <a:t>Project Documentation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78225" y="4782591"/>
            <a:ext cx="3435399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64748B"/>
                </a:solidFill>
                <a:latin typeface="Times New Roman"/>
              </a:rPr>
              <a:t>Final PDF &amp; Technical Report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50338" y="4363491"/>
            <a:ext cx="161925" cy="2095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213675" y="4611141"/>
            <a:ext cx="34352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F172A"/>
                </a:solidFill>
                <a:latin typeface="Times New Roman"/>
              </a:rPr>
              <a:t>Presentation Deck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13675" y="4782591"/>
            <a:ext cx="3435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64748B"/>
                </a:solidFill>
                <a:latin typeface="Times New Roman"/>
              </a:rPr>
              <a:t>10-Slide Milestone 4 PPTX / PDF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8467" y="5905101"/>
            <a:ext cx="436170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38BDF8"/>
                </a:solidFill>
                <a:latin typeface="Times New Roman"/>
              </a:rPr>
              <a:t>SUPPORTLYTICS — IT Support Analytics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138" y="6194869"/>
            <a:ext cx="4361705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 dirty="0">
                <a:solidFill>
                  <a:srgbClr val="CBD5E1"/>
                </a:solidFill>
                <a:latin typeface="Times New Roman"/>
              </a:rPr>
              <a:t>Transforms IT support ticket data into actionable performance intelligence through Microsoft Power BI.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0550" y="1285875"/>
            <a:ext cx="142875" cy="14287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81050" y="1514475"/>
            <a:ext cx="5076825" cy="3693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sz="1012" b="1" i="0" u="none">
                <a:solidFill>
                  <a:srgbClr val="334155"/>
                </a:solidFill>
                <a:latin typeface="Times New Roman"/>
              </a:rPr>
              <a:t>Power BI Dashboard Completed:</a:t>
            </a:r>
            <a:r>
              <a:rPr sz="1012" b="0" i="0" u="none">
                <a:solidFill>
                  <a:srgbClr val="334155"/>
                </a:solidFill>
                <a:latin typeface="Times New Roman"/>
              </a:rPr>
              <a:t> Built Supportlytics.pbix with 6 interactive analytical report pages.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1050" y="1960066"/>
            <a:ext cx="5076825" cy="3598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sz="1012" b="1" i="0" u="none">
                <a:solidFill>
                  <a:srgbClr val="334155"/>
                </a:solidFill>
                <a:latin typeface="Times New Roman"/>
              </a:rPr>
              <a:t>Module 7 KPIs Implemented:</a:t>
            </a:r>
            <a:r>
              <a:rPr sz="1012" b="0" i="0" u="none">
                <a:solidFill>
                  <a:srgbClr val="334155"/>
                </a:solidFill>
                <a:latin typeface="Times New Roman"/>
              </a:rPr>
              <a:t> Average Resolution Time, Most Frequent Category, Cluster Similarity Index, and Top Performing Region.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1050" y="2396132"/>
            <a:ext cx="5076825" cy="179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sz="1012" b="1" i="0" u="none">
                <a:solidFill>
                  <a:srgbClr val="334155"/>
                </a:solidFill>
                <a:latin typeface="Times New Roman"/>
              </a:rPr>
              <a:t>Interactive Slicers:</a:t>
            </a:r>
            <a:r>
              <a:rPr sz="1012" b="0" i="0" u="none">
                <a:solidFill>
                  <a:srgbClr val="334155"/>
                </a:solidFill>
                <a:latin typeface="Times New Roman"/>
              </a:rPr>
              <a:t> Slicing by Country, Priority, Status, Category, Ticket Type, and Created Date.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1050" y="2652266"/>
            <a:ext cx="5076825" cy="3598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sz="1012" b="1" i="0" u="none">
                <a:solidFill>
                  <a:srgbClr val="334155"/>
                </a:solidFill>
                <a:latin typeface="Times New Roman"/>
              </a:rPr>
              <a:t>NLP &amp; Spatial Insights:</a:t>
            </a:r>
            <a:r>
              <a:rPr sz="1012" b="0" i="0" u="none">
                <a:solidFill>
                  <a:srgbClr val="334155"/>
                </a:solidFill>
                <a:latin typeface="Times New Roman"/>
              </a:rPr>
              <a:t> Embedded NLP cluster similarity scoring and geographic heatmap matrix.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62700" y="1285875"/>
            <a:ext cx="142875" cy="14287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553200" y="1514475"/>
            <a:ext cx="5076825" cy="179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sz="1012" b="1" i="0" u="none">
                <a:solidFill>
                  <a:srgbClr val="334155"/>
                </a:solidFill>
                <a:latin typeface="Times New Roman"/>
              </a:rPr>
              <a:t>Project Documentation:</a:t>
            </a:r>
            <a:r>
              <a:rPr sz="1012" b="0" i="0" u="none">
                <a:solidFill>
                  <a:srgbClr val="334155"/>
                </a:solidFill>
                <a:latin typeface="Times New Roman"/>
              </a:rPr>
              <a:t> Comprehensive technical documentation and README prepared.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53200" y="1770608"/>
            <a:ext cx="5076825" cy="179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sz="1012" b="1" i="0" u="none">
                <a:solidFill>
                  <a:srgbClr val="334155"/>
                </a:solidFill>
                <a:latin typeface="Times New Roman"/>
              </a:rPr>
              <a:t>Final PDF Report:</a:t>
            </a:r>
            <a:r>
              <a:rPr sz="1012" b="0" i="0" u="none">
                <a:solidFill>
                  <a:srgbClr val="334155"/>
                </a:solidFill>
                <a:latin typeface="Times New Roman"/>
              </a:rPr>
              <a:t> Published complete project report detailing methodology and data findings.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53200" y="2026741"/>
            <a:ext cx="5076825" cy="179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sz="1012" b="1" i="0" u="none">
                <a:solidFill>
                  <a:srgbClr val="334155"/>
                </a:solidFill>
                <a:latin typeface="Times New Roman"/>
              </a:rPr>
              <a:t>Presentation Deck:</a:t>
            </a:r>
            <a:r>
              <a:rPr sz="1012" b="0" i="0" u="none">
                <a:solidFill>
                  <a:srgbClr val="334155"/>
                </a:solidFill>
                <a:latin typeface="Times New Roman"/>
              </a:rPr>
              <a:t> Created 10-slide executive presentation for project evaluation.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53200" y="2282874"/>
            <a:ext cx="5076825" cy="1894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sz="1012" b="1" i="0" u="none">
                <a:solidFill>
                  <a:srgbClr val="334155"/>
                </a:solidFill>
                <a:latin typeface="Times New Roman"/>
              </a:rPr>
              <a:t>GitHub Repository:</a:t>
            </a:r>
            <a:r>
              <a:rPr sz="1012" b="0" i="0" u="none">
                <a:solidFill>
                  <a:srgbClr val="334155"/>
                </a:solidFill>
                <a:latin typeface="Times New Roman"/>
              </a:rPr>
              <a:t> Uploaded .pbix file, data notebooks, and documentation to GitHub.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650" y="1495425"/>
            <a:ext cx="571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2563EB"/>
                </a:solidFill>
                <a:latin typeface="Times New Roman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650" y="1941016"/>
            <a:ext cx="571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2563EB"/>
                </a:solidFill>
                <a:latin typeface="Times New Roman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8650" y="2377082"/>
            <a:ext cx="571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2563EB"/>
                </a:solidFill>
                <a:latin typeface="Times New Roman"/>
              </a:rPr>
              <a:t>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8650" y="2633216"/>
            <a:ext cx="571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2563EB"/>
                </a:solidFill>
                <a:latin typeface="Times New Roman"/>
              </a:rP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1495425"/>
            <a:ext cx="571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2563EB"/>
                </a:solidFill>
                <a:latin typeface="Times New Roman"/>
              </a:rPr>
              <a:t>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1751558"/>
            <a:ext cx="571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2563EB"/>
                </a:solidFill>
                <a:latin typeface="Times New Roman"/>
              </a:rPr>
              <a:t>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2007691"/>
            <a:ext cx="571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2563EB"/>
                </a:solidFill>
                <a:latin typeface="Times New Roman"/>
              </a:rPr>
              <a:t>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2263824"/>
            <a:ext cx="571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2563EB"/>
                </a:solidFill>
                <a:latin typeface="Times New Roman"/>
              </a:rPr>
              <a:t>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1574</Words>
  <Application>Microsoft Office PowerPoint</Application>
  <PresentationFormat>Widescreen</PresentationFormat>
  <Paragraphs>255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Times New Roman</vt:lpstr>
      <vt:lpstr>Times New Roman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Ayush Gupta</cp:lastModifiedBy>
  <cp:revision>2</cp:revision>
  <dcterms:created xsi:type="dcterms:W3CDTF">2013-01-27T09:14:16Z</dcterms:created>
  <dcterms:modified xsi:type="dcterms:W3CDTF">2026-08-18T08:23:33Z</dcterms:modified>
  <cp:category/>
</cp:coreProperties>
</file>