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7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51.png"/><Relationship Id="rId2" Type="http://schemas.openxmlformats.org/officeDocument/2006/relationships/image" Target="../media/image13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49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image" Target="../media/image52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3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3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4.png"/><Relationship Id="rId7" Type="http://schemas.openxmlformats.org/officeDocument/2006/relationships/image" Target="../media/image81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9" Type="http://schemas.openxmlformats.org/officeDocument/2006/relationships/image" Target="../media/image8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495079"/>
            <a:ext cx="7620000" cy="1390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75" y="428625"/>
            <a:ext cx="11239500" cy="6000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48280" y="1972121"/>
            <a:ext cx="403863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 u="none" dirty="0" err="1">
                <a:solidFill>
                  <a:srgbClr val="FFFFFF"/>
                </a:solidFill>
                <a:latin typeface="Poppins"/>
              </a:rPr>
              <a:t>Supportlytics</a:t>
            </a:r>
            <a:endParaRPr sz="4000" b="1" i="0" u="none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54942" y="2797224"/>
            <a:ext cx="7620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92"/>
              </a:lnSpc>
            </a:pPr>
            <a:r>
              <a:rPr sz="2000" b="0" i="0" u="none" dirty="0">
                <a:solidFill>
                  <a:srgbClr val="E2E8F0"/>
                </a:solidFill>
                <a:latin typeface="Segoe UI Medium"/>
              </a:rPr>
              <a:t>IT Support Analytics Dashboard — Milestone 3 (Week 5–6</a:t>
            </a:r>
            <a:r>
              <a:rPr sz="1650" b="0" i="0" u="none" dirty="0">
                <a:solidFill>
                  <a:srgbClr val="E2E8F0"/>
                </a:solidFill>
                <a:latin typeface="Segoe UI Medium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7478" y="3700139"/>
            <a:ext cx="7468522" cy="206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1" i="0" u="none" dirty="0">
                <a:solidFill>
                  <a:srgbClr val="F8FAFC"/>
                </a:solidFill>
                <a:latin typeface="Segoe UI"/>
              </a:rPr>
              <a:t>Modules Covered:</a:t>
            </a:r>
            <a:r>
              <a:rPr b="0" i="0" u="none" dirty="0">
                <a:solidFill>
                  <a:srgbClr val="F8FAFC"/>
                </a:solidFill>
                <a:latin typeface="Segoe UI"/>
              </a:rPr>
              <a:t> Module 5 &amp; 6 (Performance &amp; Regional Insights</a:t>
            </a:r>
            <a:r>
              <a:rPr sz="1125" b="0" i="0" u="none" dirty="0">
                <a:solidFill>
                  <a:srgbClr val="F8FAFC"/>
                </a:solidFill>
                <a:latin typeface="Segoe UI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4078" y="4584814"/>
            <a:ext cx="4146582" cy="211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lang="en-IN" sz="2000" b="1" dirty="0">
                <a:solidFill>
                  <a:srgbClr val="F8FAFC"/>
                </a:solidFill>
                <a:latin typeface="Segoe UI"/>
              </a:rPr>
              <a:t>Presented By </a:t>
            </a:r>
            <a:r>
              <a:rPr sz="2000" b="1" i="0" u="none" dirty="0">
                <a:solidFill>
                  <a:srgbClr val="F8FAFC"/>
                </a:solidFill>
                <a:latin typeface="Segoe UI"/>
              </a:rPr>
              <a:t>:</a:t>
            </a:r>
            <a:r>
              <a:rPr sz="2000" b="0" i="0" u="none" dirty="0">
                <a:solidFill>
                  <a:srgbClr val="F8FAFC"/>
                </a:solidFill>
                <a:latin typeface="Segoe UI"/>
              </a:rPr>
              <a:t> </a:t>
            </a:r>
            <a:r>
              <a:rPr lang="en-IN" sz="2000" b="0" i="0" u="none" dirty="0">
                <a:solidFill>
                  <a:srgbClr val="F8FAFC"/>
                </a:solidFill>
                <a:latin typeface="Segoe UI"/>
              </a:rPr>
              <a:t> </a:t>
            </a:r>
            <a:r>
              <a:rPr lang="en-IN" sz="2000" dirty="0">
                <a:solidFill>
                  <a:srgbClr val="F8FAFC"/>
                </a:solidFill>
                <a:latin typeface="Segoe UI"/>
              </a:rPr>
              <a:t>Ayush Gupta</a:t>
            </a:r>
            <a:endParaRPr sz="2000" b="0" i="0" u="none" dirty="0">
              <a:solidFill>
                <a:srgbClr val="F8FAFC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891307"/>
            <a:ext cx="5476875" cy="215979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891307"/>
            <a:ext cx="5476875" cy="21597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384476"/>
            <a:ext cx="2702718" cy="13631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1843" y="4384476"/>
            <a:ext cx="2702718" cy="13631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437" y="4384476"/>
            <a:ext cx="2702718" cy="136311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3031" y="4384476"/>
            <a:ext cx="2702718" cy="136311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4259" y="4594026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9853" y="4594026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5446" y="4594026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31040" y="4594026"/>
            <a:ext cx="266700" cy="2667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3900" y="2138957"/>
            <a:ext cx="523065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oppins"/>
              </a:rPr>
              <a:t>Core Milestone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2539007"/>
            <a:ext cx="4981575" cy="938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48"/>
              </a:lnSpc>
            </a:pPr>
            <a:r>
              <a:rPr sz="1275" b="0" i="0" u="none">
                <a:solidFill>
                  <a:srgbClr val="475569"/>
                </a:solidFill>
                <a:latin typeface="Segoe UI"/>
              </a:rPr>
              <a:t>Milestone 3 bridges foundational ticket data with advanced predictive modeling and spatial analytics. The objective is to evaluate resolution efficiency across priorities and uncover geographic performance clusters.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2138957"/>
            <a:ext cx="523065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oppins"/>
              </a:rPr>
              <a:t>Key 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703" y="5063281"/>
            <a:ext cx="249781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3A8A"/>
                </a:solidFill>
                <a:latin typeface="Poppins"/>
              </a:rPr>
              <a:t>Data 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" y="5358556"/>
            <a:ext cx="2378868" cy="179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64748B"/>
                </a:solidFill>
                <a:latin typeface="Segoe UI"/>
              </a:rPr>
              <a:t>Clean raw IT service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4297" y="5063281"/>
            <a:ext cx="249781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3A8A"/>
                </a:solidFill>
                <a:latin typeface="Poppins"/>
              </a:rPr>
              <a:t>Trend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768" y="5358556"/>
            <a:ext cx="2378868" cy="179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64748B"/>
                </a:solidFill>
                <a:latin typeface="Segoe UI"/>
              </a:rPr>
              <a:t>Analyze priority &amp; SLAs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9890" y="5063281"/>
            <a:ext cx="249781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3A8A"/>
                </a:solidFill>
                <a:latin typeface="Poppins"/>
              </a:rPr>
              <a:t>Spatial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9362" y="5358556"/>
            <a:ext cx="2378868" cy="179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64748B"/>
                </a:solidFill>
                <a:latin typeface="Segoe UI"/>
              </a:rPr>
              <a:t>Evaluate regional distributions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5484" y="5063281"/>
            <a:ext cx="249781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3A8A"/>
                </a:solidFill>
                <a:latin typeface="Poppins"/>
              </a:rPr>
              <a:t>Dashboard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4956" y="5358556"/>
            <a:ext cx="2378868" cy="1794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13"/>
              </a:lnSpc>
            </a:pPr>
            <a:r>
              <a:rPr sz="975" b="0" i="0" u="none">
                <a:solidFill>
                  <a:srgbClr val="64748B"/>
                </a:solidFill>
                <a:latin typeface="Segoe UI"/>
              </a:rPr>
              <a:t>Deploy Streamlit 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6075" y="2539007"/>
            <a:ext cx="4772025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Performance Trend Analysis Engine (Module 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6075" y="2855118"/>
            <a:ext cx="4772025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Geographic &amp; Category-Level Spatial Mapping (Module 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6075" y="3171229"/>
            <a:ext cx="4772025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Interactive Streamlit Analytics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6075" y="3487340"/>
            <a:ext cx="4772025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Automated KPI Calculation &amp; Variance Summaries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525" y="2539007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6525" y="2855118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6525" y="3171229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6525" y="3487340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250" y="428625"/>
            <a:ext cx="11715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Milestone 3 Overview &amp; Objectives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6250" y="990600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823144"/>
            <a:ext cx="3619500" cy="1901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1823144"/>
            <a:ext cx="3619500" cy="19011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1823144"/>
            <a:ext cx="3619500" cy="19011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914775"/>
            <a:ext cx="3619500" cy="190113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3914775"/>
            <a:ext cx="3619500" cy="190113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3914775"/>
            <a:ext cx="3619500" cy="190113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0250" y="2070794"/>
            <a:ext cx="5715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0874" y="2756594"/>
            <a:ext cx="201025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Resolution by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3089969"/>
            <a:ext cx="32194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Segoe UI"/>
              </a:rPr>
              <a:t>Analyze average resolution timelines across Critical, High, Medium, and Low ticket priorities.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0" y="2070794"/>
            <a:ext cx="571500" cy="571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85873" y="2756594"/>
            <a:ext cx="202025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Ticket Type 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275" y="3089969"/>
            <a:ext cx="32194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Segoe UI"/>
              </a:rPr>
              <a:t>Compare resolution efficiency by service classification (Problem, Incident, Request).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0" y="2070794"/>
            <a:ext cx="5715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00874" y="2756594"/>
            <a:ext cx="201025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Country Benchmarks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6275" y="3089969"/>
            <a:ext cx="32194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Segoe UI"/>
              </a:rPr>
              <a:t>Identify fastest-performing regional service centers and operational bottlenecks.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00250" y="4162425"/>
            <a:ext cx="571500" cy="571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50883" y="4848225"/>
            <a:ext cx="187023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Team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" y="5181600"/>
            <a:ext cx="32194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Segoe UI"/>
              </a:rPr>
              <a:t>Evaluate team-level throughput, backlog ratios, and first-contact resolution rates.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0250" y="4162425"/>
            <a:ext cx="571500" cy="571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10876" y="4848225"/>
            <a:ext cx="197024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Unresolved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6275" y="5181600"/>
            <a:ext cx="32194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Segoe UI"/>
              </a:rPr>
              <a:t>Detect stagnant high-priority tickets exceeding standard SLAs for immediate escalation.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20250" y="4162425"/>
            <a:ext cx="571500" cy="571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85872" y="4848225"/>
            <a:ext cx="204025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Optimization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275" y="5181600"/>
            <a:ext cx="32194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Segoe UI"/>
              </a:rPr>
              <a:t>Generate actionable recommendations to streamline workflow routing and resource allocation.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3600" y="2204144"/>
            <a:ext cx="304800" cy="3048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43600" y="2204144"/>
            <a:ext cx="304800" cy="3048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53600" y="2204144"/>
            <a:ext cx="304800" cy="3048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95500" y="4295775"/>
            <a:ext cx="381000" cy="3048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43600" y="4295775"/>
            <a:ext cx="304800" cy="3048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91700" y="4295775"/>
            <a:ext cx="2286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6250" y="428625"/>
            <a:ext cx="11715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Module 5 – Performance Trend Analysis Objectives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6250" y="990600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934938"/>
            <a:ext cx="11239500" cy="294367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021484"/>
            <a:ext cx="11239500" cy="2682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325" y="934938"/>
            <a:ext cx="3651200" cy="29436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934938"/>
            <a:ext cx="3651349" cy="29436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437" y="4021484"/>
            <a:ext cx="5548312" cy="2682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2725" y="1623268"/>
            <a:ext cx="3346400" cy="1714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800" y="1623268"/>
            <a:ext cx="3346549" cy="1714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9837" y="4709814"/>
            <a:ext cx="5243512" cy="1619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95638" y="1289893"/>
            <a:ext cx="34004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3A8A"/>
                </a:solidFill>
                <a:latin typeface="Poppins"/>
              </a:rPr>
              <a:t>Average Resolution Time by Ticket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2725" y="3394918"/>
            <a:ext cx="3346400" cy="33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 i="0" u="none">
                <a:solidFill>
                  <a:srgbClr val="475569"/>
                </a:solidFill>
                <a:latin typeface="Segoe UI"/>
              </a:rPr>
              <a:t>Key Insight: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 Service requests exhibit slightly higher resolution duration.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4944" y="1289893"/>
            <a:ext cx="209026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3A8A"/>
                </a:solidFill>
                <a:latin typeface="Poppins"/>
              </a:rPr>
              <a:t>Top 10 Fastest Countries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6081" y="3394918"/>
            <a:ext cx="2947838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 i="0" u="none">
                <a:solidFill>
                  <a:srgbClr val="475569"/>
                </a:solidFill>
                <a:latin typeface="Segoe UI"/>
              </a:rPr>
              <a:t>Key Insight: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 USA and UK lead operational speed 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1420" y="4376439"/>
            <a:ext cx="278034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3A8A"/>
                </a:solidFill>
                <a:latin typeface="Poppins"/>
              </a:rPr>
              <a:t>High-Priority Unresolved Tickets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799" y="6386214"/>
            <a:ext cx="3379440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 i="0" u="none">
                <a:solidFill>
                  <a:srgbClr val="475569"/>
                </a:solidFill>
                <a:latin typeface="Segoe UI"/>
              </a:rPr>
              <a:t>Key Insight: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 Critical unresolved tickets exceed High priority levels.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2250" y="1632793"/>
            <a:ext cx="3327350" cy="1695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6325" y="1632793"/>
            <a:ext cx="3327499" cy="1695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9362" y="4719339"/>
            <a:ext cx="5224462" cy="1600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6250" y="153888"/>
            <a:ext cx="11715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Performance Trend Analysis – Graph Visualizations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6250" y="715863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023467"/>
            <a:ext cx="2702718" cy="8953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843" y="2023467"/>
            <a:ext cx="2702718" cy="895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437" y="2023467"/>
            <a:ext cx="2702718" cy="895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3031" y="2023467"/>
            <a:ext cx="2702718" cy="895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109317"/>
            <a:ext cx="5476875" cy="250626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3109317"/>
            <a:ext cx="5476875" cy="25062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8650" y="2175867"/>
            <a:ext cx="239791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3A8A"/>
                </a:solidFill>
                <a:latin typeface="Poppins"/>
              </a:rPr>
              <a:t>60.5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2614017"/>
            <a:ext cx="239791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Segoe UI SemiBold"/>
              </a:rPr>
              <a:t>Avg Resolution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243" y="2175867"/>
            <a:ext cx="239791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3A8A"/>
                </a:solidFill>
                <a:latin typeface="Poppins"/>
              </a:rPr>
              <a:t>1,300+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243" y="2614017"/>
            <a:ext cx="239791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Segoe UI SemiBold"/>
              </a:rPr>
              <a:t>Critical Unresolved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9837" y="2175867"/>
            <a:ext cx="239791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3A8A"/>
                </a:solidFill>
                <a:latin typeface="Poppins"/>
              </a:rPr>
              <a:t>USA / UK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9837" y="2614017"/>
            <a:ext cx="239791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Segoe UI SemiBold"/>
              </a:rPr>
              <a:t>Fastest Countries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5431" y="2175867"/>
            <a:ext cx="239791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E3A8A"/>
                </a:solidFill>
                <a:latin typeface="Poppins"/>
              </a:rPr>
              <a:t>L1 / 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5431" y="2614017"/>
            <a:ext cx="239791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Segoe UI SemiBold"/>
              </a:rPr>
              <a:t>Balanced Teams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3356967"/>
            <a:ext cx="523065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oppins"/>
              </a:rPr>
              <a:t>Operational Observations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356967"/>
            <a:ext cx="523065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oppins"/>
              </a:rPr>
              <a:t>Strategic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450" y="3757017"/>
            <a:ext cx="4772025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Resolution timelines remain consistent across ticket priorities, averaging ~60 hours.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" y="4293989"/>
            <a:ext cx="4772025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Critical priority unresolved tickets outnumber high priority by nearly 100 tickets.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" y="4830960"/>
            <a:ext cx="4772025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USA and UK service centers demonstrate the fastest turnaround among regional nodes.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75" y="3757017"/>
            <a:ext cx="4772025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Implement automated escalation triggers for stagnant critical tickets.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6075" y="4073128"/>
            <a:ext cx="4772025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Reallocate Tier-2 support staff during peak global traffic hours.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6075" y="4389239"/>
            <a:ext cx="4772025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Standardize workflow practices from top-performing country nodes across all regions.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3757017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293989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4830960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525" y="3757017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6525" y="4073128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6525" y="4389239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250" y="428625"/>
            <a:ext cx="11715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Module 5 – Key Findings &amp; Recommendations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6250" y="990600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823144"/>
            <a:ext cx="3619500" cy="190113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1823144"/>
            <a:ext cx="3619500" cy="19011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1823144"/>
            <a:ext cx="3619500" cy="19011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914775"/>
            <a:ext cx="3619500" cy="190113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3914775"/>
            <a:ext cx="3619500" cy="190113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3914775"/>
            <a:ext cx="3619500" cy="190113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00250" y="2070794"/>
            <a:ext cx="5715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75873" y="2756594"/>
            <a:ext cx="202025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Ticket Concentration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3089969"/>
            <a:ext cx="32194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Segoe UI"/>
              </a:rPr>
              <a:t>Map ticket densities and distributions across global operational hubs.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0" y="2070794"/>
            <a:ext cx="571500" cy="571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65871" y="2756594"/>
            <a:ext cx="206025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Category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275" y="3089969"/>
            <a:ext cx="32194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Segoe UI"/>
              </a:rPr>
              <a:t>Evaluate regional variances in software vs hardware issue classifications.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0" y="2070794"/>
            <a:ext cx="571500" cy="571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75871" y="2756594"/>
            <a:ext cx="206025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Regional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6275" y="3089969"/>
            <a:ext cx="32194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Segoe UI"/>
              </a:rPr>
              <a:t>Benchmark regional team performance and resolution speed across EMEA and APAC.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00250" y="4162425"/>
            <a:ext cx="571500" cy="571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60909" y="4848225"/>
            <a:ext cx="145018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Cluster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" y="5181600"/>
            <a:ext cx="32194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Segoe UI"/>
              </a:rPr>
              <a:t>Analyze customer cluster size against support performance and similarity scores.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10250" y="4162425"/>
            <a:ext cx="571500" cy="571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15890" y="4848225"/>
            <a:ext cx="176022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Density Heatmaps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6275" y="5181600"/>
            <a:ext cx="32194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Segoe UI"/>
              </a:rPr>
              <a:t>Identify service pressure hotspots using multi-variable heatmaps.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20250" y="4162425"/>
            <a:ext cx="571500" cy="571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70908" y="4848225"/>
            <a:ext cx="1470183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Spatial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275" y="5181600"/>
            <a:ext cx="32194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Segoe UI"/>
              </a:rPr>
              <a:t>Generate actionable regional routing strategies based on geographic coordinates.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14550" y="2204144"/>
            <a:ext cx="342900" cy="3048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24550" y="2204144"/>
            <a:ext cx="342900" cy="3048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53600" y="2204144"/>
            <a:ext cx="304800" cy="3048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62650" y="4295775"/>
            <a:ext cx="266700" cy="3048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53600" y="4295775"/>
            <a:ext cx="304800" cy="304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6250" y="428625"/>
            <a:ext cx="11715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Module 6 – Geographic &amp; Category-Level Objectives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6250" y="990600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145232"/>
            <a:ext cx="11239500" cy="294367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231778"/>
            <a:ext cx="11239500" cy="226203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325" y="1145232"/>
            <a:ext cx="3651200" cy="29436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145232"/>
            <a:ext cx="3651349" cy="29436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1843" y="4231778"/>
            <a:ext cx="2702718" cy="226203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7437" y="4231778"/>
            <a:ext cx="2702718" cy="226203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3031" y="4231778"/>
            <a:ext cx="2702718" cy="226203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2725" y="1833562"/>
            <a:ext cx="3346400" cy="1714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6800" y="1833562"/>
            <a:ext cx="3346549" cy="1714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6618" y="4809083"/>
            <a:ext cx="2493168" cy="1238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2212" y="4809083"/>
            <a:ext cx="2493168" cy="1238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17806" y="4809083"/>
            <a:ext cx="2493168" cy="1238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40669" y="1500187"/>
            <a:ext cx="291036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3A8A"/>
                </a:solidFill>
                <a:latin typeface="Poppins"/>
              </a:rPr>
              <a:t>Heatmap of Ticket Concentration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0030" y="3605212"/>
            <a:ext cx="3131790" cy="165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 i="0" u="none">
                <a:solidFill>
                  <a:srgbClr val="475569"/>
                </a:solidFill>
                <a:latin typeface="Segoe UI"/>
              </a:rPr>
              <a:t>Key Insight: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 Security and email tickets peak heavily in Emea.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9924" y="1500187"/>
            <a:ext cx="242030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E3A8A"/>
                </a:solidFill>
                <a:latin typeface="Poppins"/>
              </a:rPr>
              <a:t>Issue Categories by Country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6800" y="3605212"/>
            <a:ext cx="3346549" cy="33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 i="0" u="none">
                <a:solidFill>
                  <a:srgbClr val="475569"/>
                </a:solidFill>
                <a:latin typeface="Segoe UI"/>
              </a:rPr>
              <a:t>Key Insight: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 Scatter plot maps category spread across global coordinates.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3076" y="4513808"/>
            <a:ext cx="202025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3A8A"/>
                </a:solidFill>
                <a:latin typeface="Poppins"/>
              </a:rPr>
              <a:t>Resolution Time by Region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6618" y="6085433"/>
            <a:ext cx="2493168" cy="303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1" i="0" u="none">
                <a:solidFill>
                  <a:srgbClr val="475569"/>
                </a:solidFill>
                <a:latin typeface="Segoe UI"/>
              </a:rPr>
              <a:t>Key Insight:</a:t>
            </a:r>
            <a:r>
              <a:rPr sz="825" b="0" i="0" u="none">
                <a:solidFill>
                  <a:srgbClr val="475569"/>
                </a:solidFill>
                <a:latin typeface="Segoe UI"/>
              </a:rPr>
              <a:t> Equal ~62hr average resolution time across hubs.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3672" y="4513808"/>
            <a:ext cx="199024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3A8A"/>
                </a:solidFill>
                <a:latin typeface="Poppins"/>
              </a:rPr>
              <a:t>Similarity Score by 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212" y="6085433"/>
            <a:ext cx="2493168" cy="303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1" i="0" u="none">
                <a:solidFill>
                  <a:srgbClr val="475569"/>
                </a:solidFill>
                <a:latin typeface="Segoe UI"/>
              </a:rPr>
              <a:t>Key Insight:</a:t>
            </a:r>
            <a:r>
              <a:rPr sz="825" b="0" i="0" u="none">
                <a:solidFill>
                  <a:srgbClr val="475569"/>
                </a:solidFill>
                <a:latin typeface="Segoe UI"/>
              </a:rPr>
              <a:t> Maintains consistent ~0.74 similarity index.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9285" y="4513808"/>
            <a:ext cx="169021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E3A8A"/>
                </a:solidFill>
                <a:latin typeface="Poppins"/>
              </a:rPr>
              <a:t>Category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7806" y="6085433"/>
            <a:ext cx="2493168" cy="303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6"/>
              </a:lnSpc>
            </a:pPr>
            <a:r>
              <a:rPr sz="825" b="1" i="0" u="none">
                <a:solidFill>
                  <a:srgbClr val="475569"/>
                </a:solidFill>
                <a:latin typeface="Segoe UI"/>
              </a:rPr>
              <a:t>Key Insight:</a:t>
            </a:r>
            <a:r>
              <a:rPr sz="825" b="0" i="0" u="none">
                <a:solidFill>
                  <a:srgbClr val="475569"/>
                </a:solidFill>
                <a:latin typeface="Segoe UI"/>
              </a:rPr>
              <a:t> Balanced ticket category spread across Emea and Apac.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2250" y="1843087"/>
            <a:ext cx="3327350" cy="1695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6325" y="1843087"/>
            <a:ext cx="3327499" cy="1695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36143" y="4818608"/>
            <a:ext cx="2474118" cy="12192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1737" y="4818608"/>
            <a:ext cx="2474118" cy="12192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27331" y="4818608"/>
            <a:ext cx="2474118" cy="1219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6250" y="364182"/>
            <a:ext cx="11715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Geographic Analysis &amp; Spatial Visualizations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6250" y="926157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009775"/>
            <a:ext cx="5476875" cy="3619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009775"/>
            <a:ext cx="54768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4111525"/>
            <a:ext cx="5095875" cy="514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5143351"/>
            <a:ext cx="5095875" cy="295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3032075"/>
            <a:ext cx="2490787" cy="561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1837" y="3032075"/>
            <a:ext cx="2490787" cy="561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86525" y="2277070"/>
            <a:ext cx="523065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oppins"/>
              </a:rPr>
              <a:t>Dashboard Features &amp;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4596" y="2200275"/>
            <a:ext cx="3038028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60A5FA"/>
                </a:solidFill>
                <a:latin typeface="Segoe UI"/>
              </a:rPr>
              <a:t> Supportlytics BI Panel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6750" y="2505075"/>
            <a:ext cx="5095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96075" y="2677120"/>
            <a:ext cx="4772025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475569"/>
                </a:solidFill>
                <a:latin typeface="Segoe UI"/>
              </a:rPr>
              <a:t>Sidebar Filters:</a:t>
            </a:r>
            <a:r>
              <a:rPr sz="1200" b="0" i="0" u="none">
                <a:solidFill>
                  <a:srgbClr val="475569"/>
                </a:solidFill>
                <a:latin typeface="Segoe UI"/>
              </a:rPr>
              <a:t> Dynamic date range, priority toggles, and regional selectors.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6075" y="3214092"/>
            <a:ext cx="4772025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475569"/>
                </a:solidFill>
                <a:latin typeface="Segoe UI"/>
              </a:rPr>
              <a:t>Real-time KPI Cards:</a:t>
            </a:r>
            <a:r>
              <a:rPr sz="1200" b="0" i="0" u="none">
                <a:solidFill>
                  <a:srgbClr val="475569"/>
                </a:solidFill>
                <a:latin typeface="Segoe UI"/>
              </a:rPr>
              <a:t> Instant metrics for resolution speed (~60.5 hrs) and satisfaction.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6075" y="3751064"/>
            <a:ext cx="4772025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475569"/>
                </a:solidFill>
                <a:latin typeface="Segoe UI"/>
              </a:rPr>
              <a:t>Geographic Heatmaps:</a:t>
            </a:r>
            <a:r>
              <a:rPr sz="1200" b="0" i="0" u="none">
                <a:solidFill>
                  <a:srgbClr val="475569"/>
                </a:solidFill>
                <a:latin typeface="Segoe UI"/>
              </a:rPr>
              <a:t> Interactive Folium integration for global ticket density mapping.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6075" y="4288035"/>
            <a:ext cx="4772025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475569"/>
                </a:solidFill>
                <a:latin typeface="Segoe UI"/>
              </a:rPr>
              <a:t>Top Region &amp; Similarity:</a:t>
            </a:r>
            <a:r>
              <a:rPr sz="1200" b="0" i="0" u="none">
                <a:solidFill>
                  <a:srgbClr val="475569"/>
                </a:solidFill>
                <a:latin typeface="Segoe UI"/>
              </a:rPr>
              <a:t> North America leads volume; Cluster Similarity Index at 0.74.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6075" y="4825007"/>
            <a:ext cx="4772025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475569"/>
                </a:solidFill>
                <a:latin typeface="Segoe UI"/>
              </a:rPr>
              <a:t>Exporting Tools:</a:t>
            </a:r>
            <a:r>
              <a:rPr sz="1200" b="0" i="0" u="none">
                <a:solidFill>
                  <a:srgbClr val="475569"/>
                </a:solidFill>
                <a:latin typeface="Segoe UI"/>
              </a:rPr>
              <a:t> One-click CSV and PDF report generation for executive review.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8279" y="2200275"/>
            <a:ext cx="119434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7825" y="4273450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4756" y="5229076"/>
            <a:ext cx="123825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86525" y="2677120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3214092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3751064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4288035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4825007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" y="2214562"/>
            <a:ext cx="190500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9150" y="3146375"/>
            <a:ext cx="222408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Segoe UI"/>
              </a:rPr>
              <a:t>Avg 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" y="3279725"/>
            <a:ext cx="22240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Segoe UI"/>
              </a:rPr>
              <a:t>60.5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4237" y="3146375"/>
            <a:ext cx="222408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Segoe UI"/>
              </a:rPr>
              <a:t>Cluster Similarity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4237" y="3279725"/>
            <a:ext cx="22240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Segoe UI"/>
              </a:rPr>
              <a:t>0.74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050" y="4225825"/>
            <a:ext cx="221307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Segoe UI"/>
              </a:rPr>
              <a:t>Active Filters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050" y="4359175"/>
            <a:ext cx="221307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Segoe UI SemiBold"/>
              </a:rPr>
              <a:t>Region: EMEA / APAC | Priority: 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6250" y="428625"/>
            <a:ext cx="11715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Interactive Streamlit Dashboard Preview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6250" y="990600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4590752"/>
            <a:ext cx="11239500" cy="59665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451496"/>
            <a:ext cx="3619500" cy="19011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2451496"/>
            <a:ext cx="3619500" cy="19011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451496"/>
            <a:ext cx="3619500" cy="1901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7225" y="4771727"/>
            <a:ext cx="10877550" cy="234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48"/>
              </a:lnSpc>
            </a:pPr>
            <a:r>
              <a:rPr sz="1275" b="0" i="0" u="none">
                <a:solidFill>
                  <a:srgbClr val="1E3A8A"/>
                </a:solidFill>
                <a:latin typeface="Segoe UI SemiBold"/>
              </a:rPr>
              <a:t>Milestone 3 successfully achieved all core objectives with zero latency overhead in benchmark testing.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2699146"/>
            <a:ext cx="571500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0921" y="3384946"/>
            <a:ext cx="125015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Trend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3718321"/>
            <a:ext cx="32194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Segoe UI"/>
              </a:rPr>
              <a:t>Fully implemented Module 5 performance trend analysis with priority breakdown algorithms.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0" y="2699146"/>
            <a:ext cx="571500" cy="571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60895" y="3384946"/>
            <a:ext cx="167020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Spatial Mappings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6275" y="3718321"/>
            <a:ext cx="32194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Segoe UI"/>
              </a:rPr>
              <a:t>Completed regional category distribution heatmaps and cluster scoring matrices.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0" y="2699146"/>
            <a:ext cx="571500" cy="571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60919" y="3384946"/>
            <a:ext cx="129016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3A8A"/>
                </a:solidFill>
                <a:latin typeface="Poppins"/>
              </a:rPr>
              <a:t>Dashboard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6275" y="3718321"/>
            <a:ext cx="321945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22"/>
              </a:lnSpc>
            </a:pPr>
            <a:r>
              <a:rPr sz="1050" b="0" i="0" u="none">
                <a:solidFill>
                  <a:srgbClr val="64748B"/>
                </a:solidFill>
                <a:latin typeface="Segoe UI"/>
              </a:rPr>
              <a:t>Deployed robust Streamlit interface with interactive filters and live data visualization.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2650" y="2832496"/>
            <a:ext cx="2667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4550" y="2832496"/>
            <a:ext cx="3429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4550" y="2832496"/>
            <a:ext cx="3429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6250" y="428625"/>
            <a:ext cx="11715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Milestone 3 – Results &amp; Completed Deliverables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6250" y="990600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629197"/>
            <a:ext cx="5476875" cy="23806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629197"/>
            <a:ext cx="5476875" cy="23806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3900" y="2876847"/>
            <a:ext cx="523065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oppins"/>
              </a:rPr>
              <a:t>Project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6525" y="2876847"/>
            <a:ext cx="523065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3A8A"/>
                </a:solidFill>
                <a:latin typeface="Poppins"/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3276897"/>
            <a:ext cx="4772025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Successfully analyzed IT support performance trends across all ticket categories.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50" y="3813869"/>
            <a:ext cx="4772025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Generated comprehensive geographic and category-level insights.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4129980"/>
            <a:ext cx="4772025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Developed an interactive Streamlit business intelligence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4446091"/>
            <a:ext cx="4772025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Significantly improved visualization of core IT operational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96075" y="3276897"/>
            <a:ext cx="4772025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Integration of AI-based predictive ticket routing and classification.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6075" y="3593008"/>
            <a:ext cx="4772025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Real-time webhook streaming for live support desk integration.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6075" y="3909119"/>
            <a:ext cx="4772025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Advanced machine learning anomaly detection for cluster workloads.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6075" y="4225230"/>
            <a:ext cx="4772025" cy="22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475569"/>
                </a:solidFill>
                <a:latin typeface="Segoe UI"/>
              </a:rPr>
              <a:t>Cloud deployment on AWS/Azure with automated CI/CD pipelines.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3276897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3813869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129980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4446091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276897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3593008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6525" y="3909119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4225230"/>
            <a:ext cx="1333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i="0" u="none">
                <a:solidFill>
                  <a:srgbClr val="3B82F6"/>
                </a:solidFill>
                <a:latin typeface="Segoe UI"/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428625"/>
            <a:ext cx="11715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Conclusion &amp; Future Scope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6250" y="990600"/>
            <a:ext cx="11239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E5E895-E63D-E8BE-07A7-72F7D81F856A}"/>
              </a:ext>
            </a:extLst>
          </p:cNvPr>
          <p:cNvSpPr txBox="1"/>
          <p:nvPr/>
        </p:nvSpPr>
        <p:spPr>
          <a:xfrm>
            <a:off x="5142271" y="5240980"/>
            <a:ext cx="20552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Thank You</a:t>
            </a:r>
          </a:p>
          <a:p>
            <a:endParaRPr lang="en-IN" sz="2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795</Words>
  <Application>Microsoft Office PowerPoint</Application>
  <PresentationFormat>Widescreen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Poppins</vt:lpstr>
      <vt:lpstr>Segoe UI</vt:lpstr>
      <vt:lpstr>Segoe UI Medium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Gupta</cp:lastModifiedBy>
  <cp:revision>3</cp:revision>
  <dcterms:created xsi:type="dcterms:W3CDTF">2013-01-27T09:14:16Z</dcterms:created>
  <dcterms:modified xsi:type="dcterms:W3CDTF">2026-08-19T12:26:04Z</dcterms:modified>
  <cp:category/>
</cp:coreProperties>
</file>