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Bitter" panose="020B0604020202020204" charset="0"/>
      <p:regular r:id="rId13"/>
    </p:embeddedFont>
    <p:embeddedFont>
      <p:font typeface="Bitter Bold" panose="020B0604020202020204" charset="0"/>
      <p:regular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Outfit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81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1917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Supportlytics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27476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Data-Driven Optimization of IT Support Team Performance Using Advanced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661047"/>
            <a:ext cx="8151763" cy="52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Milestone 2 (Week 3–4) • Infosys Springboard 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By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8919" y="3342829"/>
            <a:ext cx="86089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Uma Parvathi Devi Nakireddy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6616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Milestone 2 — Overview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042095"/>
            <a:ext cx="815176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 Objective: Complete exploratory visualization and cluster-based similarity analysis to surface actionable support trends    and performance gaps.   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609204"/>
            <a:ext cx="4011513" cy="1063823"/>
          </a:xfrm>
          <a:prstGeom prst="roundRect">
            <a:avLst>
              <a:gd name="adj" fmla="val 1905"/>
            </a:avLst>
          </a:prstGeom>
          <a:solidFill>
            <a:srgbClr val="1C1D1F"/>
          </a:solidFill>
          <a:ln w="19050">
            <a:solidFill>
              <a:srgbClr val="5455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0230" y="1763316"/>
            <a:ext cx="37032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Modules Covered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0230" y="2051670"/>
            <a:ext cx="3703290" cy="467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Module 3 — Exploratory Visualization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Module 4 — Similarity &amp; Cluster Insights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36368" y="1609204"/>
            <a:ext cx="4011513" cy="1063823"/>
          </a:xfrm>
          <a:prstGeom prst="roundRect">
            <a:avLst>
              <a:gd name="adj" fmla="val 1905"/>
            </a:avLst>
          </a:prstGeom>
          <a:solidFill>
            <a:srgbClr val="1C1D1F"/>
          </a:solidFill>
          <a:ln w="19050">
            <a:solidFill>
              <a:srgbClr val="545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90480" y="1763316"/>
            <a:ext cx="37032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Workflow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90480" y="2051670"/>
            <a:ext cx="370329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Dataset → Exploratory Analysis → Cluster Analysis → Key Insights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268" y="2817912"/>
            <a:ext cx="3903464" cy="18988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566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Dataset Overview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68227"/>
            <a:ext cx="3053135" cy="1908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835896"/>
            <a:ext cx="351033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9892" y="1390724"/>
            <a:ext cx="354360" cy="354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31432" y="1390724"/>
            <a:ext cx="42211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Dataset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431432" y="1753939"/>
            <a:ext cx="422113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ServiceNow support ticket dataset capturing incidents, categories, priorities, timestamps, assign groups, and resolution notes.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9892" y="2717899"/>
            <a:ext cx="354360" cy="35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431432" y="2717899"/>
            <a:ext cx="42211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Columns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431432" y="3081114"/>
            <a:ext cx="422113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ticket_id, created_at, resolved_at, priority, category, assignment_group, resolution_code,cluster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99892" y="3818260"/>
            <a:ext cx="354360" cy="3543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431432" y="3818260"/>
            <a:ext cx="42211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Tools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4431432" y="4181475"/>
            <a:ext cx="42211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Python • Pandas • Matplotlib (visualization  and preprocessing)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Module 3 — Exploratory Visualizations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82154"/>
            <a:ext cx="1935063" cy="1935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661493"/>
            <a:ext cx="268768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Visualization 1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96119" y="2793429"/>
            <a:ext cx="268768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Ticket type distribution</a:t>
            </a:r>
            <a:endParaRPr lang="en-US" sz="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082" y="682154"/>
            <a:ext cx="1935138" cy="19351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28082" y="2661568"/>
            <a:ext cx="26877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Visualization 2</a:t>
            </a:r>
            <a:endParaRPr lang="en-US" sz="650" dirty="0"/>
          </a:p>
        </p:txBody>
      </p:sp>
      <p:sp>
        <p:nvSpPr>
          <p:cNvPr id="8" name="Shape 4"/>
          <p:cNvSpPr/>
          <p:nvPr/>
        </p:nvSpPr>
        <p:spPr>
          <a:xfrm>
            <a:off x="3228082" y="2812107"/>
            <a:ext cx="2687762" cy="226740"/>
          </a:xfrm>
          <a:prstGeom prst="roundRect">
            <a:avLst>
              <a:gd name="adj" fmla="val 4689"/>
            </a:avLst>
          </a:prstGeom>
          <a:solidFill>
            <a:srgbClr val="292A2C"/>
          </a:solidFill>
          <a:ln/>
        </p:spPr>
      </p:sp>
      <p:sp>
        <p:nvSpPr>
          <p:cNvPr id="9" name="Shape 5"/>
          <p:cNvSpPr/>
          <p:nvPr/>
        </p:nvSpPr>
        <p:spPr>
          <a:xfrm>
            <a:off x="3224585" y="2812107"/>
            <a:ext cx="2694756" cy="226740"/>
          </a:xfrm>
          <a:prstGeom prst="roundRect">
            <a:avLst>
              <a:gd name="adj" fmla="val 4689"/>
            </a:avLst>
          </a:prstGeom>
          <a:solidFill>
            <a:srgbClr val="292A2C"/>
          </a:solidFill>
          <a:ln/>
        </p:spPr>
      </p:sp>
      <p:sp>
        <p:nvSpPr>
          <p:cNvPr id="10" name="Text 6"/>
          <p:cNvSpPr/>
          <p:nvPr/>
        </p:nvSpPr>
        <p:spPr>
          <a:xfrm>
            <a:off x="3313137" y="2882950"/>
            <a:ext cx="251765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Top Categories by Frequency</a:t>
            </a:r>
            <a:endParaRPr lang="en-US" sz="5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0120" y="682154"/>
            <a:ext cx="1935063" cy="19350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60120" y="2661493"/>
            <a:ext cx="268768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Visualization 3</a:t>
            </a:r>
            <a:endParaRPr lang="en-US" sz="650" dirty="0"/>
          </a:p>
        </p:txBody>
      </p:sp>
      <p:sp>
        <p:nvSpPr>
          <p:cNvPr id="13" name="Text 8"/>
          <p:cNvSpPr/>
          <p:nvPr/>
        </p:nvSpPr>
        <p:spPr>
          <a:xfrm>
            <a:off x="5960120" y="2793429"/>
            <a:ext cx="268768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Top clusters by frequency</a:t>
            </a:r>
            <a:endParaRPr lang="en-US" sz="5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109689"/>
            <a:ext cx="1935063" cy="193506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6119" y="5089029"/>
            <a:ext cx="268768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Visualization 4</a:t>
            </a:r>
            <a:endParaRPr lang="en-US" sz="650" dirty="0"/>
          </a:p>
        </p:txBody>
      </p:sp>
      <p:sp>
        <p:nvSpPr>
          <p:cNvPr id="16" name="Text 10"/>
          <p:cNvSpPr/>
          <p:nvPr/>
        </p:nvSpPr>
        <p:spPr>
          <a:xfrm>
            <a:off x="496119" y="5220965"/>
            <a:ext cx="268768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Queue and workload analysis</a:t>
            </a:r>
            <a:endParaRPr lang="en-US" sz="5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8082" y="3109689"/>
            <a:ext cx="1935138" cy="193513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28082" y="5089103"/>
            <a:ext cx="26877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Tickets by Queue</a:t>
            </a:r>
            <a:endParaRPr lang="en-US" sz="650" dirty="0"/>
          </a:p>
        </p:txBody>
      </p:sp>
      <p:sp>
        <p:nvSpPr>
          <p:cNvPr id="19" name="Text 12"/>
          <p:cNvSpPr/>
          <p:nvPr/>
        </p:nvSpPr>
        <p:spPr>
          <a:xfrm>
            <a:off x="3228082" y="5221039"/>
            <a:ext cx="268776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tickets by Queue</a:t>
            </a:r>
            <a:endParaRPr lang="en-US" sz="550" dirty="0"/>
          </a:p>
        </p:txBody>
      </p:sp>
      <p:sp>
        <p:nvSpPr>
          <p:cNvPr id="20" name="Shape 13"/>
          <p:cNvSpPr/>
          <p:nvPr/>
        </p:nvSpPr>
        <p:spPr>
          <a:xfrm>
            <a:off x="496119" y="5363617"/>
            <a:ext cx="8151763" cy="9525"/>
          </a:xfrm>
          <a:prstGeom prst="roundRect">
            <a:avLst>
              <a:gd name="adj" fmla="val 60000"/>
            </a:avLst>
          </a:prstGeom>
          <a:solidFill>
            <a:srgbClr val="C2C4B5">
              <a:alpha val="5000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496119" y="5430664"/>
            <a:ext cx="8151763" cy="474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Ticket distribution provides a clear overview of support request patterns.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High-frequency categories represent the most common customer issues.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Cluster analysis identifies recurring issue groups within the dataset.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Priority distribution supports effective ticket prioritization.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Queue analysis illustrates workload allocation across support teams.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965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Module 4: Similarity &amp; Cluster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46163"/>
            <a:ext cx="8151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Created a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Cluster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column to group similar support tickets.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Calculated the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Similarity Score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for each ticket using its resolution duration.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Found the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average similarity score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for each clusters.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512740"/>
            <a:ext cx="6027316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Compared different clusters based on their size and issue types.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Analyzed how similarity scores vary across clusters.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Studied the relationship between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cluster size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and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average similarity score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Identified recurring issue patterns through cluster analysis.terns.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419702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752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Module 4 — Similarity &amp; Cluster Insights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918865"/>
            <a:ext cx="8608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Four screenshot slots for cluster visualizations: similarity matrix, cluster scatter, centroid profiles, boxplots comparing clusters.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73956"/>
            <a:ext cx="1956792" cy="1956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217218"/>
            <a:ext cx="195679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Visualization 1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96119" y="3442097"/>
            <a:ext cx="1956792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Average similaroty score within clusters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1034" y="1173956"/>
            <a:ext cx="1956867" cy="19568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61034" y="3217292"/>
            <a:ext cx="195686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Visualization 2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2561034" y="3442171"/>
            <a:ext cx="195686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Cluster vs IssueType</a:t>
            </a:r>
            <a:endParaRPr lang="en-US" sz="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025" y="1173956"/>
            <a:ext cx="1956867" cy="195686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26025" y="3217292"/>
            <a:ext cx="195686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Visualization 3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4626025" y="3442171"/>
            <a:ext cx="1956867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Similarity score distribution by Cluster</a:t>
            </a:r>
            <a:endParaRPr lang="en-US" sz="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1015" y="1173956"/>
            <a:ext cx="1956867" cy="195686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91015" y="3217292"/>
            <a:ext cx="195686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Visualization 4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6691015" y="3442171"/>
            <a:ext cx="1956867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Similarity score vs Resolution duration 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496119" y="3882703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C2C4B5">
              <a:alpha val="50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496119" y="4022006"/>
            <a:ext cx="8151763" cy="721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Similarity scores vary across clusters, showing some tight groups and some diffuse clusters.</a:t>
            </a:r>
            <a:endParaRPr lang="en-US" sz="850" dirty="0"/>
          </a:p>
          <a:p>
            <a:pPr marL="172720" indent="-172720" algn="l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Larger clusters indicate recurring or high-volume issue families.</a:t>
            </a:r>
            <a:endParaRPr lang="en-US" sz="850" dirty="0"/>
          </a:p>
          <a:p>
            <a:pPr marL="172720" indent="-172720" algn="l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Scatter plots reveal relationships and potential mislabeled tickets spanning clusters.</a:t>
            </a:r>
            <a:endParaRPr lang="en-US" sz="850" dirty="0"/>
          </a:p>
          <a:p>
            <a:pPr marL="172720" indent="-172720" algn="l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Boxplots highlight performance and resolution-time variation between clusters.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351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Insights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140023"/>
            <a:ext cx="1931566" cy="2064321"/>
          </a:xfrm>
          <a:prstGeom prst="roundRect">
            <a:avLst>
              <a:gd name="adj" fmla="val 1101"/>
            </a:avLst>
          </a:prstGeom>
          <a:solidFill>
            <a:srgbClr val="3B3C3E"/>
          </a:solidFill>
          <a:ln/>
        </p:spPr>
      </p:sp>
      <p:sp>
        <p:nvSpPr>
          <p:cNvPr id="4" name="Shape 2"/>
          <p:cNvSpPr/>
          <p:nvPr/>
        </p:nvSpPr>
        <p:spPr>
          <a:xfrm>
            <a:off x="637877" y="1281782"/>
            <a:ext cx="425276" cy="425276"/>
          </a:xfrm>
          <a:prstGeom prst="ellipse">
            <a:avLst/>
          </a:prstGeom>
          <a:solidFill>
            <a:srgbClr val="9FA5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856" y="1398687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877" y="1848817"/>
            <a:ext cx="16480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Ticket Patterns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155329"/>
            <a:ext cx="164804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Distribution patterns identify top recurring issue types for targeted fixes.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69443" y="1140023"/>
            <a:ext cx="1931640" cy="2064321"/>
          </a:xfrm>
          <a:prstGeom prst="roundRect">
            <a:avLst>
              <a:gd name="adj" fmla="val 1101"/>
            </a:avLst>
          </a:prstGeom>
          <a:solidFill>
            <a:srgbClr val="3B3C3E"/>
          </a:solidFill>
          <a:ln/>
        </p:spPr>
      </p:sp>
      <p:sp>
        <p:nvSpPr>
          <p:cNvPr id="9" name="Shape 6"/>
          <p:cNvSpPr/>
          <p:nvPr/>
        </p:nvSpPr>
        <p:spPr>
          <a:xfrm>
            <a:off x="2711202" y="1281782"/>
            <a:ext cx="425276" cy="425276"/>
          </a:xfrm>
          <a:prstGeom prst="ellipse">
            <a:avLst/>
          </a:prstGeom>
          <a:solidFill>
            <a:srgbClr val="9FA58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28181" y="1398687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11202" y="1848817"/>
            <a:ext cx="16481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Major Categories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711202" y="2155329"/>
            <a:ext cx="164812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Focused categories account for the bulk of workload — prioritize documentation.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42842" y="1140023"/>
            <a:ext cx="1931640" cy="2064321"/>
          </a:xfrm>
          <a:prstGeom prst="roundRect">
            <a:avLst>
              <a:gd name="adj" fmla="val 1101"/>
            </a:avLst>
          </a:prstGeom>
          <a:solidFill>
            <a:srgbClr val="3B3C3E"/>
          </a:solidFill>
          <a:ln/>
        </p:spPr>
      </p:sp>
      <p:sp>
        <p:nvSpPr>
          <p:cNvPr id="14" name="Shape 10"/>
          <p:cNvSpPr/>
          <p:nvPr/>
        </p:nvSpPr>
        <p:spPr>
          <a:xfrm>
            <a:off x="4784601" y="1281782"/>
            <a:ext cx="425276" cy="425276"/>
          </a:xfrm>
          <a:prstGeom prst="ellipse">
            <a:avLst/>
          </a:prstGeom>
          <a:solidFill>
            <a:srgbClr val="9FA58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01580" y="1398687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84601" y="1848817"/>
            <a:ext cx="16481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Cluster Behavior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784601" y="2155329"/>
            <a:ext cx="164812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Clusters reveal groups of similar incidents that can be routed or automated.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716241" y="1140023"/>
            <a:ext cx="1931640" cy="2064321"/>
          </a:xfrm>
          <a:prstGeom prst="roundRect">
            <a:avLst>
              <a:gd name="adj" fmla="val 1101"/>
            </a:avLst>
          </a:prstGeom>
          <a:solidFill>
            <a:srgbClr val="3B3C3E"/>
          </a:solidFill>
          <a:ln/>
        </p:spPr>
      </p:sp>
      <p:sp>
        <p:nvSpPr>
          <p:cNvPr id="19" name="Shape 14"/>
          <p:cNvSpPr/>
          <p:nvPr/>
        </p:nvSpPr>
        <p:spPr>
          <a:xfrm>
            <a:off x="6858000" y="1281782"/>
            <a:ext cx="425276" cy="425276"/>
          </a:xfrm>
          <a:prstGeom prst="ellipse">
            <a:avLst/>
          </a:prstGeom>
          <a:solidFill>
            <a:srgbClr val="9FA582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74979" y="1398687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58000" y="1848817"/>
            <a:ext cx="16481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Similarity Trends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858000" y="2155329"/>
            <a:ext cx="164812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Similarity scores track evolving issue patterns—use for monitoring drift.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96119" y="3346103"/>
            <a:ext cx="8151763" cy="1383878"/>
          </a:xfrm>
          <a:prstGeom prst="roundRect">
            <a:avLst>
              <a:gd name="adj" fmla="val 1537"/>
            </a:avLst>
          </a:prstGeom>
          <a:solidFill>
            <a:srgbClr val="3B3C3E"/>
          </a:solidFill>
          <a:ln/>
        </p:spPr>
      </p:sp>
      <p:sp>
        <p:nvSpPr>
          <p:cNvPr id="24" name="Shape 18"/>
          <p:cNvSpPr/>
          <p:nvPr/>
        </p:nvSpPr>
        <p:spPr>
          <a:xfrm>
            <a:off x="637877" y="3487862"/>
            <a:ext cx="425276" cy="425276"/>
          </a:xfrm>
          <a:prstGeom prst="ellipse">
            <a:avLst/>
          </a:prstGeom>
          <a:solidFill>
            <a:srgbClr val="9FA582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4856" y="3604766"/>
            <a:ext cx="191319" cy="19131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7877" y="4054897"/>
            <a:ext cx="7868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Performance Gaps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637877" y="4361408"/>
            <a:ext cx="7868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Identified clusters with longer resolution times—targets for process improvement.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509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Challenges &amp; Learning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8244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Challenges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45655"/>
            <a:ext cx="3902943" cy="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Choosing visualizations that convey operational meaning to stakeholders.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Interpreting cluster boundaries and handling outliers without overfitting.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78244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Learning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145655"/>
            <a:ext cx="390294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Practical EDA techniques to reveal signal in noisy support data.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Effective data visualization best practices with Matplotlib.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Cluster analysis workflows and similarity metrics for ticket grouping.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Improved Python &amp; Pandas skills for production-ready preprocessing.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8541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Similarity &amp; Cluster Analysis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846758" y="2013682"/>
            <a:ext cx="5687392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Created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clusters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to group similar support tickets.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Calculated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similarity scores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using ticket resolution duration.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Compared the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average similarity score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of each cluster.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Analyzed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cluster size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and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issue types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to identify recurring patterns.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Used data visualizations to understand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cluster behavior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and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support performance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150" y="2000473"/>
            <a:ext cx="2118420" cy="1411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73127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09505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67519" y="282155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 would be happy to answer your questions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598</Words>
  <Application>Microsoft Office PowerPoint</Application>
  <PresentationFormat>On-screen Show (16:9)</PresentationFormat>
  <Paragraphs>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Outfit Bold</vt:lpstr>
      <vt:lpstr>Consolas</vt:lpstr>
      <vt:lpstr>Arial</vt:lpstr>
      <vt:lpstr>Bitter</vt:lpstr>
      <vt:lpstr>Bitter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DEVI NAKIREDDY</cp:lastModifiedBy>
  <cp:revision>2</cp:revision>
  <dcterms:created xsi:type="dcterms:W3CDTF">2026-07-24T12:26:17Z</dcterms:created>
  <dcterms:modified xsi:type="dcterms:W3CDTF">2026-07-24T12:44:14Z</dcterms:modified>
</cp:coreProperties>
</file>