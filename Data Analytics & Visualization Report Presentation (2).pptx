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6A65F704-1B55-4B5E-9869-17B7C76B3A1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11" Type="http://schemas.openxmlformats.org/officeDocument/2006/relationships/image" Target="../media/image1.png"/><Relationship Id="rId10" Type="http://schemas.openxmlformats.org/officeDocument/2006/relationships/image" Target="../media/image11.png"/><Relationship Id="rId9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33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7.png"/><Relationship Id="rId7" Type="http://schemas.openxmlformats.org/officeDocument/2006/relationships/image" Target="../media/image14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24.png"/><Relationship Id="rId7" Type="http://schemas.openxmlformats.org/officeDocument/2006/relationships/image" Target="../media/image16.png"/><Relationship Id="rId8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48.png"/><Relationship Id="rId11" Type="http://schemas.openxmlformats.org/officeDocument/2006/relationships/image" Target="../media/image32.png"/><Relationship Id="rId10" Type="http://schemas.openxmlformats.org/officeDocument/2006/relationships/image" Target="../media/image22.png"/><Relationship Id="rId9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3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9" Type="http://schemas.openxmlformats.org/officeDocument/2006/relationships/image" Target="../media/image37.png"/><Relationship Id="rId5" Type="http://schemas.openxmlformats.org/officeDocument/2006/relationships/image" Target="../media/image34.png"/><Relationship Id="rId6" Type="http://schemas.openxmlformats.org/officeDocument/2006/relationships/image" Target="../media/image40.png"/><Relationship Id="rId7" Type="http://schemas.openxmlformats.org/officeDocument/2006/relationships/image" Target="../media/image35.png"/><Relationship Id="rId8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Relationship Id="rId5" Type="http://schemas.openxmlformats.org/officeDocument/2006/relationships/image" Target="../media/image4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5" Type="http://schemas.openxmlformats.org/officeDocument/2006/relationships/image" Target="../media/image39.png"/><Relationship Id="rId6" Type="http://schemas.openxmlformats.org/officeDocument/2006/relationships/image" Target="../media/image36.png"/><Relationship Id="rId7" Type="http://schemas.openxmlformats.org/officeDocument/2006/relationships/image" Target="../media/image45.png"/><Relationship Id="rId8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9612" y="2305942"/>
            <a:ext cx="315277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350406" y="2753617"/>
            <a:ext cx="9491186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 Visualization &amp; Pipeline Report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466058"/>
            <a:ext cx="857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 End-to-End Analytics &amp; Database Architecture Presentation covering Data Ingestion, PostgreSQL Cleaning, Schema Integration, and Looker Studio Dashboards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348162" y="4380458"/>
            <a:ext cx="3495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Prepared by Team 4 Data Visualization Associates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2487" y="2386905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8162" y="4399508"/>
            <a:ext cx="1619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1381125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ensure comprehensive project execution, core responsibilities across database administration, ETL pipeline development, validation, and dashboard creation were distributed among team members:</a:t>
            </a:r>
            <a:endParaRPr/>
          </a:p>
        </p:txBody>
      </p:sp>
      <p:graphicFrame>
        <p:nvGraphicFramePr>
          <p:cNvPr id="97" name="Google Shape;97;p14"/>
          <p:cNvGraphicFramePr/>
          <p:nvPr/>
        </p:nvGraphicFramePr>
        <p:xfrm>
          <a:off x="571500" y="2028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{6A65F704-1B55-4B5E-9869-17B7C76B3A1D}</a:tableStyleId>
              </a:tblPr>
              <a:tblGrid>
                <a:gridCol w="2578600"/>
                <a:gridCol w="4022825"/>
                <a:gridCol w="4438050"/>
              </a:tblGrid>
              <a:tr h="46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Team Member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Assigned Project Module / Slide 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Key Deliverable 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46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Abdul Kadir Choudhury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Slide 3: Environment &amp; Database Setup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Supabase PostgreSQL 18 &amp; PGAdmin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ALWIN IMMANUEL J CSE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Slide 4: Dataset Profiling &amp; Initial EDA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Raw Dataset Schema &amp; Field Rate Assessment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6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Tayyaba Munir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Slide 5: Data Quality Audit &amp; Storage Links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Missing Value Profiling &amp; Drive Link Mapping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Muhammad Taha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Slide 6: Data Integration &amp; Schema Joining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Key Relationship Investigation &amp; Join Logic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6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Narapureddy Sai Charan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Slide 7: SQL Cleaning &amp; Type Standardization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Transformation &amp; PostgreSQL Views Code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Nku George Ekong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Slide 8: Validation Metrics &amp; Audit Control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Pre/Post Cleaning Verification &amp; Null Rate Checks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6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Zacharia Nyambu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Slide 9: Looker Studio Executive Dashboard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Interactive Visualizations &amp; Final Metrics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" name="Google Shape;98;p14"/>
          <p:cNvSpPr/>
          <p:nvPr/>
        </p:nvSpPr>
        <p:spPr>
          <a:xfrm>
            <a:off x="576262" y="2476500"/>
            <a:ext cx="2578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3154858" y="2476500"/>
            <a:ext cx="40228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177682" y="2476500"/>
            <a:ext cx="4438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576262" y="2943225"/>
            <a:ext cx="2578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3154858" y="2943225"/>
            <a:ext cx="40228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7177682" y="2943225"/>
            <a:ext cx="4438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76262" y="3409950"/>
            <a:ext cx="2578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3154858" y="3409950"/>
            <a:ext cx="40228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7177682" y="3409950"/>
            <a:ext cx="4438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576262" y="3876675"/>
            <a:ext cx="2578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3154858" y="3876675"/>
            <a:ext cx="40228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7177682" y="3876675"/>
            <a:ext cx="4438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576262" y="4343400"/>
            <a:ext cx="2578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3154858" y="4343400"/>
            <a:ext cx="40228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7177682" y="4343400"/>
            <a:ext cx="4438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576262" y="4810125"/>
            <a:ext cx="2578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3154858" y="4810125"/>
            <a:ext cx="40228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7177682" y="4810125"/>
            <a:ext cx="4438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576262" y="5276850"/>
            <a:ext cx="2578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3154858" y="5276850"/>
            <a:ext cx="40228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7177682" y="5276850"/>
            <a:ext cx="4438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576262" y="5743575"/>
            <a:ext cx="2578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3154858" y="5743575"/>
            <a:ext cx="40228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7177682" y="5743575"/>
            <a:ext cx="4438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Team Member Section Allocations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28800"/>
            <a:ext cx="533400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28800"/>
            <a:ext cx="533400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2838450"/>
            <a:ext cx="48577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381125"/>
            <a:ext cx="28575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4375" y="1462087"/>
            <a:ext cx="1714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809625" y="2066925"/>
            <a:ext cx="510063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Supabase PostgreSQL Setup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09625" y="2495550"/>
            <a:ext cx="4857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Provisioned a PostgreSQL v18 engine on Supabase using a structured 3-layer schema paradigm: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524625" y="2066925"/>
            <a:ext cx="510063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PGAdmin Connection Logic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524625" y="2495550"/>
            <a:ext cx="4857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Connected external SQL management tools via encrypted SSL endpoints:</a:t>
            </a:r>
            <a:endParaRPr/>
          </a:p>
        </p:txBody>
      </p:sp>
      <p:pic>
        <p:nvPicPr>
          <p:cNvPr descr="image.png" id="138" name="Google Shape;13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2114550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1076325" y="3067050"/>
            <a:ext cx="4591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Raw Layer: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Direct staging for source workbook dumps.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076325" y="3409950"/>
            <a:ext cx="4591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Staging Layer: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Data cleaning, trimming, and type casting.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076325" y="3752850"/>
            <a:ext cx="4591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Analytics Layer: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Production-ready reporting views for Looker.</a:t>
            </a:r>
            <a:endParaRPr/>
          </a:p>
        </p:txBody>
      </p:sp>
      <p:pic>
        <p:nvPicPr>
          <p:cNvPr descr="image.png" id="142" name="Google Shape;14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2114550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Database Setup &amp; Connection Architecture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5" name="Google Shape;14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308610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342900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3771900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0025"/>
            <a:ext cx="5334000" cy="862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28800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381125"/>
            <a:ext cx="29432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375" y="1462087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571500" y="1828800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Primary Datasets Analyzed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38200" y="2257425"/>
            <a:ext cx="506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Opportunity Data: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Compact, structured dataset with identifiers, rewards, and opportunity status metadata.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38200" y="2828925"/>
            <a:ext cx="506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Learner Opportunity Data: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Broad transactional table combining core operational fields with survey responses.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838200" y="3400425"/>
            <a:ext cx="506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Status Mapping Reference: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Cross-reference mapping table providing lookup definitions.</a:t>
            </a:r>
            <a:endParaRPr/>
          </a:p>
        </p:txBody>
      </p:sp>
      <p:pic>
        <p:nvPicPr>
          <p:cNvPr descr="image.png" id="161" name="Google Shape;16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96025" y="1838325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Dataset Overview &amp; EDA Profiling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4" name="Google Shape;16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2276475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2847975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419475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81125"/>
            <a:ext cx="23050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571500" y="1828800"/>
            <a:ext cx="10648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Evaluation revealed significant sparseness in learner survey fields and unformatted string timestamps requiring standardized transformation before visual analytics.</a:t>
            </a:r>
            <a:endParaRPr/>
          </a:p>
        </p:txBody>
      </p:sp>
      <p:pic>
        <p:nvPicPr>
          <p:cNvPr descr="image.png" id="174" name="Google Shape;17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1462087"/>
            <a:ext cx="171450" cy="133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5" name="Google Shape;175;p17"/>
          <p:cNvGraphicFramePr/>
          <p:nvPr/>
        </p:nvGraphicFramePr>
        <p:xfrm>
          <a:off x="571500" y="2305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{6A65F704-1B55-4B5E-9869-17B7C76B3A1D}</a:tableStyleId>
              </a:tblPr>
              <a:tblGrid>
                <a:gridCol w="3612650"/>
                <a:gridCol w="3188050"/>
                <a:gridCol w="4238775"/>
              </a:tblGrid>
              <a:tr h="46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Resource 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File / Table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Google Drive Repository Link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46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Cleaned Opportunity Dataset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Opportunity Data (CSV)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Open Cleaned Opportunity File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Cleaned Learner Dataset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Learner Data (CSV)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Open Cleaned Learner File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6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Executive Summary Dataset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Integrated Summary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Open Executive Summary File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17"/>
          <p:cNvSpPr/>
          <p:nvPr/>
        </p:nvSpPr>
        <p:spPr>
          <a:xfrm>
            <a:off x="576262" y="2752725"/>
            <a:ext cx="36126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4188916" y="2752725"/>
            <a:ext cx="31880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7376963" y="2752725"/>
            <a:ext cx="42387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576262" y="3219450"/>
            <a:ext cx="36126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4188916" y="3219450"/>
            <a:ext cx="31880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7376963" y="3219450"/>
            <a:ext cx="42387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576262" y="3686175"/>
            <a:ext cx="36126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4188916" y="3686175"/>
            <a:ext cx="31880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7376963" y="3686175"/>
            <a:ext cx="42387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576262" y="4152900"/>
            <a:ext cx="36126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188916" y="4152900"/>
            <a:ext cx="31880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7376963" y="4152900"/>
            <a:ext cx="42387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8" name="Google Shape;18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8413" y="29194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48413" y="338613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8413" y="385286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Data Quality Audit &amp; Storage Repositories</a:t>
            </a:r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76575"/>
            <a:ext cx="5334000" cy="1233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28800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381125"/>
            <a:ext cx="24288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375" y="1462087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571500" y="1828800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Join Keys Investigation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571500" y="2257425"/>
            <a:ext cx="5334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Multiple candidate fields were evaluated (opportunity_id, relation_id, work_item_sk, category). Schema testing proved that linking on category attributes allowed robust relational aggregations.</a:t>
            </a:r>
            <a:endParaRPr/>
          </a:p>
        </p:txBody>
      </p:sp>
      <p:pic>
        <p:nvPicPr>
          <p:cNvPr descr="image.png" id="204" name="Google Shape;20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96025" y="1838325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8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Data Integration &amp; Relational Joins</a:t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28800"/>
            <a:ext cx="11049000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62350"/>
            <a:ext cx="11049000" cy="1766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2495550"/>
            <a:ext cx="1057275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4229100"/>
            <a:ext cx="10572750" cy="862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1381125"/>
            <a:ext cx="28956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4375" y="1462087"/>
            <a:ext cx="1714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809625" y="2066925"/>
            <a:ext cx="111013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Text Trimming &amp; Null Handling Code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809625" y="3800475"/>
            <a:ext cx="111013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Timestamp Type Casting Code</a:t>
            </a:r>
            <a:endParaRPr/>
          </a:p>
        </p:txBody>
      </p:sp>
      <p:pic>
        <p:nvPicPr>
          <p:cNvPr descr="image.png" id="220" name="Google Shape;220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9625" y="2114550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3848100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SQL Data Cleaning &amp; Transformations</a:t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71875"/>
            <a:ext cx="110490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47900"/>
            <a:ext cx="2619375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1375" y="2247900"/>
            <a:ext cx="2619375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2247900"/>
            <a:ext cx="2619375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1125" y="2247900"/>
            <a:ext cx="2619375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1381125"/>
            <a:ext cx="24860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571500" y="1828800"/>
            <a:ext cx="6410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Execution of pre-and-post validation SQL scripts confirmed dataset integrity prior to visualization:</a:t>
            </a:r>
            <a:endParaRPr/>
          </a:p>
        </p:txBody>
      </p:sp>
      <p:pic>
        <p:nvPicPr>
          <p:cNvPr descr="image.png" id="236" name="Google Shape;23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4375" y="1462087"/>
            <a:ext cx="1047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771525" y="2447925"/>
            <a:ext cx="22193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15,029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771525" y="2886075"/>
            <a:ext cx="2219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RECORDS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3581400" y="2447925"/>
            <a:ext cx="22193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597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3581400" y="2886075"/>
            <a:ext cx="2219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OPPORTUNITIES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6391275" y="2447925"/>
            <a:ext cx="22193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6391275" y="2886075"/>
            <a:ext cx="2219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CATEGORIES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9201150" y="2447925"/>
            <a:ext cx="22193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39.78%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9201150" y="2886075"/>
            <a:ext cx="2219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NULL STATUS RATE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Data Validation &amp; Post-Cleaning Audit</a:t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/>
          <p:nvPr/>
        </p:nvSpPr>
        <p:spPr>
          <a:xfrm>
            <a:off x="571500" y="1562100"/>
            <a:ext cx="5334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3" name="Google Shape;25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19478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 title="Gemini_Generated_Image_nlypsynlypsynly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64700"/>
            <a:ext cx="12192000" cy="679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81125"/>
            <a:ext cx="1104900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571500" y="1381125"/>
            <a:ext cx="7381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Comparative visual analysis highlighting application volume concentration across primary operational categories: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Opportunity &amp; Category Distribution</a:t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81125"/>
            <a:ext cx="3530649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749" y="1381125"/>
            <a:ext cx="3530649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999" y="1381125"/>
            <a:ext cx="3530649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809625" y="2190750"/>
            <a:ext cx="320711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Address Missing Data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809625" y="2619375"/>
            <a:ext cx="30543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39.78% of status records were unrecorded in the raw collection form. Implementing mandatory frontend drop-downs will eliminate sparse records.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4568874" y="2190750"/>
            <a:ext cx="320711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Automated ETL Pipeline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4568874" y="2619375"/>
            <a:ext cx="30543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Transition from manual SQL scripts to scheduled Supabase Cron functions for continuous data cleaning into Looker Studio reporting tables.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8328124" y="2190750"/>
            <a:ext cx="320711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Standardized Taxonomy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8328124" y="2619375"/>
            <a:ext cx="30543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Enforce single-source mapping tables for category and status labels to maintain clean relational joins as dataset volume scales.</a:t>
            </a:r>
            <a:endParaRPr/>
          </a:p>
        </p:txBody>
      </p:sp>
      <p:pic>
        <p:nvPicPr>
          <p:cNvPr descr="image.png" id="278" name="Google Shape;27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16668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8874" y="166687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8124" y="1666875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Strategic Insights &amp; Key Findings</a:t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 txBox="1"/>
          <p:nvPr/>
        </p:nvSpPr>
        <p:spPr>
          <a:xfrm>
            <a:off x="295275" y="2443162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Questions &amp; Answers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571500" y="35004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Thank you for reviewing the Team 4 Data Visualization Presentation.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571500" y="410051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Project SLU 0607 DVA | Excelerate Internship Program</a:t>
            </a:r>
            <a:endParaRPr/>
          </a:p>
        </p:txBody>
      </p:sp>
      <p:pic>
        <p:nvPicPr>
          <p:cNvPr descr="image.png" id="291" name="Google Shape;2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4237" y="4157662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