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Nunito SemiBold" pitchFamily="2" charset="0"/>
      <p:regular r:id="rId14"/>
    </p:embeddedFont>
    <p:embeddedFont>
      <p:font typeface="PT Sans" panose="020B0503020203020204" pitchFamily="3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26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894" y="1774031"/>
            <a:ext cx="2843213" cy="159543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952577" y="1392510"/>
            <a:ext cx="4667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SUPPORTLYTICS</a:t>
            </a:r>
            <a:endParaRPr lang="en-US" sz="2750" dirty="0"/>
          </a:p>
        </p:txBody>
      </p:sp>
      <p:sp>
        <p:nvSpPr>
          <p:cNvPr id="5" name="Text 1"/>
          <p:cNvSpPr/>
          <p:nvPr/>
        </p:nvSpPr>
        <p:spPr>
          <a:xfrm>
            <a:off x="3952577" y="1892350"/>
            <a:ext cx="466784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Optimizing IT Support Team Performance Using Analytics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3952577" y="2336676"/>
            <a:ext cx="5125045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Module 7 — Dashboard &amp; Report Preparation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3952577" y="2696319"/>
            <a:ext cx="4667845" cy="1054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Transforming support-ticket data into interactive and actionable insights.         </a:t>
            </a:r>
            <a:endParaRPr lang="en-US" sz="11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                                                                                      By 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                                                                Uma Parvathi Devi Nakireddy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39117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Module 7 — Dashboard &amp; Report Preparation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641053"/>
            <a:ext cx="3442841" cy="21517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3961061"/>
            <a:ext cx="390004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336107" y="1253058"/>
            <a:ext cx="428900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Objective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336107" y="1622599"/>
            <a:ext cx="4289003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purpose of this milestone was to consolidate previous analyses into an interactive Power BI report that supports exploration and decision-making.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336107" y="2475384"/>
            <a:ext cx="4289003" cy="2176686"/>
          </a:xfrm>
          <a:prstGeom prst="rect">
            <a:avLst/>
          </a:prstGeom>
          <a:noFill/>
          <a:ln/>
        </p:spPr>
        <p:txBody>
          <a:bodyPr wrap="square" lIns="0" tIns="59845" rIns="0" bIns="0" rtlCol="0" anchor="t">
            <a:normAutofit/>
          </a:bodyPr>
          <a:lstStyle/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Loaded the project dataset into Power BI.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Created KPI cards and analytical visualizations.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Organized the dashboard into separate analytical pages.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Combined ticket, category, cluster, geographic and performance analysis.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Created an executive report page.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Prepared the final dashboard for presentation and decision-making.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4656" y="2135981"/>
            <a:ext cx="1309688" cy="87153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3577" y="1780133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From Data to Interactive Dashboard</a:t>
            </a:r>
            <a:endParaRPr lang="en-US" sz="2750" dirty="0"/>
          </a:p>
        </p:txBody>
      </p:sp>
      <p:sp>
        <p:nvSpPr>
          <p:cNvPr id="5" name="Text 1"/>
          <p:cNvSpPr/>
          <p:nvPr/>
        </p:nvSpPr>
        <p:spPr>
          <a:xfrm>
            <a:off x="523577" y="2884512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project data was transformed into interactive Power BI visualizations to make support-ticket patterns easier to understand and interpret.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807318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Power BI Report Structure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546547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report is organized into six focused pages that guide analysis from high-level KPIs to executive summary.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23577" y="1954188"/>
            <a:ext cx="2599209" cy="1116211"/>
          </a:xfrm>
          <a:prstGeom prst="roundRect">
            <a:avLst>
              <a:gd name="adj" fmla="val 20105"/>
            </a:avLst>
          </a:prstGeom>
          <a:solidFill>
            <a:srgbClr val="00002E"/>
          </a:solidFill>
          <a:ln w="14288">
            <a:solidFill>
              <a:srgbClr val="F2B4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7437" y="2118047"/>
            <a:ext cx="227148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Overview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7437" y="2427759"/>
            <a:ext cx="227148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High-level KPIs and overall support-ticket picture.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72358" y="1954188"/>
            <a:ext cx="2599209" cy="1116211"/>
          </a:xfrm>
          <a:prstGeom prst="roundRect">
            <a:avLst>
              <a:gd name="adj" fmla="val 20105"/>
            </a:avLst>
          </a:prstGeom>
          <a:solidFill>
            <a:srgbClr val="00002E"/>
          </a:solidFill>
          <a:ln w="14288">
            <a:solidFill>
              <a:srgbClr val="D742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36218" y="2118047"/>
            <a:ext cx="227148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Tickets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436218" y="2427759"/>
            <a:ext cx="227148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Status, priority, channel, ticket type and issue categories.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21139" y="1954188"/>
            <a:ext cx="2599283" cy="1116211"/>
          </a:xfrm>
          <a:prstGeom prst="roundRect">
            <a:avLst>
              <a:gd name="adj" fmla="val 20105"/>
            </a:avLst>
          </a:prstGeom>
          <a:solidFill>
            <a:srgbClr val="00002E"/>
          </a:solidFill>
          <a:ln w="14288">
            <a:solidFill>
              <a:srgbClr val="DD78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4999" y="2118047"/>
            <a:ext cx="227156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Clusters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84999" y="2427759"/>
            <a:ext cx="227156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Cluster distribution, similarity analysis and issue patterns.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23577" y="3219971"/>
            <a:ext cx="2599209" cy="1116211"/>
          </a:xfrm>
          <a:prstGeom prst="roundRect">
            <a:avLst>
              <a:gd name="adj" fmla="val 20105"/>
            </a:avLst>
          </a:prstGeom>
          <a:solidFill>
            <a:srgbClr val="00002E"/>
          </a:solidFill>
          <a:ln w="14288">
            <a:solidFill>
              <a:srgbClr val="48A8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7437" y="3383831"/>
            <a:ext cx="227148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Geography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87437" y="3693542"/>
            <a:ext cx="227148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Regional and country-level ticket analysis.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72358" y="3219971"/>
            <a:ext cx="2599209" cy="1116211"/>
          </a:xfrm>
          <a:prstGeom prst="roundRect">
            <a:avLst>
              <a:gd name="adj" fmla="val 20105"/>
            </a:avLst>
          </a:prstGeom>
          <a:solidFill>
            <a:srgbClr val="00002E"/>
          </a:solidFill>
          <a:ln w="14288">
            <a:solidFill>
              <a:srgbClr val="59ABA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36218" y="3383831"/>
            <a:ext cx="227148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Performance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436218" y="3693542"/>
            <a:ext cx="227148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Resolution time, satisfaction and operational metrics.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21139" y="3219971"/>
            <a:ext cx="2599283" cy="1116211"/>
          </a:xfrm>
          <a:prstGeom prst="roundRect">
            <a:avLst>
              <a:gd name="adj" fmla="val 20105"/>
            </a:avLst>
          </a:prstGeom>
          <a:solidFill>
            <a:srgbClr val="00002E"/>
          </a:solidFill>
          <a:ln w="14288">
            <a:solidFill>
              <a:srgbClr val="F2B4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84999" y="3383831"/>
            <a:ext cx="227156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Report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184999" y="3693542"/>
            <a:ext cx="227156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Executive summary for decision-makers.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9146"/>
            <a:ext cx="8096845" cy="371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Page 1 — Overview</a:t>
            </a:r>
            <a:endParaRPr lang="en-US" sz="2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229767"/>
            <a:ext cx="4692997" cy="29331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4282678"/>
            <a:ext cx="6032599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411664" y="1066726"/>
            <a:ext cx="2213446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Overview Visualizations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411664" y="1358875"/>
            <a:ext cx="2213446" cy="2605460"/>
          </a:xfrm>
          <a:prstGeom prst="rect">
            <a:avLst/>
          </a:prstGeom>
          <a:noFill/>
          <a:ln/>
        </p:spPr>
        <p:txBody>
          <a:bodyPr wrap="square" lIns="0" tIns="50494" rIns="0" bIns="0" rtlCol="0" anchor="t">
            <a:normAutofit/>
          </a:bodyPr>
          <a:lstStyle/>
          <a:p>
            <a:pPr marL="193040" indent="-193040" algn="l">
              <a:lnSpc>
                <a:spcPct val="12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Total Tickets — Shows the total number of support tickets in the dataset.</a:t>
            </a:r>
            <a:endParaRPr lang="en-US" sz="950" dirty="0"/>
          </a:p>
          <a:p>
            <a:pPr marL="193040" indent="-193040" algn="l">
              <a:lnSpc>
                <a:spcPct val="12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Average Resolution Time — Shows average time to resolve tickets.</a:t>
            </a:r>
            <a:endParaRPr lang="en-US" sz="950" dirty="0"/>
          </a:p>
          <a:p>
            <a:pPr marL="193040" indent="-193040" algn="l">
              <a:lnSpc>
                <a:spcPct val="12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Average Customer Satisfaction — Shows average satisfaction score.</a:t>
            </a:r>
            <a:endParaRPr lang="en-US" sz="950" dirty="0"/>
          </a:p>
          <a:p>
            <a:pPr marL="193040" indent="-193040" algn="l">
              <a:lnSpc>
                <a:spcPct val="12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Ticket Status Summary — Distribution of tickets by status.</a:t>
            </a:r>
            <a:endParaRPr lang="en-US" sz="950" dirty="0"/>
          </a:p>
          <a:p>
            <a:pPr marL="193040" indent="-193040" algn="l">
              <a:lnSpc>
                <a:spcPct val="12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Most Frequent Issue Categories — Top recurring issue categories.</a:t>
            </a:r>
            <a:endParaRPr lang="en-US" sz="950" dirty="0"/>
          </a:p>
          <a:p>
            <a:pPr marL="193040" indent="-193040" algn="l">
              <a:lnSpc>
                <a:spcPct val="12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Regional Ticket Distribution — Tickets distributed across regions.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411664" y="4060180"/>
            <a:ext cx="2213446" cy="55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This page provides a quick overview of the overall support workload and key performance indicators.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3519"/>
            <a:ext cx="8096845" cy="316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Page 2 — Tickets &amp; Categories</a:t>
            </a:r>
            <a:endParaRPr lang="en-US" sz="1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932557"/>
            <a:ext cx="5589091" cy="34931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4512618"/>
            <a:ext cx="6046291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379666" y="1537171"/>
            <a:ext cx="2245444" cy="15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Ticket Visualizations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379666" y="1772543"/>
            <a:ext cx="2245444" cy="1908497"/>
          </a:xfrm>
          <a:prstGeom prst="rect">
            <a:avLst/>
          </a:prstGeom>
          <a:noFill/>
          <a:ln/>
        </p:spPr>
        <p:txBody>
          <a:bodyPr wrap="square" lIns="0" tIns="43014" rIns="0" bIns="0" rtlCol="0" anchor="t">
            <a:normAutofit/>
          </a:bodyPr>
          <a:lstStyle/>
          <a:p>
            <a:pPr marL="162560" indent="-16256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Ticket Status Distribution — Open, In Progress, Resolved, Closed.</a:t>
            </a:r>
            <a:endParaRPr lang="en-US" sz="800" dirty="0"/>
          </a:p>
          <a:p>
            <a:pPr marL="162560" indent="-16256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Tickets by Support Channel — Distribution across channels (email, portal, phone).</a:t>
            </a:r>
            <a:endParaRPr lang="en-US" sz="800" dirty="0"/>
          </a:p>
          <a:p>
            <a:pPr marL="162560" indent="-16256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Ticket Priority Distribution — Low/Medium/High/Critical breakdown.</a:t>
            </a:r>
            <a:endParaRPr lang="en-US" sz="800" dirty="0"/>
          </a:p>
          <a:p>
            <a:pPr marL="162560" indent="-16256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Priority by Issue Category — How priorities vary by category.</a:t>
            </a:r>
            <a:endParaRPr lang="en-US" sz="800" dirty="0"/>
          </a:p>
          <a:p>
            <a:pPr marL="162560" indent="-16256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Ticket Type Distribution — Problem, Request, Incident.</a:t>
            </a:r>
            <a:endParaRPr lang="en-US" sz="800" dirty="0"/>
          </a:p>
          <a:p>
            <a:pPr marL="162560" indent="-16256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Issue Category Distribution — Frequency across categories.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379666" y="3750543"/>
            <a:ext cx="2245444" cy="295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This page provides a detailed view of request types, their status, priority and categories.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3519"/>
            <a:ext cx="8096845" cy="316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Page 3 — Clusters &amp; Similarity</a:t>
            </a:r>
            <a:endParaRPr lang="en-US" sz="1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932557"/>
            <a:ext cx="5589091" cy="34931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4512618"/>
            <a:ext cx="6046291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379666" y="1550640"/>
            <a:ext cx="2245444" cy="15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Cluster Visualizations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379666" y="1786012"/>
            <a:ext cx="2245444" cy="1585913"/>
          </a:xfrm>
          <a:prstGeom prst="rect">
            <a:avLst/>
          </a:prstGeom>
          <a:noFill/>
          <a:ln/>
        </p:spPr>
        <p:txBody>
          <a:bodyPr wrap="square" lIns="0" tIns="43014" rIns="0" bIns="0" rtlCol="0" anchor="t">
            <a:normAutofit/>
          </a:bodyPr>
          <a:lstStyle/>
          <a:p>
            <a:pPr marL="162560" indent="-16256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Ticket Distribution Across Clusters — How tickets map to identified clusters.</a:t>
            </a:r>
            <a:endParaRPr lang="en-US" sz="800" dirty="0"/>
          </a:p>
          <a:p>
            <a:pPr marL="162560" indent="-16256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Average Similarity Score by Cluster — Mean similarity within each cluster.</a:t>
            </a:r>
            <a:endParaRPr lang="en-US" sz="800" dirty="0"/>
          </a:p>
          <a:p>
            <a:pPr marL="162560" indent="-16256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Issue Category Distribution Across Clusters — Category patterns per cluster.</a:t>
            </a:r>
            <a:endParaRPr lang="en-US" sz="800" dirty="0"/>
          </a:p>
          <a:p>
            <a:pPr marL="162560" indent="-16256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Ticket Volume by Cluster — Ticket counts per cluster.</a:t>
            </a:r>
            <a:endParaRPr lang="en-US" sz="800" dirty="0"/>
          </a:p>
          <a:p>
            <a:pPr marL="162560" indent="-16256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Overall Cluster Similarity Index — Summary of clustering coherence.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379666" y="3441427"/>
            <a:ext cx="2245444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Cluster analysis groups similar issues and helps identify recurring patterns. Do not state specific similarity values here — they appear in the dashboard screenshot.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3519"/>
            <a:ext cx="8096845" cy="316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Page 4 — Geography</a:t>
            </a:r>
            <a:endParaRPr lang="en-US" sz="1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932557"/>
            <a:ext cx="5589091" cy="34931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4512618"/>
            <a:ext cx="6046291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379666" y="1550640"/>
            <a:ext cx="2245444" cy="15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Geographic Visualizations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379666" y="1786012"/>
            <a:ext cx="2245444" cy="1585913"/>
          </a:xfrm>
          <a:prstGeom prst="rect">
            <a:avLst/>
          </a:prstGeom>
          <a:noFill/>
          <a:ln/>
        </p:spPr>
        <p:txBody>
          <a:bodyPr wrap="square" lIns="0" tIns="43014" rIns="0" bIns="0" rtlCol="0" anchor="t">
            <a:normAutofit/>
          </a:bodyPr>
          <a:lstStyle/>
          <a:p>
            <a:pPr marL="162560" indent="-16256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Regional Ticket Distribution — Tickets by region.</a:t>
            </a:r>
            <a:endParaRPr lang="en-US" sz="800" dirty="0"/>
          </a:p>
          <a:p>
            <a:pPr marL="162560" indent="-16256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Average Resolution Time by Region — Regional resolution comparisons.</a:t>
            </a:r>
            <a:endParaRPr lang="en-US" sz="800" dirty="0"/>
          </a:p>
          <a:p>
            <a:pPr marL="162560" indent="-16256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Ticket Distribution by Country — Country-level breakdown.</a:t>
            </a:r>
            <a:endParaRPr lang="en-US" sz="800" dirty="0"/>
          </a:p>
          <a:p>
            <a:pPr marL="162560" indent="-16256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Customer Satisfaction by Region — Regional satisfaction comparisons.</a:t>
            </a:r>
            <a:endParaRPr lang="en-US" sz="800" dirty="0"/>
          </a:p>
          <a:p>
            <a:pPr marL="162560" indent="-16256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Regional Performance — Differences in operational performance by region.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379666" y="3441427"/>
            <a:ext cx="2245444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This page helps identify geographic differences in workload, resolution efficiency and satisfaction. Use only visuals enabled in Power BI (do not assume map availability).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3519"/>
            <a:ext cx="8096845" cy="316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Page 5 — Performance</a:t>
            </a:r>
            <a:endParaRPr lang="en-US" sz="1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932557"/>
            <a:ext cx="5589091" cy="34931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4512618"/>
            <a:ext cx="6046291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379666" y="1476747"/>
            <a:ext cx="2245444" cy="15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Performance Visualizations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379666" y="1712119"/>
            <a:ext cx="2245444" cy="1733699"/>
          </a:xfrm>
          <a:prstGeom prst="rect">
            <a:avLst/>
          </a:prstGeom>
          <a:noFill/>
          <a:ln/>
        </p:spPr>
        <p:txBody>
          <a:bodyPr wrap="square" lIns="0" tIns="43014" rIns="0" bIns="0" rtlCol="0" anchor="t">
            <a:normAutofit/>
          </a:bodyPr>
          <a:lstStyle/>
          <a:p>
            <a:pPr marL="162560" indent="-16256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Average Resolution Time by Department — Compare resolution times across departments.</a:t>
            </a:r>
            <a:endParaRPr lang="en-US" sz="800" dirty="0"/>
          </a:p>
          <a:p>
            <a:pPr marL="162560" indent="-16256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Average Customer Satisfaction by Team — Satisfaction per support team.</a:t>
            </a:r>
            <a:endParaRPr lang="en-US" sz="800" dirty="0"/>
          </a:p>
          <a:p>
            <a:pPr marL="162560" indent="-16256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Average Resolution Time by Priority — Resolution differences by priority level.</a:t>
            </a:r>
            <a:endParaRPr lang="en-US" sz="800" dirty="0"/>
          </a:p>
          <a:p>
            <a:pPr marL="162560" indent="-16256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Ticket Status by Priority — Relationship between priority and status.</a:t>
            </a:r>
            <a:endParaRPr lang="en-US" sz="800" dirty="0"/>
          </a:p>
          <a:p>
            <a:pPr marL="162560" indent="-16256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Average Similarity Score by Team — Similarity of tickets handled per team.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379666" y="3515320"/>
            <a:ext cx="2245444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This page focuses on operational efficiency, service quality and team-level differences. Only include visuals actually present in the final Performance page.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3519"/>
            <a:ext cx="8096845" cy="316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Page 6 — Executive Report</a:t>
            </a:r>
            <a:endParaRPr lang="en-US" sz="1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932557"/>
            <a:ext cx="5589091" cy="34931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4512618"/>
            <a:ext cx="6046291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379666" y="1402854"/>
            <a:ext cx="2245444" cy="15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Executive Insights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379666" y="1638226"/>
            <a:ext cx="2245444" cy="1881485"/>
          </a:xfrm>
          <a:prstGeom prst="rect">
            <a:avLst/>
          </a:prstGeom>
          <a:noFill/>
          <a:ln/>
        </p:spPr>
        <p:txBody>
          <a:bodyPr wrap="square" lIns="0" tIns="43014" rIns="0" bIns="0" rtlCol="0" anchor="t">
            <a:normAutofit/>
          </a:bodyPr>
          <a:lstStyle/>
          <a:p>
            <a:pPr marL="162560" indent="-16256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Average Resolution Time — Executive summary of overall resolution performance.</a:t>
            </a:r>
            <a:endParaRPr lang="en-US" sz="800" dirty="0"/>
          </a:p>
          <a:p>
            <a:pPr marL="162560" indent="-16256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Most Frequent Category — Issue category with highest ticket frequency (dashboard value).</a:t>
            </a:r>
            <a:endParaRPr lang="en-US" sz="800" dirty="0"/>
          </a:p>
          <a:p>
            <a:pPr marL="162560" indent="-16256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Top Performing Region — Region highlighted by the dashboard's chosen performance measure.</a:t>
            </a:r>
            <a:endParaRPr lang="en-US" sz="800" dirty="0"/>
          </a:p>
          <a:p>
            <a:pPr marL="162560" indent="-16256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Cluster Similarity Index — Overall clustering summary (see screenshot for value).</a:t>
            </a:r>
            <a:endParaRPr lang="en-US" sz="800" dirty="0"/>
          </a:p>
          <a:p>
            <a:pPr marL="162560" indent="-16256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Key Insights — Concise summary of the major findings from the complete dashboard.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379666" y="3589213"/>
            <a:ext cx="2245444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This page converts detailed analysis into an executive-level summary for quick decision-making. Do not invent numerical values; refer to the pasted screenshot for specifics.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2351708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                             THANK YOU</a:t>
            </a:r>
            <a:endParaRPr lang="en-US" sz="2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761</Words>
  <Application>Microsoft Office PowerPoint</Application>
  <PresentationFormat>On-screen Show (16:9)</PresentationFormat>
  <Paragraphs>93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PT Sans</vt:lpstr>
      <vt:lpstr>Arial</vt:lpstr>
      <vt:lpstr>Nunito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DEVI NAKIREDDY</cp:lastModifiedBy>
  <cp:revision>2</cp:revision>
  <dcterms:created xsi:type="dcterms:W3CDTF">2026-08-18T08:53:16Z</dcterms:created>
  <dcterms:modified xsi:type="dcterms:W3CDTF">2026-08-18T13:43:01Z</dcterms:modified>
</cp:coreProperties>
</file>