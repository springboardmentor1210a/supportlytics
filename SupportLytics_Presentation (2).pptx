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SupportLytics is an IT support analytics dashboard built in Power BI. It converts raw ticket data into KPIs and visuals across two pages: an overview page and a deeper operational analysis page. Walk through the bullet points, then introduce both dashboard pages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Manually reviewing thousands of support tickets makes it hard to see workload and performance patterns. SupportLytics solves this with a centralized, interactive Power BI dashboard offering KPI monitoring and multi-dimensional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SupportLytics defines seventeen objectives spanning ticket volume, priority, status, resolution performance, satisfaction, similarity scoring, regional and platform comparisons, product-area and issue-type distribution, clustering, reopened tickets, and sentiment — all delivered through an interactive Power BI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BI data model includes eighteen fields such as ticket_id, priority, status, region, platform, and customer_sentiment, along with three calculated measures — High Priority Tickets, Reopened Tickets, and Resolution Rate. These are the building blocks behind every KPI and chart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ticket data flows through preparation into relevant fields and measures, is loaded into the Power BI data model, and finally surfaces as KPIs and visualizations that support performance analysis. Numerical fields drive KPI calculations while categorical fields power grouping and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 opens with six headline KPIs: 100K total tickets, 38.99 average resolution time, 2.24 average CSAT, 0.02 average similarity score, 20K high-priority tickets, and 5K urgent tickets. These values are taken exactly as shown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Page 1 view: SUPPORTLYTICS — IT Support Performance Overview. It brings together six KPI cards and five charts covering status, region, priority, issue type, and support cluster, giving a full high-level snapshot of support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status donut breaks tickets into resolved, in_progress, on_hold, closed_no_action, and open. Resolved tickets make up the largest share at 50.13K, roughly half of all tickets, followed by in_progress at 19.78K.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is heavily weighted toward low and medium tickets, with fewer high and urgent cases. The Cluster_Name view shows Low Priority Tickets as the largest cluster, followed by Urgent Support, Medium Complex, and High Priority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volume by region is fairly even across MEA, EU, LATAM, and APAC. Issue types are similarly distributed across how-to, account, performance, feature, other, security, billing, and bug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SUPPORTLYTICS — Support Performance and Operational Analysis, goes deeper into operational metrics: unresolved tickets, status, platform-level resolution time, region, product area, reopened tickets, sentiment, and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highlights 50K unresolved tickets as a key operational figure, alongside the same five status categories seen on Page 1 — resolved, in_progress, on_hold, closed_no_action, and open — now viewed from an operational-workload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Platform-level ticket counts are broadly even across the five platforms, and average resolution time in hours is also fairly consistent across them, suggesting no single platform is a major outlier in either workload or resolution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Regional ticket volume on Page 2 mirrors Page 1's distribution across MEA, EU, LATAM, and APAC. Product areas show relatively similar ticket volumes across the categories displayed in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Reopened tickets by platform are fairly evenly spread, indicating no single platform drives repeat support needs disproportionately. Customer sentiment is skewed toward the higher-count category on the left of the chart, tapering across the remaining sentiment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Page 2, low-priority tickets account for 39.74K (39.74%) and medium-priority tickets for 35.31K (35.3%), with the remaining share split between high and urgent tickets at 19.87K (19.87%) for one of the visible segments — mirroring the low/medium-heavy pattern seen on Page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pages share a consistent design language: rounded KPI cards, bar charts for comparisons, donut charts for distribution, and a unified red-maroon theme, with careful alignment and spacing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observations are drawn directly from the dashboard: roughly 100K total tickets with 20K high-priority and 5K urgent; a 38.99 average resolution time and 2.24 average CSAT; and clear comparative views across region, platform, product area, priority, status, reopened tickets, and sentiment.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SupportLytics gives IT support teams faster visibility into workload, priority, unresolved tickets, platform performance, regional patterns, product-area hotspots, reopened tickets, and customer sentiment — supporting more informed, data-driven operational decisions through one centralized reporting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built entirely in Microsoft Power BI Desktop, using the Power BI data model, DAX-based measures, native visualizations, and interactive filters across the defined fields and calculated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SupportLytics turns raw IT support ticket data into an interactive Power BI dashboard combining high-level KPIs on Page 1 with detailed operational analysis on Page 2, covering the full range of ticket dimensions.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1119"/>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7A1F2B"/>
          </a:solidFill>
          <a:ln/>
        </p:spPr>
      </p:sp>
      <p:sp>
        <p:nvSpPr>
          <p:cNvPr id="3" name="Shape 1"/>
          <p:cNvSpPr/>
          <p:nvPr/>
        </p:nvSpPr>
        <p:spPr>
          <a:xfrm>
            <a:off x="-1554480" y="4846320"/>
            <a:ext cx="3840480" cy="3840480"/>
          </a:xfrm>
          <a:prstGeom prst="ellipse">
            <a:avLst/>
          </a:prstGeom>
          <a:solidFill>
            <a:srgbClr val="7A1F2B"/>
          </a:solidFill>
          <a:ln/>
        </p:spPr>
      </p:sp>
      <p:sp>
        <p:nvSpPr>
          <p:cNvPr id="4" name="Shape 2"/>
          <p:cNvSpPr/>
          <p:nvPr/>
        </p:nvSpPr>
        <p:spPr>
          <a:xfrm>
            <a:off x="822960" y="1051560"/>
            <a:ext cx="658368" cy="658368"/>
          </a:xfrm>
          <a:prstGeom prst="ellipse">
            <a:avLst/>
          </a:prstGeom>
          <a:solidFill>
            <a:srgbClr val="C0263B"/>
          </a:solidFill>
          <a:ln/>
        </p:spPr>
      </p:sp>
      <p:sp>
        <p:nvSpPr>
          <p:cNvPr id="5" name="Text 3"/>
          <p:cNvSpPr/>
          <p:nvPr/>
        </p:nvSpPr>
        <p:spPr>
          <a:xfrm>
            <a:off x="822960" y="1051560"/>
            <a:ext cx="658368" cy="65836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SL</a:t>
            </a:r>
            <a:endParaRPr lang="en-US" sz="1800" dirty="0"/>
          </a:p>
        </p:txBody>
      </p:sp>
      <p:sp>
        <p:nvSpPr>
          <p:cNvPr id="6" name="Text 4"/>
          <p:cNvSpPr/>
          <p:nvPr/>
        </p:nvSpPr>
        <p:spPr>
          <a:xfrm>
            <a:off x="822960" y="2331720"/>
            <a:ext cx="8229600" cy="365760"/>
          </a:xfrm>
          <a:prstGeom prst="rect">
            <a:avLst/>
          </a:prstGeom>
          <a:noFill/>
          <a:ln/>
        </p:spPr>
        <p:txBody>
          <a:bodyPr wrap="square" rtlCol="0" anchor="ctr"/>
          <a:lstStyle/>
          <a:p>
            <a:pPr indent="0" marL="0">
              <a:buNone/>
            </a:pPr>
            <a:r>
              <a:rPr lang="en-US" sz="1400" b="1" spc="300" kern="0" dirty="0">
                <a:solidFill>
                  <a:srgbClr val="D9A9AE"/>
                </a:solidFill>
                <a:latin typeface="Calibri" pitchFamily="34" charset="0"/>
                <a:ea typeface="Calibri" pitchFamily="34" charset="-122"/>
                <a:cs typeface="Calibri" pitchFamily="34" charset="-120"/>
              </a:rPr>
              <a:t>POWER BI  •  DATA ANALYTICS PROJECT</a:t>
            </a:r>
            <a:endParaRPr lang="en-US" sz="1400" dirty="0"/>
          </a:p>
        </p:txBody>
      </p:sp>
      <p:sp>
        <p:nvSpPr>
          <p:cNvPr id="7" name="Text 5"/>
          <p:cNvSpPr/>
          <p:nvPr/>
        </p:nvSpPr>
        <p:spPr>
          <a:xfrm>
            <a:off x="777240" y="2697480"/>
            <a:ext cx="10058400" cy="118872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SUPPORTLYTICS</a:t>
            </a:r>
            <a:endParaRPr lang="en-US" sz="6000" dirty="0"/>
          </a:p>
        </p:txBody>
      </p:sp>
      <p:sp>
        <p:nvSpPr>
          <p:cNvPr id="8" name="Text 6"/>
          <p:cNvSpPr/>
          <p:nvPr/>
        </p:nvSpPr>
        <p:spPr>
          <a:xfrm>
            <a:off x="822960" y="3703320"/>
            <a:ext cx="9144000" cy="548640"/>
          </a:xfrm>
          <a:prstGeom prst="rect">
            <a:avLst/>
          </a:prstGeom>
          <a:noFill/>
          <a:ln/>
        </p:spPr>
        <p:txBody>
          <a:bodyPr wrap="square" rtlCol="0" anchor="ctr"/>
          <a:lstStyle/>
          <a:p>
            <a:pPr indent="0" marL="0">
              <a:buNone/>
            </a:pPr>
            <a:r>
              <a:rPr lang="en-US" sz="2200" i="1" dirty="0">
                <a:solidFill>
                  <a:srgbClr val="EAD8DA"/>
                </a:solidFill>
                <a:latin typeface="Calibri" pitchFamily="34" charset="0"/>
                <a:ea typeface="Calibri" pitchFamily="34" charset="-122"/>
                <a:cs typeface="Calibri" pitchFamily="34" charset="-120"/>
              </a:rPr>
              <a:t>IT Support Analytics Dashboard</a:t>
            </a:r>
            <a:endParaRPr lang="en-US" sz="2200" dirty="0"/>
          </a:p>
        </p:txBody>
      </p:sp>
      <p:sp>
        <p:nvSpPr>
          <p:cNvPr id="9" name="Shape 7"/>
          <p:cNvSpPr/>
          <p:nvPr/>
        </p:nvSpPr>
        <p:spPr>
          <a:xfrm>
            <a:off x="822960" y="4663440"/>
            <a:ext cx="2675534" cy="420624"/>
          </a:xfrm>
          <a:prstGeom prst="roundRect">
            <a:avLst>
              <a:gd name="adj" fmla="val 50000"/>
            </a:avLst>
          </a:prstGeom>
          <a:solidFill>
            <a:srgbClr val="5E1620"/>
          </a:solidFill>
          <a:ln w="9525">
            <a:solidFill>
              <a:srgbClr val="9A4A54"/>
            </a:solidFill>
            <a:prstDash val="solid"/>
          </a:ln>
        </p:spPr>
      </p:sp>
      <p:sp>
        <p:nvSpPr>
          <p:cNvPr id="10" name="Text 8"/>
          <p:cNvSpPr/>
          <p:nvPr/>
        </p:nvSpPr>
        <p:spPr>
          <a:xfrm>
            <a:off x="822960" y="4663440"/>
            <a:ext cx="2675534" cy="42062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Project Name: SupportLytics</a:t>
            </a:r>
            <a:endParaRPr lang="en-US" sz="1050" dirty="0"/>
          </a:p>
        </p:txBody>
      </p:sp>
      <p:sp>
        <p:nvSpPr>
          <p:cNvPr id="11" name="Shape 9"/>
          <p:cNvSpPr/>
          <p:nvPr/>
        </p:nvSpPr>
        <p:spPr>
          <a:xfrm>
            <a:off x="3663086" y="4663440"/>
            <a:ext cx="2406701" cy="420624"/>
          </a:xfrm>
          <a:prstGeom prst="roundRect">
            <a:avLst>
              <a:gd name="adj" fmla="val 50000"/>
            </a:avLst>
          </a:prstGeom>
          <a:solidFill>
            <a:srgbClr val="5E1620"/>
          </a:solidFill>
          <a:ln w="9525">
            <a:solidFill>
              <a:srgbClr val="9A4A54"/>
            </a:solidFill>
            <a:prstDash val="solid"/>
          </a:ln>
        </p:spPr>
      </p:sp>
      <p:sp>
        <p:nvSpPr>
          <p:cNvPr id="12" name="Text 10"/>
          <p:cNvSpPr/>
          <p:nvPr/>
        </p:nvSpPr>
        <p:spPr>
          <a:xfrm>
            <a:off x="3663086" y="4663440"/>
            <a:ext cx="2406701" cy="42062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Tool: Microsoft Power BI</a:t>
            </a:r>
            <a:endParaRPr lang="en-US" sz="1050" dirty="0"/>
          </a:p>
        </p:txBody>
      </p:sp>
      <p:sp>
        <p:nvSpPr>
          <p:cNvPr id="13" name="Shape 11"/>
          <p:cNvSpPr/>
          <p:nvPr/>
        </p:nvSpPr>
        <p:spPr>
          <a:xfrm>
            <a:off x="6234379" y="4663440"/>
            <a:ext cx="2765146" cy="420624"/>
          </a:xfrm>
          <a:prstGeom prst="roundRect">
            <a:avLst>
              <a:gd name="adj" fmla="val 50000"/>
            </a:avLst>
          </a:prstGeom>
          <a:solidFill>
            <a:srgbClr val="5E1620"/>
          </a:solidFill>
          <a:ln w="9525">
            <a:solidFill>
              <a:srgbClr val="9A4A54"/>
            </a:solidFill>
            <a:prstDash val="solid"/>
          </a:ln>
        </p:spPr>
      </p:sp>
      <p:sp>
        <p:nvSpPr>
          <p:cNvPr id="14" name="Text 12"/>
          <p:cNvSpPr/>
          <p:nvPr/>
        </p:nvSpPr>
        <p:spPr>
          <a:xfrm>
            <a:off x="6234379" y="4663440"/>
            <a:ext cx="2765146" cy="42062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Domain: IT Support Analytics</a:t>
            </a:r>
            <a:endParaRPr lang="en-US" sz="1050" dirty="0"/>
          </a:p>
        </p:txBody>
      </p:sp>
      <p:sp>
        <p:nvSpPr>
          <p:cNvPr id="15" name="Shape 13"/>
          <p:cNvSpPr/>
          <p:nvPr/>
        </p:nvSpPr>
        <p:spPr>
          <a:xfrm>
            <a:off x="9164117" y="4663440"/>
            <a:ext cx="2854757" cy="420624"/>
          </a:xfrm>
          <a:prstGeom prst="roundRect">
            <a:avLst>
              <a:gd name="adj" fmla="val 50000"/>
            </a:avLst>
          </a:prstGeom>
          <a:solidFill>
            <a:srgbClr val="5E1620"/>
          </a:solidFill>
          <a:ln w="9525">
            <a:solidFill>
              <a:srgbClr val="9A4A54"/>
            </a:solidFill>
            <a:prstDash val="solid"/>
          </a:ln>
        </p:spPr>
      </p:sp>
      <p:sp>
        <p:nvSpPr>
          <p:cNvPr id="16" name="Text 14"/>
          <p:cNvSpPr/>
          <p:nvPr/>
        </p:nvSpPr>
        <p:spPr>
          <a:xfrm>
            <a:off x="9164117" y="4663440"/>
            <a:ext cx="2854757" cy="42062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Internship / Academic Project</a:t>
            </a:r>
            <a:endParaRPr lang="en-US" sz="1050" dirty="0"/>
          </a:p>
        </p:txBody>
      </p:sp>
      <p:sp>
        <p:nvSpPr>
          <p:cNvPr id="17" name="Text 15"/>
          <p:cNvSpPr/>
          <p:nvPr/>
        </p:nvSpPr>
        <p:spPr>
          <a:xfrm>
            <a:off x="822960" y="5989320"/>
            <a:ext cx="9601200" cy="365760"/>
          </a:xfrm>
          <a:prstGeom prst="rect">
            <a:avLst/>
          </a:prstGeom>
          <a:noFill/>
          <a:ln/>
        </p:spPr>
        <p:txBody>
          <a:bodyPr wrap="square" rtlCol="0" anchor="ctr"/>
          <a:lstStyle/>
          <a:p>
            <a:pPr indent="0" marL="0">
              <a:buNone/>
            </a:pPr>
            <a:r>
              <a:rPr lang="en-US" sz="1200" dirty="0">
                <a:solidFill>
                  <a:srgbClr val="C9A9AD"/>
                </a:solidFill>
                <a:latin typeface="Calibri" pitchFamily="34" charset="0"/>
                <a:ea typeface="Calibri" pitchFamily="34" charset="-122"/>
                <a:cs typeface="Calibri" pitchFamily="34" charset="-120"/>
              </a:rPr>
              <a:t>Analyzing IT Support Ticket Data through KPIs and Interactive Visual Insights</a:t>
            </a:r>
            <a:endParaRPr lang="en-US" sz="1200" dirty="0"/>
          </a:p>
        </p:txBody>
      </p:sp>
      <p:sp>
        <p:nvSpPr>
          <p:cNvPr id="18" name="Text 16"/>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C9A9AD"/>
                </a:solidFill>
                <a:latin typeface="Calibri" pitchFamily="34" charset="0"/>
                <a:ea typeface="Calibri" pitchFamily="34" charset="-122"/>
                <a:cs typeface="Calibri" pitchFamily="34" charset="-120"/>
              </a:rPr>
              <a:t>SUPPORTLYTICS</a:t>
            </a:r>
            <a:endParaRPr lang="en-US" sz="900" dirty="0"/>
          </a:p>
        </p:txBody>
      </p:sp>
      <p:sp>
        <p:nvSpPr>
          <p:cNvPr id="19" name="Shape 17"/>
          <p:cNvSpPr/>
          <p:nvPr/>
        </p:nvSpPr>
        <p:spPr>
          <a:xfrm>
            <a:off x="11475720" y="6492240"/>
            <a:ext cx="310896" cy="310896"/>
          </a:xfrm>
          <a:prstGeom prst="ellipse">
            <a:avLst/>
          </a:prstGeom>
          <a:solidFill>
            <a:srgbClr val="FFFFFF"/>
          </a:solidFill>
          <a:ln/>
        </p:spPr>
      </p:sp>
      <p:sp>
        <p:nvSpPr>
          <p:cNvPr id="20" name="Text 18"/>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7A1F2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Project Introduction</a:t>
            </a:r>
            <a:endParaRPr lang="en-US" sz="3000" dirty="0"/>
          </a:p>
        </p:txBody>
      </p:sp>
      <p:sp>
        <p:nvSpPr>
          <p:cNvPr id="4" name="Text 2"/>
          <p:cNvSpPr/>
          <p:nvPr/>
        </p:nvSpPr>
        <p:spPr>
          <a:xfrm>
            <a:off x="457200" y="1508760"/>
            <a:ext cx="6537960" cy="448056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450" dirty="0">
                <a:solidFill>
                  <a:srgbClr val="2B2323"/>
                </a:solidFill>
                <a:latin typeface="Calibri" pitchFamily="34" charset="0"/>
                <a:ea typeface="Calibri" pitchFamily="34" charset="-122"/>
                <a:cs typeface="Calibri" pitchFamily="34" charset="-120"/>
              </a:rPr>
              <a:t>SupportLytics is an IT Support Analytics Dashboard developed using Microsoft Power BI.</a:t>
            </a:r>
            <a:endParaRPr lang="en-US" sz="1450" dirty="0"/>
          </a:p>
          <a:p>
            <a:pPr marL="342900" indent="-342900">
              <a:lnSpc>
                <a:spcPct val="105000"/>
              </a:lnSpc>
              <a:spcAft>
                <a:spcPts val="1400"/>
              </a:spcAft>
              <a:buSzPct val="100000"/>
              <a:buChar char="•"/>
            </a:pPr>
            <a:r>
              <a:rPr lang="en-US" sz="1450" dirty="0">
                <a:solidFill>
                  <a:srgbClr val="2B2323"/>
                </a:solidFill>
                <a:latin typeface="Calibri" pitchFamily="34" charset="0"/>
                <a:ea typeface="Calibri" pitchFamily="34" charset="-122"/>
                <a:cs typeface="Calibri" pitchFamily="34" charset="-120"/>
              </a:rPr>
              <a:t>The project focuses on analyzing IT support ticket data.</a:t>
            </a:r>
            <a:endParaRPr lang="en-US" sz="1450" dirty="0"/>
          </a:p>
          <a:p>
            <a:pPr marL="342900" indent="-342900">
              <a:lnSpc>
                <a:spcPct val="105000"/>
              </a:lnSpc>
              <a:spcAft>
                <a:spcPts val="1400"/>
              </a:spcAft>
              <a:buSzPct val="100000"/>
              <a:buChar char="•"/>
            </a:pPr>
            <a:r>
              <a:rPr lang="en-US" sz="1450" dirty="0">
                <a:solidFill>
                  <a:srgbClr val="2B2323"/>
                </a:solidFill>
                <a:latin typeface="Calibri" pitchFamily="34" charset="0"/>
                <a:ea typeface="Calibri" pitchFamily="34" charset="-122"/>
                <a:cs typeface="Calibri" pitchFamily="34" charset="-120"/>
              </a:rPr>
              <a:t>The dashboard converts raw support-ticket information into meaningful KPIs and visual insights.</a:t>
            </a:r>
            <a:endParaRPr lang="en-US" sz="1450" dirty="0"/>
          </a:p>
          <a:p>
            <a:pPr marL="342900" indent="-342900">
              <a:lnSpc>
                <a:spcPct val="105000"/>
              </a:lnSpc>
              <a:spcAft>
                <a:spcPts val="1400"/>
              </a:spcAft>
              <a:buSzPct val="100000"/>
              <a:buChar char="•"/>
            </a:pPr>
            <a:r>
              <a:rPr lang="en-US" sz="1450" dirty="0">
                <a:solidFill>
                  <a:srgbClr val="2B2323"/>
                </a:solidFill>
                <a:latin typeface="Calibri" pitchFamily="34" charset="0"/>
                <a:ea typeface="Calibri" pitchFamily="34" charset="-122"/>
                <a:cs typeface="Calibri" pitchFamily="34" charset="-120"/>
              </a:rPr>
              <a:t>It helps understand ticket volume, priority, status, resolution performance, customer sentiment, platforms, regions, product areas, issue types, and support clusters.</a:t>
            </a:r>
            <a:endParaRPr lang="en-US" sz="1450" dirty="0"/>
          </a:p>
          <a:p>
            <a:pPr marL="342900" indent="-342900">
              <a:lnSpc>
                <a:spcPct val="105000"/>
              </a:lnSpc>
              <a:spcAft>
                <a:spcPts val="1400"/>
              </a:spcAft>
              <a:buSzPct val="100000"/>
              <a:buChar char="•"/>
            </a:pPr>
            <a:r>
              <a:rPr lang="en-US" sz="1450" dirty="0">
                <a:solidFill>
                  <a:srgbClr val="2B2323"/>
                </a:solidFill>
                <a:latin typeface="Calibri" pitchFamily="34" charset="0"/>
                <a:ea typeface="Calibri" pitchFamily="34" charset="-122"/>
                <a:cs typeface="Calibri" pitchFamily="34" charset="-120"/>
              </a:rPr>
              <a:t>The dashboard contains two analytical pages, each focused on a distinct layer of analysis.</a:t>
            </a:r>
            <a:endParaRPr lang="en-US" sz="1450" dirty="0"/>
          </a:p>
        </p:txBody>
      </p:sp>
      <p:sp>
        <p:nvSpPr>
          <p:cNvPr id="5" name="Shape 3"/>
          <p:cNvSpPr/>
          <p:nvPr/>
        </p:nvSpPr>
        <p:spPr>
          <a:xfrm>
            <a:off x="7452360" y="1600200"/>
            <a:ext cx="4206240" cy="1920240"/>
          </a:xfrm>
          <a:prstGeom prst="roundRect">
            <a:avLst>
              <a:gd name="adj" fmla="val 4286"/>
            </a:avLst>
          </a:prstGeom>
          <a:solidFill>
            <a:srgbClr val="FBF6F6"/>
          </a:solidFill>
          <a:ln/>
          <a:effectLst>
            <a:outerShdw sx="100000" sy="100000" kx="0" ky="0" algn="bl" rotWithShape="0" blurRad="76200" dist="25400" dir="5400000">
              <a:srgbClr val="9C8A88">
                <a:alpha val="28000"/>
              </a:srgbClr>
            </a:outerShdw>
          </a:effectLst>
        </p:spPr>
      </p:sp>
      <p:sp>
        <p:nvSpPr>
          <p:cNvPr id="6" name="Shape 4"/>
          <p:cNvSpPr/>
          <p:nvPr/>
        </p:nvSpPr>
        <p:spPr>
          <a:xfrm>
            <a:off x="7726680" y="1828800"/>
            <a:ext cx="457200" cy="457200"/>
          </a:xfrm>
          <a:prstGeom prst="ellipse">
            <a:avLst/>
          </a:prstGeom>
          <a:solidFill>
            <a:srgbClr val="7A1F2B"/>
          </a:solidFill>
          <a:ln/>
        </p:spPr>
      </p:sp>
      <p:sp>
        <p:nvSpPr>
          <p:cNvPr id="7" name="Text 5"/>
          <p:cNvSpPr/>
          <p:nvPr/>
        </p:nvSpPr>
        <p:spPr>
          <a:xfrm>
            <a:off x="7726680" y="1828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8366760" y="1783080"/>
            <a:ext cx="3108960" cy="320040"/>
          </a:xfrm>
          <a:prstGeom prst="rect">
            <a:avLst/>
          </a:prstGeom>
          <a:noFill/>
          <a:ln/>
        </p:spPr>
        <p:txBody>
          <a:bodyPr wrap="square" rtlCol="0" anchor="ctr"/>
          <a:lstStyle/>
          <a:p>
            <a:pPr indent="0" marL="0">
              <a:buNone/>
            </a:pPr>
            <a:r>
              <a:rPr lang="en-US" sz="1300" b="1" dirty="0">
                <a:solidFill>
                  <a:srgbClr val="C0263B"/>
                </a:solidFill>
                <a:latin typeface="Calibri" pitchFamily="34" charset="0"/>
                <a:ea typeface="Calibri" pitchFamily="34" charset="-122"/>
                <a:cs typeface="Calibri" pitchFamily="34" charset="-120"/>
              </a:rPr>
              <a:t>Page 1</a:t>
            </a:r>
            <a:endParaRPr lang="en-US" sz="1300" dirty="0"/>
          </a:p>
        </p:txBody>
      </p:sp>
      <p:sp>
        <p:nvSpPr>
          <p:cNvPr id="9" name="Text 7"/>
          <p:cNvSpPr/>
          <p:nvPr/>
        </p:nvSpPr>
        <p:spPr>
          <a:xfrm>
            <a:off x="8366760" y="2121408"/>
            <a:ext cx="3108960" cy="914400"/>
          </a:xfrm>
          <a:prstGeom prst="rect">
            <a:avLst/>
          </a:prstGeom>
          <a:noFill/>
          <a:ln/>
        </p:spPr>
        <p:txBody>
          <a:bodyPr wrap="square" rtlCol="0" anchor="ctr"/>
          <a:lstStyle/>
          <a:p>
            <a:pPr indent="0" marL="0">
              <a:buNone/>
            </a:pPr>
            <a:r>
              <a:rPr lang="en-US" sz="1500" b="1" dirty="0">
                <a:solidFill>
                  <a:srgbClr val="2B2323"/>
                </a:solidFill>
                <a:latin typeface="Cambria" pitchFamily="34" charset="0"/>
                <a:ea typeface="Cambria" pitchFamily="34" charset="-122"/>
                <a:cs typeface="Cambria" pitchFamily="34" charset="-120"/>
              </a:rPr>
              <a:t>SUPPORTLYTICS — IT Support Performance Overview</a:t>
            </a:r>
            <a:endParaRPr lang="en-US" sz="1500" dirty="0"/>
          </a:p>
        </p:txBody>
      </p:sp>
      <p:sp>
        <p:nvSpPr>
          <p:cNvPr id="10" name="Text 8"/>
          <p:cNvSpPr/>
          <p:nvPr/>
        </p:nvSpPr>
        <p:spPr>
          <a:xfrm>
            <a:off x="7726680" y="3063240"/>
            <a:ext cx="3657600" cy="411480"/>
          </a:xfrm>
          <a:prstGeom prst="rect">
            <a:avLst/>
          </a:prstGeom>
          <a:noFill/>
          <a:ln/>
        </p:spPr>
        <p:txBody>
          <a:bodyPr wrap="square" rtlCol="0" anchor="ctr"/>
          <a:lstStyle/>
          <a:p>
            <a:pPr indent="0" marL="0">
              <a:buNone/>
            </a:pPr>
            <a:r>
              <a:rPr lang="en-US" sz="1100" i="1" dirty="0">
                <a:solidFill>
                  <a:srgbClr val="6E6262"/>
                </a:solidFill>
                <a:latin typeface="Calibri" pitchFamily="34" charset="0"/>
                <a:ea typeface="Calibri" pitchFamily="34" charset="-122"/>
                <a:cs typeface="Calibri" pitchFamily="34" charset="-120"/>
              </a:rPr>
              <a:t>High-level KPIs and overall performance snapshot.</a:t>
            </a:r>
            <a:endParaRPr lang="en-US" sz="1100" dirty="0"/>
          </a:p>
        </p:txBody>
      </p:sp>
      <p:sp>
        <p:nvSpPr>
          <p:cNvPr id="11" name="Shape 9"/>
          <p:cNvSpPr/>
          <p:nvPr/>
        </p:nvSpPr>
        <p:spPr>
          <a:xfrm>
            <a:off x="7452360" y="3749040"/>
            <a:ext cx="4206240" cy="1920240"/>
          </a:xfrm>
          <a:prstGeom prst="roundRect">
            <a:avLst>
              <a:gd name="adj" fmla="val 4286"/>
            </a:avLst>
          </a:prstGeom>
          <a:solidFill>
            <a:srgbClr val="FBF6F6"/>
          </a:solidFill>
          <a:ln/>
          <a:effectLst>
            <a:outerShdw sx="100000" sy="100000" kx="0" ky="0" algn="bl" rotWithShape="0" blurRad="76200" dist="25400" dir="5400000">
              <a:srgbClr val="9C8A88">
                <a:alpha val="28000"/>
              </a:srgbClr>
            </a:outerShdw>
          </a:effectLst>
        </p:spPr>
      </p:sp>
      <p:sp>
        <p:nvSpPr>
          <p:cNvPr id="12" name="Shape 10"/>
          <p:cNvSpPr/>
          <p:nvPr/>
        </p:nvSpPr>
        <p:spPr>
          <a:xfrm>
            <a:off x="7726680" y="3977640"/>
            <a:ext cx="457200" cy="457200"/>
          </a:xfrm>
          <a:prstGeom prst="ellipse">
            <a:avLst/>
          </a:prstGeom>
          <a:solidFill>
            <a:srgbClr val="7A1F2B"/>
          </a:solidFill>
          <a:ln/>
        </p:spPr>
      </p:sp>
      <p:sp>
        <p:nvSpPr>
          <p:cNvPr id="13" name="Text 11"/>
          <p:cNvSpPr/>
          <p:nvPr/>
        </p:nvSpPr>
        <p:spPr>
          <a:xfrm>
            <a:off x="7726680" y="39776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8366760" y="3931920"/>
            <a:ext cx="3108960" cy="320040"/>
          </a:xfrm>
          <a:prstGeom prst="rect">
            <a:avLst/>
          </a:prstGeom>
          <a:noFill/>
          <a:ln/>
        </p:spPr>
        <p:txBody>
          <a:bodyPr wrap="square" rtlCol="0" anchor="ctr"/>
          <a:lstStyle/>
          <a:p>
            <a:pPr indent="0" marL="0">
              <a:buNone/>
            </a:pPr>
            <a:r>
              <a:rPr lang="en-US" sz="1300" b="1" dirty="0">
                <a:solidFill>
                  <a:srgbClr val="C0263B"/>
                </a:solidFill>
                <a:latin typeface="Calibri" pitchFamily="34" charset="0"/>
                <a:ea typeface="Calibri" pitchFamily="34" charset="-122"/>
                <a:cs typeface="Calibri" pitchFamily="34" charset="-120"/>
              </a:rPr>
              <a:t>Page 2</a:t>
            </a:r>
            <a:endParaRPr lang="en-US" sz="1300" dirty="0"/>
          </a:p>
        </p:txBody>
      </p:sp>
      <p:sp>
        <p:nvSpPr>
          <p:cNvPr id="15" name="Text 13"/>
          <p:cNvSpPr/>
          <p:nvPr/>
        </p:nvSpPr>
        <p:spPr>
          <a:xfrm>
            <a:off x="8366760" y="4270248"/>
            <a:ext cx="3108960" cy="914400"/>
          </a:xfrm>
          <a:prstGeom prst="rect">
            <a:avLst/>
          </a:prstGeom>
          <a:noFill/>
          <a:ln/>
        </p:spPr>
        <p:txBody>
          <a:bodyPr wrap="square" rtlCol="0" anchor="ctr"/>
          <a:lstStyle/>
          <a:p>
            <a:pPr indent="0" marL="0">
              <a:buNone/>
            </a:pPr>
            <a:r>
              <a:rPr lang="en-US" sz="1500" b="1" dirty="0">
                <a:solidFill>
                  <a:srgbClr val="2B2323"/>
                </a:solidFill>
                <a:latin typeface="Cambria" pitchFamily="34" charset="0"/>
                <a:ea typeface="Cambria" pitchFamily="34" charset="-122"/>
                <a:cs typeface="Cambria" pitchFamily="34" charset="-120"/>
              </a:rPr>
              <a:t>SUPPORTLYTICS — Support Performance &amp; Operational Analysis</a:t>
            </a:r>
            <a:endParaRPr lang="en-US" sz="1500" dirty="0"/>
          </a:p>
        </p:txBody>
      </p:sp>
      <p:sp>
        <p:nvSpPr>
          <p:cNvPr id="16" name="Text 14"/>
          <p:cNvSpPr/>
          <p:nvPr/>
        </p:nvSpPr>
        <p:spPr>
          <a:xfrm>
            <a:off x="7726680" y="5212080"/>
            <a:ext cx="3657600" cy="411480"/>
          </a:xfrm>
          <a:prstGeom prst="rect">
            <a:avLst/>
          </a:prstGeom>
          <a:noFill/>
          <a:ln/>
        </p:spPr>
        <p:txBody>
          <a:bodyPr wrap="square" rtlCol="0" anchor="ctr"/>
          <a:lstStyle/>
          <a:p>
            <a:pPr indent="0" marL="0">
              <a:buNone/>
            </a:pPr>
            <a:r>
              <a:rPr lang="en-US" sz="1100" i="1" dirty="0">
                <a:solidFill>
                  <a:srgbClr val="6E6262"/>
                </a:solidFill>
                <a:latin typeface="Calibri" pitchFamily="34" charset="0"/>
                <a:ea typeface="Calibri" pitchFamily="34" charset="-122"/>
                <a:cs typeface="Calibri" pitchFamily="34" charset="-120"/>
              </a:rPr>
              <a:t>Deeper operational and platform-level analysis.</a:t>
            </a:r>
            <a:endParaRPr lang="en-US" sz="1100" dirty="0"/>
          </a:p>
        </p:txBody>
      </p:sp>
      <p:sp>
        <p:nvSpPr>
          <p:cNvPr id="17" name="Text 15"/>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18" name="Text 16"/>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Project Introduction</a:t>
            </a:r>
            <a:endParaRPr lang="en-US" sz="900" dirty="0"/>
          </a:p>
        </p:txBody>
      </p:sp>
      <p:sp>
        <p:nvSpPr>
          <p:cNvPr id="19" name="Shape 17"/>
          <p:cNvSpPr/>
          <p:nvPr/>
        </p:nvSpPr>
        <p:spPr>
          <a:xfrm>
            <a:off x="11475720" y="6492240"/>
            <a:ext cx="310896" cy="310896"/>
          </a:xfrm>
          <a:prstGeom prst="ellipse">
            <a:avLst/>
          </a:prstGeom>
          <a:solidFill>
            <a:srgbClr val="7A1F2B"/>
          </a:solidFill>
          <a:ln/>
        </p:spPr>
      </p:sp>
      <p:sp>
        <p:nvSpPr>
          <p:cNvPr id="20" name="Text 18"/>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457200" y="1554480"/>
            <a:ext cx="5486400" cy="4480560"/>
          </a:xfrm>
          <a:prstGeom prst="roundRect">
            <a:avLst>
              <a:gd name="adj" fmla="val 1837"/>
            </a:avLst>
          </a:prstGeom>
          <a:solidFill>
            <a:srgbClr val="FBF6F6"/>
          </a:solidFill>
          <a:ln/>
          <a:effectLst>
            <a:outerShdw sx="100000" sy="100000" kx="0" ky="0" algn="bl" rotWithShape="0" blurRad="76200" dist="25400" dir="5400000">
              <a:srgbClr val="9C8A88">
                <a:alpha val="28000"/>
              </a:srgbClr>
            </a:outerShdw>
          </a:effectLst>
        </p:spPr>
      </p:sp>
      <p:sp>
        <p:nvSpPr>
          <p:cNvPr id="5" name="Text 3"/>
          <p:cNvSpPr/>
          <p:nvPr/>
        </p:nvSpPr>
        <p:spPr>
          <a:xfrm>
            <a:off x="777240" y="1783080"/>
            <a:ext cx="4846320" cy="320040"/>
          </a:xfrm>
          <a:prstGeom prst="rect">
            <a:avLst/>
          </a:prstGeom>
          <a:noFill/>
          <a:ln/>
        </p:spPr>
        <p:txBody>
          <a:bodyPr wrap="square" rtlCol="0" anchor="ctr"/>
          <a:lstStyle/>
          <a:p>
            <a:pPr indent="0" marL="0">
              <a:buNone/>
            </a:pPr>
            <a:r>
              <a:rPr lang="en-US" sz="1200" b="1" spc="150" kern="0" dirty="0">
                <a:solidFill>
                  <a:srgbClr val="C0263B"/>
                </a:solidFill>
                <a:latin typeface="Calibri" pitchFamily="34" charset="0"/>
                <a:ea typeface="Calibri" pitchFamily="34" charset="-122"/>
                <a:cs typeface="Calibri" pitchFamily="34" charset="-120"/>
              </a:rPr>
              <a:t>THE CHALLENGE</a:t>
            </a:r>
            <a:endParaRPr lang="en-US" sz="1200" dirty="0"/>
          </a:p>
        </p:txBody>
      </p:sp>
      <p:sp>
        <p:nvSpPr>
          <p:cNvPr id="6" name="Text 4"/>
          <p:cNvSpPr/>
          <p:nvPr/>
        </p:nvSpPr>
        <p:spPr>
          <a:xfrm>
            <a:off x="777240" y="2148840"/>
            <a:ext cx="4846320" cy="3749040"/>
          </a:xfrm>
          <a:prstGeom prst="rect">
            <a:avLst/>
          </a:prstGeom>
          <a:noFill/>
          <a:ln/>
        </p:spPr>
        <p:txBody>
          <a:bodyPr wrap="square" lIns="0" tIns="0" rIns="0" bIns="0" rtlCol="0" anchor="t"/>
          <a:lstStyle/>
          <a:p>
            <a:pPr marL="342900" indent="-342900">
              <a:lnSpc>
                <a:spcPct val="105000"/>
              </a:lnSpc>
              <a:spcAft>
                <a:spcPts val="1200"/>
              </a:spcAft>
              <a:buSzPct val="100000"/>
              <a:buChar char="•"/>
            </a:pPr>
            <a:r>
              <a:rPr lang="en-US" sz="1350" dirty="0">
                <a:solidFill>
                  <a:srgbClr val="2B2323"/>
                </a:solidFill>
                <a:latin typeface="Calibri" pitchFamily="34" charset="0"/>
                <a:ea typeface="Calibri" pitchFamily="34" charset="-122"/>
                <a:cs typeface="Calibri" pitchFamily="34" charset="-120"/>
              </a:rPr>
              <a:t>Large volumes of IT support tickets can be difficult to analyze manually.</a:t>
            </a:r>
            <a:endParaRPr lang="en-US" sz="1350" dirty="0"/>
          </a:p>
          <a:p>
            <a:pPr marL="342900" indent="-342900">
              <a:lnSpc>
                <a:spcPct val="105000"/>
              </a:lnSpc>
              <a:spcAft>
                <a:spcPts val="1200"/>
              </a:spcAft>
              <a:buSzPct val="100000"/>
              <a:buChar char="•"/>
            </a:pPr>
            <a:r>
              <a:rPr lang="en-US" sz="1350" dirty="0">
                <a:solidFill>
                  <a:srgbClr val="2B2323"/>
                </a:solidFill>
                <a:latin typeface="Calibri" pitchFamily="34" charset="0"/>
                <a:ea typeface="Calibri" pitchFamily="34" charset="-122"/>
                <a:cs typeface="Calibri" pitchFamily="34" charset="-120"/>
              </a:rPr>
              <a:t>Important information — priority, status, resolution time, region, platform, customer sentiment — is distributed across the dataset.</a:t>
            </a:r>
            <a:endParaRPr lang="en-US" sz="1350" dirty="0"/>
          </a:p>
          <a:p>
            <a:pPr marL="342900" indent="-342900">
              <a:lnSpc>
                <a:spcPct val="105000"/>
              </a:lnSpc>
              <a:spcAft>
                <a:spcPts val="1200"/>
              </a:spcAft>
              <a:buSzPct val="100000"/>
              <a:buChar char="•"/>
            </a:pPr>
            <a:r>
              <a:rPr lang="en-US" sz="1350" dirty="0">
                <a:solidFill>
                  <a:srgbClr val="2B2323"/>
                </a:solidFill>
                <a:latin typeface="Calibri" pitchFamily="34" charset="0"/>
                <a:ea typeface="Calibri" pitchFamily="34" charset="-122"/>
                <a:cs typeface="Calibri" pitchFamily="34" charset="-120"/>
              </a:rPr>
              <a:t>Manual analysis makes it difficult to quickly identify support workload and operational patterns.</a:t>
            </a:r>
            <a:endParaRPr lang="en-US" sz="1350" dirty="0"/>
          </a:p>
          <a:p>
            <a:pPr marL="342900" indent="-342900">
              <a:lnSpc>
                <a:spcPct val="105000"/>
              </a:lnSpc>
              <a:spcAft>
                <a:spcPts val="1200"/>
              </a:spcAft>
              <a:buSzPct val="100000"/>
              <a:buChar char="•"/>
            </a:pPr>
            <a:r>
              <a:rPr lang="en-US" sz="1350" dirty="0">
                <a:solidFill>
                  <a:srgbClr val="2B2323"/>
                </a:solidFill>
                <a:latin typeface="Calibri" pitchFamily="34" charset="0"/>
                <a:ea typeface="Calibri" pitchFamily="34" charset="-122"/>
                <a:cs typeface="Calibri" pitchFamily="34" charset="-120"/>
              </a:rPr>
              <a:t>A centralized analytical dashboard is required to provide a clear view of support performance.</a:t>
            </a:r>
            <a:endParaRPr lang="en-US" sz="1350" dirty="0"/>
          </a:p>
        </p:txBody>
      </p:sp>
      <p:sp>
        <p:nvSpPr>
          <p:cNvPr id="7" name="Shape 5"/>
          <p:cNvSpPr/>
          <p:nvPr/>
        </p:nvSpPr>
        <p:spPr>
          <a:xfrm>
            <a:off x="6245352" y="1554480"/>
            <a:ext cx="5486400" cy="4480560"/>
          </a:xfrm>
          <a:prstGeom prst="roundRect">
            <a:avLst>
              <a:gd name="adj" fmla="val 1837"/>
            </a:avLst>
          </a:prstGeom>
          <a:solidFill>
            <a:srgbClr val="7A1F2B"/>
          </a:solidFill>
          <a:ln/>
          <a:effectLst>
            <a:outerShdw sx="100000" sy="100000" kx="0" ky="0" algn="bl" rotWithShape="0" blurRad="76200" dist="25400" dir="5400000">
              <a:srgbClr val="9C8A88">
                <a:alpha val="28000"/>
              </a:srgbClr>
            </a:outerShdw>
          </a:effectLst>
        </p:spPr>
      </p:sp>
      <p:sp>
        <p:nvSpPr>
          <p:cNvPr id="8" name="Text 6"/>
          <p:cNvSpPr/>
          <p:nvPr/>
        </p:nvSpPr>
        <p:spPr>
          <a:xfrm>
            <a:off x="6565392" y="1783080"/>
            <a:ext cx="4846320" cy="320040"/>
          </a:xfrm>
          <a:prstGeom prst="rect">
            <a:avLst/>
          </a:prstGeom>
          <a:noFill/>
          <a:ln/>
        </p:spPr>
        <p:txBody>
          <a:bodyPr wrap="square" rtlCol="0" anchor="ctr"/>
          <a:lstStyle/>
          <a:p>
            <a:pPr indent="0" marL="0">
              <a:buNone/>
            </a:pPr>
            <a:r>
              <a:rPr lang="en-US" sz="1200" b="1" spc="150" kern="0" dirty="0">
                <a:solidFill>
                  <a:srgbClr val="E7B5BC"/>
                </a:solidFill>
                <a:latin typeface="Calibri" pitchFamily="34" charset="0"/>
                <a:ea typeface="Calibri" pitchFamily="34" charset="-122"/>
                <a:cs typeface="Calibri" pitchFamily="34" charset="-120"/>
              </a:rPr>
              <a:t>HOW SUPPORTLYTICS RESPONDS</a:t>
            </a:r>
            <a:endParaRPr lang="en-US" sz="1200" dirty="0"/>
          </a:p>
        </p:txBody>
      </p:sp>
      <p:sp>
        <p:nvSpPr>
          <p:cNvPr id="9" name="Shape 7"/>
          <p:cNvSpPr/>
          <p:nvPr/>
        </p:nvSpPr>
        <p:spPr>
          <a:xfrm>
            <a:off x="6565392" y="2286000"/>
            <a:ext cx="4846320" cy="566928"/>
          </a:xfrm>
          <a:prstGeom prst="roundRect">
            <a:avLst>
              <a:gd name="adj" fmla="val 12903"/>
            </a:avLst>
          </a:prstGeom>
          <a:solidFill>
            <a:srgbClr val="8F2C39"/>
          </a:solidFill>
          <a:ln/>
        </p:spPr>
      </p:sp>
      <p:sp>
        <p:nvSpPr>
          <p:cNvPr id="10" name="Text 8"/>
          <p:cNvSpPr/>
          <p:nvPr/>
        </p:nvSpPr>
        <p:spPr>
          <a:xfrm>
            <a:off x="6784848" y="2286000"/>
            <a:ext cx="4480560" cy="56692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Centralized dashboard</a:t>
            </a:r>
            <a:endParaRPr lang="en-US" sz="1400" dirty="0"/>
          </a:p>
        </p:txBody>
      </p:sp>
      <p:sp>
        <p:nvSpPr>
          <p:cNvPr id="11" name="Shape 9"/>
          <p:cNvSpPr/>
          <p:nvPr/>
        </p:nvSpPr>
        <p:spPr>
          <a:xfrm>
            <a:off x="6565392" y="2980944"/>
            <a:ext cx="4846320" cy="566928"/>
          </a:xfrm>
          <a:prstGeom prst="roundRect">
            <a:avLst>
              <a:gd name="adj" fmla="val 12903"/>
            </a:avLst>
          </a:prstGeom>
          <a:solidFill>
            <a:srgbClr val="8F2C39"/>
          </a:solidFill>
          <a:ln/>
        </p:spPr>
      </p:sp>
      <p:sp>
        <p:nvSpPr>
          <p:cNvPr id="12" name="Text 10"/>
          <p:cNvSpPr/>
          <p:nvPr/>
        </p:nvSpPr>
        <p:spPr>
          <a:xfrm>
            <a:off x="6784848" y="2980944"/>
            <a:ext cx="4480560" cy="56692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KPI monitoring</a:t>
            </a:r>
            <a:endParaRPr lang="en-US" sz="1400" dirty="0"/>
          </a:p>
        </p:txBody>
      </p:sp>
      <p:sp>
        <p:nvSpPr>
          <p:cNvPr id="13" name="Shape 11"/>
          <p:cNvSpPr/>
          <p:nvPr/>
        </p:nvSpPr>
        <p:spPr>
          <a:xfrm>
            <a:off x="6565392" y="3675888"/>
            <a:ext cx="4846320" cy="566928"/>
          </a:xfrm>
          <a:prstGeom prst="roundRect">
            <a:avLst>
              <a:gd name="adj" fmla="val 12903"/>
            </a:avLst>
          </a:prstGeom>
          <a:solidFill>
            <a:srgbClr val="8F2C39"/>
          </a:solidFill>
          <a:ln/>
        </p:spPr>
      </p:sp>
      <p:sp>
        <p:nvSpPr>
          <p:cNvPr id="14" name="Text 12"/>
          <p:cNvSpPr/>
          <p:nvPr/>
        </p:nvSpPr>
        <p:spPr>
          <a:xfrm>
            <a:off x="6784848" y="3675888"/>
            <a:ext cx="4480560" cy="56692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Interactive visual analysis</a:t>
            </a:r>
            <a:endParaRPr lang="en-US" sz="1400" dirty="0"/>
          </a:p>
        </p:txBody>
      </p:sp>
      <p:sp>
        <p:nvSpPr>
          <p:cNvPr id="15" name="Shape 13"/>
          <p:cNvSpPr/>
          <p:nvPr/>
        </p:nvSpPr>
        <p:spPr>
          <a:xfrm>
            <a:off x="6565392" y="4370832"/>
            <a:ext cx="4846320" cy="566928"/>
          </a:xfrm>
          <a:prstGeom prst="roundRect">
            <a:avLst>
              <a:gd name="adj" fmla="val 12903"/>
            </a:avLst>
          </a:prstGeom>
          <a:solidFill>
            <a:srgbClr val="8F2C39"/>
          </a:solidFill>
          <a:ln/>
        </p:spPr>
      </p:sp>
      <p:sp>
        <p:nvSpPr>
          <p:cNvPr id="16" name="Text 14"/>
          <p:cNvSpPr/>
          <p:nvPr/>
        </p:nvSpPr>
        <p:spPr>
          <a:xfrm>
            <a:off x="6784848" y="4370832"/>
            <a:ext cx="4480560" cy="56692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Multi-dimensional ticket analysis</a:t>
            </a:r>
            <a:endParaRPr lang="en-US" sz="1400" dirty="0"/>
          </a:p>
        </p:txBody>
      </p:sp>
      <p:sp>
        <p:nvSpPr>
          <p:cNvPr id="17" name="Shape 15"/>
          <p:cNvSpPr/>
          <p:nvPr/>
        </p:nvSpPr>
        <p:spPr>
          <a:xfrm>
            <a:off x="6565392" y="5065776"/>
            <a:ext cx="4846320" cy="566928"/>
          </a:xfrm>
          <a:prstGeom prst="roundRect">
            <a:avLst>
              <a:gd name="adj" fmla="val 12903"/>
            </a:avLst>
          </a:prstGeom>
          <a:solidFill>
            <a:srgbClr val="8F2C39"/>
          </a:solidFill>
          <a:ln/>
        </p:spPr>
      </p:sp>
      <p:sp>
        <p:nvSpPr>
          <p:cNvPr id="18" name="Text 16"/>
          <p:cNvSpPr/>
          <p:nvPr/>
        </p:nvSpPr>
        <p:spPr>
          <a:xfrm>
            <a:off x="6784848" y="5065776"/>
            <a:ext cx="4480560" cy="56692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Operational performance monitoring</a:t>
            </a:r>
            <a:endParaRPr lang="en-US" sz="1400" dirty="0"/>
          </a:p>
        </p:txBody>
      </p:sp>
      <p:sp>
        <p:nvSpPr>
          <p:cNvPr id="19" name="Text 17"/>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20" name="Text 18"/>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Problem Statement</a:t>
            </a:r>
            <a:endParaRPr lang="en-US" sz="900" dirty="0"/>
          </a:p>
        </p:txBody>
      </p:sp>
      <p:sp>
        <p:nvSpPr>
          <p:cNvPr id="21" name="Shape 19"/>
          <p:cNvSpPr/>
          <p:nvPr/>
        </p:nvSpPr>
        <p:spPr>
          <a:xfrm>
            <a:off x="11475720" y="6492240"/>
            <a:ext cx="310896" cy="310896"/>
          </a:xfrm>
          <a:prstGeom prst="ellipse">
            <a:avLst/>
          </a:prstGeom>
          <a:solidFill>
            <a:srgbClr val="7A1F2B"/>
          </a:solidFill>
          <a:ln/>
        </p:spPr>
      </p:sp>
      <p:sp>
        <p:nvSpPr>
          <p:cNvPr id="22" name="Text 20"/>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GOALS</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457200" y="1481328"/>
            <a:ext cx="3566160" cy="658368"/>
          </a:xfrm>
          <a:prstGeom prst="roundRect">
            <a:avLst>
              <a:gd name="adj" fmla="val 9722"/>
            </a:avLst>
          </a:prstGeom>
          <a:solidFill>
            <a:srgbClr val="F6F1F0"/>
          </a:solidFill>
          <a:ln/>
        </p:spPr>
      </p:sp>
      <p:sp>
        <p:nvSpPr>
          <p:cNvPr id="5" name="Shape 3"/>
          <p:cNvSpPr/>
          <p:nvPr/>
        </p:nvSpPr>
        <p:spPr>
          <a:xfrm>
            <a:off x="566928" y="1709928"/>
            <a:ext cx="201168" cy="201168"/>
          </a:xfrm>
          <a:prstGeom prst="ellipse">
            <a:avLst/>
          </a:prstGeom>
          <a:solidFill>
            <a:srgbClr val="C0263B"/>
          </a:solidFill>
          <a:ln/>
        </p:spPr>
      </p:sp>
      <p:sp>
        <p:nvSpPr>
          <p:cNvPr id="6" name="Text 4"/>
          <p:cNvSpPr/>
          <p:nvPr/>
        </p:nvSpPr>
        <p:spPr>
          <a:xfrm>
            <a:off x="868680" y="1481328"/>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Analyze overall support ticket volume</a:t>
            </a:r>
            <a:endParaRPr lang="en-US" sz="1150" dirty="0"/>
          </a:p>
        </p:txBody>
      </p:sp>
      <p:sp>
        <p:nvSpPr>
          <p:cNvPr id="7" name="Shape 5"/>
          <p:cNvSpPr/>
          <p:nvPr/>
        </p:nvSpPr>
        <p:spPr>
          <a:xfrm>
            <a:off x="457200" y="2231136"/>
            <a:ext cx="3566160" cy="658368"/>
          </a:xfrm>
          <a:prstGeom prst="roundRect">
            <a:avLst>
              <a:gd name="adj" fmla="val 9722"/>
            </a:avLst>
          </a:prstGeom>
          <a:solidFill>
            <a:srgbClr val="F6F1F0"/>
          </a:solidFill>
          <a:ln/>
        </p:spPr>
      </p:sp>
      <p:sp>
        <p:nvSpPr>
          <p:cNvPr id="8" name="Shape 6"/>
          <p:cNvSpPr/>
          <p:nvPr/>
        </p:nvSpPr>
        <p:spPr>
          <a:xfrm>
            <a:off x="566928" y="2459736"/>
            <a:ext cx="201168" cy="201168"/>
          </a:xfrm>
          <a:prstGeom prst="ellipse">
            <a:avLst/>
          </a:prstGeom>
          <a:solidFill>
            <a:srgbClr val="C0263B"/>
          </a:solidFill>
          <a:ln/>
        </p:spPr>
      </p:sp>
      <p:sp>
        <p:nvSpPr>
          <p:cNvPr id="9" name="Text 7"/>
          <p:cNvSpPr/>
          <p:nvPr/>
        </p:nvSpPr>
        <p:spPr>
          <a:xfrm>
            <a:off x="868680" y="2231136"/>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Monitor high-priority tickets</a:t>
            </a:r>
            <a:endParaRPr lang="en-US" sz="1150" dirty="0"/>
          </a:p>
        </p:txBody>
      </p:sp>
      <p:sp>
        <p:nvSpPr>
          <p:cNvPr id="10" name="Shape 8"/>
          <p:cNvSpPr/>
          <p:nvPr/>
        </p:nvSpPr>
        <p:spPr>
          <a:xfrm>
            <a:off x="457200" y="2980944"/>
            <a:ext cx="3566160" cy="658368"/>
          </a:xfrm>
          <a:prstGeom prst="roundRect">
            <a:avLst>
              <a:gd name="adj" fmla="val 9722"/>
            </a:avLst>
          </a:prstGeom>
          <a:solidFill>
            <a:srgbClr val="F6F1F0"/>
          </a:solidFill>
          <a:ln/>
        </p:spPr>
      </p:sp>
      <p:sp>
        <p:nvSpPr>
          <p:cNvPr id="11" name="Shape 9"/>
          <p:cNvSpPr/>
          <p:nvPr/>
        </p:nvSpPr>
        <p:spPr>
          <a:xfrm>
            <a:off x="566928" y="3209544"/>
            <a:ext cx="201168" cy="201168"/>
          </a:xfrm>
          <a:prstGeom prst="ellipse">
            <a:avLst/>
          </a:prstGeom>
          <a:solidFill>
            <a:srgbClr val="C0263B"/>
          </a:solidFill>
          <a:ln/>
        </p:spPr>
      </p:sp>
      <p:sp>
        <p:nvSpPr>
          <p:cNvPr id="12" name="Text 10"/>
          <p:cNvSpPr/>
          <p:nvPr/>
        </p:nvSpPr>
        <p:spPr>
          <a:xfrm>
            <a:off x="868680" y="2980944"/>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Monitor urgent tickets</a:t>
            </a:r>
            <a:endParaRPr lang="en-US" sz="1150" dirty="0"/>
          </a:p>
        </p:txBody>
      </p:sp>
      <p:sp>
        <p:nvSpPr>
          <p:cNvPr id="13" name="Shape 11"/>
          <p:cNvSpPr/>
          <p:nvPr/>
        </p:nvSpPr>
        <p:spPr>
          <a:xfrm>
            <a:off x="457200" y="3730752"/>
            <a:ext cx="3566160" cy="658368"/>
          </a:xfrm>
          <a:prstGeom prst="roundRect">
            <a:avLst>
              <a:gd name="adj" fmla="val 9722"/>
            </a:avLst>
          </a:prstGeom>
          <a:solidFill>
            <a:srgbClr val="F6F1F0"/>
          </a:solidFill>
          <a:ln/>
        </p:spPr>
      </p:sp>
      <p:sp>
        <p:nvSpPr>
          <p:cNvPr id="14" name="Shape 12"/>
          <p:cNvSpPr/>
          <p:nvPr/>
        </p:nvSpPr>
        <p:spPr>
          <a:xfrm>
            <a:off x="566928" y="3959352"/>
            <a:ext cx="201168" cy="201168"/>
          </a:xfrm>
          <a:prstGeom prst="ellipse">
            <a:avLst/>
          </a:prstGeom>
          <a:solidFill>
            <a:srgbClr val="C0263B"/>
          </a:solidFill>
          <a:ln/>
        </p:spPr>
      </p:sp>
      <p:sp>
        <p:nvSpPr>
          <p:cNvPr id="15" name="Text 13"/>
          <p:cNvSpPr/>
          <p:nvPr/>
        </p:nvSpPr>
        <p:spPr>
          <a:xfrm>
            <a:off x="868680" y="3730752"/>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Analyze ticket status</a:t>
            </a:r>
            <a:endParaRPr lang="en-US" sz="1150" dirty="0"/>
          </a:p>
        </p:txBody>
      </p:sp>
      <p:sp>
        <p:nvSpPr>
          <p:cNvPr id="16" name="Shape 14"/>
          <p:cNvSpPr/>
          <p:nvPr/>
        </p:nvSpPr>
        <p:spPr>
          <a:xfrm>
            <a:off x="457200" y="4480560"/>
            <a:ext cx="3566160" cy="658368"/>
          </a:xfrm>
          <a:prstGeom prst="roundRect">
            <a:avLst>
              <a:gd name="adj" fmla="val 9722"/>
            </a:avLst>
          </a:prstGeom>
          <a:solidFill>
            <a:srgbClr val="F6F1F0"/>
          </a:solidFill>
          <a:ln/>
        </p:spPr>
      </p:sp>
      <p:sp>
        <p:nvSpPr>
          <p:cNvPr id="17" name="Shape 15"/>
          <p:cNvSpPr/>
          <p:nvPr/>
        </p:nvSpPr>
        <p:spPr>
          <a:xfrm>
            <a:off x="566928" y="4709160"/>
            <a:ext cx="201168" cy="201168"/>
          </a:xfrm>
          <a:prstGeom prst="ellipse">
            <a:avLst/>
          </a:prstGeom>
          <a:solidFill>
            <a:srgbClr val="C0263B"/>
          </a:solidFill>
          <a:ln/>
        </p:spPr>
      </p:sp>
      <p:sp>
        <p:nvSpPr>
          <p:cNvPr id="18" name="Text 16"/>
          <p:cNvSpPr/>
          <p:nvPr/>
        </p:nvSpPr>
        <p:spPr>
          <a:xfrm>
            <a:off x="868680" y="4480560"/>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Analyze average resolution time</a:t>
            </a:r>
            <a:endParaRPr lang="en-US" sz="1150" dirty="0"/>
          </a:p>
        </p:txBody>
      </p:sp>
      <p:sp>
        <p:nvSpPr>
          <p:cNvPr id="19" name="Shape 17"/>
          <p:cNvSpPr/>
          <p:nvPr/>
        </p:nvSpPr>
        <p:spPr>
          <a:xfrm>
            <a:off x="457200" y="5230368"/>
            <a:ext cx="3566160" cy="658368"/>
          </a:xfrm>
          <a:prstGeom prst="roundRect">
            <a:avLst>
              <a:gd name="adj" fmla="val 9722"/>
            </a:avLst>
          </a:prstGeom>
          <a:solidFill>
            <a:srgbClr val="F6F1F0"/>
          </a:solidFill>
          <a:ln/>
        </p:spPr>
      </p:sp>
      <p:sp>
        <p:nvSpPr>
          <p:cNvPr id="20" name="Shape 18"/>
          <p:cNvSpPr/>
          <p:nvPr/>
        </p:nvSpPr>
        <p:spPr>
          <a:xfrm>
            <a:off x="566928" y="5458968"/>
            <a:ext cx="201168" cy="201168"/>
          </a:xfrm>
          <a:prstGeom prst="ellipse">
            <a:avLst/>
          </a:prstGeom>
          <a:solidFill>
            <a:srgbClr val="C0263B"/>
          </a:solidFill>
          <a:ln/>
        </p:spPr>
      </p:sp>
      <p:sp>
        <p:nvSpPr>
          <p:cNvPr id="21" name="Text 19"/>
          <p:cNvSpPr/>
          <p:nvPr/>
        </p:nvSpPr>
        <p:spPr>
          <a:xfrm>
            <a:off x="868680" y="5230368"/>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Analyze customer satisfaction</a:t>
            </a:r>
            <a:endParaRPr lang="en-US" sz="1150" dirty="0"/>
          </a:p>
        </p:txBody>
      </p:sp>
      <p:sp>
        <p:nvSpPr>
          <p:cNvPr id="22" name="Shape 20"/>
          <p:cNvSpPr/>
          <p:nvPr/>
        </p:nvSpPr>
        <p:spPr>
          <a:xfrm>
            <a:off x="4187952" y="1481328"/>
            <a:ext cx="3566160" cy="658368"/>
          </a:xfrm>
          <a:prstGeom prst="roundRect">
            <a:avLst>
              <a:gd name="adj" fmla="val 9722"/>
            </a:avLst>
          </a:prstGeom>
          <a:solidFill>
            <a:srgbClr val="F6F1F0"/>
          </a:solidFill>
          <a:ln/>
        </p:spPr>
      </p:sp>
      <p:sp>
        <p:nvSpPr>
          <p:cNvPr id="23" name="Shape 21"/>
          <p:cNvSpPr/>
          <p:nvPr/>
        </p:nvSpPr>
        <p:spPr>
          <a:xfrm>
            <a:off x="4297680" y="1709928"/>
            <a:ext cx="201168" cy="201168"/>
          </a:xfrm>
          <a:prstGeom prst="ellipse">
            <a:avLst/>
          </a:prstGeom>
          <a:solidFill>
            <a:srgbClr val="C0263B"/>
          </a:solidFill>
          <a:ln/>
        </p:spPr>
      </p:sp>
      <p:sp>
        <p:nvSpPr>
          <p:cNvPr id="24" name="Text 22"/>
          <p:cNvSpPr/>
          <p:nvPr/>
        </p:nvSpPr>
        <p:spPr>
          <a:xfrm>
            <a:off x="4599432" y="1481328"/>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Analyze similarity score</a:t>
            </a:r>
            <a:endParaRPr lang="en-US" sz="1150" dirty="0"/>
          </a:p>
        </p:txBody>
      </p:sp>
      <p:sp>
        <p:nvSpPr>
          <p:cNvPr id="25" name="Shape 23"/>
          <p:cNvSpPr/>
          <p:nvPr/>
        </p:nvSpPr>
        <p:spPr>
          <a:xfrm>
            <a:off x="4187952" y="2231136"/>
            <a:ext cx="3566160" cy="658368"/>
          </a:xfrm>
          <a:prstGeom prst="roundRect">
            <a:avLst>
              <a:gd name="adj" fmla="val 9722"/>
            </a:avLst>
          </a:prstGeom>
          <a:solidFill>
            <a:srgbClr val="F6F1F0"/>
          </a:solidFill>
          <a:ln/>
        </p:spPr>
      </p:sp>
      <p:sp>
        <p:nvSpPr>
          <p:cNvPr id="26" name="Shape 24"/>
          <p:cNvSpPr/>
          <p:nvPr/>
        </p:nvSpPr>
        <p:spPr>
          <a:xfrm>
            <a:off x="4297680" y="2459736"/>
            <a:ext cx="201168" cy="201168"/>
          </a:xfrm>
          <a:prstGeom prst="ellipse">
            <a:avLst/>
          </a:prstGeom>
          <a:solidFill>
            <a:srgbClr val="C0263B"/>
          </a:solidFill>
          <a:ln/>
        </p:spPr>
      </p:sp>
      <p:sp>
        <p:nvSpPr>
          <p:cNvPr id="27" name="Text 25"/>
          <p:cNvSpPr/>
          <p:nvPr/>
        </p:nvSpPr>
        <p:spPr>
          <a:xfrm>
            <a:off x="4599432" y="2231136"/>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Compare ticket volume across regions</a:t>
            </a:r>
            <a:endParaRPr lang="en-US" sz="1150" dirty="0"/>
          </a:p>
        </p:txBody>
      </p:sp>
      <p:sp>
        <p:nvSpPr>
          <p:cNvPr id="28" name="Shape 26"/>
          <p:cNvSpPr/>
          <p:nvPr/>
        </p:nvSpPr>
        <p:spPr>
          <a:xfrm>
            <a:off x="4187952" y="2980944"/>
            <a:ext cx="3566160" cy="658368"/>
          </a:xfrm>
          <a:prstGeom prst="roundRect">
            <a:avLst>
              <a:gd name="adj" fmla="val 9722"/>
            </a:avLst>
          </a:prstGeom>
          <a:solidFill>
            <a:srgbClr val="F6F1F0"/>
          </a:solidFill>
          <a:ln/>
        </p:spPr>
      </p:sp>
      <p:sp>
        <p:nvSpPr>
          <p:cNvPr id="29" name="Shape 27"/>
          <p:cNvSpPr/>
          <p:nvPr/>
        </p:nvSpPr>
        <p:spPr>
          <a:xfrm>
            <a:off x="4297680" y="3209544"/>
            <a:ext cx="201168" cy="201168"/>
          </a:xfrm>
          <a:prstGeom prst="ellipse">
            <a:avLst/>
          </a:prstGeom>
          <a:solidFill>
            <a:srgbClr val="C0263B"/>
          </a:solidFill>
          <a:ln/>
        </p:spPr>
      </p:sp>
      <p:sp>
        <p:nvSpPr>
          <p:cNvPr id="30" name="Text 28"/>
          <p:cNvSpPr/>
          <p:nvPr/>
        </p:nvSpPr>
        <p:spPr>
          <a:xfrm>
            <a:off x="4599432" y="2980944"/>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Compare ticket volume across platforms</a:t>
            </a:r>
            <a:endParaRPr lang="en-US" sz="1150" dirty="0"/>
          </a:p>
        </p:txBody>
      </p:sp>
      <p:sp>
        <p:nvSpPr>
          <p:cNvPr id="31" name="Shape 29"/>
          <p:cNvSpPr/>
          <p:nvPr/>
        </p:nvSpPr>
        <p:spPr>
          <a:xfrm>
            <a:off x="4187952" y="3730752"/>
            <a:ext cx="3566160" cy="658368"/>
          </a:xfrm>
          <a:prstGeom prst="roundRect">
            <a:avLst>
              <a:gd name="adj" fmla="val 9722"/>
            </a:avLst>
          </a:prstGeom>
          <a:solidFill>
            <a:srgbClr val="F6F1F0"/>
          </a:solidFill>
          <a:ln/>
        </p:spPr>
      </p:sp>
      <p:sp>
        <p:nvSpPr>
          <p:cNvPr id="32" name="Shape 30"/>
          <p:cNvSpPr/>
          <p:nvPr/>
        </p:nvSpPr>
        <p:spPr>
          <a:xfrm>
            <a:off x="4297680" y="3959352"/>
            <a:ext cx="201168" cy="201168"/>
          </a:xfrm>
          <a:prstGeom prst="ellipse">
            <a:avLst/>
          </a:prstGeom>
          <a:solidFill>
            <a:srgbClr val="C0263B"/>
          </a:solidFill>
          <a:ln/>
        </p:spPr>
      </p:sp>
      <p:sp>
        <p:nvSpPr>
          <p:cNvPr id="33" name="Text 31"/>
          <p:cNvSpPr/>
          <p:nvPr/>
        </p:nvSpPr>
        <p:spPr>
          <a:xfrm>
            <a:off x="4599432" y="3730752"/>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Analyze product-area distribution</a:t>
            </a:r>
            <a:endParaRPr lang="en-US" sz="1150" dirty="0"/>
          </a:p>
        </p:txBody>
      </p:sp>
      <p:sp>
        <p:nvSpPr>
          <p:cNvPr id="34" name="Shape 32"/>
          <p:cNvSpPr/>
          <p:nvPr/>
        </p:nvSpPr>
        <p:spPr>
          <a:xfrm>
            <a:off x="4187952" y="4480560"/>
            <a:ext cx="3566160" cy="658368"/>
          </a:xfrm>
          <a:prstGeom prst="roundRect">
            <a:avLst>
              <a:gd name="adj" fmla="val 9722"/>
            </a:avLst>
          </a:prstGeom>
          <a:solidFill>
            <a:srgbClr val="F6F1F0"/>
          </a:solidFill>
          <a:ln/>
        </p:spPr>
      </p:sp>
      <p:sp>
        <p:nvSpPr>
          <p:cNvPr id="35" name="Shape 33"/>
          <p:cNvSpPr/>
          <p:nvPr/>
        </p:nvSpPr>
        <p:spPr>
          <a:xfrm>
            <a:off x="4297680" y="4709160"/>
            <a:ext cx="201168" cy="201168"/>
          </a:xfrm>
          <a:prstGeom prst="ellipse">
            <a:avLst/>
          </a:prstGeom>
          <a:solidFill>
            <a:srgbClr val="C0263B"/>
          </a:solidFill>
          <a:ln/>
        </p:spPr>
      </p:sp>
      <p:sp>
        <p:nvSpPr>
          <p:cNvPr id="36" name="Text 34"/>
          <p:cNvSpPr/>
          <p:nvPr/>
        </p:nvSpPr>
        <p:spPr>
          <a:xfrm>
            <a:off x="4599432" y="4480560"/>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Analyze issue-type distribution</a:t>
            </a:r>
            <a:endParaRPr lang="en-US" sz="1150" dirty="0"/>
          </a:p>
        </p:txBody>
      </p:sp>
      <p:sp>
        <p:nvSpPr>
          <p:cNvPr id="37" name="Shape 35"/>
          <p:cNvSpPr/>
          <p:nvPr/>
        </p:nvSpPr>
        <p:spPr>
          <a:xfrm>
            <a:off x="4187952" y="5230368"/>
            <a:ext cx="3566160" cy="658368"/>
          </a:xfrm>
          <a:prstGeom prst="roundRect">
            <a:avLst>
              <a:gd name="adj" fmla="val 9722"/>
            </a:avLst>
          </a:prstGeom>
          <a:solidFill>
            <a:srgbClr val="F6F1F0"/>
          </a:solidFill>
          <a:ln/>
        </p:spPr>
      </p:sp>
      <p:sp>
        <p:nvSpPr>
          <p:cNvPr id="38" name="Shape 36"/>
          <p:cNvSpPr/>
          <p:nvPr/>
        </p:nvSpPr>
        <p:spPr>
          <a:xfrm>
            <a:off x="4297680" y="5458968"/>
            <a:ext cx="201168" cy="201168"/>
          </a:xfrm>
          <a:prstGeom prst="ellipse">
            <a:avLst/>
          </a:prstGeom>
          <a:solidFill>
            <a:srgbClr val="C0263B"/>
          </a:solidFill>
          <a:ln/>
        </p:spPr>
      </p:sp>
      <p:sp>
        <p:nvSpPr>
          <p:cNvPr id="39" name="Text 37"/>
          <p:cNvSpPr/>
          <p:nvPr/>
        </p:nvSpPr>
        <p:spPr>
          <a:xfrm>
            <a:off x="4599432" y="5230368"/>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Analyze support cluster distribution</a:t>
            </a:r>
            <a:endParaRPr lang="en-US" sz="1150" dirty="0"/>
          </a:p>
        </p:txBody>
      </p:sp>
      <p:sp>
        <p:nvSpPr>
          <p:cNvPr id="40" name="Shape 38"/>
          <p:cNvSpPr/>
          <p:nvPr/>
        </p:nvSpPr>
        <p:spPr>
          <a:xfrm>
            <a:off x="7918704" y="1481328"/>
            <a:ext cx="3566160" cy="658368"/>
          </a:xfrm>
          <a:prstGeom prst="roundRect">
            <a:avLst>
              <a:gd name="adj" fmla="val 9722"/>
            </a:avLst>
          </a:prstGeom>
          <a:solidFill>
            <a:srgbClr val="F6F1F0"/>
          </a:solidFill>
          <a:ln/>
        </p:spPr>
      </p:sp>
      <p:sp>
        <p:nvSpPr>
          <p:cNvPr id="41" name="Shape 39"/>
          <p:cNvSpPr/>
          <p:nvPr/>
        </p:nvSpPr>
        <p:spPr>
          <a:xfrm>
            <a:off x="8028432" y="1709928"/>
            <a:ext cx="201168" cy="201168"/>
          </a:xfrm>
          <a:prstGeom prst="ellipse">
            <a:avLst/>
          </a:prstGeom>
          <a:solidFill>
            <a:srgbClr val="C0263B"/>
          </a:solidFill>
          <a:ln/>
        </p:spPr>
      </p:sp>
      <p:sp>
        <p:nvSpPr>
          <p:cNvPr id="42" name="Text 40"/>
          <p:cNvSpPr/>
          <p:nvPr/>
        </p:nvSpPr>
        <p:spPr>
          <a:xfrm>
            <a:off x="8330184" y="1481328"/>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Analyze reopened tickets</a:t>
            </a:r>
            <a:endParaRPr lang="en-US" sz="1150" dirty="0"/>
          </a:p>
        </p:txBody>
      </p:sp>
      <p:sp>
        <p:nvSpPr>
          <p:cNvPr id="43" name="Shape 41"/>
          <p:cNvSpPr/>
          <p:nvPr/>
        </p:nvSpPr>
        <p:spPr>
          <a:xfrm>
            <a:off x="7918704" y="2231136"/>
            <a:ext cx="3566160" cy="658368"/>
          </a:xfrm>
          <a:prstGeom prst="roundRect">
            <a:avLst>
              <a:gd name="adj" fmla="val 9722"/>
            </a:avLst>
          </a:prstGeom>
          <a:solidFill>
            <a:srgbClr val="F6F1F0"/>
          </a:solidFill>
          <a:ln/>
        </p:spPr>
      </p:sp>
      <p:sp>
        <p:nvSpPr>
          <p:cNvPr id="44" name="Shape 42"/>
          <p:cNvSpPr/>
          <p:nvPr/>
        </p:nvSpPr>
        <p:spPr>
          <a:xfrm>
            <a:off x="8028432" y="2459736"/>
            <a:ext cx="201168" cy="201168"/>
          </a:xfrm>
          <a:prstGeom prst="ellipse">
            <a:avLst/>
          </a:prstGeom>
          <a:solidFill>
            <a:srgbClr val="C0263B"/>
          </a:solidFill>
          <a:ln/>
        </p:spPr>
      </p:sp>
      <p:sp>
        <p:nvSpPr>
          <p:cNvPr id="45" name="Text 43"/>
          <p:cNvSpPr/>
          <p:nvPr/>
        </p:nvSpPr>
        <p:spPr>
          <a:xfrm>
            <a:off x="8330184" y="2231136"/>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Analyze customer sentiment</a:t>
            </a:r>
            <a:endParaRPr lang="en-US" sz="1150" dirty="0"/>
          </a:p>
        </p:txBody>
      </p:sp>
      <p:sp>
        <p:nvSpPr>
          <p:cNvPr id="46" name="Shape 44"/>
          <p:cNvSpPr/>
          <p:nvPr/>
        </p:nvSpPr>
        <p:spPr>
          <a:xfrm>
            <a:off x="7918704" y="2980944"/>
            <a:ext cx="3566160" cy="658368"/>
          </a:xfrm>
          <a:prstGeom prst="roundRect">
            <a:avLst>
              <a:gd name="adj" fmla="val 9722"/>
            </a:avLst>
          </a:prstGeom>
          <a:solidFill>
            <a:srgbClr val="F6F1F0"/>
          </a:solidFill>
          <a:ln/>
        </p:spPr>
      </p:sp>
      <p:sp>
        <p:nvSpPr>
          <p:cNvPr id="47" name="Shape 45"/>
          <p:cNvSpPr/>
          <p:nvPr/>
        </p:nvSpPr>
        <p:spPr>
          <a:xfrm>
            <a:off x="8028432" y="3209544"/>
            <a:ext cx="201168" cy="201168"/>
          </a:xfrm>
          <a:prstGeom prst="ellipse">
            <a:avLst/>
          </a:prstGeom>
          <a:solidFill>
            <a:srgbClr val="C0263B"/>
          </a:solidFill>
          <a:ln/>
        </p:spPr>
      </p:sp>
      <p:sp>
        <p:nvSpPr>
          <p:cNvPr id="48" name="Text 46"/>
          <p:cNvSpPr/>
          <p:nvPr/>
        </p:nvSpPr>
        <p:spPr>
          <a:xfrm>
            <a:off x="8330184" y="2980944"/>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Analyze priority distribution</a:t>
            </a:r>
            <a:endParaRPr lang="en-US" sz="1150" dirty="0"/>
          </a:p>
        </p:txBody>
      </p:sp>
      <p:sp>
        <p:nvSpPr>
          <p:cNvPr id="49" name="Shape 47"/>
          <p:cNvSpPr/>
          <p:nvPr/>
        </p:nvSpPr>
        <p:spPr>
          <a:xfrm>
            <a:off x="7918704" y="3730752"/>
            <a:ext cx="3566160" cy="658368"/>
          </a:xfrm>
          <a:prstGeom prst="roundRect">
            <a:avLst>
              <a:gd name="adj" fmla="val 9722"/>
            </a:avLst>
          </a:prstGeom>
          <a:solidFill>
            <a:srgbClr val="F6F1F0"/>
          </a:solidFill>
          <a:ln/>
        </p:spPr>
      </p:sp>
      <p:sp>
        <p:nvSpPr>
          <p:cNvPr id="50" name="Shape 48"/>
          <p:cNvSpPr/>
          <p:nvPr/>
        </p:nvSpPr>
        <p:spPr>
          <a:xfrm>
            <a:off x="8028432" y="3959352"/>
            <a:ext cx="201168" cy="201168"/>
          </a:xfrm>
          <a:prstGeom prst="ellipse">
            <a:avLst/>
          </a:prstGeom>
          <a:solidFill>
            <a:srgbClr val="C0263B"/>
          </a:solidFill>
          <a:ln/>
        </p:spPr>
      </p:sp>
      <p:sp>
        <p:nvSpPr>
          <p:cNvPr id="51" name="Text 49"/>
          <p:cNvSpPr/>
          <p:nvPr/>
        </p:nvSpPr>
        <p:spPr>
          <a:xfrm>
            <a:off x="8330184" y="3730752"/>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Build an interactive Power BI dashboard</a:t>
            </a:r>
            <a:endParaRPr lang="en-US" sz="1150" dirty="0"/>
          </a:p>
        </p:txBody>
      </p:sp>
      <p:sp>
        <p:nvSpPr>
          <p:cNvPr id="52" name="Shape 50"/>
          <p:cNvSpPr/>
          <p:nvPr/>
        </p:nvSpPr>
        <p:spPr>
          <a:xfrm>
            <a:off x="7918704" y="4480560"/>
            <a:ext cx="3566160" cy="658368"/>
          </a:xfrm>
          <a:prstGeom prst="roundRect">
            <a:avLst>
              <a:gd name="adj" fmla="val 9722"/>
            </a:avLst>
          </a:prstGeom>
          <a:solidFill>
            <a:srgbClr val="F6F1F0"/>
          </a:solidFill>
          <a:ln/>
        </p:spPr>
      </p:sp>
      <p:sp>
        <p:nvSpPr>
          <p:cNvPr id="53" name="Shape 51"/>
          <p:cNvSpPr/>
          <p:nvPr/>
        </p:nvSpPr>
        <p:spPr>
          <a:xfrm>
            <a:off x="8028432" y="4709160"/>
            <a:ext cx="201168" cy="201168"/>
          </a:xfrm>
          <a:prstGeom prst="ellipse">
            <a:avLst/>
          </a:prstGeom>
          <a:solidFill>
            <a:srgbClr val="C0263B"/>
          </a:solidFill>
          <a:ln/>
        </p:spPr>
      </p:sp>
      <p:sp>
        <p:nvSpPr>
          <p:cNvPr id="54" name="Text 52"/>
          <p:cNvSpPr/>
          <p:nvPr/>
        </p:nvSpPr>
        <p:spPr>
          <a:xfrm>
            <a:off x="8330184" y="4480560"/>
            <a:ext cx="3063240" cy="658368"/>
          </a:xfrm>
          <a:prstGeom prst="rect">
            <a:avLst/>
          </a:prstGeom>
          <a:noFill/>
          <a:ln/>
        </p:spPr>
        <p:txBody>
          <a:bodyPr wrap="square" lIns="0" tIns="0" rIns="0" bIns="0" rtlCol="0" anchor="ctr"/>
          <a:lstStyle/>
          <a:p>
            <a:pPr indent="0" marL="0">
              <a:buNone/>
            </a:pPr>
            <a:r>
              <a:rPr lang="en-US" sz="1150" dirty="0">
                <a:solidFill>
                  <a:srgbClr val="2B2323"/>
                </a:solidFill>
                <a:latin typeface="Calibri" pitchFamily="34" charset="0"/>
                <a:ea typeface="Calibri" pitchFamily="34" charset="-122"/>
                <a:cs typeface="Calibri" pitchFamily="34" charset="-120"/>
              </a:rPr>
              <a:t>Present support data through clear visualizations</a:t>
            </a:r>
            <a:endParaRPr lang="en-US" sz="1150" dirty="0"/>
          </a:p>
        </p:txBody>
      </p:sp>
      <p:sp>
        <p:nvSpPr>
          <p:cNvPr id="55" name="Text 53"/>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56" name="Text 54"/>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Project Objectives</a:t>
            </a:r>
            <a:endParaRPr lang="en-US" sz="900" dirty="0"/>
          </a:p>
        </p:txBody>
      </p:sp>
      <p:sp>
        <p:nvSpPr>
          <p:cNvPr id="57" name="Shape 55"/>
          <p:cNvSpPr/>
          <p:nvPr/>
        </p:nvSpPr>
        <p:spPr>
          <a:xfrm>
            <a:off x="11475720" y="6492240"/>
            <a:ext cx="310896" cy="310896"/>
          </a:xfrm>
          <a:prstGeom prst="ellipse">
            <a:avLst/>
          </a:prstGeom>
          <a:solidFill>
            <a:srgbClr val="7A1F2B"/>
          </a:solidFill>
          <a:ln/>
        </p:spPr>
      </p:sp>
      <p:sp>
        <p:nvSpPr>
          <p:cNvPr id="58" name="Text 56"/>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DATA FOUNDATION</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Dataset &amp; Data Fields</a:t>
            </a:r>
            <a:endParaRPr lang="en-US" sz="3000" dirty="0"/>
          </a:p>
        </p:txBody>
      </p:sp>
      <p:sp>
        <p:nvSpPr>
          <p:cNvPr id="4" name="Text 2"/>
          <p:cNvSpPr/>
          <p:nvPr/>
        </p:nvSpPr>
        <p:spPr>
          <a:xfrm>
            <a:off x="457200" y="1417320"/>
            <a:ext cx="7315200" cy="274320"/>
          </a:xfrm>
          <a:prstGeom prst="rect">
            <a:avLst/>
          </a:prstGeom>
          <a:noFill/>
          <a:ln/>
        </p:spPr>
        <p:txBody>
          <a:bodyPr wrap="square" rtlCol="0" anchor="ctr"/>
          <a:lstStyle/>
          <a:p>
            <a:pPr indent="0" marL="0">
              <a:buNone/>
            </a:pPr>
            <a:r>
              <a:rPr lang="en-US" sz="1300" i="1" dirty="0">
                <a:solidFill>
                  <a:srgbClr val="6E6262"/>
                </a:solidFill>
                <a:latin typeface="Calibri" pitchFamily="34" charset="0"/>
                <a:ea typeface="Calibri" pitchFamily="34" charset="-122"/>
                <a:cs typeface="Calibri" pitchFamily="34" charset="-120"/>
              </a:rPr>
              <a:t>Fields available in the Power BI Data pane:</a:t>
            </a:r>
            <a:endParaRPr lang="en-US" sz="1300" dirty="0"/>
          </a:p>
        </p:txBody>
      </p:sp>
      <p:sp>
        <p:nvSpPr>
          <p:cNvPr id="5" name="Shape 3"/>
          <p:cNvSpPr/>
          <p:nvPr/>
        </p:nvSpPr>
        <p:spPr>
          <a:xfrm>
            <a:off x="457200" y="1783080"/>
            <a:ext cx="3657600" cy="420624"/>
          </a:xfrm>
          <a:prstGeom prst="roundRect">
            <a:avLst>
              <a:gd name="adj" fmla="val 13043"/>
            </a:avLst>
          </a:prstGeom>
          <a:solidFill>
            <a:srgbClr val="F6F1F0"/>
          </a:solidFill>
          <a:ln/>
        </p:spPr>
      </p:sp>
      <p:sp>
        <p:nvSpPr>
          <p:cNvPr id="6" name="Shape 4"/>
          <p:cNvSpPr/>
          <p:nvPr/>
        </p:nvSpPr>
        <p:spPr>
          <a:xfrm>
            <a:off x="548640" y="1938528"/>
            <a:ext cx="109728" cy="109728"/>
          </a:xfrm>
          <a:prstGeom prst="rect">
            <a:avLst/>
          </a:prstGeom>
          <a:solidFill>
            <a:srgbClr val="7A1F2B"/>
          </a:solidFill>
          <a:ln/>
        </p:spPr>
      </p:sp>
      <p:sp>
        <p:nvSpPr>
          <p:cNvPr id="7" name="Text 5"/>
          <p:cNvSpPr/>
          <p:nvPr/>
        </p:nvSpPr>
        <p:spPr>
          <a:xfrm>
            <a:off x="749808" y="1783080"/>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ticket_id</a:t>
            </a:r>
            <a:endParaRPr lang="en-US" sz="1150" dirty="0"/>
          </a:p>
        </p:txBody>
      </p:sp>
      <p:sp>
        <p:nvSpPr>
          <p:cNvPr id="8" name="Shape 6"/>
          <p:cNvSpPr/>
          <p:nvPr/>
        </p:nvSpPr>
        <p:spPr>
          <a:xfrm>
            <a:off x="457200" y="2267712"/>
            <a:ext cx="3657600" cy="420624"/>
          </a:xfrm>
          <a:prstGeom prst="roundRect">
            <a:avLst>
              <a:gd name="adj" fmla="val 13043"/>
            </a:avLst>
          </a:prstGeom>
          <a:solidFill>
            <a:srgbClr val="F6F1F0"/>
          </a:solidFill>
          <a:ln/>
        </p:spPr>
      </p:sp>
      <p:sp>
        <p:nvSpPr>
          <p:cNvPr id="9" name="Shape 7"/>
          <p:cNvSpPr/>
          <p:nvPr/>
        </p:nvSpPr>
        <p:spPr>
          <a:xfrm>
            <a:off x="548640" y="2423160"/>
            <a:ext cx="109728" cy="109728"/>
          </a:xfrm>
          <a:prstGeom prst="rect">
            <a:avLst/>
          </a:prstGeom>
          <a:solidFill>
            <a:srgbClr val="7A1F2B"/>
          </a:solidFill>
          <a:ln/>
        </p:spPr>
      </p:sp>
      <p:sp>
        <p:nvSpPr>
          <p:cNvPr id="10" name="Text 8"/>
          <p:cNvSpPr/>
          <p:nvPr/>
        </p:nvSpPr>
        <p:spPr>
          <a:xfrm>
            <a:off x="749808" y="2267712"/>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has_attachment</a:t>
            </a:r>
            <a:endParaRPr lang="en-US" sz="1150" dirty="0"/>
          </a:p>
        </p:txBody>
      </p:sp>
      <p:sp>
        <p:nvSpPr>
          <p:cNvPr id="11" name="Shape 9"/>
          <p:cNvSpPr/>
          <p:nvPr/>
        </p:nvSpPr>
        <p:spPr>
          <a:xfrm>
            <a:off x="457200" y="2752344"/>
            <a:ext cx="3657600" cy="420624"/>
          </a:xfrm>
          <a:prstGeom prst="roundRect">
            <a:avLst>
              <a:gd name="adj" fmla="val 13043"/>
            </a:avLst>
          </a:prstGeom>
          <a:solidFill>
            <a:srgbClr val="F6F1F0"/>
          </a:solidFill>
          <a:ln/>
        </p:spPr>
      </p:sp>
      <p:sp>
        <p:nvSpPr>
          <p:cNvPr id="12" name="Shape 10"/>
          <p:cNvSpPr/>
          <p:nvPr/>
        </p:nvSpPr>
        <p:spPr>
          <a:xfrm>
            <a:off x="548640" y="2907792"/>
            <a:ext cx="109728" cy="109728"/>
          </a:xfrm>
          <a:prstGeom prst="rect">
            <a:avLst/>
          </a:prstGeom>
          <a:solidFill>
            <a:srgbClr val="7A1F2B"/>
          </a:solidFill>
          <a:ln/>
        </p:spPr>
      </p:sp>
      <p:sp>
        <p:nvSpPr>
          <p:cNvPr id="13" name="Text 11"/>
          <p:cNvSpPr/>
          <p:nvPr/>
        </p:nvSpPr>
        <p:spPr>
          <a:xfrm>
            <a:off x="749808" y="2752344"/>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initial_message</a:t>
            </a:r>
            <a:endParaRPr lang="en-US" sz="1150" dirty="0"/>
          </a:p>
        </p:txBody>
      </p:sp>
      <p:sp>
        <p:nvSpPr>
          <p:cNvPr id="14" name="Shape 12"/>
          <p:cNvSpPr/>
          <p:nvPr/>
        </p:nvSpPr>
        <p:spPr>
          <a:xfrm>
            <a:off x="457200" y="3236976"/>
            <a:ext cx="3657600" cy="420624"/>
          </a:xfrm>
          <a:prstGeom prst="roundRect">
            <a:avLst>
              <a:gd name="adj" fmla="val 13043"/>
            </a:avLst>
          </a:prstGeom>
          <a:solidFill>
            <a:srgbClr val="F6F1F0"/>
          </a:solidFill>
          <a:ln/>
        </p:spPr>
      </p:sp>
      <p:sp>
        <p:nvSpPr>
          <p:cNvPr id="15" name="Shape 13"/>
          <p:cNvSpPr/>
          <p:nvPr/>
        </p:nvSpPr>
        <p:spPr>
          <a:xfrm>
            <a:off x="548640" y="3392424"/>
            <a:ext cx="109728" cy="109728"/>
          </a:xfrm>
          <a:prstGeom prst="rect">
            <a:avLst/>
          </a:prstGeom>
          <a:solidFill>
            <a:srgbClr val="7A1F2B"/>
          </a:solidFill>
          <a:ln/>
        </p:spPr>
      </p:sp>
      <p:sp>
        <p:nvSpPr>
          <p:cNvPr id="16" name="Text 14"/>
          <p:cNvSpPr/>
          <p:nvPr/>
        </p:nvSpPr>
        <p:spPr>
          <a:xfrm>
            <a:off x="749808" y="3236976"/>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issue_type</a:t>
            </a:r>
            <a:endParaRPr lang="en-US" sz="1150" dirty="0"/>
          </a:p>
        </p:txBody>
      </p:sp>
      <p:sp>
        <p:nvSpPr>
          <p:cNvPr id="17" name="Shape 15"/>
          <p:cNvSpPr/>
          <p:nvPr/>
        </p:nvSpPr>
        <p:spPr>
          <a:xfrm>
            <a:off x="457200" y="3721608"/>
            <a:ext cx="3657600" cy="420624"/>
          </a:xfrm>
          <a:prstGeom prst="roundRect">
            <a:avLst>
              <a:gd name="adj" fmla="val 13043"/>
            </a:avLst>
          </a:prstGeom>
          <a:solidFill>
            <a:srgbClr val="F6F1F0"/>
          </a:solidFill>
          <a:ln/>
        </p:spPr>
      </p:sp>
      <p:sp>
        <p:nvSpPr>
          <p:cNvPr id="18" name="Shape 16"/>
          <p:cNvSpPr/>
          <p:nvPr/>
        </p:nvSpPr>
        <p:spPr>
          <a:xfrm>
            <a:off x="548640" y="3877056"/>
            <a:ext cx="109728" cy="109728"/>
          </a:xfrm>
          <a:prstGeom prst="rect">
            <a:avLst/>
          </a:prstGeom>
          <a:solidFill>
            <a:srgbClr val="7A1F2B"/>
          </a:solidFill>
          <a:ln/>
        </p:spPr>
      </p:sp>
      <p:sp>
        <p:nvSpPr>
          <p:cNvPr id="19" name="Text 17"/>
          <p:cNvSpPr/>
          <p:nvPr/>
        </p:nvSpPr>
        <p:spPr>
          <a:xfrm>
            <a:off x="749808" y="3721608"/>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platform</a:t>
            </a:r>
            <a:endParaRPr lang="en-US" sz="1150" dirty="0"/>
          </a:p>
        </p:txBody>
      </p:sp>
      <p:sp>
        <p:nvSpPr>
          <p:cNvPr id="20" name="Shape 18"/>
          <p:cNvSpPr/>
          <p:nvPr/>
        </p:nvSpPr>
        <p:spPr>
          <a:xfrm>
            <a:off x="457200" y="4206240"/>
            <a:ext cx="3657600" cy="420624"/>
          </a:xfrm>
          <a:prstGeom prst="roundRect">
            <a:avLst>
              <a:gd name="adj" fmla="val 13043"/>
            </a:avLst>
          </a:prstGeom>
          <a:solidFill>
            <a:srgbClr val="F6F1F0"/>
          </a:solidFill>
          <a:ln/>
        </p:spPr>
      </p:sp>
      <p:sp>
        <p:nvSpPr>
          <p:cNvPr id="21" name="Shape 19"/>
          <p:cNvSpPr/>
          <p:nvPr/>
        </p:nvSpPr>
        <p:spPr>
          <a:xfrm>
            <a:off x="548640" y="4361688"/>
            <a:ext cx="109728" cy="109728"/>
          </a:xfrm>
          <a:prstGeom prst="rect">
            <a:avLst/>
          </a:prstGeom>
          <a:solidFill>
            <a:srgbClr val="7A1F2B"/>
          </a:solidFill>
          <a:ln/>
        </p:spPr>
      </p:sp>
      <p:sp>
        <p:nvSpPr>
          <p:cNvPr id="22" name="Text 20"/>
          <p:cNvSpPr/>
          <p:nvPr/>
        </p:nvSpPr>
        <p:spPr>
          <a:xfrm>
            <a:off x="749808" y="4206240"/>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priority</a:t>
            </a:r>
            <a:endParaRPr lang="en-US" sz="1150" dirty="0"/>
          </a:p>
        </p:txBody>
      </p:sp>
      <p:sp>
        <p:nvSpPr>
          <p:cNvPr id="23" name="Shape 21"/>
          <p:cNvSpPr/>
          <p:nvPr/>
        </p:nvSpPr>
        <p:spPr>
          <a:xfrm>
            <a:off x="4187952" y="1783080"/>
            <a:ext cx="3657600" cy="420624"/>
          </a:xfrm>
          <a:prstGeom prst="roundRect">
            <a:avLst>
              <a:gd name="adj" fmla="val 13043"/>
            </a:avLst>
          </a:prstGeom>
          <a:solidFill>
            <a:srgbClr val="F6F1F0"/>
          </a:solidFill>
          <a:ln/>
        </p:spPr>
      </p:sp>
      <p:sp>
        <p:nvSpPr>
          <p:cNvPr id="24" name="Shape 22"/>
          <p:cNvSpPr/>
          <p:nvPr/>
        </p:nvSpPr>
        <p:spPr>
          <a:xfrm>
            <a:off x="4279392" y="1938528"/>
            <a:ext cx="109728" cy="109728"/>
          </a:xfrm>
          <a:prstGeom prst="rect">
            <a:avLst/>
          </a:prstGeom>
          <a:solidFill>
            <a:srgbClr val="7A1F2B"/>
          </a:solidFill>
          <a:ln/>
        </p:spPr>
      </p:sp>
      <p:sp>
        <p:nvSpPr>
          <p:cNvPr id="25" name="Text 23"/>
          <p:cNvSpPr/>
          <p:nvPr/>
        </p:nvSpPr>
        <p:spPr>
          <a:xfrm>
            <a:off x="4480560" y="1783080"/>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Priority_Score</a:t>
            </a:r>
            <a:endParaRPr lang="en-US" sz="1150" dirty="0"/>
          </a:p>
        </p:txBody>
      </p:sp>
      <p:sp>
        <p:nvSpPr>
          <p:cNvPr id="26" name="Shape 24"/>
          <p:cNvSpPr/>
          <p:nvPr/>
        </p:nvSpPr>
        <p:spPr>
          <a:xfrm>
            <a:off x="4187952" y="2267712"/>
            <a:ext cx="3657600" cy="420624"/>
          </a:xfrm>
          <a:prstGeom prst="roundRect">
            <a:avLst>
              <a:gd name="adj" fmla="val 13043"/>
            </a:avLst>
          </a:prstGeom>
          <a:solidFill>
            <a:srgbClr val="F6F1F0"/>
          </a:solidFill>
          <a:ln/>
        </p:spPr>
      </p:sp>
      <p:sp>
        <p:nvSpPr>
          <p:cNvPr id="27" name="Shape 25"/>
          <p:cNvSpPr/>
          <p:nvPr/>
        </p:nvSpPr>
        <p:spPr>
          <a:xfrm>
            <a:off x="4279392" y="2423160"/>
            <a:ext cx="109728" cy="109728"/>
          </a:xfrm>
          <a:prstGeom prst="rect">
            <a:avLst/>
          </a:prstGeom>
          <a:solidFill>
            <a:srgbClr val="7A1F2B"/>
          </a:solidFill>
          <a:ln/>
        </p:spPr>
      </p:sp>
      <p:sp>
        <p:nvSpPr>
          <p:cNvPr id="28" name="Text 26"/>
          <p:cNvSpPr/>
          <p:nvPr/>
        </p:nvSpPr>
        <p:spPr>
          <a:xfrm>
            <a:off x="4480560" y="2267712"/>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product_area</a:t>
            </a:r>
            <a:endParaRPr lang="en-US" sz="1150" dirty="0"/>
          </a:p>
        </p:txBody>
      </p:sp>
      <p:sp>
        <p:nvSpPr>
          <p:cNvPr id="29" name="Shape 27"/>
          <p:cNvSpPr/>
          <p:nvPr/>
        </p:nvSpPr>
        <p:spPr>
          <a:xfrm>
            <a:off x="4187952" y="2752344"/>
            <a:ext cx="3657600" cy="420624"/>
          </a:xfrm>
          <a:prstGeom prst="roundRect">
            <a:avLst>
              <a:gd name="adj" fmla="val 13043"/>
            </a:avLst>
          </a:prstGeom>
          <a:solidFill>
            <a:srgbClr val="F6F1F0"/>
          </a:solidFill>
          <a:ln/>
        </p:spPr>
      </p:sp>
      <p:sp>
        <p:nvSpPr>
          <p:cNvPr id="30" name="Shape 28"/>
          <p:cNvSpPr/>
          <p:nvPr/>
        </p:nvSpPr>
        <p:spPr>
          <a:xfrm>
            <a:off x="4279392" y="2907792"/>
            <a:ext cx="109728" cy="109728"/>
          </a:xfrm>
          <a:prstGeom prst="rect">
            <a:avLst/>
          </a:prstGeom>
          <a:solidFill>
            <a:srgbClr val="7A1F2B"/>
          </a:solidFill>
          <a:ln/>
        </p:spPr>
      </p:sp>
      <p:sp>
        <p:nvSpPr>
          <p:cNvPr id="31" name="Text 29"/>
          <p:cNvSpPr/>
          <p:nvPr/>
        </p:nvSpPr>
        <p:spPr>
          <a:xfrm>
            <a:off x="4480560" y="2752344"/>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region</a:t>
            </a:r>
            <a:endParaRPr lang="en-US" sz="1150" dirty="0"/>
          </a:p>
        </p:txBody>
      </p:sp>
      <p:sp>
        <p:nvSpPr>
          <p:cNvPr id="32" name="Shape 30"/>
          <p:cNvSpPr/>
          <p:nvPr/>
        </p:nvSpPr>
        <p:spPr>
          <a:xfrm>
            <a:off x="4187952" y="3236976"/>
            <a:ext cx="3657600" cy="420624"/>
          </a:xfrm>
          <a:prstGeom prst="roundRect">
            <a:avLst>
              <a:gd name="adj" fmla="val 13043"/>
            </a:avLst>
          </a:prstGeom>
          <a:solidFill>
            <a:srgbClr val="F6F1F0"/>
          </a:solidFill>
          <a:ln/>
        </p:spPr>
      </p:sp>
      <p:sp>
        <p:nvSpPr>
          <p:cNvPr id="33" name="Shape 31"/>
          <p:cNvSpPr/>
          <p:nvPr/>
        </p:nvSpPr>
        <p:spPr>
          <a:xfrm>
            <a:off x="4279392" y="3392424"/>
            <a:ext cx="109728" cy="109728"/>
          </a:xfrm>
          <a:prstGeom prst="rect">
            <a:avLst/>
          </a:prstGeom>
          <a:solidFill>
            <a:srgbClr val="7A1F2B"/>
          </a:solidFill>
          <a:ln/>
        </p:spPr>
      </p:sp>
      <p:sp>
        <p:nvSpPr>
          <p:cNvPr id="34" name="Text 32"/>
          <p:cNvSpPr/>
          <p:nvPr/>
        </p:nvSpPr>
        <p:spPr>
          <a:xfrm>
            <a:off x="4480560" y="3236976"/>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reopened</a:t>
            </a:r>
            <a:endParaRPr lang="en-US" sz="1150" dirty="0"/>
          </a:p>
        </p:txBody>
      </p:sp>
      <p:sp>
        <p:nvSpPr>
          <p:cNvPr id="35" name="Shape 33"/>
          <p:cNvSpPr/>
          <p:nvPr/>
        </p:nvSpPr>
        <p:spPr>
          <a:xfrm>
            <a:off x="4187952" y="3721608"/>
            <a:ext cx="3657600" cy="420624"/>
          </a:xfrm>
          <a:prstGeom prst="roundRect">
            <a:avLst>
              <a:gd name="adj" fmla="val 13043"/>
            </a:avLst>
          </a:prstGeom>
          <a:solidFill>
            <a:srgbClr val="F6F1F0"/>
          </a:solidFill>
          <a:ln/>
        </p:spPr>
      </p:sp>
      <p:sp>
        <p:nvSpPr>
          <p:cNvPr id="36" name="Shape 34"/>
          <p:cNvSpPr/>
          <p:nvPr/>
        </p:nvSpPr>
        <p:spPr>
          <a:xfrm>
            <a:off x="4279392" y="3877056"/>
            <a:ext cx="109728" cy="109728"/>
          </a:xfrm>
          <a:prstGeom prst="rect">
            <a:avLst/>
          </a:prstGeom>
          <a:solidFill>
            <a:srgbClr val="7A1F2B"/>
          </a:solidFill>
          <a:ln/>
        </p:spPr>
      </p:sp>
      <p:sp>
        <p:nvSpPr>
          <p:cNvPr id="37" name="Text 35"/>
          <p:cNvSpPr/>
          <p:nvPr/>
        </p:nvSpPr>
        <p:spPr>
          <a:xfrm>
            <a:off x="4480560" y="3721608"/>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Resolution_Duration</a:t>
            </a:r>
            <a:endParaRPr lang="en-US" sz="1150" dirty="0"/>
          </a:p>
        </p:txBody>
      </p:sp>
      <p:sp>
        <p:nvSpPr>
          <p:cNvPr id="38" name="Shape 36"/>
          <p:cNvSpPr/>
          <p:nvPr/>
        </p:nvSpPr>
        <p:spPr>
          <a:xfrm>
            <a:off x="4187952" y="4206240"/>
            <a:ext cx="3657600" cy="420624"/>
          </a:xfrm>
          <a:prstGeom prst="roundRect">
            <a:avLst>
              <a:gd name="adj" fmla="val 13043"/>
            </a:avLst>
          </a:prstGeom>
          <a:solidFill>
            <a:srgbClr val="F6F1F0"/>
          </a:solidFill>
          <a:ln/>
        </p:spPr>
      </p:sp>
      <p:sp>
        <p:nvSpPr>
          <p:cNvPr id="39" name="Shape 37"/>
          <p:cNvSpPr/>
          <p:nvPr/>
        </p:nvSpPr>
        <p:spPr>
          <a:xfrm>
            <a:off x="4279392" y="4361688"/>
            <a:ext cx="109728" cy="109728"/>
          </a:xfrm>
          <a:prstGeom prst="rect">
            <a:avLst/>
          </a:prstGeom>
          <a:solidFill>
            <a:srgbClr val="7A1F2B"/>
          </a:solidFill>
          <a:ln/>
        </p:spPr>
      </p:sp>
      <p:sp>
        <p:nvSpPr>
          <p:cNvPr id="40" name="Text 38"/>
          <p:cNvSpPr/>
          <p:nvPr/>
        </p:nvSpPr>
        <p:spPr>
          <a:xfrm>
            <a:off x="4480560" y="4206240"/>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resolution_summary</a:t>
            </a:r>
            <a:endParaRPr lang="en-US" sz="1150" dirty="0"/>
          </a:p>
        </p:txBody>
      </p:sp>
      <p:sp>
        <p:nvSpPr>
          <p:cNvPr id="41" name="Shape 39"/>
          <p:cNvSpPr/>
          <p:nvPr/>
        </p:nvSpPr>
        <p:spPr>
          <a:xfrm>
            <a:off x="7918704" y="1783080"/>
            <a:ext cx="3657600" cy="420624"/>
          </a:xfrm>
          <a:prstGeom prst="roundRect">
            <a:avLst>
              <a:gd name="adj" fmla="val 13043"/>
            </a:avLst>
          </a:prstGeom>
          <a:solidFill>
            <a:srgbClr val="F6F1F0"/>
          </a:solidFill>
          <a:ln/>
        </p:spPr>
      </p:sp>
      <p:sp>
        <p:nvSpPr>
          <p:cNvPr id="42" name="Shape 40"/>
          <p:cNvSpPr/>
          <p:nvPr/>
        </p:nvSpPr>
        <p:spPr>
          <a:xfrm>
            <a:off x="8010144" y="1938528"/>
            <a:ext cx="109728" cy="109728"/>
          </a:xfrm>
          <a:prstGeom prst="rect">
            <a:avLst/>
          </a:prstGeom>
          <a:solidFill>
            <a:srgbClr val="7A1F2B"/>
          </a:solidFill>
          <a:ln/>
        </p:spPr>
      </p:sp>
      <p:sp>
        <p:nvSpPr>
          <p:cNvPr id="43" name="Text 41"/>
          <p:cNvSpPr/>
          <p:nvPr/>
        </p:nvSpPr>
        <p:spPr>
          <a:xfrm>
            <a:off x="8211312" y="1783080"/>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resolution_time_hours</a:t>
            </a:r>
            <a:endParaRPr lang="en-US" sz="1150" dirty="0"/>
          </a:p>
        </p:txBody>
      </p:sp>
      <p:sp>
        <p:nvSpPr>
          <p:cNvPr id="44" name="Shape 42"/>
          <p:cNvSpPr/>
          <p:nvPr/>
        </p:nvSpPr>
        <p:spPr>
          <a:xfrm>
            <a:off x="7918704" y="2267712"/>
            <a:ext cx="3657600" cy="420624"/>
          </a:xfrm>
          <a:prstGeom prst="roundRect">
            <a:avLst>
              <a:gd name="adj" fmla="val 13043"/>
            </a:avLst>
          </a:prstGeom>
          <a:solidFill>
            <a:srgbClr val="F6F1F0"/>
          </a:solidFill>
          <a:ln/>
        </p:spPr>
      </p:sp>
      <p:sp>
        <p:nvSpPr>
          <p:cNvPr id="45" name="Shape 43"/>
          <p:cNvSpPr/>
          <p:nvPr/>
        </p:nvSpPr>
        <p:spPr>
          <a:xfrm>
            <a:off x="8010144" y="2423160"/>
            <a:ext cx="109728" cy="109728"/>
          </a:xfrm>
          <a:prstGeom prst="rect">
            <a:avLst/>
          </a:prstGeom>
          <a:solidFill>
            <a:srgbClr val="7A1F2B"/>
          </a:solidFill>
          <a:ln/>
        </p:spPr>
      </p:sp>
      <p:sp>
        <p:nvSpPr>
          <p:cNvPr id="46" name="Text 44"/>
          <p:cNvSpPr/>
          <p:nvPr/>
        </p:nvSpPr>
        <p:spPr>
          <a:xfrm>
            <a:off x="8211312" y="2267712"/>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Similarity_Level</a:t>
            </a:r>
            <a:endParaRPr lang="en-US" sz="1150" dirty="0"/>
          </a:p>
        </p:txBody>
      </p:sp>
      <p:sp>
        <p:nvSpPr>
          <p:cNvPr id="47" name="Shape 45"/>
          <p:cNvSpPr/>
          <p:nvPr/>
        </p:nvSpPr>
        <p:spPr>
          <a:xfrm>
            <a:off x="7918704" y="2752344"/>
            <a:ext cx="3657600" cy="420624"/>
          </a:xfrm>
          <a:prstGeom prst="roundRect">
            <a:avLst>
              <a:gd name="adj" fmla="val 13043"/>
            </a:avLst>
          </a:prstGeom>
          <a:solidFill>
            <a:srgbClr val="F6F1F0"/>
          </a:solidFill>
          <a:ln/>
        </p:spPr>
      </p:sp>
      <p:sp>
        <p:nvSpPr>
          <p:cNvPr id="48" name="Shape 46"/>
          <p:cNvSpPr/>
          <p:nvPr/>
        </p:nvSpPr>
        <p:spPr>
          <a:xfrm>
            <a:off x="8010144" y="2907792"/>
            <a:ext cx="109728" cy="109728"/>
          </a:xfrm>
          <a:prstGeom prst="rect">
            <a:avLst/>
          </a:prstGeom>
          <a:solidFill>
            <a:srgbClr val="7A1F2B"/>
          </a:solidFill>
          <a:ln/>
        </p:spPr>
      </p:sp>
      <p:sp>
        <p:nvSpPr>
          <p:cNvPr id="49" name="Text 47"/>
          <p:cNvSpPr/>
          <p:nvPr/>
        </p:nvSpPr>
        <p:spPr>
          <a:xfrm>
            <a:off x="8211312" y="2752344"/>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Similarity_Score</a:t>
            </a:r>
            <a:endParaRPr lang="en-US" sz="1150" dirty="0"/>
          </a:p>
        </p:txBody>
      </p:sp>
      <p:sp>
        <p:nvSpPr>
          <p:cNvPr id="50" name="Shape 48"/>
          <p:cNvSpPr/>
          <p:nvPr/>
        </p:nvSpPr>
        <p:spPr>
          <a:xfrm>
            <a:off x="7918704" y="3236976"/>
            <a:ext cx="3657600" cy="420624"/>
          </a:xfrm>
          <a:prstGeom prst="roundRect">
            <a:avLst>
              <a:gd name="adj" fmla="val 13043"/>
            </a:avLst>
          </a:prstGeom>
          <a:solidFill>
            <a:srgbClr val="F6F1F0"/>
          </a:solidFill>
          <a:ln/>
        </p:spPr>
      </p:sp>
      <p:sp>
        <p:nvSpPr>
          <p:cNvPr id="51" name="Shape 49"/>
          <p:cNvSpPr/>
          <p:nvPr/>
        </p:nvSpPr>
        <p:spPr>
          <a:xfrm>
            <a:off x="8010144" y="3392424"/>
            <a:ext cx="109728" cy="109728"/>
          </a:xfrm>
          <a:prstGeom prst="rect">
            <a:avLst/>
          </a:prstGeom>
          <a:solidFill>
            <a:srgbClr val="7A1F2B"/>
          </a:solidFill>
          <a:ln/>
        </p:spPr>
      </p:sp>
      <p:sp>
        <p:nvSpPr>
          <p:cNvPr id="52" name="Text 50"/>
          <p:cNvSpPr/>
          <p:nvPr/>
        </p:nvSpPr>
        <p:spPr>
          <a:xfrm>
            <a:off x="8211312" y="3236976"/>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sla_plan</a:t>
            </a:r>
            <a:endParaRPr lang="en-US" sz="1150" dirty="0"/>
          </a:p>
        </p:txBody>
      </p:sp>
      <p:sp>
        <p:nvSpPr>
          <p:cNvPr id="53" name="Shape 51"/>
          <p:cNvSpPr/>
          <p:nvPr/>
        </p:nvSpPr>
        <p:spPr>
          <a:xfrm>
            <a:off x="7918704" y="3721608"/>
            <a:ext cx="3657600" cy="420624"/>
          </a:xfrm>
          <a:prstGeom prst="roundRect">
            <a:avLst>
              <a:gd name="adj" fmla="val 13043"/>
            </a:avLst>
          </a:prstGeom>
          <a:solidFill>
            <a:srgbClr val="F6F1F0"/>
          </a:solidFill>
          <a:ln/>
        </p:spPr>
      </p:sp>
      <p:sp>
        <p:nvSpPr>
          <p:cNvPr id="54" name="Shape 52"/>
          <p:cNvSpPr/>
          <p:nvPr/>
        </p:nvSpPr>
        <p:spPr>
          <a:xfrm>
            <a:off x="8010144" y="3877056"/>
            <a:ext cx="109728" cy="109728"/>
          </a:xfrm>
          <a:prstGeom prst="rect">
            <a:avLst/>
          </a:prstGeom>
          <a:solidFill>
            <a:srgbClr val="7A1F2B"/>
          </a:solidFill>
          <a:ln/>
        </p:spPr>
      </p:sp>
      <p:sp>
        <p:nvSpPr>
          <p:cNvPr id="55" name="Text 53"/>
          <p:cNvSpPr/>
          <p:nvPr/>
        </p:nvSpPr>
        <p:spPr>
          <a:xfrm>
            <a:off x="8211312" y="3721608"/>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status</a:t>
            </a:r>
            <a:endParaRPr lang="en-US" sz="1150" dirty="0"/>
          </a:p>
        </p:txBody>
      </p:sp>
      <p:sp>
        <p:nvSpPr>
          <p:cNvPr id="56" name="Shape 54"/>
          <p:cNvSpPr/>
          <p:nvPr/>
        </p:nvSpPr>
        <p:spPr>
          <a:xfrm>
            <a:off x="7918704" y="4206240"/>
            <a:ext cx="3657600" cy="420624"/>
          </a:xfrm>
          <a:prstGeom prst="roundRect">
            <a:avLst>
              <a:gd name="adj" fmla="val 13043"/>
            </a:avLst>
          </a:prstGeom>
          <a:solidFill>
            <a:srgbClr val="F6F1F0"/>
          </a:solidFill>
          <a:ln/>
        </p:spPr>
      </p:sp>
      <p:sp>
        <p:nvSpPr>
          <p:cNvPr id="57" name="Shape 55"/>
          <p:cNvSpPr/>
          <p:nvPr/>
        </p:nvSpPr>
        <p:spPr>
          <a:xfrm>
            <a:off x="8010144" y="4361688"/>
            <a:ext cx="109728" cy="109728"/>
          </a:xfrm>
          <a:prstGeom prst="rect">
            <a:avLst/>
          </a:prstGeom>
          <a:solidFill>
            <a:srgbClr val="7A1F2B"/>
          </a:solidFill>
          <a:ln/>
        </p:spPr>
      </p:sp>
      <p:sp>
        <p:nvSpPr>
          <p:cNvPr id="58" name="Text 56"/>
          <p:cNvSpPr/>
          <p:nvPr/>
        </p:nvSpPr>
        <p:spPr>
          <a:xfrm>
            <a:off x="8211312" y="4206240"/>
            <a:ext cx="3291840" cy="420624"/>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customer_sentiment</a:t>
            </a:r>
            <a:endParaRPr lang="en-US" sz="1150" dirty="0"/>
          </a:p>
        </p:txBody>
      </p:sp>
      <p:sp>
        <p:nvSpPr>
          <p:cNvPr id="59" name="Text 57"/>
          <p:cNvSpPr/>
          <p:nvPr/>
        </p:nvSpPr>
        <p:spPr>
          <a:xfrm>
            <a:off x="457200" y="4892040"/>
            <a:ext cx="7315200" cy="274320"/>
          </a:xfrm>
          <a:prstGeom prst="rect">
            <a:avLst/>
          </a:prstGeom>
          <a:noFill/>
          <a:ln/>
        </p:spPr>
        <p:txBody>
          <a:bodyPr wrap="square" rtlCol="0" anchor="ctr"/>
          <a:lstStyle/>
          <a:p>
            <a:pPr indent="0" marL="0">
              <a:buNone/>
            </a:pPr>
            <a:r>
              <a:rPr lang="en-US" sz="1200" b="1" spc="150" kern="0" dirty="0">
                <a:solidFill>
                  <a:srgbClr val="C0263B"/>
                </a:solidFill>
                <a:latin typeface="Calibri" pitchFamily="34" charset="0"/>
                <a:ea typeface="Calibri" pitchFamily="34" charset="-122"/>
                <a:cs typeface="Calibri" pitchFamily="34" charset="-120"/>
              </a:rPr>
              <a:t>KEY CALCULATED MEASURES</a:t>
            </a:r>
            <a:endParaRPr lang="en-US" sz="1200" dirty="0"/>
          </a:p>
        </p:txBody>
      </p:sp>
      <p:sp>
        <p:nvSpPr>
          <p:cNvPr id="60" name="Shape 58"/>
          <p:cNvSpPr/>
          <p:nvPr/>
        </p:nvSpPr>
        <p:spPr>
          <a:xfrm>
            <a:off x="457200" y="5239512"/>
            <a:ext cx="2331720" cy="502920"/>
          </a:xfrm>
          <a:prstGeom prst="roundRect">
            <a:avLst>
              <a:gd name="adj" fmla="val 50909"/>
            </a:avLst>
          </a:prstGeom>
          <a:solidFill>
            <a:srgbClr val="7A1F2B"/>
          </a:solidFill>
          <a:ln/>
        </p:spPr>
      </p:sp>
      <p:sp>
        <p:nvSpPr>
          <p:cNvPr id="61" name="Text 59"/>
          <p:cNvSpPr/>
          <p:nvPr/>
        </p:nvSpPr>
        <p:spPr>
          <a:xfrm>
            <a:off x="457200" y="5239512"/>
            <a:ext cx="233172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High Priority Tickets</a:t>
            </a:r>
            <a:endParaRPr lang="en-US" sz="1200" dirty="0"/>
          </a:p>
        </p:txBody>
      </p:sp>
      <p:sp>
        <p:nvSpPr>
          <p:cNvPr id="62" name="Shape 60"/>
          <p:cNvSpPr/>
          <p:nvPr/>
        </p:nvSpPr>
        <p:spPr>
          <a:xfrm>
            <a:off x="2971800" y="5239512"/>
            <a:ext cx="2331720" cy="502920"/>
          </a:xfrm>
          <a:prstGeom prst="roundRect">
            <a:avLst>
              <a:gd name="adj" fmla="val 50909"/>
            </a:avLst>
          </a:prstGeom>
          <a:solidFill>
            <a:srgbClr val="7A1F2B"/>
          </a:solidFill>
          <a:ln/>
        </p:spPr>
      </p:sp>
      <p:sp>
        <p:nvSpPr>
          <p:cNvPr id="63" name="Text 61"/>
          <p:cNvSpPr/>
          <p:nvPr/>
        </p:nvSpPr>
        <p:spPr>
          <a:xfrm>
            <a:off x="2971800" y="5239512"/>
            <a:ext cx="233172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Reopened Tickets</a:t>
            </a:r>
            <a:endParaRPr lang="en-US" sz="1200" dirty="0"/>
          </a:p>
        </p:txBody>
      </p:sp>
      <p:sp>
        <p:nvSpPr>
          <p:cNvPr id="64" name="Shape 62"/>
          <p:cNvSpPr/>
          <p:nvPr/>
        </p:nvSpPr>
        <p:spPr>
          <a:xfrm>
            <a:off x="5486400" y="5239512"/>
            <a:ext cx="2331720" cy="502920"/>
          </a:xfrm>
          <a:prstGeom prst="roundRect">
            <a:avLst>
              <a:gd name="adj" fmla="val 50909"/>
            </a:avLst>
          </a:prstGeom>
          <a:solidFill>
            <a:srgbClr val="7A1F2B"/>
          </a:solidFill>
          <a:ln/>
        </p:spPr>
      </p:sp>
      <p:sp>
        <p:nvSpPr>
          <p:cNvPr id="65" name="Text 63"/>
          <p:cNvSpPr/>
          <p:nvPr/>
        </p:nvSpPr>
        <p:spPr>
          <a:xfrm>
            <a:off x="5486400" y="5239512"/>
            <a:ext cx="233172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Resolution Rate</a:t>
            </a:r>
            <a:endParaRPr lang="en-US" sz="1200" dirty="0"/>
          </a:p>
        </p:txBody>
      </p:sp>
      <p:sp>
        <p:nvSpPr>
          <p:cNvPr id="66" name="Text 64"/>
          <p:cNvSpPr/>
          <p:nvPr/>
        </p:nvSpPr>
        <p:spPr>
          <a:xfrm>
            <a:off x="457200" y="5897880"/>
            <a:ext cx="11247120" cy="457200"/>
          </a:xfrm>
          <a:prstGeom prst="rect">
            <a:avLst/>
          </a:prstGeom>
          <a:noFill/>
          <a:ln/>
        </p:spPr>
        <p:txBody>
          <a:bodyPr wrap="square" rtlCol="0" anchor="ctr"/>
          <a:lstStyle/>
          <a:p>
            <a:pPr indent="0" marL="0">
              <a:buNone/>
            </a:pPr>
            <a:r>
              <a:rPr lang="en-US" sz="1200" i="1" dirty="0">
                <a:solidFill>
                  <a:srgbClr val="6E6262"/>
                </a:solidFill>
                <a:latin typeface="Calibri" pitchFamily="34" charset="0"/>
                <a:ea typeface="Calibri" pitchFamily="34" charset="-122"/>
                <a:cs typeface="Calibri" pitchFamily="34" charset="-120"/>
              </a:rPr>
              <a:t>These fields and measures form the basis of every KPI and visualization used throughout the SupportLytics dashboard.</a:t>
            </a:r>
            <a:endParaRPr lang="en-US" sz="1200" dirty="0"/>
          </a:p>
        </p:txBody>
      </p:sp>
      <p:sp>
        <p:nvSpPr>
          <p:cNvPr id="67" name="Text 65"/>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68" name="Text 66"/>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Dataset &amp; Data Fields</a:t>
            </a:r>
            <a:endParaRPr lang="en-US" sz="900" dirty="0"/>
          </a:p>
        </p:txBody>
      </p:sp>
      <p:sp>
        <p:nvSpPr>
          <p:cNvPr id="69" name="Shape 67"/>
          <p:cNvSpPr/>
          <p:nvPr/>
        </p:nvSpPr>
        <p:spPr>
          <a:xfrm>
            <a:off x="11475720" y="6492240"/>
            <a:ext cx="310896" cy="310896"/>
          </a:xfrm>
          <a:prstGeom prst="ellipse">
            <a:avLst/>
          </a:prstGeom>
          <a:solidFill>
            <a:srgbClr val="7A1F2B"/>
          </a:solidFill>
          <a:ln/>
        </p:spPr>
      </p:sp>
      <p:sp>
        <p:nvSpPr>
          <p:cNvPr id="70" name="Text 68"/>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Data Preparation &amp; Analytical Approach</a:t>
            </a:r>
            <a:endParaRPr lang="en-US" sz="3000" dirty="0"/>
          </a:p>
        </p:txBody>
      </p:sp>
      <p:sp>
        <p:nvSpPr>
          <p:cNvPr id="4" name="Shape 2"/>
          <p:cNvSpPr/>
          <p:nvPr/>
        </p:nvSpPr>
        <p:spPr>
          <a:xfrm>
            <a:off x="449428" y="1783080"/>
            <a:ext cx="1691640" cy="868680"/>
          </a:xfrm>
          <a:prstGeom prst="roundRect">
            <a:avLst>
              <a:gd name="adj" fmla="val 8421"/>
            </a:avLst>
          </a:prstGeom>
          <a:solidFill>
            <a:srgbClr val="F6F1F0"/>
          </a:solidFill>
          <a:ln/>
          <a:effectLst>
            <a:outerShdw sx="100000" sy="100000" kx="0" ky="0" algn="bl" rotWithShape="0" blurRad="63500" dist="25400" dir="5400000">
              <a:srgbClr val="9C8A88">
                <a:alpha val="25000"/>
              </a:srgbClr>
            </a:outerShdw>
          </a:effectLst>
        </p:spPr>
      </p:sp>
      <p:sp>
        <p:nvSpPr>
          <p:cNvPr id="5" name="Text 3"/>
          <p:cNvSpPr/>
          <p:nvPr/>
        </p:nvSpPr>
        <p:spPr>
          <a:xfrm>
            <a:off x="522580" y="1783080"/>
            <a:ext cx="1545336" cy="868680"/>
          </a:xfrm>
          <a:prstGeom prst="rect">
            <a:avLst/>
          </a:prstGeom>
          <a:noFill/>
          <a:ln/>
        </p:spPr>
        <p:txBody>
          <a:bodyPr wrap="square" lIns="0" tIns="0" rIns="0" bIns="0" rtlCol="0" anchor="ctr"/>
          <a:lstStyle/>
          <a:p>
            <a:pPr algn="ctr" indent="0" marL="0">
              <a:buNone/>
            </a:pPr>
            <a:r>
              <a:rPr lang="en-US" sz="1100" b="1" dirty="0">
                <a:solidFill>
                  <a:srgbClr val="2B2323"/>
                </a:solidFill>
                <a:latin typeface="Calibri" pitchFamily="34" charset="0"/>
                <a:ea typeface="Calibri" pitchFamily="34" charset="-122"/>
                <a:cs typeface="Calibri" pitchFamily="34" charset="-120"/>
              </a:rPr>
              <a:t>Raw Support Ticket Data</a:t>
            </a:r>
            <a:endParaRPr lang="en-US" sz="1100" dirty="0"/>
          </a:p>
        </p:txBody>
      </p:sp>
      <p:sp>
        <p:nvSpPr>
          <p:cNvPr id="6" name="Shape 4"/>
          <p:cNvSpPr/>
          <p:nvPr/>
        </p:nvSpPr>
        <p:spPr>
          <a:xfrm rot="5400000">
            <a:off x="2173072" y="2144268"/>
            <a:ext cx="164592" cy="146304"/>
          </a:xfrm>
          <a:prstGeom prst="triangle">
            <a:avLst/>
          </a:prstGeom>
          <a:solidFill>
            <a:srgbClr val="C0263B"/>
          </a:solidFill>
          <a:ln/>
        </p:spPr>
      </p:sp>
      <p:sp>
        <p:nvSpPr>
          <p:cNvPr id="7" name="Shape 5"/>
          <p:cNvSpPr/>
          <p:nvPr/>
        </p:nvSpPr>
        <p:spPr>
          <a:xfrm>
            <a:off x="2369668" y="1783080"/>
            <a:ext cx="1691640" cy="868680"/>
          </a:xfrm>
          <a:prstGeom prst="roundRect">
            <a:avLst>
              <a:gd name="adj" fmla="val 8421"/>
            </a:avLst>
          </a:prstGeom>
          <a:solidFill>
            <a:srgbClr val="F6F1F0"/>
          </a:solidFill>
          <a:ln/>
          <a:effectLst>
            <a:outerShdw sx="100000" sy="100000" kx="0" ky="0" algn="bl" rotWithShape="0" blurRad="63500" dist="25400" dir="5400000">
              <a:srgbClr val="9C8A88">
                <a:alpha val="25000"/>
              </a:srgbClr>
            </a:outerShdw>
          </a:effectLst>
        </p:spPr>
      </p:sp>
      <p:sp>
        <p:nvSpPr>
          <p:cNvPr id="8" name="Text 6"/>
          <p:cNvSpPr/>
          <p:nvPr/>
        </p:nvSpPr>
        <p:spPr>
          <a:xfrm>
            <a:off x="2442820" y="1783080"/>
            <a:ext cx="1545336" cy="868680"/>
          </a:xfrm>
          <a:prstGeom prst="rect">
            <a:avLst/>
          </a:prstGeom>
          <a:noFill/>
          <a:ln/>
        </p:spPr>
        <p:txBody>
          <a:bodyPr wrap="square" lIns="0" tIns="0" rIns="0" bIns="0" rtlCol="0" anchor="ctr"/>
          <a:lstStyle/>
          <a:p>
            <a:pPr algn="ctr" indent="0" marL="0">
              <a:buNone/>
            </a:pPr>
            <a:r>
              <a:rPr lang="en-US" sz="1100" b="1" dirty="0">
                <a:solidFill>
                  <a:srgbClr val="2B2323"/>
                </a:solidFill>
                <a:latin typeface="Calibri" pitchFamily="34" charset="0"/>
                <a:ea typeface="Calibri" pitchFamily="34" charset="-122"/>
                <a:cs typeface="Calibri" pitchFamily="34" charset="-120"/>
              </a:rPr>
              <a:t>Data Preparation</a:t>
            </a:r>
            <a:endParaRPr lang="en-US" sz="1100" dirty="0"/>
          </a:p>
        </p:txBody>
      </p:sp>
      <p:sp>
        <p:nvSpPr>
          <p:cNvPr id="9" name="Shape 7"/>
          <p:cNvSpPr/>
          <p:nvPr/>
        </p:nvSpPr>
        <p:spPr>
          <a:xfrm rot="5400000">
            <a:off x="4093312" y="2144268"/>
            <a:ext cx="164592" cy="146304"/>
          </a:xfrm>
          <a:prstGeom prst="triangle">
            <a:avLst/>
          </a:prstGeom>
          <a:solidFill>
            <a:srgbClr val="C0263B"/>
          </a:solidFill>
          <a:ln/>
        </p:spPr>
      </p:sp>
      <p:sp>
        <p:nvSpPr>
          <p:cNvPr id="10" name="Shape 8"/>
          <p:cNvSpPr/>
          <p:nvPr/>
        </p:nvSpPr>
        <p:spPr>
          <a:xfrm>
            <a:off x="4289908" y="1783080"/>
            <a:ext cx="1691640" cy="868680"/>
          </a:xfrm>
          <a:prstGeom prst="roundRect">
            <a:avLst>
              <a:gd name="adj" fmla="val 8421"/>
            </a:avLst>
          </a:prstGeom>
          <a:solidFill>
            <a:srgbClr val="F6F1F0"/>
          </a:solidFill>
          <a:ln/>
          <a:effectLst>
            <a:outerShdw sx="100000" sy="100000" kx="0" ky="0" algn="bl" rotWithShape="0" blurRad="63500" dist="25400" dir="5400000">
              <a:srgbClr val="9C8A88">
                <a:alpha val="25000"/>
              </a:srgbClr>
            </a:outerShdw>
          </a:effectLst>
        </p:spPr>
      </p:sp>
      <p:sp>
        <p:nvSpPr>
          <p:cNvPr id="11" name="Text 9"/>
          <p:cNvSpPr/>
          <p:nvPr/>
        </p:nvSpPr>
        <p:spPr>
          <a:xfrm>
            <a:off x="4363060" y="1783080"/>
            <a:ext cx="1545336" cy="868680"/>
          </a:xfrm>
          <a:prstGeom prst="rect">
            <a:avLst/>
          </a:prstGeom>
          <a:noFill/>
          <a:ln/>
        </p:spPr>
        <p:txBody>
          <a:bodyPr wrap="square" lIns="0" tIns="0" rIns="0" bIns="0" rtlCol="0" anchor="ctr"/>
          <a:lstStyle/>
          <a:p>
            <a:pPr algn="ctr" indent="0" marL="0">
              <a:buNone/>
            </a:pPr>
            <a:r>
              <a:rPr lang="en-US" sz="1100" b="1" dirty="0">
                <a:solidFill>
                  <a:srgbClr val="2B2323"/>
                </a:solidFill>
                <a:latin typeface="Calibri" pitchFamily="34" charset="0"/>
                <a:ea typeface="Calibri" pitchFamily="34" charset="-122"/>
                <a:cs typeface="Calibri" pitchFamily="34" charset="-120"/>
              </a:rPr>
              <a:t>Relevant Fields &amp; Measures</a:t>
            </a:r>
            <a:endParaRPr lang="en-US" sz="1100" dirty="0"/>
          </a:p>
        </p:txBody>
      </p:sp>
      <p:sp>
        <p:nvSpPr>
          <p:cNvPr id="12" name="Shape 10"/>
          <p:cNvSpPr/>
          <p:nvPr/>
        </p:nvSpPr>
        <p:spPr>
          <a:xfrm rot="5400000">
            <a:off x="6013552" y="2144268"/>
            <a:ext cx="164592" cy="146304"/>
          </a:xfrm>
          <a:prstGeom prst="triangle">
            <a:avLst/>
          </a:prstGeom>
          <a:solidFill>
            <a:srgbClr val="C0263B"/>
          </a:solidFill>
          <a:ln/>
        </p:spPr>
      </p:sp>
      <p:sp>
        <p:nvSpPr>
          <p:cNvPr id="13" name="Shape 11"/>
          <p:cNvSpPr/>
          <p:nvPr/>
        </p:nvSpPr>
        <p:spPr>
          <a:xfrm>
            <a:off x="6210148" y="1783080"/>
            <a:ext cx="1691640" cy="868680"/>
          </a:xfrm>
          <a:prstGeom prst="roundRect">
            <a:avLst>
              <a:gd name="adj" fmla="val 8421"/>
            </a:avLst>
          </a:prstGeom>
          <a:solidFill>
            <a:srgbClr val="F6F1F0"/>
          </a:solidFill>
          <a:ln/>
          <a:effectLst>
            <a:outerShdw sx="100000" sy="100000" kx="0" ky="0" algn="bl" rotWithShape="0" blurRad="63500" dist="25400" dir="5400000">
              <a:srgbClr val="9C8A88">
                <a:alpha val="25000"/>
              </a:srgbClr>
            </a:outerShdw>
          </a:effectLst>
        </p:spPr>
      </p:sp>
      <p:sp>
        <p:nvSpPr>
          <p:cNvPr id="14" name="Text 12"/>
          <p:cNvSpPr/>
          <p:nvPr/>
        </p:nvSpPr>
        <p:spPr>
          <a:xfrm>
            <a:off x="6283300" y="1783080"/>
            <a:ext cx="1545336" cy="868680"/>
          </a:xfrm>
          <a:prstGeom prst="rect">
            <a:avLst/>
          </a:prstGeom>
          <a:noFill/>
          <a:ln/>
        </p:spPr>
        <p:txBody>
          <a:bodyPr wrap="square" lIns="0" tIns="0" rIns="0" bIns="0" rtlCol="0" anchor="ctr"/>
          <a:lstStyle/>
          <a:p>
            <a:pPr algn="ctr" indent="0" marL="0">
              <a:buNone/>
            </a:pPr>
            <a:r>
              <a:rPr lang="en-US" sz="1100" b="1" dirty="0">
                <a:solidFill>
                  <a:srgbClr val="2B2323"/>
                </a:solidFill>
                <a:latin typeface="Calibri" pitchFamily="34" charset="0"/>
                <a:ea typeface="Calibri" pitchFamily="34" charset="-122"/>
                <a:cs typeface="Calibri" pitchFamily="34" charset="-120"/>
              </a:rPr>
              <a:t>Power BI Data Model</a:t>
            </a:r>
            <a:endParaRPr lang="en-US" sz="1100" dirty="0"/>
          </a:p>
        </p:txBody>
      </p:sp>
      <p:sp>
        <p:nvSpPr>
          <p:cNvPr id="15" name="Shape 13"/>
          <p:cNvSpPr/>
          <p:nvPr/>
        </p:nvSpPr>
        <p:spPr>
          <a:xfrm rot="5400000">
            <a:off x="7933792" y="2144268"/>
            <a:ext cx="164592" cy="146304"/>
          </a:xfrm>
          <a:prstGeom prst="triangle">
            <a:avLst/>
          </a:prstGeom>
          <a:solidFill>
            <a:srgbClr val="C0263B"/>
          </a:solidFill>
          <a:ln/>
        </p:spPr>
      </p:sp>
      <p:sp>
        <p:nvSpPr>
          <p:cNvPr id="16" name="Shape 14"/>
          <p:cNvSpPr/>
          <p:nvPr/>
        </p:nvSpPr>
        <p:spPr>
          <a:xfrm>
            <a:off x="8130388" y="1783080"/>
            <a:ext cx="1691640" cy="868680"/>
          </a:xfrm>
          <a:prstGeom prst="roundRect">
            <a:avLst>
              <a:gd name="adj" fmla="val 8421"/>
            </a:avLst>
          </a:prstGeom>
          <a:solidFill>
            <a:srgbClr val="F6F1F0"/>
          </a:solidFill>
          <a:ln/>
          <a:effectLst>
            <a:outerShdw sx="100000" sy="100000" kx="0" ky="0" algn="bl" rotWithShape="0" blurRad="63500" dist="25400" dir="5400000">
              <a:srgbClr val="9C8A88">
                <a:alpha val="25000"/>
              </a:srgbClr>
            </a:outerShdw>
          </a:effectLst>
        </p:spPr>
      </p:sp>
      <p:sp>
        <p:nvSpPr>
          <p:cNvPr id="17" name="Text 15"/>
          <p:cNvSpPr/>
          <p:nvPr/>
        </p:nvSpPr>
        <p:spPr>
          <a:xfrm>
            <a:off x="8203540" y="1783080"/>
            <a:ext cx="1545336" cy="868680"/>
          </a:xfrm>
          <a:prstGeom prst="rect">
            <a:avLst/>
          </a:prstGeom>
          <a:noFill/>
          <a:ln/>
        </p:spPr>
        <p:txBody>
          <a:bodyPr wrap="square" lIns="0" tIns="0" rIns="0" bIns="0" rtlCol="0" anchor="ctr"/>
          <a:lstStyle/>
          <a:p>
            <a:pPr algn="ctr" indent="0" marL="0">
              <a:buNone/>
            </a:pPr>
            <a:r>
              <a:rPr lang="en-US" sz="1100" b="1" dirty="0">
                <a:solidFill>
                  <a:srgbClr val="2B2323"/>
                </a:solidFill>
                <a:latin typeface="Calibri" pitchFamily="34" charset="0"/>
                <a:ea typeface="Calibri" pitchFamily="34" charset="-122"/>
                <a:cs typeface="Calibri" pitchFamily="34" charset="-120"/>
              </a:rPr>
              <a:t>KPIs &amp; Visualizations</a:t>
            </a:r>
            <a:endParaRPr lang="en-US" sz="1100" dirty="0"/>
          </a:p>
        </p:txBody>
      </p:sp>
      <p:sp>
        <p:nvSpPr>
          <p:cNvPr id="18" name="Shape 16"/>
          <p:cNvSpPr/>
          <p:nvPr/>
        </p:nvSpPr>
        <p:spPr>
          <a:xfrm rot="5400000">
            <a:off x="9854032" y="2144268"/>
            <a:ext cx="164592" cy="146304"/>
          </a:xfrm>
          <a:prstGeom prst="triangle">
            <a:avLst/>
          </a:prstGeom>
          <a:solidFill>
            <a:srgbClr val="C0263B"/>
          </a:solidFill>
          <a:ln/>
        </p:spPr>
      </p:sp>
      <p:sp>
        <p:nvSpPr>
          <p:cNvPr id="19" name="Shape 17"/>
          <p:cNvSpPr/>
          <p:nvPr/>
        </p:nvSpPr>
        <p:spPr>
          <a:xfrm>
            <a:off x="10050628" y="1783080"/>
            <a:ext cx="1691640" cy="868680"/>
          </a:xfrm>
          <a:prstGeom prst="roundRect">
            <a:avLst>
              <a:gd name="adj" fmla="val 8421"/>
            </a:avLst>
          </a:prstGeom>
          <a:solidFill>
            <a:srgbClr val="7A1F2B"/>
          </a:solidFill>
          <a:ln/>
          <a:effectLst>
            <a:outerShdw sx="100000" sy="100000" kx="0" ky="0" algn="bl" rotWithShape="0" blurRad="63500" dist="25400" dir="5400000">
              <a:srgbClr val="9C8A88">
                <a:alpha val="25000"/>
              </a:srgbClr>
            </a:outerShdw>
          </a:effectLst>
        </p:spPr>
      </p:sp>
      <p:sp>
        <p:nvSpPr>
          <p:cNvPr id="20" name="Text 18"/>
          <p:cNvSpPr/>
          <p:nvPr/>
        </p:nvSpPr>
        <p:spPr>
          <a:xfrm>
            <a:off x="10123780" y="1783080"/>
            <a:ext cx="1545336"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Support Performance Analysis</a:t>
            </a:r>
            <a:endParaRPr lang="en-US" sz="1100" dirty="0"/>
          </a:p>
        </p:txBody>
      </p:sp>
      <p:sp>
        <p:nvSpPr>
          <p:cNvPr id="21" name="Text 19"/>
          <p:cNvSpPr/>
          <p:nvPr/>
        </p:nvSpPr>
        <p:spPr>
          <a:xfrm>
            <a:off x="1097280" y="3200400"/>
            <a:ext cx="10058400" cy="274320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500" dirty="0">
                <a:solidFill>
                  <a:srgbClr val="2B2323"/>
                </a:solidFill>
                <a:latin typeface="Calibri" pitchFamily="34" charset="0"/>
                <a:ea typeface="Calibri" pitchFamily="34" charset="-122"/>
                <a:cs typeface="Calibri" pitchFamily="34" charset="-120"/>
              </a:rPr>
              <a:t>Relevant ticket fields are used for analysis.</a:t>
            </a:r>
            <a:endParaRPr lang="en-US" sz="1500" dirty="0"/>
          </a:p>
          <a:p>
            <a:pPr marL="342900" indent="-342900">
              <a:lnSpc>
                <a:spcPct val="105000"/>
              </a:lnSpc>
              <a:spcAft>
                <a:spcPts val="1400"/>
              </a:spcAft>
              <a:buSzPct val="100000"/>
              <a:buChar char="•"/>
            </a:pPr>
            <a:r>
              <a:rPr lang="en-US" sz="1500" dirty="0">
                <a:solidFill>
                  <a:srgbClr val="2B2323"/>
                </a:solidFill>
                <a:latin typeface="Calibri" pitchFamily="34" charset="0"/>
                <a:ea typeface="Calibri" pitchFamily="34" charset="-122"/>
                <a:cs typeface="Calibri" pitchFamily="34" charset="-120"/>
              </a:rPr>
              <a:t>Numerical fields are used for KPI calculations.</a:t>
            </a:r>
            <a:endParaRPr lang="en-US" sz="1500" dirty="0"/>
          </a:p>
          <a:p>
            <a:pPr marL="342900" indent="-342900">
              <a:lnSpc>
                <a:spcPct val="105000"/>
              </a:lnSpc>
              <a:spcAft>
                <a:spcPts val="1400"/>
              </a:spcAft>
              <a:buSzPct val="100000"/>
              <a:buChar char="•"/>
            </a:pPr>
            <a:r>
              <a:rPr lang="en-US" sz="1500" dirty="0">
                <a:solidFill>
                  <a:srgbClr val="2B2323"/>
                </a:solidFill>
                <a:latin typeface="Calibri" pitchFamily="34" charset="0"/>
                <a:ea typeface="Calibri" pitchFamily="34" charset="-122"/>
                <a:cs typeface="Calibri" pitchFamily="34" charset="-120"/>
              </a:rPr>
              <a:t>Categorical fields are used for grouping and comparison.</a:t>
            </a:r>
            <a:endParaRPr lang="en-US" sz="1500" dirty="0"/>
          </a:p>
          <a:p>
            <a:pPr marL="342900" indent="-342900">
              <a:lnSpc>
                <a:spcPct val="105000"/>
              </a:lnSpc>
              <a:spcAft>
                <a:spcPts val="1400"/>
              </a:spcAft>
              <a:buSzPct val="100000"/>
              <a:buChar char="•"/>
            </a:pPr>
            <a:r>
              <a:rPr lang="en-US" sz="1500" dirty="0">
                <a:solidFill>
                  <a:srgbClr val="2B2323"/>
                </a:solidFill>
                <a:latin typeface="Calibri" pitchFamily="34" charset="0"/>
                <a:ea typeface="Calibri" pitchFamily="34" charset="-122"/>
                <a:cs typeface="Calibri" pitchFamily="34" charset="-120"/>
              </a:rPr>
              <a:t>Measures are used to calculate important performance indicators.</a:t>
            </a:r>
            <a:endParaRPr lang="en-US" sz="1500" dirty="0"/>
          </a:p>
          <a:p>
            <a:pPr marL="342900" indent="-342900">
              <a:lnSpc>
                <a:spcPct val="105000"/>
              </a:lnSpc>
              <a:spcAft>
                <a:spcPts val="1400"/>
              </a:spcAft>
              <a:buSzPct val="100000"/>
              <a:buChar char="•"/>
            </a:pPr>
            <a:r>
              <a:rPr lang="en-US" sz="1500" dirty="0">
                <a:solidFill>
                  <a:srgbClr val="2B2323"/>
                </a:solidFill>
                <a:latin typeface="Calibri" pitchFamily="34" charset="0"/>
                <a:ea typeface="Calibri" pitchFamily="34" charset="-122"/>
                <a:cs typeface="Calibri" pitchFamily="34" charset="-120"/>
              </a:rPr>
              <a:t>Power BI visuals are used to present the results interactively.</a:t>
            </a:r>
            <a:endParaRPr lang="en-US" sz="1500" dirty="0"/>
          </a:p>
        </p:txBody>
      </p:sp>
      <p:sp>
        <p:nvSpPr>
          <p:cNvPr id="22" name="Text 20"/>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23" name="Text 21"/>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Data Preparation &amp; Analytical Approach</a:t>
            </a:r>
            <a:endParaRPr lang="en-US" sz="900" dirty="0"/>
          </a:p>
        </p:txBody>
      </p:sp>
      <p:sp>
        <p:nvSpPr>
          <p:cNvPr id="24" name="Shape 22"/>
          <p:cNvSpPr/>
          <p:nvPr/>
        </p:nvSpPr>
        <p:spPr>
          <a:xfrm>
            <a:off x="11475720" y="6492240"/>
            <a:ext cx="310896" cy="310896"/>
          </a:xfrm>
          <a:prstGeom prst="ellipse">
            <a:avLst/>
          </a:prstGeom>
          <a:solidFill>
            <a:srgbClr val="7A1F2B"/>
          </a:solidFill>
          <a:ln/>
        </p:spPr>
      </p:sp>
      <p:sp>
        <p:nvSpPr>
          <p:cNvPr id="25" name="Text 23"/>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PAGE 1 · HEADLINE METRICS</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Key Performance Indicators</a:t>
            </a:r>
            <a:endParaRPr lang="en-US" sz="3000" dirty="0"/>
          </a:p>
        </p:txBody>
      </p:sp>
      <p:sp>
        <p:nvSpPr>
          <p:cNvPr id="4" name="Shape 2"/>
          <p:cNvSpPr/>
          <p:nvPr/>
        </p:nvSpPr>
        <p:spPr>
          <a:xfrm>
            <a:off x="457200" y="1508760"/>
            <a:ext cx="3611880" cy="1965960"/>
          </a:xfrm>
          <a:prstGeom prst="roundRect">
            <a:avLst>
              <a:gd name="adj" fmla="val 4186"/>
            </a:avLst>
          </a:prstGeom>
          <a:solidFill>
            <a:srgbClr val="7A1F2B"/>
          </a:solidFill>
          <a:ln/>
          <a:effectLst>
            <a:outerShdw sx="100000" sy="100000" kx="0" ky="0" algn="bl" rotWithShape="0" blurRad="76200" dist="25400" dir="5400000">
              <a:srgbClr val="9C8A88">
                <a:alpha val="28000"/>
              </a:srgbClr>
            </a:outerShdw>
          </a:effectLst>
        </p:spPr>
      </p:sp>
      <p:sp>
        <p:nvSpPr>
          <p:cNvPr id="5" name="Text 3"/>
          <p:cNvSpPr/>
          <p:nvPr/>
        </p:nvSpPr>
        <p:spPr>
          <a:xfrm>
            <a:off x="658368" y="1673352"/>
            <a:ext cx="3209544"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100K</a:t>
            </a:r>
            <a:endParaRPr lang="en-US" sz="3400" dirty="0"/>
          </a:p>
        </p:txBody>
      </p:sp>
      <p:sp>
        <p:nvSpPr>
          <p:cNvPr id="6" name="Text 4"/>
          <p:cNvSpPr/>
          <p:nvPr/>
        </p:nvSpPr>
        <p:spPr>
          <a:xfrm>
            <a:off x="658368" y="2350008"/>
            <a:ext cx="3209544" cy="320040"/>
          </a:xfrm>
          <a:prstGeom prst="rect">
            <a:avLst/>
          </a:prstGeom>
          <a:noFill/>
          <a:ln/>
        </p:spPr>
        <p:txBody>
          <a:bodyPr wrap="square" lIns="0" tIns="0" rIns="0" bIns="0" rtlCol="0" anchor="ctr"/>
          <a:lstStyle/>
          <a:p>
            <a:pPr indent="0" marL="0">
              <a:buNone/>
            </a:pPr>
            <a:r>
              <a:rPr lang="en-US" sz="1300" b="1" dirty="0">
                <a:solidFill>
                  <a:srgbClr val="E7B5BC"/>
                </a:solidFill>
                <a:latin typeface="Calibri" pitchFamily="34" charset="0"/>
                <a:ea typeface="Calibri" pitchFamily="34" charset="-122"/>
                <a:cs typeface="Calibri" pitchFamily="34" charset="-120"/>
              </a:rPr>
              <a:t>Total Tickets</a:t>
            </a:r>
            <a:endParaRPr lang="en-US" sz="1300" dirty="0"/>
          </a:p>
        </p:txBody>
      </p:sp>
      <p:sp>
        <p:nvSpPr>
          <p:cNvPr id="7" name="Text 5"/>
          <p:cNvSpPr/>
          <p:nvPr/>
        </p:nvSpPr>
        <p:spPr>
          <a:xfrm>
            <a:off x="658368" y="2679192"/>
            <a:ext cx="3209544" cy="731520"/>
          </a:xfrm>
          <a:prstGeom prst="rect">
            <a:avLst/>
          </a:prstGeom>
          <a:noFill/>
          <a:ln/>
        </p:spPr>
        <p:txBody>
          <a:bodyPr wrap="square" lIns="0" tIns="0" rIns="0" bIns="0" rtlCol="0" anchor="ctr"/>
          <a:lstStyle/>
          <a:p>
            <a:pPr indent="0" marL="0">
              <a:buNone/>
            </a:pPr>
            <a:r>
              <a:rPr lang="en-US" sz="1050" dirty="0">
                <a:solidFill>
                  <a:srgbClr val="EAD8DA"/>
                </a:solidFill>
                <a:latin typeface="Calibri" pitchFamily="34" charset="0"/>
                <a:ea typeface="Calibri" pitchFamily="34" charset="-122"/>
                <a:cs typeface="Calibri" pitchFamily="34" charset="-120"/>
              </a:rPr>
              <a:t>Overall volume of IT support tickets logged in the dataset.</a:t>
            </a:r>
            <a:endParaRPr lang="en-US" sz="1050" dirty="0"/>
          </a:p>
        </p:txBody>
      </p:sp>
      <p:sp>
        <p:nvSpPr>
          <p:cNvPr id="8" name="Shape 6"/>
          <p:cNvSpPr/>
          <p:nvPr/>
        </p:nvSpPr>
        <p:spPr>
          <a:xfrm>
            <a:off x="4251960" y="1508760"/>
            <a:ext cx="3611880" cy="1965960"/>
          </a:xfrm>
          <a:prstGeom prst="roundRect">
            <a:avLst>
              <a:gd name="adj" fmla="val 4186"/>
            </a:avLst>
          </a:prstGeom>
          <a:solidFill>
            <a:srgbClr val="7A1F2B"/>
          </a:solidFill>
          <a:ln/>
          <a:effectLst>
            <a:outerShdw sx="100000" sy="100000" kx="0" ky="0" algn="bl" rotWithShape="0" blurRad="76200" dist="25400" dir="5400000">
              <a:srgbClr val="9C8A88">
                <a:alpha val="28000"/>
              </a:srgbClr>
            </a:outerShdw>
          </a:effectLst>
        </p:spPr>
      </p:sp>
      <p:sp>
        <p:nvSpPr>
          <p:cNvPr id="9" name="Text 7"/>
          <p:cNvSpPr/>
          <p:nvPr/>
        </p:nvSpPr>
        <p:spPr>
          <a:xfrm>
            <a:off x="4453128" y="1673352"/>
            <a:ext cx="3209544"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38.99</a:t>
            </a:r>
            <a:endParaRPr lang="en-US" sz="3400" dirty="0"/>
          </a:p>
        </p:txBody>
      </p:sp>
      <p:sp>
        <p:nvSpPr>
          <p:cNvPr id="10" name="Text 8"/>
          <p:cNvSpPr/>
          <p:nvPr/>
        </p:nvSpPr>
        <p:spPr>
          <a:xfrm>
            <a:off x="4453128" y="2350008"/>
            <a:ext cx="3209544" cy="320040"/>
          </a:xfrm>
          <a:prstGeom prst="rect">
            <a:avLst/>
          </a:prstGeom>
          <a:noFill/>
          <a:ln/>
        </p:spPr>
        <p:txBody>
          <a:bodyPr wrap="square" lIns="0" tIns="0" rIns="0" bIns="0" rtlCol="0" anchor="ctr"/>
          <a:lstStyle/>
          <a:p>
            <a:pPr indent="0" marL="0">
              <a:buNone/>
            </a:pPr>
            <a:r>
              <a:rPr lang="en-US" sz="1300" b="1" dirty="0">
                <a:solidFill>
                  <a:srgbClr val="E7B5BC"/>
                </a:solidFill>
                <a:latin typeface="Calibri" pitchFamily="34" charset="0"/>
                <a:ea typeface="Calibri" pitchFamily="34" charset="-122"/>
                <a:cs typeface="Calibri" pitchFamily="34" charset="-120"/>
              </a:rPr>
              <a:t>Average Resolution Time</a:t>
            </a:r>
            <a:endParaRPr lang="en-US" sz="1300" dirty="0"/>
          </a:p>
        </p:txBody>
      </p:sp>
      <p:sp>
        <p:nvSpPr>
          <p:cNvPr id="11" name="Text 9"/>
          <p:cNvSpPr/>
          <p:nvPr/>
        </p:nvSpPr>
        <p:spPr>
          <a:xfrm>
            <a:off x="4453128" y="2679192"/>
            <a:ext cx="3209544" cy="731520"/>
          </a:xfrm>
          <a:prstGeom prst="rect">
            <a:avLst/>
          </a:prstGeom>
          <a:noFill/>
          <a:ln/>
        </p:spPr>
        <p:txBody>
          <a:bodyPr wrap="square" lIns="0" tIns="0" rIns="0" bIns="0" rtlCol="0" anchor="ctr"/>
          <a:lstStyle/>
          <a:p>
            <a:pPr indent="0" marL="0">
              <a:buNone/>
            </a:pPr>
            <a:r>
              <a:rPr lang="en-US" sz="1050" dirty="0">
                <a:solidFill>
                  <a:srgbClr val="EAD8DA"/>
                </a:solidFill>
                <a:latin typeface="Calibri" pitchFamily="34" charset="0"/>
                <a:ea typeface="Calibri" pitchFamily="34" charset="-122"/>
                <a:cs typeface="Calibri" pitchFamily="34" charset="-120"/>
              </a:rPr>
              <a:t>Mean time taken to resolve a support ticket.</a:t>
            </a:r>
            <a:endParaRPr lang="en-US" sz="1050" dirty="0"/>
          </a:p>
        </p:txBody>
      </p:sp>
      <p:sp>
        <p:nvSpPr>
          <p:cNvPr id="12" name="Shape 10"/>
          <p:cNvSpPr/>
          <p:nvPr/>
        </p:nvSpPr>
        <p:spPr>
          <a:xfrm>
            <a:off x="8046720" y="1508760"/>
            <a:ext cx="3611880" cy="1965960"/>
          </a:xfrm>
          <a:prstGeom prst="roundRect">
            <a:avLst>
              <a:gd name="adj" fmla="val 4186"/>
            </a:avLst>
          </a:prstGeom>
          <a:solidFill>
            <a:srgbClr val="7A1F2B"/>
          </a:solidFill>
          <a:ln/>
          <a:effectLst>
            <a:outerShdw sx="100000" sy="100000" kx="0" ky="0" algn="bl" rotWithShape="0" blurRad="76200" dist="25400" dir="5400000">
              <a:srgbClr val="9C8A88">
                <a:alpha val="28000"/>
              </a:srgbClr>
            </a:outerShdw>
          </a:effectLst>
        </p:spPr>
      </p:sp>
      <p:sp>
        <p:nvSpPr>
          <p:cNvPr id="13" name="Text 11"/>
          <p:cNvSpPr/>
          <p:nvPr/>
        </p:nvSpPr>
        <p:spPr>
          <a:xfrm>
            <a:off x="8247888" y="1673352"/>
            <a:ext cx="3209544"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2.24</a:t>
            </a:r>
            <a:endParaRPr lang="en-US" sz="3400" dirty="0"/>
          </a:p>
        </p:txBody>
      </p:sp>
      <p:sp>
        <p:nvSpPr>
          <p:cNvPr id="14" name="Text 12"/>
          <p:cNvSpPr/>
          <p:nvPr/>
        </p:nvSpPr>
        <p:spPr>
          <a:xfrm>
            <a:off x="8247888" y="2350008"/>
            <a:ext cx="3209544" cy="320040"/>
          </a:xfrm>
          <a:prstGeom prst="rect">
            <a:avLst/>
          </a:prstGeom>
          <a:noFill/>
          <a:ln/>
        </p:spPr>
        <p:txBody>
          <a:bodyPr wrap="square" lIns="0" tIns="0" rIns="0" bIns="0" rtlCol="0" anchor="ctr"/>
          <a:lstStyle/>
          <a:p>
            <a:pPr indent="0" marL="0">
              <a:buNone/>
            </a:pPr>
            <a:r>
              <a:rPr lang="en-US" sz="1300" b="1" dirty="0">
                <a:solidFill>
                  <a:srgbClr val="E7B5BC"/>
                </a:solidFill>
                <a:latin typeface="Calibri" pitchFamily="34" charset="0"/>
                <a:ea typeface="Calibri" pitchFamily="34" charset="-122"/>
                <a:cs typeface="Calibri" pitchFamily="34" charset="-120"/>
              </a:rPr>
              <a:t>Average CSAT</a:t>
            </a:r>
            <a:endParaRPr lang="en-US" sz="1300" dirty="0"/>
          </a:p>
        </p:txBody>
      </p:sp>
      <p:sp>
        <p:nvSpPr>
          <p:cNvPr id="15" name="Text 13"/>
          <p:cNvSpPr/>
          <p:nvPr/>
        </p:nvSpPr>
        <p:spPr>
          <a:xfrm>
            <a:off x="8247888" y="2679192"/>
            <a:ext cx="3209544" cy="731520"/>
          </a:xfrm>
          <a:prstGeom prst="rect">
            <a:avLst/>
          </a:prstGeom>
          <a:noFill/>
          <a:ln/>
        </p:spPr>
        <p:txBody>
          <a:bodyPr wrap="square" lIns="0" tIns="0" rIns="0" bIns="0" rtlCol="0" anchor="ctr"/>
          <a:lstStyle/>
          <a:p>
            <a:pPr indent="0" marL="0">
              <a:buNone/>
            </a:pPr>
            <a:r>
              <a:rPr lang="en-US" sz="1050" dirty="0">
                <a:solidFill>
                  <a:srgbClr val="EAD8DA"/>
                </a:solidFill>
                <a:latin typeface="Calibri" pitchFamily="34" charset="0"/>
                <a:ea typeface="Calibri" pitchFamily="34" charset="-122"/>
                <a:cs typeface="Calibri" pitchFamily="34" charset="-120"/>
              </a:rPr>
              <a:t>Mean customer satisfaction score across resolved tickets.</a:t>
            </a:r>
            <a:endParaRPr lang="en-US" sz="1050" dirty="0"/>
          </a:p>
        </p:txBody>
      </p:sp>
      <p:sp>
        <p:nvSpPr>
          <p:cNvPr id="16" name="Shape 14"/>
          <p:cNvSpPr/>
          <p:nvPr/>
        </p:nvSpPr>
        <p:spPr>
          <a:xfrm>
            <a:off x="457200" y="3657600"/>
            <a:ext cx="3611880" cy="1965960"/>
          </a:xfrm>
          <a:prstGeom prst="roundRect">
            <a:avLst>
              <a:gd name="adj" fmla="val 4186"/>
            </a:avLst>
          </a:prstGeom>
          <a:solidFill>
            <a:srgbClr val="FBF6F6"/>
          </a:solidFill>
          <a:ln/>
          <a:effectLst>
            <a:outerShdw sx="100000" sy="100000" kx="0" ky="0" algn="bl" rotWithShape="0" blurRad="76200" dist="25400" dir="5400000">
              <a:srgbClr val="9C8A88">
                <a:alpha val="28000"/>
              </a:srgbClr>
            </a:outerShdw>
          </a:effectLst>
        </p:spPr>
      </p:sp>
      <p:sp>
        <p:nvSpPr>
          <p:cNvPr id="17" name="Text 15"/>
          <p:cNvSpPr/>
          <p:nvPr/>
        </p:nvSpPr>
        <p:spPr>
          <a:xfrm>
            <a:off x="658368" y="3822192"/>
            <a:ext cx="3209544" cy="685800"/>
          </a:xfrm>
          <a:prstGeom prst="rect">
            <a:avLst/>
          </a:prstGeom>
          <a:noFill/>
          <a:ln/>
        </p:spPr>
        <p:txBody>
          <a:bodyPr wrap="square" lIns="0" tIns="0" rIns="0" bIns="0" rtlCol="0" anchor="ctr"/>
          <a:lstStyle/>
          <a:p>
            <a:pPr indent="0" marL="0">
              <a:buNone/>
            </a:pPr>
            <a:r>
              <a:rPr lang="en-US" sz="3400" b="1" dirty="0">
                <a:solidFill>
                  <a:srgbClr val="7A1F2B"/>
                </a:solidFill>
                <a:latin typeface="Cambria" pitchFamily="34" charset="0"/>
                <a:ea typeface="Cambria" pitchFamily="34" charset="-122"/>
                <a:cs typeface="Cambria" pitchFamily="34" charset="-120"/>
              </a:rPr>
              <a:t>0.02</a:t>
            </a:r>
            <a:endParaRPr lang="en-US" sz="3400" dirty="0"/>
          </a:p>
        </p:txBody>
      </p:sp>
      <p:sp>
        <p:nvSpPr>
          <p:cNvPr id="18" name="Text 16"/>
          <p:cNvSpPr/>
          <p:nvPr/>
        </p:nvSpPr>
        <p:spPr>
          <a:xfrm>
            <a:off x="658368" y="4498848"/>
            <a:ext cx="3209544" cy="320040"/>
          </a:xfrm>
          <a:prstGeom prst="rect">
            <a:avLst/>
          </a:prstGeom>
          <a:noFill/>
          <a:ln/>
        </p:spPr>
        <p:txBody>
          <a:bodyPr wrap="square" lIns="0" tIns="0" rIns="0" bIns="0" rtlCol="0" anchor="ctr"/>
          <a:lstStyle/>
          <a:p>
            <a:pPr indent="0" marL="0">
              <a:buNone/>
            </a:pPr>
            <a:r>
              <a:rPr lang="en-US" sz="1300" b="1" dirty="0">
                <a:solidFill>
                  <a:srgbClr val="C0263B"/>
                </a:solidFill>
                <a:latin typeface="Calibri" pitchFamily="34" charset="0"/>
                <a:ea typeface="Calibri" pitchFamily="34" charset="-122"/>
                <a:cs typeface="Calibri" pitchFamily="34" charset="-120"/>
              </a:rPr>
              <a:t>Average Similarity Score</a:t>
            </a:r>
            <a:endParaRPr lang="en-US" sz="1300" dirty="0"/>
          </a:p>
        </p:txBody>
      </p:sp>
      <p:sp>
        <p:nvSpPr>
          <p:cNvPr id="19" name="Text 17"/>
          <p:cNvSpPr/>
          <p:nvPr/>
        </p:nvSpPr>
        <p:spPr>
          <a:xfrm>
            <a:off x="658368" y="4828032"/>
            <a:ext cx="3209544" cy="731520"/>
          </a:xfrm>
          <a:prstGeom prst="rect">
            <a:avLst/>
          </a:prstGeom>
          <a:noFill/>
          <a:ln/>
        </p:spPr>
        <p:txBody>
          <a:bodyPr wrap="square" lIns="0" tIns="0" rIns="0" bIns="0" rtlCol="0" anchor="ctr"/>
          <a:lstStyle/>
          <a:p>
            <a:pPr indent="0" marL="0">
              <a:buNone/>
            </a:pPr>
            <a:r>
              <a:rPr lang="en-US" sz="1050" dirty="0">
                <a:solidFill>
                  <a:srgbClr val="6E6262"/>
                </a:solidFill>
                <a:latin typeface="Calibri" pitchFamily="34" charset="0"/>
                <a:ea typeface="Calibri" pitchFamily="34" charset="-122"/>
                <a:cs typeface="Calibri" pitchFamily="34" charset="-120"/>
              </a:rPr>
              <a:t>Mean similarity between related/duplicate ticket content.</a:t>
            </a:r>
            <a:endParaRPr lang="en-US" sz="1050" dirty="0"/>
          </a:p>
        </p:txBody>
      </p:sp>
      <p:sp>
        <p:nvSpPr>
          <p:cNvPr id="20" name="Shape 18"/>
          <p:cNvSpPr/>
          <p:nvPr/>
        </p:nvSpPr>
        <p:spPr>
          <a:xfrm>
            <a:off x="4251960" y="3657600"/>
            <a:ext cx="3611880" cy="1965960"/>
          </a:xfrm>
          <a:prstGeom prst="roundRect">
            <a:avLst>
              <a:gd name="adj" fmla="val 4186"/>
            </a:avLst>
          </a:prstGeom>
          <a:solidFill>
            <a:srgbClr val="FBF6F6"/>
          </a:solidFill>
          <a:ln/>
          <a:effectLst>
            <a:outerShdw sx="100000" sy="100000" kx="0" ky="0" algn="bl" rotWithShape="0" blurRad="76200" dist="25400" dir="5400000">
              <a:srgbClr val="9C8A88">
                <a:alpha val="28000"/>
              </a:srgbClr>
            </a:outerShdw>
          </a:effectLst>
        </p:spPr>
      </p:sp>
      <p:sp>
        <p:nvSpPr>
          <p:cNvPr id="21" name="Text 19"/>
          <p:cNvSpPr/>
          <p:nvPr/>
        </p:nvSpPr>
        <p:spPr>
          <a:xfrm>
            <a:off x="4453128" y="3822192"/>
            <a:ext cx="3209544" cy="685800"/>
          </a:xfrm>
          <a:prstGeom prst="rect">
            <a:avLst/>
          </a:prstGeom>
          <a:noFill/>
          <a:ln/>
        </p:spPr>
        <p:txBody>
          <a:bodyPr wrap="square" lIns="0" tIns="0" rIns="0" bIns="0" rtlCol="0" anchor="ctr"/>
          <a:lstStyle/>
          <a:p>
            <a:pPr indent="0" marL="0">
              <a:buNone/>
            </a:pPr>
            <a:r>
              <a:rPr lang="en-US" sz="3400" b="1" dirty="0">
                <a:solidFill>
                  <a:srgbClr val="7A1F2B"/>
                </a:solidFill>
                <a:latin typeface="Cambria" pitchFamily="34" charset="0"/>
                <a:ea typeface="Cambria" pitchFamily="34" charset="-122"/>
                <a:cs typeface="Cambria" pitchFamily="34" charset="-120"/>
              </a:rPr>
              <a:t>20K</a:t>
            </a:r>
            <a:endParaRPr lang="en-US" sz="3400" dirty="0"/>
          </a:p>
        </p:txBody>
      </p:sp>
      <p:sp>
        <p:nvSpPr>
          <p:cNvPr id="22" name="Text 20"/>
          <p:cNvSpPr/>
          <p:nvPr/>
        </p:nvSpPr>
        <p:spPr>
          <a:xfrm>
            <a:off x="4453128" y="4498848"/>
            <a:ext cx="3209544" cy="320040"/>
          </a:xfrm>
          <a:prstGeom prst="rect">
            <a:avLst/>
          </a:prstGeom>
          <a:noFill/>
          <a:ln/>
        </p:spPr>
        <p:txBody>
          <a:bodyPr wrap="square" lIns="0" tIns="0" rIns="0" bIns="0" rtlCol="0" anchor="ctr"/>
          <a:lstStyle/>
          <a:p>
            <a:pPr indent="0" marL="0">
              <a:buNone/>
            </a:pPr>
            <a:r>
              <a:rPr lang="en-US" sz="1300" b="1" dirty="0">
                <a:solidFill>
                  <a:srgbClr val="C0263B"/>
                </a:solidFill>
                <a:latin typeface="Calibri" pitchFamily="34" charset="0"/>
                <a:ea typeface="Calibri" pitchFamily="34" charset="-122"/>
                <a:cs typeface="Calibri" pitchFamily="34" charset="-120"/>
              </a:rPr>
              <a:t>High Priority Tickets</a:t>
            </a:r>
            <a:endParaRPr lang="en-US" sz="1300" dirty="0"/>
          </a:p>
        </p:txBody>
      </p:sp>
      <p:sp>
        <p:nvSpPr>
          <p:cNvPr id="23" name="Text 21"/>
          <p:cNvSpPr/>
          <p:nvPr/>
        </p:nvSpPr>
        <p:spPr>
          <a:xfrm>
            <a:off x="4453128" y="4828032"/>
            <a:ext cx="3209544" cy="731520"/>
          </a:xfrm>
          <a:prstGeom prst="rect">
            <a:avLst/>
          </a:prstGeom>
          <a:noFill/>
          <a:ln/>
        </p:spPr>
        <p:txBody>
          <a:bodyPr wrap="square" lIns="0" tIns="0" rIns="0" bIns="0" rtlCol="0" anchor="ctr"/>
          <a:lstStyle/>
          <a:p>
            <a:pPr indent="0" marL="0">
              <a:buNone/>
            </a:pPr>
            <a:r>
              <a:rPr lang="en-US" sz="1050" dirty="0">
                <a:solidFill>
                  <a:srgbClr val="6E6262"/>
                </a:solidFill>
                <a:latin typeface="Calibri" pitchFamily="34" charset="0"/>
                <a:ea typeface="Calibri" pitchFamily="34" charset="-122"/>
                <a:cs typeface="Calibri" pitchFamily="34" charset="-120"/>
              </a:rPr>
              <a:t>Tickets flagged as high priority requiring faster attention.</a:t>
            </a:r>
            <a:endParaRPr lang="en-US" sz="1050" dirty="0"/>
          </a:p>
        </p:txBody>
      </p:sp>
      <p:sp>
        <p:nvSpPr>
          <p:cNvPr id="24" name="Shape 22"/>
          <p:cNvSpPr/>
          <p:nvPr/>
        </p:nvSpPr>
        <p:spPr>
          <a:xfrm>
            <a:off x="8046720" y="3657600"/>
            <a:ext cx="3611880" cy="1965960"/>
          </a:xfrm>
          <a:prstGeom prst="roundRect">
            <a:avLst>
              <a:gd name="adj" fmla="val 4186"/>
            </a:avLst>
          </a:prstGeom>
          <a:solidFill>
            <a:srgbClr val="FBF6F6"/>
          </a:solidFill>
          <a:ln/>
          <a:effectLst>
            <a:outerShdw sx="100000" sy="100000" kx="0" ky="0" algn="bl" rotWithShape="0" blurRad="76200" dist="25400" dir="5400000">
              <a:srgbClr val="9C8A88">
                <a:alpha val="28000"/>
              </a:srgbClr>
            </a:outerShdw>
          </a:effectLst>
        </p:spPr>
      </p:sp>
      <p:sp>
        <p:nvSpPr>
          <p:cNvPr id="25" name="Text 23"/>
          <p:cNvSpPr/>
          <p:nvPr/>
        </p:nvSpPr>
        <p:spPr>
          <a:xfrm>
            <a:off x="8247888" y="3822192"/>
            <a:ext cx="3209544" cy="685800"/>
          </a:xfrm>
          <a:prstGeom prst="rect">
            <a:avLst/>
          </a:prstGeom>
          <a:noFill/>
          <a:ln/>
        </p:spPr>
        <p:txBody>
          <a:bodyPr wrap="square" lIns="0" tIns="0" rIns="0" bIns="0" rtlCol="0" anchor="ctr"/>
          <a:lstStyle/>
          <a:p>
            <a:pPr indent="0" marL="0">
              <a:buNone/>
            </a:pPr>
            <a:r>
              <a:rPr lang="en-US" sz="3400" b="1" dirty="0">
                <a:solidFill>
                  <a:srgbClr val="7A1F2B"/>
                </a:solidFill>
                <a:latin typeface="Cambria" pitchFamily="34" charset="0"/>
                <a:ea typeface="Cambria" pitchFamily="34" charset="-122"/>
                <a:cs typeface="Cambria" pitchFamily="34" charset="-120"/>
              </a:rPr>
              <a:t>5K</a:t>
            </a:r>
            <a:endParaRPr lang="en-US" sz="3400" dirty="0"/>
          </a:p>
        </p:txBody>
      </p:sp>
      <p:sp>
        <p:nvSpPr>
          <p:cNvPr id="26" name="Text 24"/>
          <p:cNvSpPr/>
          <p:nvPr/>
        </p:nvSpPr>
        <p:spPr>
          <a:xfrm>
            <a:off x="8247888" y="4498848"/>
            <a:ext cx="3209544" cy="320040"/>
          </a:xfrm>
          <a:prstGeom prst="rect">
            <a:avLst/>
          </a:prstGeom>
          <a:noFill/>
          <a:ln/>
        </p:spPr>
        <p:txBody>
          <a:bodyPr wrap="square" lIns="0" tIns="0" rIns="0" bIns="0" rtlCol="0" anchor="ctr"/>
          <a:lstStyle/>
          <a:p>
            <a:pPr indent="0" marL="0">
              <a:buNone/>
            </a:pPr>
            <a:r>
              <a:rPr lang="en-US" sz="1300" b="1" dirty="0">
                <a:solidFill>
                  <a:srgbClr val="C0263B"/>
                </a:solidFill>
                <a:latin typeface="Calibri" pitchFamily="34" charset="0"/>
                <a:ea typeface="Calibri" pitchFamily="34" charset="-122"/>
                <a:cs typeface="Calibri" pitchFamily="34" charset="-120"/>
              </a:rPr>
              <a:t>Urgent Tickets</a:t>
            </a:r>
            <a:endParaRPr lang="en-US" sz="1300" dirty="0"/>
          </a:p>
        </p:txBody>
      </p:sp>
      <p:sp>
        <p:nvSpPr>
          <p:cNvPr id="27" name="Text 25"/>
          <p:cNvSpPr/>
          <p:nvPr/>
        </p:nvSpPr>
        <p:spPr>
          <a:xfrm>
            <a:off x="8247888" y="4828032"/>
            <a:ext cx="3209544" cy="731520"/>
          </a:xfrm>
          <a:prstGeom prst="rect">
            <a:avLst/>
          </a:prstGeom>
          <a:noFill/>
          <a:ln/>
        </p:spPr>
        <p:txBody>
          <a:bodyPr wrap="square" lIns="0" tIns="0" rIns="0" bIns="0" rtlCol="0" anchor="ctr"/>
          <a:lstStyle/>
          <a:p>
            <a:pPr indent="0" marL="0">
              <a:buNone/>
            </a:pPr>
            <a:r>
              <a:rPr lang="en-US" sz="1050" dirty="0">
                <a:solidFill>
                  <a:srgbClr val="6E6262"/>
                </a:solidFill>
                <a:latin typeface="Calibri" pitchFamily="34" charset="0"/>
                <a:ea typeface="Calibri" pitchFamily="34" charset="-122"/>
                <a:cs typeface="Calibri" pitchFamily="34" charset="-120"/>
              </a:rPr>
              <a:t>Tickets flagged urgent needing immediate response.</a:t>
            </a:r>
            <a:endParaRPr lang="en-US" sz="1050" dirty="0"/>
          </a:p>
        </p:txBody>
      </p:sp>
      <p:sp>
        <p:nvSpPr>
          <p:cNvPr id="28" name="Text 26"/>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29" name="Text 27"/>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Key Performance Indicators — Page 1</a:t>
            </a:r>
            <a:endParaRPr lang="en-US" sz="900" dirty="0"/>
          </a:p>
        </p:txBody>
      </p:sp>
      <p:sp>
        <p:nvSpPr>
          <p:cNvPr id="30" name="Shape 28"/>
          <p:cNvSpPr/>
          <p:nvPr/>
        </p:nvSpPr>
        <p:spPr>
          <a:xfrm>
            <a:off x="11475720" y="6492240"/>
            <a:ext cx="310896" cy="310896"/>
          </a:xfrm>
          <a:prstGeom prst="ellipse">
            <a:avLst/>
          </a:prstGeom>
          <a:solidFill>
            <a:srgbClr val="7A1F2B"/>
          </a:solidFill>
          <a:ln/>
        </p:spPr>
      </p:sp>
      <p:sp>
        <p:nvSpPr>
          <p:cNvPr id="31" name="Text 29"/>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FULL DASHBOARD</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Page 1 — IT Support Performance Overview</a:t>
            </a:r>
            <a:endParaRPr lang="en-US" sz="3000" dirty="0"/>
          </a:p>
        </p:txBody>
      </p:sp>
      <p:pic>
        <p:nvPicPr>
          <p:cNvPr id="4" name="Image 0" descr="/home/claude/project/images/page1_full.png">    </p:cNvPr>
          <p:cNvPicPr>
            <a:picLocks noChangeAspect="1"/>
          </p:cNvPicPr>
          <p:nvPr/>
        </p:nvPicPr>
        <p:blipFill>
          <a:blip r:embed="rId1"/>
          <a:stretch>
            <a:fillRect/>
          </a:stretch>
        </p:blipFill>
        <p:spPr>
          <a:xfrm>
            <a:off x="457200" y="1417320"/>
            <a:ext cx="7223760" cy="4059936"/>
          </a:xfrm>
          <a:prstGeom prst="rect">
            <a:avLst/>
          </a:prstGeom>
        </p:spPr>
      </p:pic>
      <p:sp>
        <p:nvSpPr>
          <p:cNvPr id="5" name="Shape 2"/>
          <p:cNvSpPr/>
          <p:nvPr/>
        </p:nvSpPr>
        <p:spPr>
          <a:xfrm>
            <a:off x="457200" y="1417320"/>
            <a:ext cx="7223760" cy="4059936"/>
          </a:xfrm>
          <a:prstGeom prst="roundRect">
            <a:avLst>
              <a:gd name="adj" fmla="val 1126"/>
            </a:avLst>
          </a:prstGeom>
          <a:ln w="12700">
            <a:solidFill>
              <a:srgbClr val="D8CACA"/>
            </a:solidFill>
            <a:prstDash val="solid"/>
          </a:ln>
        </p:spPr>
      </p:sp>
      <p:sp>
        <p:nvSpPr>
          <p:cNvPr id="6" name="Shape 3"/>
          <p:cNvSpPr/>
          <p:nvPr/>
        </p:nvSpPr>
        <p:spPr>
          <a:xfrm>
            <a:off x="7863840" y="1417320"/>
            <a:ext cx="3867912" cy="4059936"/>
          </a:xfrm>
          <a:prstGeom prst="roundRect">
            <a:avLst>
              <a:gd name="adj" fmla="val 2128"/>
            </a:avLst>
          </a:prstGeom>
          <a:solidFill>
            <a:srgbClr val="FBF6F6"/>
          </a:solidFill>
          <a:ln/>
          <a:effectLst>
            <a:outerShdw sx="100000" sy="100000" kx="0" ky="0" algn="bl" rotWithShape="0" blurRad="76200" dist="25400" dir="5400000">
              <a:srgbClr val="9C8A88">
                <a:alpha val="28000"/>
              </a:srgbClr>
            </a:outerShdw>
          </a:effectLst>
        </p:spPr>
      </p:sp>
      <p:sp>
        <p:nvSpPr>
          <p:cNvPr id="7" name="Text 4"/>
          <p:cNvSpPr/>
          <p:nvPr/>
        </p:nvSpPr>
        <p:spPr>
          <a:xfrm>
            <a:off x="8092440" y="1572768"/>
            <a:ext cx="3474720" cy="274320"/>
          </a:xfrm>
          <a:prstGeom prst="rect">
            <a:avLst/>
          </a:prstGeom>
          <a:noFill/>
          <a:ln/>
        </p:spPr>
        <p:txBody>
          <a:bodyPr wrap="square" rtlCol="0" anchor="ctr"/>
          <a:lstStyle/>
          <a:p>
            <a:pPr indent="0" marL="0">
              <a:buNone/>
            </a:pPr>
            <a:r>
              <a:rPr lang="en-US" sz="1150" b="1" spc="100" kern="0" dirty="0">
                <a:solidFill>
                  <a:srgbClr val="C0263B"/>
                </a:solidFill>
                <a:latin typeface="Calibri" pitchFamily="34" charset="0"/>
                <a:ea typeface="Calibri" pitchFamily="34" charset="-122"/>
                <a:cs typeface="Calibri" pitchFamily="34" charset="-120"/>
              </a:rPr>
              <a:t>VISUALS ON THIS PAGE</a:t>
            </a:r>
            <a:endParaRPr lang="en-US" sz="1150" dirty="0"/>
          </a:p>
        </p:txBody>
      </p:sp>
      <p:sp>
        <p:nvSpPr>
          <p:cNvPr id="8" name="Text 5"/>
          <p:cNvSpPr/>
          <p:nvPr/>
        </p:nvSpPr>
        <p:spPr>
          <a:xfrm>
            <a:off x="8092440" y="1901952"/>
            <a:ext cx="3474720" cy="3474720"/>
          </a:xfrm>
          <a:prstGeom prst="rect">
            <a:avLst/>
          </a:prstGeom>
          <a:noFill/>
          <a:ln/>
        </p:spPr>
        <p:txBody>
          <a:bodyPr wrap="square" lIns="0" tIns="0" rIns="0" bIns="0" rtlCol="0" anchor="t"/>
          <a:lstStyle/>
          <a:p>
            <a:pPr marL="342900" indent="-342900">
              <a:lnSpc>
                <a:spcPct val="105000"/>
              </a:lnSpc>
              <a:spcAft>
                <a:spcPts val="650"/>
              </a:spcAft>
              <a:buSzPct val="100000"/>
              <a:buChar char="•"/>
            </a:pPr>
            <a:r>
              <a:rPr lang="en-US" sz="1080" dirty="0">
                <a:solidFill>
                  <a:srgbClr val="2B2323"/>
                </a:solidFill>
                <a:latin typeface="Calibri" pitchFamily="34" charset="0"/>
                <a:ea typeface="Calibri" pitchFamily="34" charset="-122"/>
                <a:cs typeface="Calibri" pitchFamily="34" charset="-120"/>
              </a:rPr>
              <a:t>Total Tickets</a:t>
            </a:r>
            <a:endParaRPr lang="en-US" sz="1080" dirty="0"/>
          </a:p>
          <a:p>
            <a:pPr marL="342900" indent="-342900">
              <a:lnSpc>
                <a:spcPct val="105000"/>
              </a:lnSpc>
              <a:spcAft>
                <a:spcPts val="650"/>
              </a:spcAft>
              <a:buSzPct val="100000"/>
              <a:buChar char="•"/>
            </a:pPr>
            <a:r>
              <a:rPr lang="en-US" sz="1080" dirty="0">
                <a:solidFill>
                  <a:srgbClr val="2B2323"/>
                </a:solidFill>
                <a:latin typeface="Calibri" pitchFamily="34" charset="0"/>
                <a:ea typeface="Calibri" pitchFamily="34" charset="-122"/>
                <a:cs typeface="Calibri" pitchFamily="34" charset="-120"/>
              </a:rPr>
              <a:t>Average Resolution Time</a:t>
            </a:r>
            <a:endParaRPr lang="en-US" sz="1080" dirty="0"/>
          </a:p>
          <a:p>
            <a:pPr marL="342900" indent="-342900">
              <a:lnSpc>
                <a:spcPct val="105000"/>
              </a:lnSpc>
              <a:spcAft>
                <a:spcPts val="650"/>
              </a:spcAft>
              <a:buSzPct val="100000"/>
              <a:buChar char="•"/>
            </a:pPr>
            <a:r>
              <a:rPr lang="en-US" sz="1080" dirty="0">
                <a:solidFill>
                  <a:srgbClr val="2B2323"/>
                </a:solidFill>
                <a:latin typeface="Calibri" pitchFamily="34" charset="0"/>
                <a:ea typeface="Calibri" pitchFamily="34" charset="-122"/>
                <a:cs typeface="Calibri" pitchFamily="34" charset="-120"/>
              </a:rPr>
              <a:t>Average CSAT</a:t>
            </a:r>
            <a:endParaRPr lang="en-US" sz="1080" dirty="0"/>
          </a:p>
          <a:p>
            <a:pPr marL="342900" indent="-342900">
              <a:lnSpc>
                <a:spcPct val="105000"/>
              </a:lnSpc>
              <a:spcAft>
                <a:spcPts val="650"/>
              </a:spcAft>
              <a:buSzPct val="100000"/>
              <a:buChar char="•"/>
            </a:pPr>
            <a:r>
              <a:rPr lang="en-US" sz="1080" dirty="0">
                <a:solidFill>
                  <a:srgbClr val="2B2323"/>
                </a:solidFill>
                <a:latin typeface="Calibri" pitchFamily="34" charset="0"/>
                <a:ea typeface="Calibri" pitchFamily="34" charset="-122"/>
                <a:cs typeface="Calibri" pitchFamily="34" charset="-120"/>
              </a:rPr>
              <a:t>Average Similarity Score</a:t>
            </a:r>
            <a:endParaRPr lang="en-US" sz="1080" dirty="0"/>
          </a:p>
          <a:p>
            <a:pPr marL="342900" indent="-342900">
              <a:lnSpc>
                <a:spcPct val="105000"/>
              </a:lnSpc>
              <a:spcAft>
                <a:spcPts val="650"/>
              </a:spcAft>
              <a:buSzPct val="100000"/>
              <a:buChar char="•"/>
            </a:pPr>
            <a:r>
              <a:rPr lang="en-US" sz="1080" dirty="0">
                <a:solidFill>
                  <a:srgbClr val="2B2323"/>
                </a:solidFill>
                <a:latin typeface="Calibri" pitchFamily="34" charset="0"/>
                <a:ea typeface="Calibri" pitchFamily="34" charset="-122"/>
                <a:cs typeface="Calibri" pitchFamily="34" charset="-120"/>
              </a:rPr>
              <a:t>High Priority Tickets</a:t>
            </a:r>
            <a:endParaRPr lang="en-US" sz="1080" dirty="0"/>
          </a:p>
          <a:p>
            <a:pPr marL="342900" indent="-342900">
              <a:lnSpc>
                <a:spcPct val="105000"/>
              </a:lnSpc>
              <a:spcAft>
                <a:spcPts val="650"/>
              </a:spcAft>
              <a:buSzPct val="100000"/>
              <a:buChar char="•"/>
            </a:pPr>
            <a:r>
              <a:rPr lang="en-US" sz="1080" dirty="0">
                <a:solidFill>
                  <a:srgbClr val="2B2323"/>
                </a:solidFill>
                <a:latin typeface="Calibri" pitchFamily="34" charset="0"/>
                <a:ea typeface="Calibri" pitchFamily="34" charset="-122"/>
                <a:cs typeface="Calibri" pitchFamily="34" charset="-120"/>
              </a:rPr>
              <a:t>Urgent Tickets</a:t>
            </a:r>
            <a:endParaRPr lang="en-US" sz="1080" dirty="0"/>
          </a:p>
          <a:p>
            <a:pPr marL="342900" indent="-342900">
              <a:lnSpc>
                <a:spcPct val="105000"/>
              </a:lnSpc>
              <a:spcAft>
                <a:spcPts val="650"/>
              </a:spcAft>
              <a:buSzPct val="100000"/>
              <a:buChar char="•"/>
            </a:pPr>
            <a:r>
              <a:rPr lang="en-US" sz="1080" dirty="0">
                <a:solidFill>
                  <a:srgbClr val="2B2323"/>
                </a:solidFill>
                <a:latin typeface="Calibri" pitchFamily="34" charset="0"/>
                <a:ea typeface="Calibri" pitchFamily="34" charset="-122"/>
                <a:cs typeface="Calibri" pitchFamily="34" charset="-120"/>
              </a:rPr>
              <a:t>Count of ticket_id by status</a:t>
            </a:r>
            <a:endParaRPr lang="en-US" sz="1080" dirty="0"/>
          </a:p>
          <a:p>
            <a:pPr marL="342900" indent="-342900">
              <a:lnSpc>
                <a:spcPct val="105000"/>
              </a:lnSpc>
              <a:spcAft>
                <a:spcPts val="650"/>
              </a:spcAft>
              <a:buSzPct val="100000"/>
              <a:buChar char="•"/>
            </a:pPr>
            <a:r>
              <a:rPr lang="en-US" sz="1080" dirty="0">
                <a:solidFill>
                  <a:srgbClr val="2B2323"/>
                </a:solidFill>
                <a:latin typeface="Calibri" pitchFamily="34" charset="0"/>
                <a:ea typeface="Calibri" pitchFamily="34" charset="-122"/>
                <a:cs typeface="Calibri" pitchFamily="34" charset="-120"/>
              </a:rPr>
              <a:t>Count of ticket_id by region</a:t>
            </a:r>
            <a:endParaRPr lang="en-US" sz="1080" dirty="0"/>
          </a:p>
          <a:p>
            <a:pPr marL="342900" indent="-342900">
              <a:lnSpc>
                <a:spcPct val="105000"/>
              </a:lnSpc>
              <a:spcAft>
                <a:spcPts val="650"/>
              </a:spcAft>
              <a:buSzPct val="100000"/>
              <a:buChar char="•"/>
            </a:pPr>
            <a:r>
              <a:rPr lang="en-US" sz="1080" dirty="0">
                <a:solidFill>
                  <a:srgbClr val="2B2323"/>
                </a:solidFill>
                <a:latin typeface="Calibri" pitchFamily="34" charset="0"/>
                <a:ea typeface="Calibri" pitchFamily="34" charset="-122"/>
                <a:cs typeface="Calibri" pitchFamily="34" charset="-120"/>
              </a:rPr>
              <a:t>Count of ticket_id by priority</a:t>
            </a:r>
            <a:endParaRPr lang="en-US" sz="1080" dirty="0"/>
          </a:p>
          <a:p>
            <a:pPr marL="342900" indent="-342900">
              <a:lnSpc>
                <a:spcPct val="105000"/>
              </a:lnSpc>
              <a:spcAft>
                <a:spcPts val="650"/>
              </a:spcAft>
              <a:buSzPct val="100000"/>
              <a:buChar char="•"/>
            </a:pPr>
            <a:r>
              <a:rPr lang="en-US" sz="1080" dirty="0">
                <a:solidFill>
                  <a:srgbClr val="2B2323"/>
                </a:solidFill>
                <a:latin typeface="Calibri" pitchFamily="34" charset="0"/>
                <a:ea typeface="Calibri" pitchFamily="34" charset="-122"/>
                <a:cs typeface="Calibri" pitchFamily="34" charset="-120"/>
              </a:rPr>
              <a:t>Count of ticket_id by issue_type</a:t>
            </a:r>
            <a:endParaRPr lang="en-US" sz="1080" dirty="0"/>
          </a:p>
          <a:p>
            <a:pPr marL="342900" indent="-342900">
              <a:lnSpc>
                <a:spcPct val="105000"/>
              </a:lnSpc>
              <a:spcAft>
                <a:spcPts val="650"/>
              </a:spcAft>
              <a:buSzPct val="100000"/>
              <a:buChar char="•"/>
            </a:pPr>
            <a:r>
              <a:rPr lang="en-US" sz="1080" dirty="0">
                <a:solidFill>
                  <a:srgbClr val="2B2323"/>
                </a:solidFill>
                <a:latin typeface="Calibri" pitchFamily="34" charset="0"/>
                <a:ea typeface="Calibri" pitchFamily="34" charset="-122"/>
                <a:cs typeface="Calibri" pitchFamily="34" charset="-120"/>
              </a:rPr>
              <a:t>Count of ticket_id by Cluster_Name</a:t>
            </a:r>
            <a:endParaRPr lang="en-US" sz="1080" dirty="0"/>
          </a:p>
        </p:txBody>
      </p:sp>
      <p:sp>
        <p:nvSpPr>
          <p:cNvPr id="9" name="Text 6"/>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10" name="Text 7"/>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Page 1 — Dashboard Overview</a:t>
            </a:r>
            <a:endParaRPr lang="en-US" sz="900" dirty="0"/>
          </a:p>
        </p:txBody>
      </p:sp>
      <p:sp>
        <p:nvSpPr>
          <p:cNvPr id="11" name="Shape 8"/>
          <p:cNvSpPr/>
          <p:nvPr/>
        </p:nvSpPr>
        <p:spPr>
          <a:xfrm>
            <a:off x="11475720" y="6492240"/>
            <a:ext cx="310896" cy="310896"/>
          </a:xfrm>
          <a:prstGeom prst="ellipse">
            <a:avLst/>
          </a:prstGeom>
          <a:solidFill>
            <a:srgbClr val="7A1F2B"/>
          </a:solidFill>
          <a:ln/>
        </p:spPr>
      </p:sp>
      <p:sp>
        <p:nvSpPr>
          <p:cNvPr id="12" name="Text 9"/>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PAGE 1 · DETAIL</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Ticket Status Analysis</a:t>
            </a:r>
            <a:endParaRPr lang="en-US" sz="3000" dirty="0"/>
          </a:p>
        </p:txBody>
      </p:sp>
      <p:pic>
        <p:nvPicPr>
          <p:cNvPr id="4" name="Image 0" descr="/home/claude/project/images/p1_status.png">    </p:cNvPr>
          <p:cNvPicPr>
            <a:picLocks noChangeAspect="1"/>
          </p:cNvPicPr>
          <p:nvPr/>
        </p:nvPicPr>
        <p:blipFill>
          <a:blip r:embed="rId1"/>
          <a:stretch>
            <a:fillRect/>
          </a:stretch>
        </p:blipFill>
        <p:spPr>
          <a:xfrm>
            <a:off x="457200" y="1554480"/>
            <a:ext cx="5394960" cy="3840480"/>
          </a:xfrm>
          <a:prstGeom prst="rect">
            <a:avLst/>
          </a:prstGeom>
        </p:spPr>
      </p:pic>
      <p:sp>
        <p:nvSpPr>
          <p:cNvPr id="5" name="Shape 2"/>
          <p:cNvSpPr/>
          <p:nvPr/>
        </p:nvSpPr>
        <p:spPr>
          <a:xfrm>
            <a:off x="457200" y="1554480"/>
            <a:ext cx="5394960" cy="3840480"/>
          </a:xfrm>
          <a:prstGeom prst="roundRect">
            <a:avLst>
              <a:gd name="adj" fmla="val 1190"/>
            </a:avLst>
          </a:prstGeom>
          <a:ln w="12700">
            <a:solidFill>
              <a:srgbClr val="D8CACA"/>
            </a:solidFill>
            <a:prstDash val="solid"/>
          </a:ln>
        </p:spPr>
      </p:sp>
      <p:sp>
        <p:nvSpPr>
          <p:cNvPr id="6" name="Shape 3"/>
          <p:cNvSpPr/>
          <p:nvPr/>
        </p:nvSpPr>
        <p:spPr>
          <a:xfrm>
            <a:off x="6172200" y="1554480"/>
            <a:ext cx="5559552" cy="3840480"/>
          </a:xfrm>
          <a:prstGeom prst="roundRect">
            <a:avLst>
              <a:gd name="adj" fmla="val 2143"/>
            </a:avLst>
          </a:prstGeom>
          <a:solidFill>
            <a:srgbClr val="FBF6F6"/>
          </a:solidFill>
          <a:ln/>
          <a:effectLst>
            <a:outerShdw sx="100000" sy="100000" kx="0" ky="0" algn="bl" rotWithShape="0" blurRad="76200" dist="25400" dir="5400000">
              <a:srgbClr val="9C8A88">
                <a:alpha val="28000"/>
              </a:srgbClr>
            </a:outerShdw>
          </a:effectLst>
        </p:spPr>
      </p:sp>
      <p:sp>
        <p:nvSpPr>
          <p:cNvPr id="7" name="Text 4"/>
          <p:cNvSpPr/>
          <p:nvPr/>
        </p:nvSpPr>
        <p:spPr>
          <a:xfrm>
            <a:off x="6446520" y="1783080"/>
            <a:ext cx="5029200" cy="274320"/>
          </a:xfrm>
          <a:prstGeom prst="rect">
            <a:avLst/>
          </a:prstGeom>
          <a:noFill/>
          <a:ln/>
        </p:spPr>
        <p:txBody>
          <a:bodyPr wrap="square" rtlCol="0" anchor="ctr"/>
          <a:lstStyle/>
          <a:p>
            <a:pPr indent="0" marL="0">
              <a:buNone/>
            </a:pPr>
            <a:r>
              <a:rPr lang="en-US" sz="1200" b="1" spc="150" kern="0" dirty="0">
                <a:solidFill>
                  <a:srgbClr val="C0263B"/>
                </a:solidFill>
                <a:latin typeface="Calibri" pitchFamily="34" charset="0"/>
                <a:ea typeface="Calibri" pitchFamily="34" charset="-122"/>
                <a:cs typeface="Calibri" pitchFamily="34" charset="-120"/>
              </a:rPr>
              <a:t>STATUS CATEGORIES</a:t>
            </a:r>
            <a:endParaRPr lang="en-US" sz="1200" dirty="0"/>
          </a:p>
        </p:txBody>
      </p:sp>
      <p:sp>
        <p:nvSpPr>
          <p:cNvPr id="8" name="Shape 5"/>
          <p:cNvSpPr/>
          <p:nvPr/>
        </p:nvSpPr>
        <p:spPr>
          <a:xfrm>
            <a:off x="6446520" y="2148840"/>
            <a:ext cx="5029200" cy="457200"/>
          </a:xfrm>
          <a:prstGeom prst="roundRect">
            <a:avLst>
              <a:gd name="adj" fmla="val 12000"/>
            </a:avLst>
          </a:prstGeom>
          <a:solidFill>
            <a:srgbClr val="F6F1F0"/>
          </a:solidFill>
          <a:ln/>
        </p:spPr>
      </p:sp>
      <p:sp>
        <p:nvSpPr>
          <p:cNvPr id="9" name="Text 6"/>
          <p:cNvSpPr/>
          <p:nvPr/>
        </p:nvSpPr>
        <p:spPr>
          <a:xfrm>
            <a:off x="6675120" y="2148840"/>
            <a:ext cx="4572000" cy="457200"/>
          </a:xfrm>
          <a:prstGeom prst="rect">
            <a:avLst/>
          </a:prstGeom>
          <a:noFill/>
          <a:ln/>
        </p:spPr>
        <p:txBody>
          <a:bodyPr wrap="square" lIns="0" tIns="0" rIns="0" bIns="0" rtlCol="0" anchor="ctr"/>
          <a:lstStyle/>
          <a:p>
            <a:pPr indent="0" marL="0">
              <a:buNone/>
            </a:pPr>
            <a:r>
              <a:rPr lang="en-US" sz="1250" dirty="0">
                <a:solidFill>
                  <a:srgbClr val="2B2323"/>
                </a:solidFill>
                <a:latin typeface="Courier New" pitchFamily="34" charset="0"/>
                <a:ea typeface="Courier New" pitchFamily="34" charset="-122"/>
                <a:cs typeface="Courier New" pitchFamily="34" charset="-120"/>
              </a:rPr>
              <a:t>resolved</a:t>
            </a:r>
            <a:endParaRPr lang="en-US" sz="1250" dirty="0"/>
          </a:p>
        </p:txBody>
      </p:sp>
      <p:sp>
        <p:nvSpPr>
          <p:cNvPr id="10" name="Shape 7"/>
          <p:cNvSpPr/>
          <p:nvPr/>
        </p:nvSpPr>
        <p:spPr>
          <a:xfrm>
            <a:off x="6446520" y="2697480"/>
            <a:ext cx="5029200" cy="457200"/>
          </a:xfrm>
          <a:prstGeom prst="roundRect">
            <a:avLst>
              <a:gd name="adj" fmla="val 12000"/>
            </a:avLst>
          </a:prstGeom>
          <a:solidFill>
            <a:srgbClr val="F6F1F0"/>
          </a:solidFill>
          <a:ln/>
        </p:spPr>
      </p:sp>
      <p:sp>
        <p:nvSpPr>
          <p:cNvPr id="11" name="Text 8"/>
          <p:cNvSpPr/>
          <p:nvPr/>
        </p:nvSpPr>
        <p:spPr>
          <a:xfrm>
            <a:off x="6675120" y="2697480"/>
            <a:ext cx="4572000" cy="457200"/>
          </a:xfrm>
          <a:prstGeom prst="rect">
            <a:avLst/>
          </a:prstGeom>
          <a:noFill/>
          <a:ln/>
        </p:spPr>
        <p:txBody>
          <a:bodyPr wrap="square" lIns="0" tIns="0" rIns="0" bIns="0" rtlCol="0" anchor="ctr"/>
          <a:lstStyle/>
          <a:p>
            <a:pPr indent="0" marL="0">
              <a:buNone/>
            </a:pPr>
            <a:r>
              <a:rPr lang="en-US" sz="1250" dirty="0">
                <a:solidFill>
                  <a:srgbClr val="2B2323"/>
                </a:solidFill>
                <a:latin typeface="Courier New" pitchFamily="34" charset="0"/>
                <a:ea typeface="Courier New" pitchFamily="34" charset="-122"/>
                <a:cs typeface="Courier New" pitchFamily="34" charset="-120"/>
              </a:rPr>
              <a:t>in_progress</a:t>
            </a:r>
            <a:endParaRPr lang="en-US" sz="1250" dirty="0"/>
          </a:p>
        </p:txBody>
      </p:sp>
      <p:sp>
        <p:nvSpPr>
          <p:cNvPr id="12" name="Shape 9"/>
          <p:cNvSpPr/>
          <p:nvPr/>
        </p:nvSpPr>
        <p:spPr>
          <a:xfrm>
            <a:off x="6446520" y="3246120"/>
            <a:ext cx="5029200" cy="457200"/>
          </a:xfrm>
          <a:prstGeom prst="roundRect">
            <a:avLst>
              <a:gd name="adj" fmla="val 12000"/>
            </a:avLst>
          </a:prstGeom>
          <a:solidFill>
            <a:srgbClr val="F6F1F0"/>
          </a:solidFill>
          <a:ln/>
        </p:spPr>
      </p:sp>
      <p:sp>
        <p:nvSpPr>
          <p:cNvPr id="13" name="Text 10"/>
          <p:cNvSpPr/>
          <p:nvPr/>
        </p:nvSpPr>
        <p:spPr>
          <a:xfrm>
            <a:off x="6675120" y="3246120"/>
            <a:ext cx="4572000" cy="457200"/>
          </a:xfrm>
          <a:prstGeom prst="rect">
            <a:avLst/>
          </a:prstGeom>
          <a:noFill/>
          <a:ln/>
        </p:spPr>
        <p:txBody>
          <a:bodyPr wrap="square" lIns="0" tIns="0" rIns="0" bIns="0" rtlCol="0" anchor="ctr"/>
          <a:lstStyle/>
          <a:p>
            <a:pPr indent="0" marL="0">
              <a:buNone/>
            </a:pPr>
            <a:r>
              <a:rPr lang="en-US" sz="1250" dirty="0">
                <a:solidFill>
                  <a:srgbClr val="2B2323"/>
                </a:solidFill>
                <a:latin typeface="Courier New" pitchFamily="34" charset="0"/>
                <a:ea typeface="Courier New" pitchFamily="34" charset="-122"/>
                <a:cs typeface="Courier New" pitchFamily="34" charset="-120"/>
              </a:rPr>
              <a:t>on_hold</a:t>
            </a:r>
            <a:endParaRPr lang="en-US" sz="1250" dirty="0"/>
          </a:p>
        </p:txBody>
      </p:sp>
      <p:sp>
        <p:nvSpPr>
          <p:cNvPr id="14" name="Shape 11"/>
          <p:cNvSpPr/>
          <p:nvPr/>
        </p:nvSpPr>
        <p:spPr>
          <a:xfrm>
            <a:off x="6446520" y="3794760"/>
            <a:ext cx="5029200" cy="457200"/>
          </a:xfrm>
          <a:prstGeom prst="roundRect">
            <a:avLst>
              <a:gd name="adj" fmla="val 12000"/>
            </a:avLst>
          </a:prstGeom>
          <a:solidFill>
            <a:srgbClr val="F6F1F0"/>
          </a:solidFill>
          <a:ln/>
        </p:spPr>
      </p:sp>
      <p:sp>
        <p:nvSpPr>
          <p:cNvPr id="15" name="Text 12"/>
          <p:cNvSpPr/>
          <p:nvPr/>
        </p:nvSpPr>
        <p:spPr>
          <a:xfrm>
            <a:off x="6675120" y="3794760"/>
            <a:ext cx="4572000" cy="457200"/>
          </a:xfrm>
          <a:prstGeom prst="rect">
            <a:avLst/>
          </a:prstGeom>
          <a:noFill/>
          <a:ln/>
        </p:spPr>
        <p:txBody>
          <a:bodyPr wrap="square" lIns="0" tIns="0" rIns="0" bIns="0" rtlCol="0" anchor="ctr"/>
          <a:lstStyle/>
          <a:p>
            <a:pPr indent="0" marL="0">
              <a:buNone/>
            </a:pPr>
            <a:r>
              <a:rPr lang="en-US" sz="1250" dirty="0">
                <a:solidFill>
                  <a:srgbClr val="2B2323"/>
                </a:solidFill>
                <a:latin typeface="Courier New" pitchFamily="34" charset="0"/>
                <a:ea typeface="Courier New" pitchFamily="34" charset="-122"/>
                <a:cs typeface="Courier New" pitchFamily="34" charset="-120"/>
              </a:rPr>
              <a:t>closed_no_action</a:t>
            </a:r>
            <a:endParaRPr lang="en-US" sz="1250" dirty="0"/>
          </a:p>
        </p:txBody>
      </p:sp>
      <p:sp>
        <p:nvSpPr>
          <p:cNvPr id="16" name="Shape 13"/>
          <p:cNvSpPr/>
          <p:nvPr/>
        </p:nvSpPr>
        <p:spPr>
          <a:xfrm>
            <a:off x="6446520" y="4343400"/>
            <a:ext cx="5029200" cy="457200"/>
          </a:xfrm>
          <a:prstGeom prst="roundRect">
            <a:avLst>
              <a:gd name="adj" fmla="val 12000"/>
            </a:avLst>
          </a:prstGeom>
          <a:solidFill>
            <a:srgbClr val="F6F1F0"/>
          </a:solidFill>
          <a:ln/>
        </p:spPr>
      </p:sp>
      <p:sp>
        <p:nvSpPr>
          <p:cNvPr id="17" name="Text 14"/>
          <p:cNvSpPr/>
          <p:nvPr/>
        </p:nvSpPr>
        <p:spPr>
          <a:xfrm>
            <a:off x="6675120" y="4343400"/>
            <a:ext cx="4572000" cy="457200"/>
          </a:xfrm>
          <a:prstGeom prst="rect">
            <a:avLst/>
          </a:prstGeom>
          <a:noFill/>
          <a:ln/>
        </p:spPr>
        <p:txBody>
          <a:bodyPr wrap="square" lIns="0" tIns="0" rIns="0" bIns="0" rtlCol="0" anchor="ctr"/>
          <a:lstStyle/>
          <a:p>
            <a:pPr indent="0" marL="0">
              <a:buNone/>
            </a:pPr>
            <a:r>
              <a:rPr lang="en-US" sz="1250" dirty="0">
                <a:solidFill>
                  <a:srgbClr val="2B2323"/>
                </a:solidFill>
                <a:latin typeface="Courier New" pitchFamily="34" charset="0"/>
                <a:ea typeface="Courier New" pitchFamily="34" charset="-122"/>
                <a:cs typeface="Courier New" pitchFamily="34" charset="-120"/>
              </a:rPr>
              <a:t>open</a:t>
            </a:r>
            <a:endParaRPr lang="en-US" sz="1250" dirty="0"/>
          </a:p>
        </p:txBody>
      </p:sp>
      <p:sp>
        <p:nvSpPr>
          <p:cNvPr id="18" name="Text 15"/>
          <p:cNvSpPr/>
          <p:nvPr/>
        </p:nvSpPr>
        <p:spPr>
          <a:xfrm>
            <a:off x="6446520" y="4983480"/>
            <a:ext cx="5029200" cy="365760"/>
          </a:xfrm>
          <a:prstGeom prst="rect">
            <a:avLst/>
          </a:prstGeom>
          <a:noFill/>
          <a:ln/>
        </p:spPr>
        <p:txBody>
          <a:bodyPr wrap="square" rtlCol="0" anchor="ctr"/>
          <a:lstStyle/>
          <a:p>
            <a:pPr indent="0" marL="0">
              <a:buNone/>
            </a:pPr>
            <a:r>
              <a:rPr lang="en-US" sz="1100" i="1" dirty="0">
                <a:solidFill>
                  <a:srgbClr val="6E6262"/>
                </a:solidFill>
                <a:latin typeface="Calibri" pitchFamily="34" charset="0"/>
                <a:ea typeface="Calibri" pitchFamily="34" charset="-122"/>
                <a:cs typeface="Calibri" pitchFamily="34" charset="-120"/>
              </a:rPr>
              <a:t>This visual shows how support tickets are distributed according to their current status — from newly opened tickets through to fully resolved cases.</a:t>
            </a:r>
            <a:endParaRPr lang="en-US" sz="1100" dirty="0"/>
          </a:p>
        </p:txBody>
      </p:sp>
      <p:sp>
        <p:nvSpPr>
          <p:cNvPr id="19" name="Text 16"/>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20" name="Text 17"/>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Page 1 — Status Analysis</a:t>
            </a:r>
            <a:endParaRPr lang="en-US" sz="900" dirty="0"/>
          </a:p>
        </p:txBody>
      </p:sp>
      <p:sp>
        <p:nvSpPr>
          <p:cNvPr id="21" name="Shape 18"/>
          <p:cNvSpPr/>
          <p:nvPr/>
        </p:nvSpPr>
        <p:spPr>
          <a:xfrm>
            <a:off x="11475720" y="6492240"/>
            <a:ext cx="310896" cy="310896"/>
          </a:xfrm>
          <a:prstGeom prst="ellipse">
            <a:avLst/>
          </a:prstGeom>
          <a:solidFill>
            <a:srgbClr val="7A1F2B"/>
          </a:solidFill>
          <a:ln/>
        </p:spPr>
      </p:sp>
      <p:sp>
        <p:nvSpPr>
          <p:cNvPr id="22" name="Text 19"/>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PAGE 1 · DETAIL</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Priority &amp; Support Cluster Analysis</a:t>
            </a:r>
            <a:endParaRPr lang="en-US" sz="3000" dirty="0"/>
          </a:p>
        </p:txBody>
      </p:sp>
      <p:pic>
        <p:nvPicPr>
          <p:cNvPr id="4" name="Image 0" descr="/home/claude/project/images/p1_priority.png">    </p:cNvPr>
          <p:cNvPicPr>
            <a:picLocks noChangeAspect="1"/>
          </p:cNvPicPr>
          <p:nvPr/>
        </p:nvPicPr>
        <p:blipFill>
          <a:blip r:embed="rId1"/>
          <a:stretch>
            <a:fillRect/>
          </a:stretch>
        </p:blipFill>
        <p:spPr>
          <a:xfrm>
            <a:off x="457200" y="1508760"/>
            <a:ext cx="5440680" cy="1874520"/>
          </a:xfrm>
          <a:prstGeom prst="rect">
            <a:avLst/>
          </a:prstGeom>
        </p:spPr>
      </p:pic>
      <p:sp>
        <p:nvSpPr>
          <p:cNvPr id="5" name="Shape 2"/>
          <p:cNvSpPr/>
          <p:nvPr/>
        </p:nvSpPr>
        <p:spPr>
          <a:xfrm>
            <a:off x="457200" y="1508760"/>
            <a:ext cx="5440680" cy="1874520"/>
          </a:xfrm>
          <a:prstGeom prst="roundRect">
            <a:avLst>
              <a:gd name="adj" fmla="val 2439"/>
            </a:avLst>
          </a:prstGeom>
          <a:ln w="12700">
            <a:solidFill>
              <a:srgbClr val="D8CACA"/>
            </a:solidFill>
            <a:prstDash val="solid"/>
          </a:ln>
        </p:spPr>
      </p:sp>
      <p:sp>
        <p:nvSpPr>
          <p:cNvPr id="6" name="Text 3"/>
          <p:cNvSpPr/>
          <p:nvPr/>
        </p:nvSpPr>
        <p:spPr>
          <a:xfrm>
            <a:off x="457200" y="3429000"/>
            <a:ext cx="5440680" cy="502920"/>
          </a:xfrm>
          <a:prstGeom prst="rect">
            <a:avLst/>
          </a:prstGeom>
          <a:noFill/>
          <a:ln/>
        </p:spPr>
        <p:txBody>
          <a:bodyPr wrap="square" rtlCol="0" anchor="ctr"/>
          <a:lstStyle/>
          <a:p>
            <a:pPr indent="0" marL="0">
              <a:buNone/>
            </a:pPr>
            <a:r>
              <a:rPr lang="en-US" sz="1100" i="1" dirty="0">
                <a:solidFill>
                  <a:srgbClr val="6E6262"/>
                </a:solidFill>
                <a:latin typeface="Calibri" pitchFamily="34" charset="0"/>
                <a:ea typeface="Calibri" pitchFamily="34" charset="-122"/>
                <a:cs typeface="Calibri" pitchFamily="34" charset="-120"/>
              </a:rPr>
              <a:t>Count of ticket_id by priority  ·  Categories: low, medium, high, urgent</a:t>
            </a:r>
            <a:endParaRPr lang="en-US" sz="1100" dirty="0"/>
          </a:p>
        </p:txBody>
      </p:sp>
      <p:pic>
        <p:nvPicPr>
          <p:cNvPr id="7" name="Image 1" descr="/home/claude/project/images/p1_cluster.png">    </p:cNvPr>
          <p:cNvPicPr>
            <a:picLocks noChangeAspect="1"/>
          </p:cNvPicPr>
          <p:nvPr/>
        </p:nvPicPr>
        <p:blipFill>
          <a:blip r:embed="rId2"/>
          <a:stretch>
            <a:fillRect/>
          </a:stretch>
        </p:blipFill>
        <p:spPr>
          <a:xfrm>
            <a:off x="6263640" y="1508760"/>
            <a:ext cx="5440680" cy="1874520"/>
          </a:xfrm>
          <a:prstGeom prst="rect">
            <a:avLst/>
          </a:prstGeom>
        </p:spPr>
      </p:pic>
      <p:sp>
        <p:nvSpPr>
          <p:cNvPr id="8" name="Shape 4"/>
          <p:cNvSpPr/>
          <p:nvPr/>
        </p:nvSpPr>
        <p:spPr>
          <a:xfrm>
            <a:off x="6263640" y="1508760"/>
            <a:ext cx="5440680" cy="1874520"/>
          </a:xfrm>
          <a:prstGeom prst="roundRect">
            <a:avLst>
              <a:gd name="adj" fmla="val 2439"/>
            </a:avLst>
          </a:prstGeom>
          <a:ln w="12700">
            <a:solidFill>
              <a:srgbClr val="D8CACA"/>
            </a:solidFill>
            <a:prstDash val="solid"/>
          </a:ln>
        </p:spPr>
      </p:sp>
      <p:sp>
        <p:nvSpPr>
          <p:cNvPr id="9" name="Text 5"/>
          <p:cNvSpPr/>
          <p:nvPr/>
        </p:nvSpPr>
        <p:spPr>
          <a:xfrm>
            <a:off x="6263640" y="3429000"/>
            <a:ext cx="5440680" cy="502920"/>
          </a:xfrm>
          <a:prstGeom prst="rect">
            <a:avLst/>
          </a:prstGeom>
          <a:noFill/>
          <a:ln/>
        </p:spPr>
        <p:txBody>
          <a:bodyPr wrap="square" rtlCol="0" anchor="ctr"/>
          <a:lstStyle/>
          <a:p>
            <a:pPr indent="0" marL="0">
              <a:buNone/>
            </a:pPr>
            <a:r>
              <a:rPr lang="en-US" sz="1100" i="1" dirty="0">
                <a:solidFill>
                  <a:srgbClr val="6E6262"/>
                </a:solidFill>
                <a:latin typeface="Calibri" pitchFamily="34" charset="0"/>
                <a:ea typeface="Calibri" pitchFamily="34" charset="-122"/>
                <a:cs typeface="Calibri" pitchFamily="34" charset="-120"/>
              </a:rPr>
              <a:t>Count of ticket_id by Cluster_Name  ·  Low Priority, Urgent Support, Medium Complex, High Priority</a:t>
            </a:r>
            <a:endParaRPr lang="en-US" sz="1100" dirty="0"/>
          </a:p>
        </p:txBody>
      </p:sp>
      <p:sp>
        <p:nvSpPr>
          <p:cNvPr id="10" name="Shape 6"/>
          <p:cNvSpPr/>
          <p:nvPr/>
        </p:nvSpPr>
        <p:spPr>
          <a:xfrm>
            <a:off x="457200" y="4160520"/>
            <a:ext cx="11247120" cy="1691640"/>
          </a:xfrm>
          <a:prstGeom prst="roundRect">
            <a:avLst>
              <a:gd name="adj" fmla="val 4865"/>
            </a:avLst>
          </a:prstGeom>
          <a:solidFill>
            <a:srgbClr val="FBF6F6"/>
          </a:solidFill>
          <a:ln/>
          <a:effectLst>
            <a:outerShdw sx="100000" sy="100000" kx="0" ky="0" algn="bl" rotWithShape="0" blurRad="76200" dist="25400" dir="5400000">
              <a:srgbClr val="9C8A88">
                <a:alpha val="28000"/>
              </a:srgbClr>
            </a:outerShdw>
          </a:effectLst>
        </p:spPr>
      </p:sp>
      <p:sp>
        <p:nvSpPr>
          <p:cNvPr id="11" name="Text 7"/>
          <p:cNvSpPr/>
          <p:nvPr/>
        </p:nvSpPr>
        <p:spPr>
          <a:xfrm>
            <a:off x="777240" y="4370832"/>
            <a:ext cx="10607040" cy="137160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2B2323"/>
                </a:solidFill>
                <a:latin typeface="Calibri" pitchFamily="34" charset="0"/>
                <a:ea typeface="Calibri" pitchFamily="34" charset="-122"/>
                <a:cs typeface="Calibri" pitchFamily="34" charset="-120"/>
              </a:rPr>
              <a:t>Priority analysis compares ticket workload across low, medium, high, and urgent levels.</a:t>
            </a:r>
            <a:endParaRPr lang="en-US" sz="1250" dirty="0"/>
          </a:p>
          <a:p>
            <a:pPr marL="342900" indent="-342900">
              <a:lnSpc>
                <a:spcPct val="105000"/>
              </a:lnSpc>
              <a:spcAft>
                <a:spcPts val="800"/>
              </a:spcAft>
              <a:buSzPct val="100000"/>
              <a:buChar char="•"/>
            </a:pPr>
            <a:r>
              <a:rPr lang="en-US" sz="1250" dirty="0">
                <a:solidFill>
                  <a:srgbClr val="2B2323"/>
                </a:solidFill>
                <a:latin typeface="Calibri" pitchFamily="34" charset="0"/>
                <a:ea typeface="Calibri" pitchFamily="34" charset="-122"/>
                <a:cs typeface="Calibri" pitchFamily="34" charset="-120"/>
              </a:rPr>
              <a:t>Support cluster analysis groups tickets into Low Priority, Urgent Support, Medium Complex, and High Priority Ticket clusters, showing how workload concentrates across support groupings.</a:t>
            </a:r>
            <a:endParaRPr lang="en-US" sz="1250" dirty="0"/>
          </a:p>
        </p:txBody>
      </p:sp>
      <p:sp>
        <p:nvSpPr>
          <p:cNvPr id="12" name="Text 8"/>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13" name="Text 9"/>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Page 1 — Priority &amp; Cluster Analysis</a:t>
            </a:r>
            <a:endParaRPr lang="en-US" sz="900" dirty="0"/>
          </a:p>
        </p:txBody>
      </p:sp>
      <p:sp>
        <p:nvSpPr>
          <p:cNvPr id="14" name="Shape 10"/>
          <p:cNvSpPr/>
          <p:nvPr/>
        </p:nvSpPr>
        <p:spPr>
          <a:xfrm>
            <a:off x="11475720" y="6492240"/>
            <a:ext cx="310896" cy="310896"/>
          </a:xfrm>
          <a:prstGeom prst="ellipse">
            <a:avLst/>
          </a:prstGeom>
          <a:solidFill>
            <a:srgbClr val="7A1F2B"/>
          </a:solidFill>
          <a:ln/>
        </p:spPr>
      </p:sp>
      <p:sp>
        <p:nvSpPr>
          <p:cNvPr id="15" name="Text 11"/>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PAGE 1 · DETAIL</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Regional &amp; Issue-Type Analysis</a:t>
            </a:r>
            <a:endParaRPr lang="en-US" sz="3000" dirty="0"/>
          </a:p>
        </p:txBody>
      </p:sp>
      <p:pic>
        <p:nvPicPr>
          <p:cNvPr id="4" name="Image 0" descr="/home/claude/project/images/p1_region.png">    </p:cNvPr>
          <p:cNvPicPr>
            <a:picLocks noChangeAspect="1"/>
          </p:cNvPicPr>
          <p:nvPr/>
        </p:nvPicPr>
        <p:blipFill>
          <a:blip r:embed="rId1"/>
          <a:stretch>
            <a:fillRect/>
          </a:stretch>
        </p:blipFill>
        <p:spPr>
          <a:xfrm>
            <a:off x="457200" y="1508760"/>
            <a:ext cx="5440680" cy="1874520"/>
          </a:xfrm>
          <a:prstGeom prst="rect">
            <a:avLst/>
          </a:prstGeom>
        </p:spPr>
      </p:pic>
      <p:sp>
        <p:nvSpPr>
          <p:cNvPr id="5" name="Shape 2"/>
          <p:cNvSpPr/>
          <p:nvPr/>
        </p:nvSpPr>
        <p:spPr>
          <a:xfrm>
            <a:off x="457200" y="1508760"/>
            <a:ext cx="5440680" cy="1874520"/>
          </a:xfrm>
          <a:prstGeom prst="roundRect">
            <a:avLst>
              <a:gd name="adj" fmla="val 2439"/>
            </a:avLst>
          </a:prstGeom>
          <a:ln w="12700">
            <a:solidFill>
              <a:srgbClr val="D8CACA"/>
            </a:solidFill>
            <a:prstDash val="solid"/>
          </a:ln>
        </p:spPr>
      </p:sp>
      <p:sp>
        <p:nvSpPr>
          <p:cNvPr id="6" name="Text 3"/>
          <p:cNvSpPr/>
          <p:nvPr/>
        </p:nvSpPr>
        <p:spPr>
          <a:xfrm>
            <a:off x="457200" y="3429000"/>
            <a:ext cx="5440680" cy="365760"/>
          </a:xfrm>
          <a:prstGeom prst="rect">
            <a:avLst/>
          </a:prstGeom>
          <a:noFill/>
          <a:ln/>
        </p:spPr>
        <p:txBody>
          <a:bodyPr wrap="square" rtlCol="0" anchor="ctr"/>
          <a:lstStyle/>
          <a:p>
            <a:pPr indent="0" marL="0">
              <a:buNone/>
            </a:pPr>
            <a:r>
              <a:rPr lang="en-US" sz="1100" i="1" dirty="0">
                <a:solidFill>
                  <a:srgbClr val="6E6262"/>
                </a:solidFill>
                <a:latin typeface="Calibri" pitchFamily="34" charset="0"/>
                <a:ea typeface="Calibri" pitchFamily="34" charset="-122"/>
                <a:cs typeface="Calibri" pitchFamily="34" charset="-120"/>
              </a:rPr>
              <a:t>Count of ticket_id by region  ·  MEA, EU, LATAM, APAC</a:t>
            </a:r>
            <a:endParaRPr lang="en-US" sz="1100" dirty="0"/>
          </a:p>
        </p:txBody>
      </p:sp>
      <p:pic>
        <p:nvPicPr>
          <p:cNvPr id="7" name="Image 1" descr="/home/claude/project/images/p1_issuetype.png">    </p:cNvPr>
          <p:cNvPicPr>
            <a:picLocks noChangeAspect="1"/>
          </p:cNvPicPr>
          <p:nvPr/>
        </p:nvPicPr>
        <p:blipFill>
          <a:blip r:embed="rId2"/>
          <a:stretch>
            <a:fillRect/>
          </a:stretch>
        </p:blipFill>
        <p:spPr>
          <a:xfrm>
            <a:off x="6263640" y="1508760"/>
            <a:ext cx="5440680" cy="1874520"/>
          </a:xfrm>
          <a:prstGeom prst="rect">
            <a:avLst/>
          </a:prstGeom>
        </p:spPr>
      </p:pic>
      <p:sp>
        <p:nvSpPr>
          <p:cNvPr id="8" name="Shape 4"/>
          <p:cNvSpPr/>
          <p:nvPr/>
        </p:nvSpPr>
        <p:spPr>
          <a:xfrm>
            <a:off x="6263640" y="1508760"/>
            <a:ext cx="5440680" cy="1874520"/>
          </a:xfrm>
          <a:prstGeom prst="roundRect">
            <a:avLst>
              <a:gd name="adj" fmla="val 2439"/>
            </a:avLst>
          </a:prstGeom>
          <a:ln w="12700">
            <a:solidFill>
              <a:srgbClr val="D8CACA"/>
            </a:solidFill>
            <a:prstDash val="solid"/>
          </a:ln>
        </p:spPr>
      </p:sp>
      <p:sp>
        <p:nvSpPr>
          <p:cNvPr id="9" name="Text 5"/>
          <p:cNvSpPr/>
          <p:nvPr/>
        </p:nvSpPr>
        <p:spPr>
          <a:xfrm>
            <a:off x="6263640" y="3429000"/>
            <a:ext cx="5440680" cy="365760"/>
          </a:xfrm>
          <a:prstGeom prst="rect">
            <a:avLst/>
          </a:prstGeom>
          <a:noFill/>
          <a:ln/>
        </p:spPr>
        <p:txBody>
          <a:bodyPr wrap="square" rtlCol="0" anchor="ctr"/>
          <a:lstStyle/>
          <a:p>
            <a:pPr indent="0" marL="0">
              <a:buNone/>
            </a:pPr>
            <a:r>
              <a:rPr lang="en-US" sz="1100" i="1" dirty="0">
                <a:solidFill>
                  <a:srgbClr val="6E6262"/>
                </a:solidFill>
                <a:latin typeface="Calibri" pitchFamily="34" charset="0"/>
                <a:ea typeface="Calibri" pitchFamily="34" charset="-122"/>
                <a:cs typeface="Calibri" pitchFamily="34" charset="-120"/>
              </a:rPr>
              <a:t>Count of ticket_id by issue_type  ·  how_to, account, performance, feature, other, security, billing, bug</a:t>
            </a:r>
            <a:endParaRPr lang="en-US" sz="1100" dirty="0"/>
          </a:p>
        </p:txBody>
      </p:sp>
      <p:sp>
        <p:nvSpPr>
          <p:cNvPr id="10" name="Shape 6"/>
          <p:cNvSpPr/>
          <p:nvPr/>
        </p:nvSpPr>
        <p:spPr>
          <a:xfrm>
            <a:off x="457200" y="3977640"/>
            <a:ext cx="11247120" cy="1874520"/>
          </a:xfrm>
          <a:prstGeom prst="roundRect">
            <a:avLst>
              <a:gd name="adj" fmla="val 4390"/>
            </a:avLst>
          </a:prstGeom>
          <a:solidFill>
            <a:srgbClr val="FBF6F6"/>
          </a:solidFill>
          <a:ln/>
          <a:effectLst>
            <a:outerShdw sx="100000" sy="100000" kx="0" ky="0" algn="bl" rotWithShape="0" blurRad="76200" dist="25400" dir="5400000">
              <a:srgbClr val="9C8A88">
                <a:alpha val="28000"/>
              </a:srgbClr>
            </a:outerShdw>
          </a:effectLst>
        </p:spPr>
      </p:sp>
      <p:sp>
        <p:nvSpPr>
          <p:cNvPr id="11" name="Text 7"/>
          <p:cNvSpPr/>
          <p:nvPr/>
        </p:nvSpPr>
        <p:spPr>
          <a:xfrm>
            <a:off x="777240" y="4206240"/>
            <a:ext cx="10607040" cy="14630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2B2323"/>
                </a:solidFill>
                <a:latin typeface="Calibri" pitchFamily="34" charset="0"/>
                <a:ea typeface="Calibri" pitchFamily="34" charset="-122"/>
                <a:cs typeface="Calibri" pitchFamily="34" charset="-120"/>
              </a:rPr>
              <a:t>Region analysis helps compare support ticket distribution geographically across MEA, EU, LATAM, and APAC.</a:t>
            </a:r>
            <a:endParaRPr lang="en-US" sz="1250" dirty="0"/>
          </a:p>
          <a:p>
            <a:pPr marL="342900" indent="-342900">
              <a:lnSpc>
                <a:spcPct val="105000"/>
              </a:lnSpc>
              <a:spcAft>
                <a:spcPts val="800"/>
              </a:spcAft>
              <a:buSzPct val="100000"/>
              <a:buChar char="•"/>
            </a:pPr>
            <a:r>
              <a:rPr lang="en-US" sz="1250" dirty="0">
                <a:solidFill>
                  <a:srgbClr val="2B2323"/>
                </a:solidFill>
                <a:latin typeface="Calibri" pitchFamily="34" charset="0"/>
                <a:ea typeface="Calibri" pitchFamily="34" charset="-122"/>
                <a:cs typeface="Calibri" pitchFamily="34" charset="-120"/>
              </a:rPr>
              <a:t>Issue-type analysis shows the types of support issues appearing in the dataset, spanning categories such as how-to, account, performance, feature, other, security, billing, and bug.</a:t>
            </a:r>
            <a:endParaRPr lang="en-US" sz="1250" dirty="0"/>
          </a:p>
        </p:txBody>
      </p:sp>
      <p:sp>
        <p:nvSpPr>
          <p:cNvPr id="12" name="Text 8"/>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13" name="Text 9"/>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Page 1 — Regional &amp; Issue-Type Analysis</a:t>
            </a:r>
            <a:endParaRPr lang="en-US" sz="900" dirty="0"/>
          </a:p>
        </p:txBody>
      </p:sp>
      <p:sp>
        <p:nvSpPr>
          <p:cNvPr id="14" name="Shape 10"/>
          <p:cNvSpPr/>
          <p:nvPr/>
        </p:nvSpPr>
        <p:spPr>
          <a:xfrm>
            <a:off x="11475720" y="6492240"/>
            <a:ext cx="310896" cy="310896"/>
          </a:xfrm>
          <a:prstGeom prst="ellipse">
            <a:avLst/>
          </a:prstGeom>
          <a:solidFill>
            <a:srgbClr val="7A1F2B"/>
          </a:solidFill>
          <a:ln/>
        </p:spPr>
      </p:sp>
      <p:sp>
        <p:nvSpPr>
          <p:cNvPr id="15" name="Text 11"/>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FULL DASHBOARD</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Page 2 — Support Performance &amp; Operational Analysis</a:t>
            </a:r>
            <a:endParaRPr lang="en-US" sz="3000" dirty="0"/>
          </a:p>
        </p:txBody>
      </p:sp>
      <p:pic>
        <p:nvPicPr>
          <p:cNvPr id="4" name="Image 0" descr="/home/claude/project/images/page2_full.png">    </p:cNvPr>
          <p:cNvPicPr>
            <a:picLocks noChangeAspect="1"/>
          </p:cNvPicPr>
          <p:nvPr/>
        </p:nvPicPr>
        <p:blipFill>
          <a:blip r:embed="rId1"/>
          <a:stretch>
            <a:fillRect/>
          </a:stretch>
        </p:blipFill>
        <p:spPr>
          <a:xfrm>
            <a:off x="457200" y="1417320"/>
            <a:ext cx="7223760" cy="4059936"/>
          </a:xfrm>
          <a:prstGeom prst="rect">
            <a:avLst/>
          </a:prstGeom>
        </p:spPr>
      </p:pic>
      <p:sp>
        <p:nvSpPr>
          <p:cNvPr id="5" name="Shape 2"/>
          <p:cNvSpPr/>
          <p:nvPr/>
        </p:nvSpPr>
        <p:spPr>
          <a:xfrm>
            <a:off x="457200" y="1417320"/>
            <a:ext cx="7223760" cy="4059936"/>
          </a:xfrm>
          <a:prstGeom prst="roundRect">
            <a:avLst>
              <a:gd name="adj" fmla="val 1126"/>
            </a:avLst>
          </a:prstGeom>
          <a:ln w="12700">
            <a:solidFill>
              <a:srgbClr val="D8CACA"/>
            </a:solidFill>
            <a:prstDash val="solid"/>
          </a:ln>
        </p:spPr>
      </p:sp>
      <p:sp>
        <p:nvSpPr>
          <p:cNvPr id="6" name="Shape 3"/>
          <p:cNvSpPr/>
          <p:nvPr/>
        </p:nvSpPr>
        <p:spPr>
          <a:xfrm>
            <a:off x="7863840" y="1417320"/>
            <a:ext cx="3867912" cy="4059936"/>
          </a:xfrm>
          <a:prstGeom prst="roundRect">
            <a:avLst>
              <a:gd name="adj" fmla="val 2128"/>
            </a:avLst>
          </a:prstGeom>
          <a:solidFill>
            <a:srgbClr val="FBF6F6"/>
          </a:solidFill>
          <a:ln/>
          <a:effectLst>
            <a:outerShdw sx="100000" sy="100000" kx="0" ky="0" algn="bl" rotWithShape="0" blurRad="76200" dist="25400" dir="5400000">
              <a:srgbClr val="9C8A88">
                <a:alpha val="28000"/>
              </a:srgbClr>
            </a:outerShdw>
          </a:effectLst>
        </p:spPr>
      </p:sp>
      <p:sp>
        <p:nvSpPr>
          <p:cNvPr id="7" name="Text 4"/>
          <p:cNvSpPr/>
          <p:nvPr/>
        </p:nvSpPr>
        <p:spPr>
          <a:xfrm>
            <a:off x="8092440" y="1572768"/>
            <a:ext cx="3474720" cy="274320"/>
          </a:xfrm>
          <a:prstGeom prst="rect">
            <a:avLst/>
          </a:prstGeom>
          <a:noFill/>
          <a:ln/>
        </p:spPr>
        <p:txBody>
          <a:bodyPr wrap="square" rtlCol="0" anchor="ctr"/>
          <a:lstStyle/>
          <a:p>
            <a:pPr indent="0" marL="0">
              <a:buNone/>
            </a:pPr>
            <a:r>
              <a:rPr lang="en-US" sz="1150" b="1" spc="100" kern="0" dirty="0">
                <a:solidFill>
                  <a:srgbClr val="C0263B"/>
                </a:solidFill>
                <a:latin typeface="Calibri" pitchFamily="34" charset="0"/>
                <a:ea typeface="Calibri" pitchFamily="34" charset="-122"/>
                <a:cs typeface="Calibri" pitchFamily="34" charset="-120"/>
              </a:rPr>
              <a:t>VISUALS ON THIS PAGE</a:t>
            </a:r>
            <a:endParaRPr lang="en-US" sz="1150" dirty="0"/>
          </a:p>
        </p:txBody>
      </p:sp>
      <p:sp>
        <p:nvSpPr>
          <p:cNvPr id="8" name="Text 5"/>
          <p:cNvSpPr/>
          <p:nvPr/>
        </p:nvSpPr>
        <p:spPr>
          <a:xfrm>
            <a:off x="8092440" y="1901952"/>
            <a:ext cx="3474720" cy="3474720"/>
          </a:xfrm>
          <a:prstGeom prst="rect">
            <a:avLst/>
          </a:prstGeom>
          <a:noFill/>
          <a:ln/>
        </p:spPr>
        <p:txBody>
          <a:bodyPr wrap="square" lIns="0" tIns="0" rIns="0" bIns="0" rtlCol="0" anchor="t"/>
          <a:lstStyle/>
          <a:p>
            <a:pPr marL="342900" indent="-342900">
              <a:lnSpc>
                <a:spcPct val="105000"/>
              </a:lnSpc>
              <a:spcAft>
                <a:spcPts val="750"/>
              </a:spcAft>
              <a:buSzPct val="100000"/>
              <a:buChar char="•"/>
            </a:pPr>
            <a:r>
              <a:rPr lang="en-US" sz="1080" dirty="0">
                <a:solidFill>
                  <a:srgbClr val="2B2323"/>
                </a:solidFill>
                <a:latin typeface="Calibri" pitchFamily="34" charset="0"/>
                <a:ea typeface="Calibri" pitchFamily="34" charset="-122"/>
                <a:cs typeface="Calibri" pitchFamily="34" charset="-120"/>
              </a:rPr>
              <a:t>Unresolved Tickets (50K)</a:t>
            </a:r>
            <a:endParaRPr lang="en-US" sz="1080" dirty="0"/>
          </a:p>
          <a:p>
            <a:pPr marL="342900" indent="-342900">
              <a:lnSpc>
                <a:spcPct val="105000"/>
              </a:lnSpc>
              <a:spcAft>
                <a:spcPts val="750"/>
              </a:spcAft>
              <a:buSzPct val="100000"/>
              <a:buChar char="•"/>
            </a:pPr>
            <a:r>
              <a:rPr lang="en-US" sz="1080" dirty="0">
                <a:solidFill>
                  <a:srgbClr val="2B2323"/>
                </a:solidFill>
                <a:latin typeface="Calibri" pitchFamily="34" charset="0"/>
                <a:ea typeface="Calibri" pitchFamily="34" charset="-122"/>
                <a:cs typeface="Calibri" pitchFamily="34" charset="-120"/>
              </a:rPr>
              <a:t>Count of ticket_id by status</a:t>
            </a:r>
            <a:endParaRPr lang="en-US" sz="1080" dirty="0"/>
          </a:p>
          <a:p>
            <a:pPr marL="342900" indent="-342900">
              <a:lnSpc>
                <a:spcPct val="105000"/>
              </a:lnSpc>
              <a:spcAft>
                <a:spcPts val="750"/>
              </a:spcAft>
              <a:buSzPct val="100000"/>
              <a:buChar char="•"/>
            </a:pPr>
            <a:r>
              <a:rPr lang="en-US" sz="1080" dirty="0">
                <a:solidFill>
                  <a:srgbClr val="2B2323"/>
                </a:solidFill>
                <a:latin typeface="Calibri" pitchFamily="34" charset="0"/>
                <a:ea typeface="Calibri" pitchFamily="34" charset="-122"/>
                <a:cs typeface="Calibri" pitchFamily="34" charset="-120"/>
              </a:rPr>
              <a:t>Average of resolution_time_hours by platform</a:t>
            </a:r>
            <a:endParaRPr lang="en-US" sz="1080" dirty="0"/>
          </a:p>
          <a:p>
            <a:pPr marL="342900" indent="-342900">
              <a:lnSpc>
                <a:spcPct val="105000"/>
              </a:lnSpc>
              <a:spcAft>
                <a:spcPts val="750"/>
              </a:spcAft>
              <a:buSzPct val="100000"/>
              <a:buChar char="•"/>
            </a:pPr>
            <a:r>
              <a:rPr lang="en-US" sz="1080" dirty="0">
                <a:solidFill>
                  <a:srgbClr val="2B2323"/>
                </a:solidFill>
                <a:latin typeface="Calibri" pitchFamily="34" charset="0"/>
                <a:ea typeface="Calibri" pitchFamily="34" charset="-122"/>
                <a:cs typeface="Calibri" pitchFamily="34" charset="-120"/>
              </a:rPr>
              <a:t>Count of ticket_id by platform</a:t>
            </a:r>
            <a:endParaRPr lang="en-US" sz="1080" dirty="0"/>
          </a:p>
          <a:p>
            <a:pPr marL="342900" indent="-342900">
              <a:lnSpc>
                <a:spcPct val="105000"/>
              </a:lnSpc>
              <a:spcAft>
                <a:spcPts val="750"/>
              </a:spcAft>
              <a:buSzPct val="100000"/>
              <a:buChar char="•"/>
            </a:pPr>
            <a:r>
              <a:rPr lang="en-US" sz="1080" dirty="0">
                <a:solidFill>
                  <a:srgbClr val="2B2323"/>
                </a:solidFill>
                <a:latin typeface="Calibri" pitchFamily="34" charset="0"/>
                <a:ea typeface="Calibri" pitchFamily="34" charset="-122"/>
                <a:cs typeface="Calibri" pitchFamily="34" charset="-120"/>
              </a:rPr>
              <a:t>Count of ticket_id by region</a:t>
            </a:r>
            <a:endParaRPr lang="en-US" sz="1080" dirty="0"/>
          </a:p>
          <a:p>
            <a:pPr marL="342900" indent="-342900">
              <a:lnSpc>
                <a:spcPct val="105000"/>
              </a:lnSpc>
              <a:spcAft>
                <a:spcPts val="750"/>
              </a:spcAft>
              <a:buSzPct val="100000"/>
              <a:buChar char="•"/>
            </a:pPr>
            <a:r>
              <a:rPr lang="en-US" sz="1080" dirty="0">
                <a:solidFill>
                  <a:srgbClr val="2B2323"/>
                </a:solidFill>
                <a:latin typeface="Calibri" pitchFamily="34" charset="0"/>
                <a:ea typeface="Calibri" pitchFamily="34" charset="-122"/>
                <a:cs typeface="Calibri" pitchFamily="34" charset="-120"/>
              </a:rPr>
              <a:t>Count of ticket_id by product_area</a:t>
            </a:r>
            <a:endParaRPr lang="en-US" sz="1080" dirty="0"/>
          </a:p>
          <a:p>
            <a:pPr marL="342900" indent="-342900">
              <a:lnSpc>
                <a:spcPct val="105000"/>
              </a:lnSpc>
              <a:spcAft>
                <a:spcPts val="750"/>
              </a:spcAft>
              <a:buSzPct val="100000"/>
              <a:buChar char="•"/>
            </a:pPr>
            <a:r>
              <a:rPr lang="en-US" sz="1080" dirty="0">
                <a:solidFill>
                  <a:srgbClr val="2B2323"/>
                </a:solidFill>
                <a:latin typeface="Calibri" pitchFamily="34" charset="0"/>
                <a:ea typeface="Calibri" pitchFamily="34" charset="-122"/>
                <a:cs typeface="Calibri" pitchFamily="34" charset="-120"/>
              </a:rPr>
              <a:t>Reopened Tickets by platform</a:t>
            </a:r>
            <a:endParaRPr lang="en-US" sz="1080" dirty="0"/>
          </a:p>
          <a:p>
            <a:pPr marL="342900" indent="-342900">
              <a:lnSpc>
                <a:spcPct val="105000"/>
              </a:lnSpc>
              <a:spcAft>
                <a:spcPts val="750"/>
              </a:spcAft>
              <a:buSzPct val="100000"/>
              <a:buChar char="•"/>
            </a:pPr>
            <a:r>
              <a:rPr lang="en-US" sz="1080" dirty="0">
                <a:solidFill>
                  <a:srgbClr val="2B2323"/>
                </a:solidFill>
                <a:latin typeface="Calibri" pitchFamily="34" charset="0"/>
                <a:ea typeface="Calibri" pitchFamily="34" charset="-122"/>
                <a:cs typeface="Calibri" pitchFamily="34" charset="-120"/>
              </a:rPr>
              <a:t>Count of ticket_id by customer_sentiment</a:t>
            </a:r>
            <a:endParaRPr lang="en-US" sz="1080" dirty="0"/>
          </a:p>
          <a:p>
            <a:pPr marL="342900" indent="-342900">
              <a:lnSpc>
                <a:spcPct val="105000"/>
              </a:lnSpc>
              <a:spcAft>
                <a:spcPts val="750"/>
              </a:spcAft>
              <a:buSzPct val="100000"/>
              <a:buChar char="•"/>
            </a:pPr>
            <a:r>
              <a:rPr lang="en-US" sz="1080" dirty="0">
                <a:solidFill>
                  <a:srgbClr val="2B2323"/>
                </a:solidFill>
                <a:latin typeface="Calibri" pitchFamily="34" charset="0"/>
                <a:ea typeface="Calibri" pitchFamily="34" charset="-122"/>
                <a:cs typeface="Calibri" pitchFamily="34" charset="-120"/>
              </a:rPr>
              <a:t>Count of ticket_id by priority</a:t>
            </a:r>
            <a:endParaRPr lang="en-US" sz="1080" dirty="0"/>
          </a:p>
        </p:txBody>
      </p:sp>
      <p:sp>
        <p:nvSpPr>
          <p:cNvPr id="9" name="Text 6"/>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10" name="Text 7"/>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Page 2 — Dashboard Overview</a:t>
            </a:r>
            <a:endParaRPr lang="en-US" sz="900" dirty="0"/>
          </a:p>
        </p:txBody>
      </p:sp>
      <p:sp>
        <p:nvSpPr>
          <p:cNvPr id="11" name="Shape 8"/>
          <p:cNvSpPr/>
          <p:nvPr/>
        </p:nvSpPr>
        <p:spPr>
          <a:xfrm>
            <a:off x="11475720" y="6492240"/>
            <a:ext cx="310896" cy="310896"/>
          </a:xfrm>
          <a:prstGeom prst="ellipse">
            <a:avLst/>
          </a:prstGeom>
          <a:solidFill>
            <a:srgbClr val="7A1F2B"/>
          </a:solidFill>
          <a:ln/>
        </p:spPr>
      </p:sp>
      <p:sp>
        <p:nvSpPr>
          <p:cNvPr id="12" name="Text 9"/>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PAGE 2 · DETAIL</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Unresolved Tickets &amp; Status Analysis</a:t>
            </a:r>
            <a:endParaRPr lang="en-US" sz="3000" dirty="0"/>
          </a:p>
        </p:txBody>
      </p:sp>
      <p:sp>
        <p:nvSpPr>
          <p:cNvPr id="4" name="Shape 2"/>
          <p:cNvSpPr/>
          <p:nvPr/>
        </p:nvSpPr>
        <p:spPr>
          <a:xfrm>
            <a:off x="457200" y="1600200"/>
            <a:ext cx="3291840" cy="4206240"/>
          </a:xfrm>
          <a:prstGeom prst="roundRect">
            <a:avLst>
              <a:gd name="adj" fmla="val 2500"/>
            </a:avLst>
          </a:prstGeom>
          <a:solidFill>
            <a:srgbClr val="7A1F2B"/>
          </a:solidFill>
          <a:ln/>
          <a:effectLst>
            <a:outerShdw sx="100000" sy="100000" kx="0" ky="0" algn="bl" rotWithShape="0" blurRad="76200" dist="25400" dir="5400000">
              <a:srgbClr val="9C8A88">
                <a:alpha val="28000"/>
              </a:srgbClr>
            </a:outerShdw>
          </a:effectLst>
        </p:spPr>
      </p:sp>
      <p:sp>
        <p:nvSpPr>
          <p:cNvPr id="5" name="Text 3"/>
          <p:cNvSpPr/>
          <p:nvPr/>
        </p:nvSpPr>
        <p:spPr>
          <a:xfrm>
            <a:off x="457200" y="2880360"/>
            <a:ext cx="3291840" cy="1005840"/>
          </a:xfrm>
          <a:prstGeom prst="rect">
            <a:avLst/>
          </a:prstGeom>
          <a:noFill/>
          <a:ln/>
        </p:spPr>
        <p:txBody>
          <a:bodyPr wrap="square"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50K</a:t>
            </a:r>
            <a:endParaRPr lang="en-US" sz="4600" dirty="0"/>
          </a:p>
        </p:txBody>
      </p:sp>
      <p:sp>
        <p:nvSpPr>
          <p:cNvPr id="6" name="Text 4"/>
          <p:cNvSpPr/>
          <p:nvPr/>
        </p:nvSpPr>
        <p:spPr>
          <a:xfrm>
            <a:off x="457200" y="3840480"/>
            <a:ext cx="3291840" cy="365760"/>
          </a:xfrm>
          <a:prstGeom prst="rect">
            <a:avLst/>
          </a:prstGeom>
          <a:noFill/>
          <a:ln/>
        </p:spPr>
        <p:txBody>
          <a:bodyPr wrap="square" rtlCol="0" anchor="ctr"/>
          <a:lstStyle/>
          <a:p>
            <a:pPr algn="ctr" indent="0" marL="0">
              <a:buNone/>
            </a:pPr>
            <a:r>
              <a:rPr lang="en-US" sz="1400" b="1" dirty="0">
                <a:solidFill>
                  <a:srgbClr val="E7B5BC"/>
                </a:solidFill>
                <a:latin typeface="Calibri" pitchFamily="34" charset="0"/>
                <a:ea typeface="Calibri" pitchFamily="34" charset="-122"/>
                <a:cs typeface="Calibri" pitchFamily="34" charset="-120"/>
              </a:rPr>
              <a:t>Unresolved Tickets</a:t>
            </a:r>
            <a:endParaRPr lang="en-US" sz="1400" dirty="0"/>
          </a:p>
        </p:txBody>
      </p:sp>
      <p:pic>
        <p:nvPicPr>
          <p:cNvPr id="7" name="Image 0" descr="/home/claude/project/images/p2_status.png">    </p:cNvPr>
          <p:cNvPicPr>
            <a:picLocks noChangeAspect="1"/>
          </p:cNvPicPr>
          <p:nvPr/>
        </p:nvPicPr>
        <p:blipFill>
          <a:blip r:embed="rId1"/>
          <a:stretch>
            <a:fillRect/>
          </a:stretch>
        </p:blipFill>
        <p:spPr>
          <a:xfrm>
            <a:off x="4023360" y="1600200"/>
            <a:ext cx="3794760" cy="2103120"/>
          </a:xfrm>
          <a:prstGeom prst="rect">
            <a:avLst/>
          </a:prstGeom>
        </p:spPr>
      </p:pic>
      <p:sp>
        <p:nvSpPr>
          <p:cNvPr id="8" name="Shape 5"/>
          <p:cNvSpPr/>
          <p:nvPr/>
        </p:nvSpPr>
        <p:spPr>
          <a:xfrm>
            <a:off x="4023360" y="1600200"/>
            <a:ext cx="3794760" cy="2103120"/>
          </a:xfrm>
          <a:prstGeom prst="roundRect">
            <a:avLst>
              <a:gd name="adj" fmla="val 2174"/>
            </a:avLst>
          </a:prstGeom>
          <a:ln w="12700">
            <a:solidFill>
              <a:srgbClr val="D8CACA"/>
            </a:solidFill>
            <a:prstDash val="solid"/>
          </a:ln>
        </p:spPr>
      </p:sp>
      <p:sp>
        <p:nvSpPr>
          <p:cNvPr id="9" name="Shape 6"/>
          <p:cNvSpPr/>
          <p:nvPr/>
        </p:nvSpPr>
        <p:spPr>
          <a:xfrm>
            <a:off x="4023360" y="3886200"/>
            <a:ext cx="3794760" cy="1920240"/>
          </a:xfrm>
          <a:prstGeom prst="roundRect">
            <a:avLst>
              <a:gd name="adj" fmla="val 4286"/>
            </a:avLst>
          </a:prstGeom>
          <a:solidFill>
            <a:srgbClr val="FBF6F6"/>
          </a:solidFill>
          <a:ln/>
          <a:effectLst>
            <a:outerShdw sx="100000" sy="100000" kx="0" ky="0" algn="bl" rotWithShape="0" blurRad="76200" dist="25400" dir="5400000">
              <a:srgbClr val="9C8A88">
                <a:alpha val="28000"/>
              </a:srgbClr>
            </a:outerShdw>
          </a:effectLst>
        </p:spPr>
      </p:sp>
      <p:sp>
        <p:nvSpPr>
          <p:cNvPr id="10" name="Text 7"/>
          <p:cNvSpPr/>
          <p:nvPr/>
        </p:nvSpPr>
        <p:spPr>
          <a:xfrm>
            <a:off x="4279392" y="4069080"/>
            <a:ext cx="3291840" cy="1554480"/>
          </a:xfrm>
          <a:prstGeom prst="rect">
            <a:avLst/>
          </a:prstGeom>
          <a:noFill/>
          <a:ln/>
        </p:spPr>
        <p:txBody>
          <a:bodyPr wrap="square" rtlCol="0" anchor="ctr"/>
          <a:lstStyle/>
          <a:p>
            <a:pPr indent="0" marL="0">
              <a:buNone/>
            </a:pPr>
            <a:r>
              <a:rPr lang="en-US" sz="1200" dirty="0">
                <a:solidFill>
                  <a:srgbClr val="2B2323"/>
                </a:solidFill>
                <a:latin typeface="Calibri" pitchFamily="34" charset="0"/>
                <a:ea typeface="Calibri" pitchFamily="34" charset="-122"/>
                <a:cs typeface="Calibri" pitchFamily="34" charset="-120"/>
              </a:rPr>
              <a:t>This section focuses on the current support workload and ticket-status distribution across the operational dataset.</a:t>
            </a:r>
            <a:endParaRPr lang="en-US" sz="1200" dirty="0"/>
          </a:p>
        </p:txBody>
      </p:sp>
      <p:sp>
        <p:nvSpPr>
          <p:cNvPr id="11" name="Shape 8"/>
          <p:cNvSpPr/>
          <p:nvPr/>
        </p:nvSpPr>
        <p:spPr>
          <a:xfrm>
            <a:off x="8001000" y="1600200"/>
            <a:ext cx="3730752" cy="4206240"/>
          </a:xfrm>
          <a:prstGeom prst="roundRect">
            <a:avLst>
              <a:gd name="adj" fmla="val 2206"/>
            </a:avLst>
          </a:prstGeom>
          <a:solidFill>
            <a:srgbClr val="FBF6F6"/>
          </a:solidFill>
          <a:ln/>
          <a:effectLst>
            <a:outerShdw sx="100000" sy="100000" kx="0" ky="0" algn="bl" rotWithShape="0" blurRad="76200" dist="25400" dir="5400000">
              <a:srgbClr val="9C8A88">
                <a:alpha val="28000"/>
              </a:srgbClr>
            </a:outerShdw>
          </a:effectLst>
        </p:spPr>
      </p:sp>
      <p:sp>
        <p:nvSpPr>
          <p:cNvPr id="12" name="Text 9"/>
          <p:cNvSpPr/>
          <p:nvPr/>
        </p:nvSpPr>
        <p:spPr>
          <a:xfrm>
            <a:off x="8229600" y="1783080"/>
            <a:ext cx="3291840" cy="274320"/>
          </a:xfrm>
          <a:prstGeom prst="rect">
            <a:avLst/>
          </a:prstGeom>
          <a:noFill/>
          <a:ln/>
        </p:spPr>
        <p:txBody>
          <a:bodyPr wrap="square" rtlCol="0" anchor="ctr"/>
          <a:lstStyle/>
          <a:p>
            <a:pPr indent="0" marL="0">
              <a:buNone/>
            </a:pPr>
            <a:r>
              <a:rPr lang="en-US" sz="1150" b="1" spc="100" kern="0" dirty="0">
                <a:solidFill>
                  <a:srgbClr val="C0263B"/>
                </a:solidFill>
                <a:latin typeface="Calibri" pitchFamily="34" charset="0"/>
                <a:ea typeface="Calibri" pitchFamily="34" charset="-122"/>
                <a:cs typeface="Calibri" pitchFamily="34" charset="-120"/>
              </a:rPr>
              <a:t>STATUS CATEGORIES</a:t>
            </a:r>
            <a:endParaRPr lang="en-US" sz="1150" dirty="0"/>
          </a:p>
        </p:txBody>
      </p:sp>
      <p:sp>
        <p:nvSpPr>
          <p:cNvPr id="13" name="Shape 10"/>
          <p:cNvSpPr/>
          <p:nvPr/>
        </p:nvSpPr>
        <p:spPr>
          <a:xfrm>
            <a:off x="8229600" y="2148840"/>
            <a:ext cx="3291840" cy="548640"/>
          </a:xfrm>
          <a:prstGeom prst="roundRect">
            <a:avLst>
              <a:gd name="adj" fmla="val 10000"/>
            </a:avLst>
          </a:prstGeom>
          <a:solidFill>
            <a:srgbClr val="F6F1F0"/>
          </a:solidFill>
          <a:ln/>
        </p:spPr>
      </p:sp>
      <p:sp>
        <p:nvSpPr>
          <p:cNvPr id="14" name="Text 11"/>
          <p:cNvSpPr/>
          <p:nvPr/>
        </p:nvSpPr>
        <p:spPr>
          <a:xfrm>
            <a:off x="8412480" y="2148840"/>
            <a:ext cx="2926080" cy="548640"/>
          </a:xfrm>
          <a:prstGeom prst="rect">
            <a:avLst/>
          </a:prstGeom>
          <a:noFill/>
          <a:ln/>
        </p:spPr>
        <p:txBody>
          <a:bodyPr wrap="square" lIns="0" tIns="0" rIns="0" bIns="0" rtlCol="0" anchor="ctr"/>
          <a:lstStyle/>
          <a:p>
            <a:pPr indent="0" marL="0">
              <a:buNone/>
            </a:pPr>
            <a:r>
              <a:rPr lang="en-US" sz="1200" dirty="0">
                <a:solidFill>
                  <a:srgbClr val="2B2323"/>
                </a:solidFill>
                <a:latin typeface="Courier New" pitchFamily="34" charset="0"/>
                <a:ea typeface="Courier New" pitchFamily="34" charset="-122"/>
                <a:cs typeface="Courier New" pitchFamily="34" charset="-120"/>
              </a:rPr>
              <a:t>resolved</a:t>
            </a:r>
            <a:endParaRPr lang="en-US" sz="1200" dirty="0"/>
          </a:p>
        </p:txBody>
      </p:sp>
      <p:sp>
        <p:nvSpPr>
          <p:cNvPr id="15" name="Shape 12"/>
          <p:cNvSpPr/>
          <p:nvPr/>
        </p:nvSpPr>
        <p:spPr>
          <a:xfrm>
            <a:off x="8229600" y="2788920"/>
            <a:ext cx="3291840" cy="548640"/>
          </a:xfrm>
          <a:prstGeom prst="roundRect">
            <a:avLst>
              <a:gd name="adj" fmla="val 10000"/>
            </a:avLst>
          </a:prstGeom>
          <a:solidFill>
            <a:srgbClr val="F6F1F0"/>
          </a:solidFill>
          <a:ln/>
        </p:spPr>
      </p:sp>
      <p:sp>
        <p:nvSpPr>
          <p:cNvPr id="16" name="Text 13"/>
          <p:cNvSpPr/>
          <p:nvPr/>
        </p:nvSpPr>
        <p:spPr>
          <a:xfrm>
            <a:off x="8412480" y="2788920"/>
            <a:ext cx="2926080" cy="548640"/>
          </a:xfrm>
          <a:prstGeom prst="rect">
            <a:avLst/>
          </a:prstGeom>
          <a:noFill/>
          <a:ln/>
        </p:spPr>
        <p:txBody>
          <a:bodyPr wrap="square" lIns="0" tIns="0" rIns="0" bIns="0" rtlCol="0" anchor="ctr"/>
          <a:lstStyle/>
          <a:p>
            <a:pPr indent="0" marL="0">
              <a:buNone/>
            </a:pPr>
            <a:r>
              <a:rPr lang="en-US" sz="1200" dirty="0">
                <a:solidFill>
                  <a:srgbClr val="2B2323"/>
                </a:solidFill>
                <a:latin typeface="Courier New" pitchFamily="34" charset="0"/>
                <a:ea typeface="Courier New" pitchFamily="34" charset="-122"/>
                <a:cs typeface="Courier New" pitchFamily="34" charset="-120"/>
              </a:rPr>
              <a:t>in_progress</a:t>
            </a:r>
            <a:endParaRPr lang="en-US" sz="1200" dirty="0"/>
          </a:p>
        </p:txBody>
      </p:sp>
      <p:sp>
        <p:nvSpPr>
          <p:cNvPr id="17" name="Shape 14"/>
          <p:cNvSpPr/>
          <p:nvPr/>
        </p:nvSpPr>
        <p:spPr>
          <a:xfrm>
            <a:off x="8229600" y="3429000"/>
            <a:ext cx="3291840" cy="548640"/>
          </a:xfrm>
          <a:prstGeom prst="roundRect">
            <a:avLst>
              <a:gd name="adj" fmla="val 10000"/>
            </a:avLst>
          </a:prstGeom>
          <a:solidFill>
            <a:srgbClr val="F6F1F0"/>
          </a:solidFill>
          <a:ln/>
        </p:spPr>
      </p:sp>
      <p:sp>
        <p:nvSpPr>
          <p:cNvPr id="18" name="Text 15"/>
          <p:cNvSpPr/>
          <p:nvPr/>
        </p:nvSpPr>
        <p:spPr>
          <a:xfrm>
            <a:off x="8412480" y="3429000"/>
            <a:ext cx="2926080" cy="548640"/>
          </a:xfrm>
          <a:prstGeom prst="rect">
            <a:avLst/>
          </a:prstGeom>
          <a:noFill/>
          <a:ln/>
        </p:spPr>
        <p:txBody>
          <a:bodyPr wrap="square" lIns="0" tIns="0" rIns="0" bIns="0" rtlCol="0" anchor="ctr"/>
          <a:lstStyle/>
          <a:p>
            <a:pPr indent="0" marL="0">
              <a:buNone/>
            </a:pPr>
            <a:r>
              <a:rPr lang="en-US" sz="1200" dirty="0">
                <a:solidFill>
                  <a:srgbClr val="2B2323"/>
                </a:solidFill>
                <a:latin typeface="Courier New" pitchFamily="34" charset="0"/>
                <a:ea typeface="Courier New" pitchFamily="34" charset="-122"/>
                <a:cs typeface="Courier New" pitchFamily="34" charset="-120"/>
              </a:rPr>
              <a:t>on_hold</a:t>
            </a:r>
            <a:endParaRPr lang="en-US" sz="1200" dirty="0"/>
          </a:p>
        </p:txBody>
      </p:sp>
      <p:sp>
        <p:nvSpPr>
          <p:cNvPr id="19" name="Shape 16"/>
          <p:cNvSpPr/>
          <p:nvPr/>
        </p:nvSpPr>
        <p:spPr>
          <a:xfrm>
            <a:off x="8229600" y="4069080"/>
            <a:ext cx="3291840" cy="548640"/>
          </a:xfrm>
          <a:prstGeom prst="roundRect">
            <a:avLst>
              <a:gd name="adj" fmla="val 10000"/>
            </a:avLst>
          </a:prstGeom>
          <a:solidFill>
            <a:srgbClr val="F6F1F0"/>
          </a:solidFill>
          <a:ln/>
        </p:spPr>
      </p:sp>
      <p:sp>
        <p:nvSpPr>
          <p:cNvPr id="20" name="Text 17"/>
          <p:cNvSpPr/>
          <p:nvPr/>
        </p:nvSpPr>
        <p:spPr>
          <a:xfrm>
            <a:off x="8412480" y="4069080"/>
            <a:ext cx="2926080" cy="548640"/>
          </a:xfrm>
          <a:prstGeom prst="rect">
            <a:avLst/>
          </a:prstGeom>
          <a:noFill/>
          <a:ln/>
        </p:spPr>
        <p:txBody>
          <a:bodyPr wrap="square" lIns="0" tIns="0" rIns="0" bIns="0" rtlCol="0" anchor="ctr"/>
          <a:lstStyle/>
          <a:p>
            <a:pPr indent="0" marL="0">
              <a:buNone/>
            </a:pPr>
            <a:r>
              <a:rPr lang="en-US" sz="1200" dirty="0">
                <a:solidFill>
                  <a:srgbClr val="2B2323"/>
                </a:solidFill>
                <a:latin typeface="Courier New" pitchFamily="34" charset="0"/>
                <a:ea typeface="Courier New" pitchFamily="34" charset="-122"/>
                <a:cs typeface="Courier New" pitchFamily="34" charset="-120"/>
              </a:rPr>
              <a:t>closed_no_action</a:t>
            </a:r>
            <a:endParaRPr lang="en-US" sz="1200" dirty="0"/>
          </a:p>
        </p:txBody>
      </p:sp>
      <p:sp>
        <p:nvSpPr>
          <p:cNvPr id="21" name="Shape 18"/>
          <p:cNvSpPr/>
          <p:nvPr/>
        </p:nvSpPr>
        <p:spPr>
          <a:xfrm>
            <a:off x="8229600" y="4709160"/>
            <a:ext cx="3291840" cy="548640"/>
          </a:xfrm>
          <a:prstGeom prst="roundRect">
            <a:avLst>
              <a:gd name="adj" fmla="val 10000"/>
            </a:avLst>
          </a:prstGeom>
          <a:solidFill>
            <a:srgbClr val="F6F1F0"/>
          </a:solidFill>
          <a:ln/>
        </p:spPr>
      </p:sp>
      <p:sp>
        <p:nvSpPr>
          <p:cNvPr id="22" name="Text 19"/>
          <p:cNvSpPr/>
          <p:nvPr/>
        </p:nvSpPr>
        <p:spPr>
          <a:xfrm>
            <a:off x="8412480" y="4709160"/>
            <a:ext cx="2926080" cy="548640"/>
          </a:xfrm>
          <a:prstGeom prst="rect">
            <a:avLst/>
          </a:prstGeom>
          <a:noFill/>
          <a:ln/>
        </p:spPr>
        <p:txBody>
          <a:bodyPr wrap="square" lIns="0" tIns="0" rIns="0" bIns="0" rtlCol="0" anchor="ctr"/>
          <a:lstStyle/>
          <a:p>
            <a:pPr indent="0" marL="0">
              <a:buNone/>
            </a:pPr>
            <a:r>
              <a:rPr lang="en-US" sz="1200" dirty="0">
                <a:solidFill>
                  <a:srgbClr val="2B2323"/>
                </a:solidFill>
                <a:latin typeface="Courier New" pitchFamily="34" charset="0"/>
                <a:ea typeface="Courier New" pitchFamily="34" charset="-122"/>
                <a:cs typeface="Courier New" pitchFamily="34" charset="-120"/>
              </a:rPr>
              <a:t>open</a:t>
            </a:r>
            <a:endParaRPr lang="en-US" sz="1200" dirty="0"/>
          </a:p>
        </p:txBody>
      </p:sp>
      <p:sp>
        <p:nvSpPr>
          <p:cNvPr id="23" name="Text 20"/>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24" name="Text 21"/>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Page 2 — Unresolved &amp; Status Analysis</a:t>
            </a:r>
            <a:endParaRPr lang="en-US" sz="900" dirty="0"/>
          </a:p>
        </p:txBody>
      </p:sp>
      <p:sp>
        <p:nvSpPr>
          <p:cNvPr id="25" name="Shape 22"/>
          <p:cNvSpPr/>
          <p:nvPr/>
        </p:nvSpPr>
        <p:spPr>
          <a:xfrm>
            <a:off x="11475720" y="6492240"/>
            <a:ext cx="310896" cy="310896"/>
          </a:xfrm>
          <a:prstGeom prst="ellipse">
            <a:avLst/>
          </a:prstGeom>
          <a:solidFill>
            <a:srgbClr val="7A1F2B"/>
          </a:solidFill>
          <a:ln/>
        </p:spPr>
      </p:sp>
      <p:sp>
        <p:nvSpPr>
          <p:cNvPr id="26" name="Text 23"/>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PAGE 2 · DETAIL</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Platform Performance Analysis</a:t>
            </a:r>
            <a:endParaRPr lang="en-US" sz="3000" dirty="0"/>
          </a:p>
        </p:txBody>
      </p:sp>
      <p:pic>
        <p:nvPicPr>
          <p:cNvPr id="4" name="Image 0" descr="/home/claude/project/images/p2_platform.png">    </p:cNvPr>
          <p:cNvPicPr>
            <a:picLocks noChangeAspect="1"/>
          </p:cNvPicPr>
          <p:nvPr/>
        </p:nvPicPr>
        <p:blipFill>
          <a:blip r:embed="rId1"/>
          <a:stretch>
            <a:fillRect/>
          </a:stretch>
        </p:blipFill>
        <p:spPr>
          <a:xfrm>
            <a:off x="457200" y="1554480"/>
            <a:ext cx="5440680" cy="2148840"/>
          </a:xfrm>
          <a:prstGeom prst="rect">
            <a:avLst/>
          </a:prstGeom>
        </p:spPr>
      </p:pic>
      <p:sp>
        <p:nvSpPr>
          <p:cNvPr id="5" name="Shape 2"/>
          <p:cNvSpPr/>
          <p:nvPr/>
        </p:nvSpPr>
        <p:spPr>
          <a:xfrm>
            <a:off x="457200" y="1554480"/>
            <a:ext cx="5440680" cy="2148840"/>
          </a:xfrm>
          <a:prstGeom prst="roundRect">
            <a:avLst>
              <a:gd name="adj" fmla="val 2128"/>
            </a:avLst>
          </a:prstGeom>
          <a:ln w="12700">
            <a:solidFill>
              <a:srgbClr val="D8CACA"/>
            </a:solidFill>
            <a:prstDash val="solid"/>
          </a:ln>
        </p:spPr>
      </p:sp>
      <p:sp>
        <p:nvSpPr>
          <p:cNvPr id="6" name="Text 3"/>
          <p:cNvSpPr/>
          <p:nvPr/>
        </p:nvSpPr>
        <p:spPr>
          <a:xfrm>
            <a:off x="457200" y="3767328"/>
            <a:ext cx="5440680" cy="320040"/>
          </a:xfrm>
          <a:prstGeom prst="rect">
            <a:avLst/>
          </a:prstGeom>
          <a:noFill/>
          <a:ln/>
        </p:spPr>
        <p:txBody>
          <a:bodyPr wrap="square" rtlCol="0" anchor="ctr"/>
          <a:lstStyle/>
          <a:p>
            <a:pPr indent="0" marL="0">
              <a:buNone/>
            </a:pPr>
            <a:r>
              <a:rPr lang="en-US" sz="1200" i="1" dirty="0">
                <a:solidFill>
                  <a:srgbClr val="6E6262"/>
                </a:solidFill>
                <a:latin typeface="Calibri" pitchFamily="34" charset="0"/>
                <a:ea typeface="Calibri" pitchFamily="34" charset="-122"/>
                <a:cs typeface="Calibri" pitchFamily="34" charset="-120"/>
              </a:rPr>
              <a:t>Count of ticket_id by platform</a:t>
            </a:r>
            <a:endParaRPr lang="en-US" sz="1200" dirty="0"/>
          </a:p>
        </p:txBody>
      </p:sp>
      <p:pic>
        <p:nvPicPr>
          <p:cNvPr id="7" name="Image 1" descr="/home/claude/project/images/p2_restime_platform.png">    </p:cNvPr>
          <p:cNvPicPr>
            <a:picLocks noChangeAspect="1"/>
          </p:cNvPicPr>
          <p:nvPr/>
        </p:nvPicPr>
        <p:blipFill>
          <a:blip r:embed="rId2"/>
          <a:stretch>
            <a:fillRect/>
          </a:stretch>
        </p:blipFill>
        <p:spPr>
          <a:xfrm>
            <a:off x="6263640" y="1554480"/>
            <a:ext cx="5440680" cy="2148840"/>
          </a:xfrm>
          <a:prstGeom prst="rect">
            <a:avLst/>
          </a:prstGeom>
        </p:spPr>
      </p:pic>
      <p:sp>
        <p:nvSpPr>
          <p:cNvPr id="8" name="Shape 4"/>
          <p:cNvSpPr/>
          <p:nvPr/>
        </p:nvSpPr>
        <p:spPr>
          <a:xfrm>
            <a:off x="6263640" y="1554480"/>
            <a:ext cx="5440680" cy="2148840"/>
          </a:xfrm>
          <a:prstGeom prst="roundRect">
            <a:avLst>
              <a:gd name="adj" fmla="val 2128"/>
            </a:avLst>
          </a:prstGeom>
          <a:ln w="12700">
            <a:solidFill>
              <a:srgbClr val="D8CACA"/>
            </a:solidFill>
            <a:prstDash val="solid"/>
          </a:ln>
        </p:spPr>
      </p:sp>
      <p:sp>
        <p:nvSpPr>
          <p:cNvPr id="9" name="Text 5"/>
          <p:cNvSpPr/>
          <p:nvPr/>
        </p:nvSpPr>
        <p:spPr>
          <a:xfrm>
            <a:off x="6263640" y="3767328"/>
            <a:ext cx="5440680" cy="320040"/>
          </a:xfrm>
          <a:prstGeom prst="rect">
            <a:avLst/>
          </a:prstGeom>
          <a:noFill/>
          <a:ln/>
        </p:spPr>
        <p:txBody>
          <a:bodyPr wrap="square" rtlCol="0" anchor="ctr"/>
          <a:lstStyle/>
          <a:p>
            <a:pPr indent="0" marL="0">
              <a:buNone/>
            </a:pPr>
            <a:r>
              <a:rPr lang="en-US" sz="1200" i="1" dirty="0">
                <a:solidFill>
                  <a:srgbClr val="6E6262"/>
                </a:solidFill>
                <a:latin typeface="Calibri" pitchFamily="34" charset="0"/>
                <a:ea typeface="Calibri" pitchFamily="34" charset="-122"/>
                <a:cs typeface="Calibri" pitchFamily="34" charset="-120"/>
              </a:rPr>
              <a:t>Average of resolution_time_hours by platform</a:t>
            </a:r>
            <a:endParaRPr lang="en-US" sz="1200" dirty="0"/>
          </a:p>
        </p:txBody>
      </p:sp>
      <p:sp>
        <p:nvSpPr>
          <p:cNvPr id="10" name="Shape 6"/>
          <p:cNvSpPr/>
          <p:nvPr/>
        </p:nvSpPr>
        <p:spPr>
          <a:xfrm>
            <a:off x="457200" y="4251960"/>
            <a:ext cx="11247120" cy="1600200"/>
          </a:xfrm>
          <a:prstGeom prst="roundRect">
            <a:avLst>
              <a:gd name="adj" fmla="val 5143"/>
            </a:avLst>
          </a:prstGeom>
          <a:solidFill>
            <a:srgbClr val="FBF6F6"/>
          </a:solidFill>
          <a:ln/>
          <a:effectLst>
            <a:outerShdw sx="100000" sy="100000" kx="0" ky="0" algn="bl" rotWithShape="0" blurRad="76200" dist="25400" dir="5400000">
              <a:srgbClr val="9C8A88">
                <a:alpha val="28000"/>
              </a:srgbClr>
            </a:outerShdw>
          </a:effectLst>
        </p:spPr>
      </p:sp>
      <p:sp>
        <p:nvSpPr>
          <p:cNvPr id="11" name="Text 7"/>
          <p:cNvSpPr/>
          <p:nvPr/>
        </p:nvSpPr>
        <p:spPr>
          <a:xfrm>
            <a:off x="777240" y="4480560"/>
            <a:ext cx="10607040" cy="128016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250" dirty="0">
                <a:solidFill>
                  <a:srgbClr val="2B2323"/>
                </a:solidFill>
                <a:latin typeface="Calibri" pitchFamily="34" charset="0"/>
                <a:ea typeface="Calibri" pitchFamily="34" charset="-122"/>
                <a:cs typeface="Calibri" pitchFamily="34" charset="-120"/>
              </a:rPr>
              <a:t>The first visual compares ticket volume across platforms.</a:t>
            </a:r>
            <a:endParaRPr lang="en-US" sz="1250" dirty="0"/>
          </a:p>
          <a:p>
            <a:pPr marL="342900" indent="-342900">
              <a:lnSpc>
                <a:spcPct val="105000"/>
              </a:lnSpc>
              <a:spcAft>
                <a:spcPts val="700"/>
              </a:spcAft>
              <a:buSzPct val="100000"/>
              <a:buChar char="•"/>
            </a:pPr>
            <a:r>
              <a:rPr lang="en-US" sz="1250" dirty="0">
                <a:solidFill>
                  <a:srgbClr val="2B2323"/>
                </a:solidFill>
                <a:latin typeface="Calibri" pitchFamily="34" charset="0"/>
                <a:ea typeface="Calibri" pitchFamily="34" charset="-122"/>
                <a:cs typeface="Calibri" pitchFamily="34" charset="-120"/>
              </a:rPr>
              <a:t>The second visual compares average resolution time across platforms.</a:t>
            </a:r>
            <a:endParaRPr lang="en-US" sz="1250" dirty="0"/>
          </a:p>
          <a:p>
            <a:pPr marL="342900" indent="-342900">
              <a:lnSpc>
                <a:spcPct val="105000"/>
              </a:lnSpc>
              <a:spcAft>
                <a:spcPts val="700"/>
              </a:spcAft>
              <a:buSzPct val="100000"/>
              <a:buChar char="•"/>
            </a:pPr>
            <a:r>
              <a:rPr lang="en-US" sz="1250" dirty="0">
                <a:solidFill>
                  <a:srgbClr val="2B2323"/>
                </a:solidFill>
                <a:latin typeface="Calibri" pitchFamily="34" charset="0"/>
                <a:ea typeface="Calibri" pitchFamily="34" charset="-122"/>
                <a:cs typeface="Calibri" pitchFamily="34" charset="-120"/>
              </a:rPr>
              <a:t>Together, they provide both a workload perspective and a resolution-performance perspective.</a:t>
            </a:r>
            <a:endParaRPr lang="en-US" sz="1250" dirty="0"/>
          </a:p>
        </p:txBody>
      </p:sp>
      <p:sp>
        <p:nvSpPr>
          <p:cNvPr id="12" name="Text 8"/>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13" name="Text 9"/>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Page 2 — Platform Analysis</a:t>
            </a:r>
            <a:endParaRPr lang="en-US" sz="900" dirty="0"/>
          </a:p>
        </p:txBody>
      </p:sp>
      <p:sp>
        <p:nvSpPr>
          <p:cNvPr id="14" name="Shape 10"/>
          <p:cNvSpPr/>
          <p:nvPr/>
        </p:nvSpPr>
        <p:spPr>
          <a:xfrm>
            <a:off x="11475720" y="6492240"/>
            <a:ext cx="310896" cy="310896"/>
          </a:xfrm>
          <a:prstGeom prst="ellipse">
            <a:avLst/>
          </a:prstGeom>
          <a:solidFill>
            <a:srgbClr val="7A1F2B"/>
          </a:solidFill>
          <a:ln/>
        </p:spPr>
      </p:sp>
      <p:sp>
        <p:nvSpPr>
          <p:cNvPr id="15" name="Text 11"/>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PAGE 2 · DETAIL</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Regional &amp; Product Area Analysis</a:t>
            </a:r>
            <a:endParaRPr lang="en-US" sz="3000" dirty="0"/>
          </a:p>
        </p:txBody>
      </p:sp>
      <p:pic>
        <p:nvPicPr>
          <p:cNvPr id="4" name="Image 0" descr="/home/claude/project/images/p2_region.png">    </p:cNvPr>
          <p:cNvPicPr>
            <a:picLocks noChangeAspect="1"/>
          </p:cNvPicPr>
          <p:nvPr/>
        </p:nvPicPr>
        <p:blipFill>
          <a:blip r:embed="rId1"/>
          <a:stretch>
            <a:fillRect/>
          </a:stretch>
        </p:blipFill>
        <p:spPr>
          <a:xfrm>
            <a:off x="457200" y="1554480"/>
            <a:ext cx="5440680" cy="2148840"/>
          </a:xfrm>
          <a:prstGeom prst="rect">
            <a:avLst/>
          </a:prstGeom>
        </p:spPr>
      </p:pic>
      <p:sp>
        <p:nvSpPr>
          <p:cNvPr id="5" name="Shape 2"/>
          <p:cNvSpPr/>
          <p:nvPr/>
        </p:nvSpPr>
        <p:spPr>
          <a:xfrm>
            <a:off x="457200" y="1554480"/>
            <a:ext cx="5440680" cy="2148840"/>
          </a:xfrm>
          <a:prstGeom prst="roundRect">
            <a:avLst>
              <a:gd name="adj" fmla="val 2128"/>
            </a:avLst>
          </a:prstGeom>
          <a:ln w="12700">
            <a:solidFill>
              <a:srgbClr val="D8CACA"/>
            </a:solidFill>
            <a:prstDash val="solid"/>
          </a:ln>
        </p:spPr>
      </p:sp>
      <p:sp>
        <p:nvSpPr>
          <p:cNvPr id="6" name="Text 3"/>
          <p:cNvSpPr/>
          <p:nvPr/>
        </p:nvSpPr>
        <p:spPr>
          <a:xfrm>
            <a:off x="457200" y="3767328"/>
            <a:ext cx="5440680" cy="320040"/>
          </a:xfrm>
          <a:prstGeom prst="rect">
            <a:avLst/>
          </a:prstGeom>
          <a:noFill/>
          <a:ln/>
        </p:spPr>
        <p:txBody>
          <a:bodyPr wrap="square" rtlCol="0" anchor="ctr"/>
          <a:lstStyle/>
          <a:p>
            <a:pPr indent="0" marL="0">
              <a:buNone/>
            </a:pPr>
            <a:r>
              <a:rPr lang="en-US" sz="1200" i="1" dirty="0">
                <a:solidFill>
                  <a:srgbClr val="6E6262"/>
                </a:solidFill>
                <a:latin typeface="Calibri" pitchFamily="34" charset="0"/>
                <a:ea typeface="Calibri" pitchFamily="34" charset="-122"/>
                <a:cs typeface="Calibri" pitchFamily="34" charset="-120"/>
              </a:rPr>
              <a:t>Count of ticket_id by region</a:t>
            </a:r>
            <a:endParaRPr lang="en-US" sz="1200" dirty="0"/>
          </a:p>
        </p:txBody>
      </p:sp>
      <p:pic>
        <p:nvPicPr>
          <p:cNvPr id="7" name="Image 1" descr="/home/claude/project/images/p2_productarea.png">    </p:cNvPr>
          <p:cNvPicPr>
            <a:picLocks noChangeAspect="1"/>
          </p:cNvPicPr>
          <p:nvPr/>
        </p:nvPicPr>
        <p:blipFill>
          <a:blip r:embed="rId2"/>
          <a:stretch>
            <a:fillRect/>
          </a:stretch>
        </p:blipFill>
        <p:spPr>
          <a:xfrm>
            <a:off x="6263640" y="1554480"/>
            <a:ext cx="5440680" cy="2148840"/>
          </a:xfrm>
          <a:prstGeom prst="rect">
            <a:avLst/>
          </a:prstGeom>
        </p:spPr>
      </p:pic>
      <p:sp>
        <p:nvSpPr>
          <p:cNvPr id="8" name="Shape 4"/>
          <p:cNvSpPr/>
          <p:nvPr/>
        </p:nvSpPr>
        <p:spPr>
          <a:xfrm>
            <a:off x="6263640" y="1554480"/>
            <a:ext cx="5440680" cy="2148840"/>
          </a:xfrm>
          <a:prstGeom prst="roundRect">
            <a:avLst>
              <a:gd name="adj" fmla="val 2128"/>
            </a:avLst>
          </a:prstGeom>
          <a:ln w="12700">
            <a:solidFill>
              <a:srgbClr val="D8CACA"/>
            </a:solidFill>
            <a:prstDash val="solid"/>
          </a:ln>
        </p:spPr>
      </p:sp>
      <p:sp>
        <p:nvSpPr>
          <p:cNvPr id="9" name="Text 5"/>
          <p:cNvSpPr/>
          <p:nvPr/>
        </p:nvSpPr>
        <p:spPr>
          <a:xfrm>
            <a:off x="6263640" y="3767328"/>
            <a:ext cx="5440680" cy="320040"/>
          </a:xfrm>
          <a:prstGeom prst="rect">
            <a:avLst/>
          </a:prstGeom>
          <a:noFill/>
          <a:ln/>
        </p:spPr>
        <p:txBody>
          <a:bodyPr wrap="square" rtlCol="0" anchor="ctr"/>
          <a:lstStyle/>
          <a:p>
            <a:pPr indent="0" marL="0">
              <a:buNone/>
            </a:pPr>
            <a:r>
              <a:rPr lang="en-US" sz="1200" i="1" dirty="0">
                <a:solidFill>
                  <a:srgbClr val="6E6262"/>
                </a:solidFill>
                <a:latin typeface="Calibri" pitchFamily="34" charset="0"/>
                <a:ea typeface="Calibri" pitchFamily="34" charset="-122"/>
                <a:cs typeface="Calibri" pitchFamily="34" charset="-120"/>
              </a:rPr>
              <a:t>Count of ticket_id by product_area</a:t>
            </a:r>
            <a:endParaRPr lang="en-US" sz="1200" dirty="0"/>
          </a:p>
        </p:txBody>
      </p:sp>
      <p:sp>
        <p:nvSpPr>
          <p:cNvPr id="10" name="Shape 6"/>
          <p:cNvSpPr/>
          <p:nvPr/>
        </p:nvSpPr>
        <p:spPr>
          <a:xfrm>
            <a:off x="457200" y="4251960"/>
            <a:ext cx="11247120" cy="1600200"/>
          </a:xfrm>
          <a:prstGeom prst="roundRect">
            <a:avLst>
              <a:gd name="adj" fmla="val 5143"/>
            </a:avLst>
          </a:prstGeom>
          <a:solidFill>
            <a:srgbClr val="FBF6F6"/>
          </a:solidFill>
          <a:ln/>
          <a:effectLst>
            <a:outerShdw sx="100000" sy="100000" kx="0" ky="0" algn="bl" rotWithShape="0" blurRad="76200" dist="25400" dir="5400000">
              <a:srgbClr val="9C8A88">
                <a:alpha val="28000"/>
              </a:srgbClr>
            </a:outerShdw>
          </a:effectLst>
        </p:spPr>
      </p:sp>
      <p:sp>
        <p:nvSpPr>
          <p:cNvPr id="11" name="Text 7"/>
          <p:cNvSpPr/>
          <p:nvPr/>
        </p:nvSpPr>
        <p:spPr>
          <a:xfrm>
            <a:off x="777240" y="4480560"/>
            <a:ext cx="10607040" cy="128016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250" dirty="0">
                <a:solidFill>
                  <a:srgbClr val="2B2323"/>
                </a:solidFill>
                <a:latin typeface="Calibri" pitchFamily="34" charset="0"/>
                <a:ea typeface="Calibri" pitchFamily="34" charset="-122"/>
                <a:cs typeface="Calibri" pitchFamily="34" charset="-120"/>
              </a:rPr>
              <a:t>Region analysis compares ticket distribution across geographic regions (MEA, EU, LATAM, APAC).</a:t>
            </a:r>
            <a:endParaRPr lang="en-US" sz="1250" dirty="0"/>
          </a:p>
          <a:p>
            <a:pPr marL="342900" indent="-342900">
              <a:lnSpc>
                <a:spcPct val="105000"/>
              </a:lnSpc>
              <a:spcAft>
                <a:spcPts val="700"/>
              </a:spcAft>
              <a:buSzPct val="100000"/>
              <a:buChar char="•"/>
            </a:pPr>
            <a:r>
              <a:rPr lang="en-US" sz="1250" dirty="0">
                <a:solidFill>
                  <a:srgbClr val="2B2323"/>
                </a:solidFill>
                <a:latin typeface="Calibri" pitchFamily="34" charset="0"/>
                <a:ea typeface="Calibri" pitchFamily="34" charset="-122"/>
                <a:cs typeface="Calibri" pitchFamily="34" charset="-120"/>
              </a:rPr>
              <a:t>Product-area analysis identifies how tickets are distributed across different product areas.</a:t>
            </a:r>
            <a:endParaRPr lang="en-US" sz="1250" dirty="0"/>
          </a:p>
        </p:txBody>
      </p:sp>
      <p:sp>
        <p:nvSpPr>
          <p:cNvPr id="12" name="Text 8"/>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13" name="Text 9"/>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Page 2 — Region &amp; Product Area</a:t>
            </a:r>
            <a:endParaRPr lang="en-US" sz="900" dirty="0"/>
          </a:p>
        </p:txBody>
      </p:sp>
      <p:sp>
        <p:nvSpPr>
          <p:cNvPr id="14" name="Shape 10"/>
          <p:cNvSpPr/>
          <p:nvPr/>
        </p:nvSpPr>
        <p:spPr>
          <a:xfrm>
            <a:off x="11475720" y="6492240"/>
            <a:ext cx="310896" cy="310896"/>
          </a:xfrm>
          <a:prstGeom prst="ellipse">
            <a:avLst/>
          </a:prstGeom>
          <a:solidFill>
            <a:srgbClr val="7A1F2B"/>
          </a:solidFill>
          <a:ln/>
        </p:spPr>
      </p:sp>
      <p:sp>
        <p:nvSpPr>
          <p:cNvPr id="15" name="Text 11"/>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PAGE 2 · DETAIL</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Reopened Tickets &amp; Customer Sentiment</a:t>
            </a:r>
            <a:endParaRPr lang="en-US" sz="3000" dirty="0"/>
          </a:p>
        </p:txBody>
      </p:sp>
      <p:pic>
        <p:nvPicPr>
          <p:cNvPr id="4" name="Image 0" descr="/home/claude/project/images/p2_reopened.png">    </p:cNvPr>
          <p:cNvPicPr>
            <a:picLocks noChangeAspect="1"/>
          </p:cNvPicPr>
          <p:nvPr/>
        </p:nvPicPr>
        <p:blipFill>
          <a:blip r:embed="rId1"/>
          <a:stretch>
            <a:fillRect/>
          </a:stretch>
        </p:blipFill>
        <p:spPr>
          <a:xfrm>
            <a:off x="457200" y="1554480"/>
            <a:ext cx="5440680" cy="2148840"/>
          </a:xfrm>
          <a:prstGeom prst="rect">
            <a:avLst/>
          </a:prstGeom>
        </p:spPr>
      </p:pic>
      <p:sp>
        <p:nvSpPr>
          <p:cNvPr id="5" name="Shape 2"/>
          <p:cNvSpPr/>
          <p:nvPr/>
        </p:nvSpPr>
        <p:spPr>
          <a:xfrm>
            <a:off x="457200" y="1554480"/>
            <a:ext cx="5440680" cy="2148840"/>
          </a:xfrm>
          <a:prstGeom prst="roundRect">
            <a:avLst>
              <a:gd name="adj" fmla="val 2128"/>
            </a:avLst>
          </a:prstGeom>
          <a:ln w="12700">
            <a:solidFill>
              <a:srgbClr val="D8CACA"/>
            </a:solidFill>
            <a:prstDash val="solid"/>
          </a:ln>
        </p:spPr>
      </p:sp>
      <p:sp>
        <p:nvSpPr>
          <p:cNvPr id="6" name="Text 3"/>
          <p:cNvSpPr/>
          <p:nvPr/>
        </p:nvSpPr>
        <p:spPr>
          <a:xfrm>
            <a:off x="457200" y="3767328"/>
            <a:ext cx="5440680" cy="320040"/>
          </a:xfrm>
          <a:prstGeom prst="rect">
            <a:avLst/>
          </a:prstGeom>
          <a:noFill/>
          <a:ln/>
        </p:spPr>
        <p:txBody>
          <a:bodyPr wrap="square" rtlCol="0" anchor="ctr"/>
          <a:lstStyle/>
          <a:p>
            <a:pPr indent="0" marL="0">
              <a:buNone/>
            </a:pPr>
            <a:r>
              <a:rPr lang="en-US" sz="1200" i="1" dirty="0">
                <a:solidFill>
                  <a:srgbClr val="6E6262"/>
                </a:solidFill>
                <a:latin typeface="Calibri" pitchFamily="34" charset="0"/>
                <a:ea typeface="Calibri" pitchFamily="34" charset="-122"/>
                <a:cs typeface="Calibri" pitchFamily="34" charset="-120"/>
              </a:rPr>
              <a:t>Reopened Tickets by platform</a:t>
            </a:r>
            <a:endParaRPr lang="en-US" sz="1200" dirty="0"/>
          </a:p>
        </p:txBody>
      </p:sp>
      <p:pic>
        <p:nvPicPr>
          <p:cNvPr id="7" name="Image 1" descr="/home/claude/project/images/p2_sentiment.png">    </p:cNvPr>
          <p:cNvPicPr>
            <a:picLocks noChangeAspect="1"/>
          </p:cNvPicPr>
          <p:nvPr/>
        </p:nvPicPr>
        <p:blipFill>
          <a:blip r:embed="rId2"/>
          <a:stretch>
            <a:fillRect/>
          </a:stretch>
        </p:blipFill>
        <p:spPr>
          <a:xfrm>
            <a:off x="6263640" y="1554480"/>
            <a:ext cx="5440680" cy="2148840"/>
          </a:xfrm>
          <a:prstGeom prst="rect">
            <a:avLst/>
          </a:prstGeom>
        </p:spPr>
      </p:pic>
      <p:sp>
        <p:nvSpPr>
          <p:cNvPr id="8" name="Shape 4"/>
          <p:cNvSpPr/>
          <p:nvPr/>
        </p:nvSpPr>
        <p:spPr>
          <a:xfrm>
            <a:off x="6263640" y="1554480"/>
            <a:ext cx="5440680" cy="2148840"/>
          </a:xfrm>
          <a:prstGeom prst="roundRect">
            <a:avLst>
              <a:gd name="adj" fmla="val 2128"/>
            </a:avLst>
          </a:prstGeom>
          <a:ln w="12700">
            <a:solidFill>
              <a:srgbClr val="D8CACA"/>
            </a:solidFill>
            <a:prstDash val="solid"/>
          </a:ln>
        </p:spPr>
      </p:sp>
      <p:sp>
        <p:nvSpPr>
          <p:cNvPr id="9" name="Text 5"/>
          <p:cNvSpPr/>
          <p:nvPr/>
        </p:nvSpPr>
        <p:spPr>
          <a:xfrm>
            <a:off x="6263640" y="3767328"/>
            <a:ext cx="5440680" cy="320040"/>
          </a:xfrm>
          <a:prstGeom prst="rect">
            <a:avLst/>
          </a:prstGeom>
          <a:noFill/>
          <a:ln/>
        </p:spPr>
        <p:txBody>
          <a:bodyPr wrap="square" rtlCol="0" anchor="ctr"/>
          <a:lstStyle/>
          <a:p>
            <a:pPr indent="0" marL="0">
              <a:buNone/>
            </a:pPr>
            <a:r>
              <a:rPr lang="en-US" sz="1200" i="1" dirty="0">
                <a:solidFill>
                  <a:srgbClr val="6E6262"/>
                </a:solidFill>
                <a:latin typeface="Calibri" pitchFamily="34" charset="0"/>
                <a:ea typeface="Calibri" pitchFamily="34" charset="-122"/>
                <a:cs typeface="Calibri" pitchFamily="34" charset="-120"/>
              </a:rPr>
              <a:t>Count of ticket_id by customer_sentiment</a:t>
            </a:r>
            <a:endParaRPr lang="en-US" sz="1200" dirty="0"/>
          </a:p>
        </p:txBody>
      </p:sp>
      <p:sp>
        <p:nvSpPr>
          <p:cNvPr id="10" name="Shape 6"/>
          <p:cNvSpPr/>
          <p:nvPr/>
        </p:nvSpPr>
        <p:spPr>
          <a:xfrm>
            <a:off x="457200" y="4251960"/>
            <a:ext cx="11247120" cy="1600200"/>
          </a:xfrm>
          <a:prstGeom prst="roundRect">
            <a:avLst>
              <a:gd name="adj" fmla="val 5143"/>
            </a:avLst>
          </a:prstGeom>
          <a:solidFill>
            <a:srgbClr val="FBF6F6"/>
          </a:solidFill>
          <a:ln/>
          <a:effectLst>
            <a:outerShdw sx="100000" sy="100000" kx="0" ky="0" algn="bl" rotWithShape="0" blurRad="76200" dist="25400" dir="5400000">
              <a:srgbClr val="9C8A88">
                <a:alpha val="28000"/>
              </a:srgbClr>
            </a:outerShdw>
          </a:effectLst>
        </p:spPr>
      </p:sp>
      <p:sp>
        <p:nvSpPr>
          <p:cNvPr id="11" name="Text 7"/>
          <p:cNvSpPr/>
          <p:nvPr/>
        </p:nvSpPr>
        <p:spPr>
          <a:xfrm>
            <a:off x="777240" y="4480560"/>
            <a:ext cx="10607040" cy="128016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250" dirty="0">
                <a:solidFill>
                  <a:srgbClr val="2B2323"/>
                </a:solidFill>
                <a:latin typeface="Calibri" pitchFamily="34" charset="0"/>
                <a:ea typeface="Calibri" pitchFamily="34" charset="-122"/>
                <a:cs typeface="Calibri" pitchFamily="34" charset="-120"/>
              </a:rPr>
              <a:t>Reopened-ticket analysis helps understand tickets that require additional support after initial resolution.</a:t>
            </a:r>
            <a:endParaRPr lang="en-US" sz="1250" dirty="0"/>
          </a:p>
          <a:p>
            <a:pPr marL="342900" indent="-342900">
              <a:lnSpc>
                <a:spcPct val="105000"/>
              </a:lnSpc>
              <a:spcAft>
                <a:spcPts val="700"/>
              </a:spcAft>
              <a:buSzPct val="100000"/>
              <a:buChar char="•"/>
            </a:pPr>
            <a:r>
              <a:rPr lang="en-US" sz="1250" dirty="0">
                <a:solidFill>
                  <a:srgbClr val="2B2323"/>
                </a:solidFill>
                <a:latin typeface="Calibri" pitchFamily="34" charset="0"/>
                <a:ea typeface="Calibri" pitchFamily="34" charset="-122"/>
                <a:cs typeface="Calibri" pitchFamily="34" charset="-120"/>
              </a:rPr>
              <a:t>Customer-sentiment analysis shows the distribution of tickets according to customer sentiment categories.</a:t>
            </a:r>
            <a:endParaRPr lang="en-US" sz="1250" dirty="0"/>
          </a:p>
        </p:txBody>
      </p:sp>
      <p:sp>
        <p:nvSpPr>
          <p:cNvPr id="12" name="Text 8"/>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13" name="Text 9"/>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Page 2 — Reopened Tickets &amp; Sentiment</a:t>
            </a:r>
            <a:endParaRPr lang="en-US" sz="900" dirty="0"/>
          </a:p>
        </p:txBody>
      </p:sp>
      <p:sp>
        <p:nvSpPr>
          <p:cNvPr id="14" name="Shape 10"/>
          <p:cNvSpPr/>
          <p:nvPr/>
        </p:nvSpPr>
        <p:spPr>
          <a:xfrm>
            <a:off x="11475720" y="6492240"/>
            <a:ext cx="310896" cy="310896"/>
          </a:xfrm>
          <a:prstGeom prst="ellipse">
            <a:avLst/>
          </a:prstGeom>
          <a:solidFill>
            <a:srgbClr val="7A1F2B"/>
          </a:solidFill>
          <a:ln/>
        </p:spPr>
      </p:sp>
      <p:sp>
        <p:nvSpPr>
          <p:cNvPr id="15" name="Text 11"/>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PAGE 2 · DETAIL</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Priority Distribution</a:t>
            </a:r>
            <a:endParaRPr lang="en-US" sz="3000" dirty="0"/>
          </a:p>
        </p:txBody>
      </p:sp>
      <p:pic>
        <p:nvPicPr>
          <p:cNvPr id="4" name="Image 0" descr="/home/claude/project/images/p2_priority.png">    </p:cNvPr>
          <p:cNvPicPr>
            <a:picLocks noChangeAspect="1"/>
          </p:cNvPicPr>
          <p:nvPr/>
        </p:nvPicPr>
        <p:blipFill>
          <a:blip r:embed="rId1"/>
          <a:stretch>
            <a:fillRect/>
          </a:stretch>
        </p:blipFill>
        <p:spPr>
          <a:xfrm>
            <a:off x="457200" y="1600200"/>
            <a:ext cx="5577840" cy="3840480"/>
          </a:xfrm>
          <a:prstGeom prst="rect">
            <a:avLst/>
          </a:prstGeom>
        </p:spPr>
      </p:pic>
      <p:sp>
        <p:nvSpPr>
          <p:cNvPr id="5" name="Shape 2"/>
          <p:cNvSpPr/>
          <p:nvPr/>
        </p:nvSpPr>
        <p:spPr>
          <a:xfrm>
            <a:off x="457200" y="1600200"/>
            <a:ext cx="5577840" cy="3840480"/>
          </a:xfrm>
          <a:prstGeom prst="roundRect">
            <a:avLst>
              <a:gd name="adj" fmla="val 1190"/>
            </a:avLst>
          </a:prstGeom>
          <a:ln w="12700">
            <a:solidFill>
              <a:srgbClr val="D8CACA"/>
            </a:solidFill>
            <a:prstDash val="solid"/>
          </a:ln>
        </p:spPr>
      </p:sp>
      <p:sp>
        <p:nvSpPr>
          <p:cNvPr id="6" name="Shape 3"/>
          <p:cNvSpPr/>
          <p:nvPr/>
        </p:nvSpPr>
        <p:spPr>
          <a:xfrm>
            <a:off x="6355080" y="1600200"/>
            <a:ext cx="5376672" cy="3840480"/>
          </a:xfrm>
          <a:prstGeom prst="roundRect">
            <a:avLst>
              <a:gd name="adj" fmla="val 2143"/>
            </a:avLst>
          </a:prstGeom>
          <a:solidFill>
            <a:srgbClr val="FBF6F6"/>
          </a:solidFill>
          <a:ln/>
          <a:effectLst>
            <a:outerShdw sx="100000" sy="100000" kx="0" ky="0" algn="bl" rotWithShape="0" blurRad="76200" dist="25400" dir="5400000">
              <a:srgbClr val="9C8A88">
                <a:alpha val="28000"/>
              </a:srgbClr>
            </a:outerShdw>
          </a:effectLst>
        </p:spPr>
      </p:sp>
      <p:sp>
        <p:nvSpPr>
          <p:cNvPr id="7" name="Text 4"/>
          <p:cNvSpPr/>
          <p:nvPr/>
        </p:nvSpPr>
        <p:spPr>
          <a:xfrm>
            <a:off x="6629400" y="1810512"/>
            <a:ext cx="4846320" cy="274320"/>
          </a:xfrm>
          <a:prstGeom prst="rect">
            <a:avLst/>
          </a:prstGeom>
          <a:noFill/>
          <a:ln/>
        </p:spPr>
        <p:txBody>
          <a:bodyPr wrap="square" rtlCol="0" anchor="ctr"/>
          <a:lstStyle/>
          <a:p>
            <a:pPr indent="0" marL="0">
              <a:buNone/>
            </a:pPr>
            <a:r>
              <a:rPr lang="en-US" sz="1200" b="1" spc="120" kern="0" dirty="0">
                <a:solidFill>
                  <a:srgbClr val="C0263B"/>
                </a:solidFill>
                <a:latin typeface="Calibri" pitchFamily="34" charset="0"/>
                <a:ea typeface="Calibri" pitchFamily="34" charset="-122"/>
                <a:cs typeface="Calibri" pitchFamily="34" charset="-120"/>
              </a:rPr>
              <a:t>PRIORITY BREAKDOWN (PAGE 2)</a:t>
            </a:r>
            <a:endParaRPr lang="en-US" sz="1200" dirty="0"/>
          </a:p>
        </p:txBody>
      </p:sp>
      <p:sp>
        <p:nvSpPr>
          <p:cNvPr id="8" name="Shape 5"/>
          <p:cNvSpPr/>
          <p:nvPr/>
        </p:nvSpPr>
        <p:spPr>
          <a:xfrm>
            <a:off x="6629400" y="2194560"/>
            <a:ext cx="4846320" cy="566928"/>
          </a:xfrm>
          <a:prstGeom prst="roundRect">
            <a:avLst>
              <a:gd name="adj" fmla="val 11290"/>
            </a:avLst>
          </a:prstGeom>
          <a:solidFill>
            <a:srgbClr val="F6F1F0"/>
          </a:solidFill>
          <a:ln/>
        </p:spPr>
      </p:sp>
      <p:sp>
        <p:nvSpPr>
          <p:cNvPr id="9" name="Text 6"/>
          <p:cNvSpPr/>
          <p:nvPr/>
        </p:nvSpPr>
        <p:spPr>
          <a:xfrm>
            <a:off x="6858000" y="2194560"/>
            <a:ext cx="2926080" cy="566928"/>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low</a:t>
            </a:r>
            <a:endParaRPr lang="en-US" sz="1150" dirty="0"/>
          </a:p>
        </p:txBody>
      </p:sp>
      <p:sp>
        <p:nvSpPr>
          <p:cNvPr id="10" name="Text 7"/>
          <p:cNvSpPr/>
          <p:nvPr/>
        </p:nvSpPr>
        <p:spPr>
          <a:xfrm>
            <a:off x="9692640" y="2194560"/>
            <a:ext cx="1691640" cy="566928"/>
          </a:xfrm>
          <a:prstGeom prst="rect">
            <a:avLst/>
          </a:prstGeom>
          <a:noFill/>
          <a:ln/>
        </p:spPr>
        <p:txBody>
          <a:bodyPr wrap="square" lIns="0" tIns="0" rIns="0" bIns="0" rtlCol="0" anchor="ctr"/>
          <a:lstStyle/>
          <a:p>
            <a:pPr algn="r" indent="0" marL="0">
              <a:buNone/>
            </a:pPr>
            <a:r>
              <a:rPr lang="en-US" sz="1100" b="1" dirty="0">
                <a:solidFill>
                  <a:srgbClr val="C0263B"/>
                </a:solidFill>
                <a:latin typeface="Calibri" pitchFamily="34" charset="0"/>
                <a:ea typeface="Calibri" pitchFamily="34" charset="-122"/>
                <a:cs typeface="Calibri" pitchFamily="34" charset="-120"/>
              </a:rPr>
              <a:t>39.74K (39.74%)</a:t>
            </a:r>
            <a:endParaRPr lang="en-US" sz="1100" dirty="0"/>
          </a:p>
        </p:txBody>
      </p:sp>
      <p:sp>
        <p:nvSpPr>
          <p:cNvPr id="11" name="Shape 8"/>
          <p:cNvSpPr/>
          <p:nvPr/>
        </p:nvSpPr>
        <p:spPr>
          <a:xfrm>
            <a:off x="6629400" y="2880360"/>
            <a:ext cx="4846320" cy="566928"/>
          </a:xfrm>
          <a:prstGeom prst="roundRect">
            <a:avLst>
              <a:gd name="adj" fmla="val 11290"/>
            </a:avLst>
          </a:prstGeom>
          <a:solidFill>
            <a:srgbClr val="F6F1F0"/>
          </a:solidFill>
          <a:ln/>
        </p:spPr>
      </p:sp>
      <p:sp>
        <p:nvSpPr>
          <p:cNvPr id="12" name="Text 9"/>
          <p:cNvSpPr/>
          <p:nvPr/>
        </p:nvSpPr>
        <p:spPr>
          <a:xfrm>
            <a:off x="6858000" y="2880360"/>
            <a:ext cx="2926080" cy="566928"/>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medium</a:t>
            </a:r>
            <a:endParaRPr lang="en-US" sz="1150" dirty="0"/>
          </a:p>
        </p:txBody>
      </p:sp>
      <p:sp>
        <p:nvSpPr>
          <p:cNvPr id="13" name="Text 10"/>
          <p:cNvSpPr/>
          <p:nvPr/>
        </p:nvSpPr>
        <p:spPr>
          <a:xfrm>
            <a:off x="9692640" y="2880360"/>
            <a:ext cx="1691640" cy="566928"/>
          </a:xfrm>
          <a:prstGeom prst="rect">
            <a:avLst/>
          </a:prstGeom>
          <a:noFill/>
          <a:ln/>
        </p:spPr>
        <p:txBody>
          <a:bodyPr wrap="square" lIns="0" tIns="0" rIns="0" bIns="0" rtlCol="0" anchor="ctr"/>
          <a:lstStyle/>
          <a:p>
            <a:pPr algn="r" indent="0" marL="0">
              <a:buNone/>
            </a:pPr>
            <a:r>
              <a:rPr lang="en-US" sz="1100" b="1" dirty="0">
                <a:solidFill>
                  <a:srgbClr val="C0263B"/>
                </a:solidFill>
                <a:latin typeface="Calibri" pitchFamily="34" charset="0"/>
                <a:ea typeface="Calibri" pitchFamily="34" charset="-122"/>
                <a:cs typeface="Calibri" pitchFamily="34" charset="-120"/>
              </a:rPr>
              <a:t>35.31K (35.3%)</a:t>
            </a:r>
            <a:endParaRPr lang="en-US" sz="1100" dirty="0"/>
          </a:p>
        </p:txBody>
      </p:sp>
      <p:sp>
        <p:nvSpPr>
          <p:cNvPr id="14" name="Shape 11"/>
          <p:cNvSpPr/>
          <p:nvPr/>
        </p:nvSpPr>
        <p:spPr>
          <a:xfrm>
            <a:off x="6629400" y="3566160"/>
            <a:ext cx="4846320" cy="566928"/>
          </a:xfrm>
          <a:prstGeom prst="roundRect">
            <a:avLst>
              <a:gd name="adj" fmla="val 11290"/>
            </a:avLst>
          </a:prstGeom>
          <a:solidFill>
            <a:srgbClr val="F6F1F0"/>
          </a:solidFill>
          <a:ln/>
        </p:spPr>
      </p:sp>
      <p:sp>
        <p:nvSpPr>
          <p:cNvPr id="15" name="Text 12"/>
          <p:cNvSpPr/>
          <p:nvPr/>
        </p:nvSpPr>
        <p:spPr>
          <a:xfrm>
            <a:off x="6858000" y="3566160"/>
            <a:ext cx="2926080" cy="566928"/>
          </a:xfrm>
          <a:prstGeom prst="rect">
            <a:avLst/>
          </a:prstGeom>
          <a:noFill/>
          <a:ln/>
        </p:spPr>
        <p:txBody>
          <a:bodyPr wrap="square" lIns="0" tIns="0" rIns="0" bIns="0" rtlCol="0" anchor="ctr"/>
          <a:lstStyle/>
          <a:p>
            <a:pPr indent="0" marL="0">
              <a:buNone/>
            </a:pPr>
            <a:r>
              <a:rPr lang="en-US" sz="1150" dirty="0">
                <a:solidFill>
                  <a:srgbClr val="2B2323"/>
                </a:solidFill>
                <a:latin typeface="Courier New" pitchFamily="34" charset="0"/>
                <a:ea typeface="Courier New" pitchFamily="34" charset="-122"/>
                <a:cs typeface="Courier New" pitchFamily="34" charset="-120"/>
              </a:rPr>
              <a:t>high / urgent (remaining share)</a:t>
            </a:r>
            <a:endParaRPr lang="en-US" sz="1150" dirty="0"/>
          </a:p>
        </p:txBody>
      </p:sp>
      <p:sp>
        <p:nvSpPr>
          <p:cNvPr id="16" name="Text 13"/>
          <p:cNvSpPr/>
          <p:nvPr/>
        </p:nvSpPr>
        <p:spPr>
          <a:xfrm>
            <a:off x="9692640" y="3566160"/>
            <a:ext cx="1691640" cy="566928"/>
          </a:xfrm>
          <a:prstGeom prst="rect">
            <a:avLst/>
          </a:prstGeom>
          <a:noFill/>
          <a:ln/>
        </p:spPr>
        <p:txBody>
          <a:bodyPr wrap="square" lIns="0" tIns="0" rIns="0" bIns="0" rtlCol="0" anchor="ctr"/>
          <a:lstStyle/>
          <a:p>
            <a:pPr algn="r" indent="0" marL="0">
              <a:buNone/>
            </a:pPr>
            <a:r>
              <a:rPr lang="en-US" sz="1100" b="1" dirty="0">
                <a:solidFill>
                  <a:srgbClr val="C0263B"/>
                </a:solidFill>
                <a:latin typeface="Calibri" pitchFamily="34" charset="0"/>
                <a:ea typeface="Calibri" pitchFamily="34" charset="-122"/>
                <a:cs typeface="Calibri" pitchFamily="34" charset="-120"/>
              </a:rPr>
              <a:t>19.87K (19.87%) + balance</a:t>
            </a:r>
            <a:endParaRPr lang="en-US" sz="1100" dirty="0"/>
          </a:p>
        </p:txBody>
      </p:sp>
      <p:sp>
        <p:nvSpPr>
          <p:cNvPr id="17" name="Text 14"/>
          <p:cNvSpPr/>
          <p:nvPr/>
        </p:nvSpPr>
        <p:spPr>
          <a:xfrm>
            <a:off x="6629400" y="4297680"/>
            <a:ext cx="4846320" cy="320040"/>
          </a:xfrm>
          <a:prstGeom prst="rect">
            <a:avLst/>
          </a:prstGeom>
          <a:noFill/>
          <a:ln/>
        </p:spPr>
        <p:txBody>
          <a:bodyPr wrap="square" rtlCol="0" anchor="ctr"/>
          <a:lstStyle/>
          <a:p>
            <a:pPr indent="0" marL="0">
              <a:buNone/>
            </a:pPr>
            <a:r>
              <a:rPr lang="en-US" sz="1100" i="1" dirty="0">
                <a:solidFill>
                  <a:srgbClr val="6E6262"/>
                </a:solidFill>
                <a:latin typeface="Calibri" pitchFamily="34" charset="0"/>
                <a:ea typeface="Calibri" pitchFamily="34" charset="-122"/>
                <a:cs typeface="Calibri" pitchFamily="34" charset="-120"/>
              </a:rPr>
              <a:t>Categories shown: low, medium, high, urgent.</a:t>
            </a:r>
            <a:endParaRPr lang="en-US" sz="1100" dirty="0"/>
          </a:p>
        </p:txBody>
      </p:sp>
      <p:sp>
        <p:nvSpPr>
          <p:cNvPr id="18" name="Text 15"/>
          <p:cNvSpPr/>
          <p:nvPr/>
        </p:nvSpPr>
        <p:spPr>
          <a:xfrm>
            <a:off x="6629400" y="4754880"/>
            <a:ext cx="4846320" cy="822960"/>
          </a:xfrm>
          <a:prstGeom prst="rect">
            <a:avLst/>
          </a:prstGeom>
          <a:noFill/>
          <a:ln/>
        </p:spPr>
        <p:txBody>
          <a:bodyPr wrap="square" rtlCol="0" anchor="ctr"/>
          <a:lstStyle/>
          <a:p>
            <a:pPr indent="0" marL="0">
              <a:buNone/>
            </a:pPr>
            <a:r>
              <a:rPr lang="en-US" sz="1250" dirty="0">
                <a:solidFill>
                  <a:srgbClr val="2B2323"/>
                </a:solidFill>
                <a:latin typeface="Calibri" pitchFamily="34" charset="0"/>
                <a:ea typeface="Calibri" pitchFamily="34" charset="-122"/>
                <a:cs typeface="Calibri" pitchFamily="34" charset="-120"/>
              </a:rPr>
              <a:t>The visualization provides a comparison of support workload across priority levels.</a:t>
            </a:r>
            <a:endParaRPr lang="en-US" sz="1250" dirty="0"/>
          </a:p>
        </p:txBody>
      </p:sp>
      <p:sp>
        <p:nvSpPr>
          <p:cNvPr id="19" name="Text 16"/>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20" name="Text 17"/>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Page 2 — Priority Distribution</a:t>
            </a:r>
            <a:endParaRPr lang="en-US" sz="900" dirty="0"/>
          </a:p>
        </p:txBody>
      </p:sp>
      <p:sp>
        <p:nvSpPr>
          <p:cNvPr id="21" name="Shape 18"/>
          <p:cNvSpPr/>
          <p:nvPr/>
        </p:nvSpPr>
        <p:spPr>
          <a:xfrm>
            <a:off x="11475720" y="6492240"/>
            <a:ext cx="310896" cy="310896"/>
          </a:xfrm>
          <a:prstGeom prst="ellipse">
            <a:avLst/>
          </a:prstGeom>
          <a:solidFill>
            <a:srgbClr val="7A1F2B"/>
          </a:solidFill>
          <a:ln/>
        </p:spPr>
      </p:sp>
      <p:sp>
        <p:nvSpPr>
          <p:cNvPr id="22" name="Text 19"/>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DESIGN LANGUAGE</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Dashboard Design &amp; Visualization</a:t>
            </a:r>
            <a:endParaRPr lang="en-US" sz="3000" dirty="0"/>
          </a:p>
        </p:txBody>
      </p:sp>
      <p:sp>
        <p:nvSpPr>
          <p:cNvPr id="4" name="Text 2"/>
          <p:cNvSpPr/>
          <p:nvPr/>
        </p:nvSpPr>
        <p:spPr>
          <a:xfrm>
            <a:off x="457200" y="1508760"/>
            <a:ext cx="5577840" cy="4206240"/>
          </a:xfrm>
          <a:prstGeom prst="rect">
            <a:avLst/>
          </a:prstGeom>
          <a:noFill/>
          <a:ln/>
        </p:spPr>
        <p:txBody>
          <a:bodyPr wrap="square" lIns="0" tIns="0" rIns="0" bIns="0" rtlCol="0" anchor="t"/>
          <a:lstStyle/>
          <a:p>
            <a:pPr marL="342900" indent="-342900">
              <a:lnSpc>
                <a:spcPct val="105000"/>
              </a:lnSpc>
              <a:spcAft>
                <a:spcPts val="1100"/>
              </a:spcAft>
              <a:buSzPct val="100000"/>
              <a:buChar char="•"/>
            </a:pPr>
            <a:r>
              <a:rPr lang="en-US" sz="1300" dirty="0">
                <a:solidFill>
                  <a:srgbClr val="2B2323"/>
                </a:solidFill>
                <a:latin typeface="Calibri" pitchFamily="34" charset="0"/>
                <a:ea typeface="Calibri" pitchFamily="34" charset="-122"/>
                <a:cs typeface="Calibri" pitchFamily="34" charset="-120"/>
              </a:rPr>
              <a:t>Two-page dashboard structure separating overview from operational detail.</a:t>
            </a:r>
            <a:endParaRPr lang="en-US" sz="1300" dirty="0"/>
          </a:p>
          <a:p>
            <a:pPr marL="342900" indent="-342900">
              <a:lnSpc>
                <a:spcPct val="105000"/>
              </a:lnSpc>
              <a:spcAft>
                <a:spcPts val="1100"/>
              </a:spcAft>
              <a:buSzPct val="100000"/>
              <a:buChar char="•"/>
            </a:pPr>
            <a:r>
              <a:rPr lang="en-US" sz="1300" dirty="0">
                <a:solidFill>
                  <a:srgbClr val="2B2323"/>
                </a:solidFill>
                <a:latin typeface="Calibri" pitchFamily="34" charset="0"/>
                <a:ea typeface="Calibri" pitchFamily="34" charset="-122"/>
                <a:cs typeface="Calibri" pitchFamily="34" charset="-120"/>
              </a:rPr>
              <a:t>KPI cards for high-level monitoring at a glance.</a:t>
            </a:r>
            <a:endParaRPr lang="en-US" sz="1300" dirty="0"/>
          </a:p>
          <a:p>
            <a:pPr marL="342900" indent="-342900">
              <a:lnSpc>
                <a:spcPct val="105000"/>
              </a:lnSpc>
              <a:spcAft>
                <a:spcPts val="1100"/>
              </a:spcAft>
              <a:buSzPct val="100000"/>
              <a:buChar char="•"/>
            </a:pPr>
            <a:r>
              <a:rPr lang="en-US" sz="1300" dirty="0">
                <a:solidFill>
                  <a:srgbClr val="2B2323"/>
                </a:solidFill>
                <a:latin typeface="Calibri" pitchFamily="34" charset="0"/>
                <a:ea typeface="Calibri" pitchFamily="34" charset="-122"/>
                <a:cs typeface="Calibri" pitchFamily="34" charset="-120"/>
              </a:rPr>
              <a:t>Bar charts for clear category comparisons.</a:t>
            </a:r>
            <a:endParaRPr lang="en-US" sz="1300" dirty="0"/>
          </a:p>
          <a:p>
            <a:pPr marL="342900" indent="-342900">
              <a:lnSpc>
                <a:spcPct val="105000"/>
              </a:lnSpc>
              <a:spcAft>
                <a:spcPts val="1100"/>
              </a:spcAft>
              <a:buSzPct val="100000"/>
              <a:buChar char="•"/>
            </a:pPr>
            <a:r>
              <a:rPr lang="en-US" sz="1300" dirty="0">
                <a:solidFill>
                  <a:srgbClr val="2B2323"/>
                </a:solidFill>
                <a:latin typeface="Calibri" pitchFamily="34" charset="0"/>
                <a:ea typeface="Calibri" pitchFamily="34" charset="-122"/>
                <a:cs typeface="Calibri" pitchFamily="34" charset="-120"/>
              </a:rPr>
              <a:t>Donut charts for priority and status distribution.</a:t>
            </a:r>
            <a:endParaRPr lang="en-US" sz="1300" dirty="0"/>
          </a:p>
          <a:p>
            <a:pPr marL="342900" indent="-342900">
              <a:lnSpc>
                <a:spcPct val="105000"/>
              </a:lnSpc>
              <a:spcAft>
                <a:spcPts val="1100"/>
              </a:spcAft>
              <a:buSzPct val="100000"/>
              <a:buChar char="•"/>
            </a:pPr>
            <a:r>
              <a:rPr lang="en-US" sz="1300" dirty="0">
                <a:solidFill>
                  <a:srgbClr val="2B2323"/>
                </a:solidFill>
                <a:latin typeface="Calibri" pitchFamily="34" charset="0"/>
                <a:ea typeface="Calibri" pitchFamily="34" charset="-122"/>
                <a:cs typeface="Calibri" pitchFamily="34" charset="-120"/>
              </a:rPr>
              <a:t>Consistent visual layout across both pages.</a:t>
            </a:r>
            <a:endParaRPr lang="en-US" sz="1300" dirty="0"/>
          </a:p>
          <a:p>
            <a:pPr marL="342900" indent="-342900">
              <a:lnSpc>
                <a:spcPct val="105000"/>
              </a:lnSpc>
              <a:spcAft>
                <a:spcPts val="1100"/>
              </a:spcAft>
              <a:buSzPct val="100000"/>
              <a:buChar char="•"/>
            </a:pPr>
            <a:r>
              <a:rPr lang="en-US" sz="1300" dirty="0">
                <a:solidFill>
                  <a:srgbClr val="2B2323"/>
                </a:solidFill>
                <a:latin typeface="Calibri" pitchFamily="34" charset="0"/>
                <a:ea typeface="Calibri" pitchFamily="34" charset="-122"/>
                <a:cs typeface="Calibri" pitchFamily="34" charset="-120"/>
              </a:rPr>
              <a:t>Consistent red / maroon visual theme throughout.</a:t>
            </a:r>
            <a:endParaRPr lang="en-US" sz="1300" dirty="0"/>
          </a:p>
          <a:p>
            <a:pPr marL="342900" indent="-342900">
              <a:lnSpc>
                <a:spcPct val="105000"/>
              </a:lnSpc>
              <a:spcAft>
                <a:spcPts val="1100"/>
              </a:spcAft>
              <a:buSzPct val="100000"/>
              <a:buChar char="•"/>
            </a:pPr>
            <a:r>
              <a:rPr lang="en-US" sz="1300" dirty="0">
                <a:solidFill>
                  <a:srgbClr val="2B2323"/>
                </a:solidFill>
                <a:latin typeface="Calibri" pitchFamily="34" charset="0"/>
                <a:ea typeface="Calibri" pitchFamily="34" charset="-122"/>
                <a:cs typeface="Calibri" pitchFamily="34" charset="-120"/>
              </a:rPr>
              <a:t>Card-based dashboard design with soft rounded edges.</a:t>
            </a:r>
            <a:endParaRPr lang="en-US" sz="1300" dirty="0"/>
          </a:p>
          <a:p>
            <a:pPr marL="342900" indent="-342900">
              <a:lnSpc>
                <a:spcPct val="105000"/>
              </a:lnSpc>
              <a:spcAft>
                <a:spcPts val="1100"/>
              </a:spcAft>
              <a:buSzPct val="100000"/>
              <a:buChar char="•"/>
            </a:pPr>
            <a:r>
              <a:rPr lang="en-US" sz="1300" dirty="0">
                <a:solidFill>
                  <a:srgbClr val="2B2323"/>
                </a:solidFill>
                <a:latin typeface="Calibri" pitchFamily="34" charset="0"/>
                <a:ea typeface="Calibri" pitchFamily="34" charset="-122"/>
                <a:cs typeface="Calibri" pitchFamily="34" charset="-120"/>
              </a:rPr>
              <a:t>Clear separation between high-level and operational analysis.</a:t>
            </a:r>
            <a:endParaRPr lang="en-US" sz="1300" dirty="0"/>
          </a:p>
          <a:p>
            <a:pPr marL="342900" indent="-342900">
              <a:lnSpc>
                <a:spcPct val="105000"/>
              </a:lnSpc>
              <a:spcAft>
                <a:spcPts val="1100"/>
              </a:spcAft>
              <a:buSzPct val="100000"/>
              <a:buChar char="•"/>
            </a:pPr>
            <a:r>
              <a:rPr lang="en-US" sz="1300" dirty="0">
                <a:solidFill>
                  <a:srgbClr val="2B2323"/>
                </a:solidFill>
                <a:latin typeface="Calibri" pitchFamily="34" charset="0"/>
                <a:ea typeface="Calibri" pitchFamily="34" charset="-122"/>
                <a:cs typeface="Calibri" pitchFamily="34" charset="-120"/>
              </a:rPr>
              <a:t>Interactive Power BI environment enabling easy comparison between dimensions.</a:t>
            </a:r>
            <a:endParaRPr lang="en-US" sz="1300" dirty="0"/>
          </a:p>
        </p:txBody>
      </p:sp>
      <p:pic>
        <p:nvPicPr>
          <p:cNvPr id="5" name="Image 0" descr="/home/claude/project/images/page1_full.png">    </p:cNvPr>
          <p:cNvPicPr>
            <a:picLocks noChangeAspect="1"/>
          </p:cNvPicPr>
          <p:nvPr/>
        </p:nvPicPr>
        <p:blipFill>
          <a:blip r:embed="rId1"/>
          <a:stretch>
            <a:fillRect/>
          </a:stretch>
        </p:blipFill>
        <p:spPr>
          <a:xfrm>
            <a:off x="6355080" y="1508760"/>
            <a:ext cx="5376672" cy="1956816"/>
          </a:xfrm>
          <a:prstGeom prst="rect">
            <a:avLst/>
          </a:prstGeom>
        </p:spPr>
      </p:pic>
      <p:sp>
        <p:nvSpPr>
          <p:cNvPr id="6" name="Shape 3"/>
          <p:cNvSpPr/>
          <p:nvPr/>
        </p:nvSpPr>
        <p:spPr>
          <a:xfrm>
            <a:off x="6355080" y="1508760"/>
            <a:ext cx="5376672" cy="1956816"/>
          </a:xfrm>
          <a:prstGeom prst="roundRect">
            <a:avLst>
              <a:gd name="adj" fmla="val 2336"/>
            </a:avLst>
          </a:prstGeom>
          <a:ln w="12700">
            <a:solidFill>
              <a:srgbClr val="D8CACA"/>
            </a:solidFill>
            <a:prstDash val="solid"/>
          </a:ln>
        </p:spPr>
      </p:sp>
      <p:pic>
        <p:nvPicPr>
          <p:cNvPr id="7" name="Image 1" descr="/home/claude/project/images/page2_full.png">    </p:cNvPr>
          <p:cNvPicPr>
            <a:picLocks noChangeAspect="1"/>
          </p:cNvPicPr>
          <p:nvPr/>
        </p:nvPicPr>
        <p:blipFill>
          <a:blip r:embed="rId2"/>
          <a:stretch>
            <a:fillRect/>
          </a:stretch>
        </p:blipFill>
        <p:spPr>
          <a:xfrm>
            <a:off x="6355080" y="3657600"/>
            <a:ext cx="5376672" cy="1956816"/>
          </a:xfrm>
          <a:prstGeom prst="rect">
            <a:avLst/>
          </a:prstGeom>
        </p:spPr>
      </p:pic>
      <p:sp>
        <p:nvSpPr>
          <p:cNvPr id="8" name="Shape 4"/>
          <p:cNvSpPr/>
          <p:nvPr/>
        </p:nvSpPr>
        <p:spPr>
          <a:xfrm>
            <a:off x="6355080" y="3657600"/>
            <a:ext cx="5376672" cy="1956816"/>
          </a:xfrm>
          <a:prstGeom prst="roundRect">
            <a:avLst>
              <a:gd name="adj" fmla="val 2336"/>
            </a:avLst>
          </a:prstGeom>
          <a:ln w="12700">
            <a:solidFill>
              <a:srgbClr val="D8CACA"/>
            </a:solidFill>
            <a:prstDash val="solid"/>
          </a:ln>
        </p:spPr>
      </p:sp>
      <p:sp>
        <p:nvSpPr>
          <p:cNvPr id="9" name="Text 5"/>
          <p:cNvSpPr/>
          <p:nvPr/>
        </p:nvSpPr>
        <p:spPr>
          <a:xfrm>
            <a:off x="457200" y="5806440"/>
            <a:ext cx="11247120" cy="457200"/>
          </a:xfrm>
          <a:prstGeom prst="rect">
            <a:avLst/>
          </a:prstGeom>
          <a:noFill/>
          <a:ln/>
        </p:spPr>
        <p:txBody>
          <a:bodyPr wrap="square" rtlCol="0" anchor="ctr"/>
          <a:lstStyle/>
          <a:p>
            <a:pPr indent="0" marL="0">
              <a:buNone/>
            </a:pPr>
            <a:r>
              <a:rPr lang="en-US" sz="1150" i="1" dirty="0">
                <a:solidFill>
                  <a:srgbClr val="6E6262"/>
                </a:solidFill>
                <a:latin typeface="Calibri" pitchFamily="34" charset="0"/>
                <a:ea typeface="Calibri" pitchFamily="34" charset="-122"/>
                <a:cs typeface="Calibri" pitchFamily="34" charset="-120"/>
              </a:rPr>
              <a:t>The dashboard was aligned and arranged to maintain consistent spacing and readability across both pages.</a:t>
            </a:r>
            <a:endParaRPr lang="en-US" sz="1150" dirty="0"/>
          </a:p>
        </p:txBody>
      </p:sp>
      <p:sp>
        <p:nvSpPr>
          <p:cNvPr id="10" name="Text 6"/>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11" name="Text 7"/>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Dashboard Design</a:t>
            </a:r>
            <a:endParaRPr lang="en-US" sz="900" dirty="0"/>
          </a:p>
        </p:txBody>
      </p:sp>
      <p:sp>
        <p:nvSpPr>
          <p:cNvPr id="12" name="Shape 8"/>
          <p:cNvSpPr/>
          <p:nvPr/>
        </p:nvSpPr>
        <p:spPr>
          <a:xfrm>
            <a:off x="11475720" y="6492240"/>
            <a:ext cx="310896" cy="310896"/>
          </a:xfrm>
          <a:prstGeom prst="ellipse">
            <a:avLst/>
          </a:prstGeom>
          <a:solidFill>
            <a:srgbClr val="7A1F2B"/>
          </a:solidFill>
          <a:ln/>
        </p:spPr>
      </p:sp>
      <p:sp>
        <p:nvSpPr>
          <p:cNvPr id="13" name="Text 9"/>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FINDINGS</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Key Observations</a:t>
            </a:r>
            <a:endParaRPr lang="en-US" sz="3000" dirty="0"/>
          </a:p>
        </p:txBody>
      </p:sp>
      <p:sp>
        <p:nvSpPr>
          <p:cNvPr id="4" name="Shape 2"/>
          <p:cNvSpPr/>
          <p:nvPr/>
        </p:nvSpPr>
        <p:spPr>
          <a:xfrm>
            <a:off x="457200" y="1508760"/>
            <a:ext cx="5486400" cy="4572000"/>
          </a:xfrm>
          <a:prstGeom prst="roundRect">
            <a:avLst>
              <a:gd name="adj" fmla="val 1800"/>
            </a:avLst>
          </a:prstGeom>
          <a:solidFill>
            <a:srgbClr val="FBF6F6"/>
          </a:solidFill>
          <a:ln/>
          <a:effectLst>
            <a:outerShdw sx="100000" sy="100000" kx="0" ky="0" algn="bl" rotWithShape="0" blurRad="76200" dist="25400" dir="5400000">
              <a:srgbClr val="9C8A88">
                <a:alpha val="28000"/>
              </a:srgbClr>
            </a:outerShdw>
          </a:effectLst>
        </p:spPr>
      </p:sp>
      <p:sp>
        <p:nvSpPr>
          <p:cNvPr id="5" name="Text 3"/>
          <p:cNvSpPr/>
          <p:nvPr/>
        </p:nvSpPr>
        <p:spPr>
          <a:xfrm>
            <a:off x="777240" y="1737360"/>
            <a:ext cx="4892040" cy="4206240"/>
          </a:xfrm>
          <a:prstGeom prst="rect">
            <a:avLst/>
          </a:prstGeom>
          <a:noFill/>
          <a:ln/>
        </p:spPr>
        <p:txBody>
          <a:bodyPr wrap="square" lIns="0" tIns="0" rIns="0" bIns="0" rtlCol="0" anchor="t"/>
          <a:lstStyle/>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Total ticket volume is approximately 100K.</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High-priority tickets are approximately 20K.</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Urgent tickets are approximately 5K.</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Average resolution time is 38.99.</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Average CSAT is 2.24.</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Average similarity score is 0.02.</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Page 2 shows approximately 50K unresolved tickets.</a:t>
            </a:r>
            <a:endParaRPr lang="en-US" sz="1250" dirty="0"/>
          </a:p>
        </p:txBody>
      </p:sp>
      <p:sp>
        <p:nvSpPr>
          <p:cNvPr id="6" name="Shape 4"/>
          <p:cNvSpPr/>
          <p:nvPr/>
        </p:nvSpPr>
        <p:spPr>
          <a:xfrm>
            <a:off x="6245352" y="1508760"/>
            <a:ext cx="5486400" cy="4572000"/>
          </a:xfrm>
          <a:prstGeom prst="roundRect">
            <a:avLst>
              <a:gd name="adj" fmla="val 1800"/>
            </a:avLst>
          </a:prstGeom>
          <a:solidFill>
            <a:srgbClr val="FBF6F6"/>
          </a:solidFill>
          <a:ln/>
          <a:effectLst>
            <a:outerShdw sx="100000" sy="100000" kx="0" ky="0" algn="bl" rotWithShape="0" blurRad="76200" dist="25400" dir="5400000">
              <a:srgbClr val="9C8A88">
                <a:alpha val="28000"/>
              </a:srgbClr>
            </a:outerShdw>
          </a:effectLst>
        </p:spPr>
      </p:sp>
      <p:sp>
        <p:nvSpPr>
          <p:cNvPr id="7" name="Text 5"/>
          <p:cNvSpPr/>
          <p:nvPr/>
        </p:nvSpPr>
        <p:spPr>
          <a:xfrm>
            <a:off x="6565392" y="1737360"/>
            <a:ext cx="4892040" cy="4206240"/>
          </a:xfrm>
          <a:prstGeom prst="rect">
            <a:avLst/>
          </a:prstGeom>
          <a:noFill/>
          <a:ln/>
        </p:spPr>
        <p:txBody>
          <a:bodyPr wrap="square" lIns="0" tIns="0" rIns="0" bIns="0" rtlCol="0" anchor="t"/>
          <a:lstStyle/>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Ticket distribution can be compared across regions.</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Ticket distribution can be compared across platforms.</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Product areas have relatively similar ticket volumes in the displayed chart.</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Low and medium priority tickets form larger portions than urgent tickets.</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Status distribution shows resolved, in-progress, on-hold, closed/no-action, and open tickets.</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Reopened tickets can be analyzed by platform.</a:t>
            </a:r>
            <a:endParaRPr lang="en-US" sz="1250" dirty="0"/>
          </a:p>
          <a:p>
            <a:pPr marL="342900" indent="-342900">
              <a:lnSpc>
                <a:spcPct val="105000"/>
              </a:lnSpc>
              <a:spcAft>
                <a:spcPts val="1300"/>
              </a:spcAft>
              <a:buSzPct val="100000"/>
              <a:buChar char="•"/>
            </a:pPr>
            <a:r>
              <a:rPr lang="en-US" sz="1250" dirty="0">
                <a:solidFill>
                  <a:srgbClr val="2B2323"/>
                </a:solidFill>
                <a:latin typeface="Calibri" pitchFamily="34" charset="0"/>
                <a:ea typeface="Calibri" pitchFamily="34" charset="-122"/>
                <a:cs typeface="Calibri" pitchFamily="34" charset="-120"/>
              </a:rPr>
              <a:t>Customer sentiment distribution adds a further dimension for understanding support interactions.</a:t>
            </a:r>
            <a:endParaRPr lang="en-US" sz="1250" dirty="0"/>
          </a:p>
        </p:txBody>
      </p:sp>
      <p:sp>
        <p:nvSpPr>
          <p:cNvPr id="8" name="Text 6"/>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9" name="Text 7"/>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Key Observations</a:t>
            </a:r>
            <a:endParaRPr lang="en-US" sz="900" dirty="0"/>
          </a:p>
        </p:txBody>
      </p:sp>
      <p:sp>
        <p:nvSpPr>
          <p:cNvPr id="10" name="Shape 8"/>
          <p:cNvSpPr/>
          <p:nvPr/>
        </p:nvSpPr>
        <p:spPr>
          <a:xfrm>
            <a:off x="11475720" y="6492240"/>
            <a:ext cx="310896" cy="310896"/>
          </a:xfrm>
          <a:prstGeom prst="ellipse">
            <a:avLst/>
          </a:prstGeom>
          <a:solidFill>
            <a:srgbClr val="7A1F2B"/>
          </a:solidFill>
          <a:ln/>
        </p:spPr>
      </p:sp>
      <p:sp>
        <p:nvSpPr>
          <p:cNvPr id="11" name="Text 9"/>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IMPACT</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Business &amp; Operational Value</a:t>
            </a:r>
            <a:endParaRPr lang="en-US" sz="3000" dirty="0"/>
          </a:p>
        </p:txBody>
      </p:sp>
      <p:sp>
        <p:nvSpPr>
          <p:cNvPr id="4" name="Shape 2"/>
          <p:cNvSpPr/>
          <p:nvPr/>
        </p:nvSpPr>
        <p:spPr>
          <a:xfrm>
            <a:off x="457200" y="1508760"/>
            <a:ext cx="5440680" cy="841248"/>
          </a:xfrm>
          <a:prstGeom prst="roundRect">
            <a:avLst>
              <a:gd name="adj" fmla="val 8696"/>
            </a:avLst>
          </a:prstGeom>
          <a:solidFill>
            <a:srgbClr val="F6F1F0"/>
          </a:solidFill>
          <a:ln/>
        </p:spPr>
      </p:sp>
      <p:sp>
        <p:nvSpPr>
          <p:cNvPr id="5" name="Shape 3"/>
          <p:cNvSpPr/>
          <p:nvPr/>
        </p:nvSpPr>
        <p:spPr>
          <a:xfrm>
            <a:off x="621792" y="1728216"/>
            <a:ext cx="402336" cy="402336"/>
          </a:xfrm>
          <a:prstGeom prst="ellipse">
            <a:avLst/>
          </a:prstGeom>
          <a:solidFill>
            <a:srgbClr val="7A1F2B"/>
          </a:solidFill>
          <a:ln/>
        </p:spPr>
      </p:sp>
      <p:sp>
        <p:nvSpPr>
          <p:cNvPr id="6" name="Text 4"/>
          <p:cNvSpPr/>
          <p:nvPr/>
        </p:nvSpPr>
        <p:spPr>
          <a:xfrm>
            <a:off x="621792" y="1728216"/>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70432" y="1508760"/>
            <a:ext cx="4572000" cy="841248"/>
          </a:xfrm>
          <a:prstGeom prst="rect">
            <a:avLst/>
          </a:prstGeom>
          <a:noFill/>
          <a:ln/>
        </p:spPr>
        <p:txBody>
          <a:bodyPr wrap="square" lIns="0" tIns="0" rIns="0" bIns="0" rtlCol="0" anchor="ctr"/>
          <a:lstStyle/>
          <a:p>
            <a:pPr indent="0" marL="0">
              <a:buNone/>
            </a:pPr>
            <a:r>
              <a:rPr lang="en-US" sz="1300" dirty="0">
                <a:solidFill>
                  <a:srgbClr val="2B2323"/>
                </a:solidFill>
                <a:latin typeface="Calibri" pitchFamily="34" charset="0"/>
                <a:ea typeface="Calibri" pitchFamily="34" charset="-122"/>
                <a:cs typeface="Calibri" pitchFamily="34" charset="-120"/>
              </a:rPr>
              <a:t>Faster monitoring of ticket workload</a:t>
            </a:r>
            <a:endParaRPr lang="en-US" sz="1300" dirty="0"/>
          </a:p>
        </p:txBody>
      </p:sp>
      <p:sp>
        <p:nvSpPr>
          <p:cNvPr id="8" name="Shape 6"/>
          <p:cNvSpPr/>
          <p:nvPr/>
        </p:nvSpPr>
        <p:spPr>
          <a:xfrm>
            <a:off x="457200" y="2478024"/>
            <a:ext cx="5440680" cy="841248"/>
          </a:xfrm>
          <a:prstGeom prst="roundRect">
            <a:avLst>
              <a:gd name="adj" fmla="val 8696"/>
            </a:avLst>
          </a:prstGeom>
          <a:solidFill>
            <a:srgbClr val="F6F1F0"/>
          </a:solidFill>
          <a:ln/>
        </p:spPr>
      </p:sp>
      <p:sp>
        <p:nvSpPr>
          <p:cNvPr id="9" name="Shape 7"/>
          <p:cNvSpPr/>
          <p:nvPr/>
        </p:nvSpPr>
        <p:spPr>
          <a:xfrm>
            <a:off x="621792" y="2697480"/>
            <a:ext cx="402336" cy="402336"/>
          </a:xfrm>
          <a:prstGeom prst="ellipse">
            <a:avLst/>
          </a:prstGeom>
          <a:solidFill>
            <a:srgbClr val="7A1F2B"/>
          </a:solidFill>
          <a:ln/>
        </p:spPr>
      </p:sp>
      <p:sp>
        <p:nvSpPr>
          <p:cNvPr id="10" name="Text 8"/>
          <p:cNvSpPr/>
          <p:nvPr/>
        </p:nvSpPr>
        <p:spPr>
          <a:xfrm>
            <a:off x="621792" y="2697480"/>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170432" y="2478024"/>
            <a:ext cx="4572000" cy="841248"/>
          </a:xfrm>
          <a:prstGeom prst="rect">
            <a:avLst/>
          </a:prstGeom>
          <a:noFill/>
          <a:ln/>
        </p:spPr>
        <p:txBody>
          <a:bodyPr wrap="square" lIns="0" tIns="0" rIns="0" bIns="0" rtlCol="0" anchor="ctr"/>
          <a:lstStyle/>
          <a:p>
            <a:pPr indent="0" marL="0">
              <a:buNone/>
            </a:pPr>
            <a:r>
              <a:rPr lang="en-US" sz="1300" dirty="0">
                <a:solidFill>
                  <a:srgbClr val="2B2323"/>
                </a:solidFill>
                <a:latin typeface="Calibri" pitchFamily="34" charset="0"/>
                <a:ea typeface="Calibri" pitchFamily="34" charset="-122"/>
                <a:cs typeface="Calibri" pitchFamily="34" charset="-120"/>
              </a:rPr>
              <a:t>Easier identification of high-priority and urgent tickets</a:t>
            </a:r>
            <a:endParaRPr lang="en-US" sz="1300" dirty="0"/>
          </a:p>
        </p:txBody>
      </p:sp>
      <p:sp>
        <p:nvSpPr>
          <p:cNvPr id="12" name="Shape 10"/>
          <p:cNvSpPr/>
          <p:nvPr/>
        </p:nvSpPr>
        <p:spPr>
          <a:xfrm>
            <a:off x="457200" y="3447288"/>
            <a:ext cx="5440680" cy="841248"/>
          </a:xfrm>
          <a:prstGeom prst="roundRect">
            <a:avLst>
              <a:gd name="adj" fmla="val 8696"/>
            </a:avLst>
          </a:prstGeom>
          <a:solidFill>
            <a:srgbClr val="F6F1F0"/>
          </a:solidFill>
          <a:ln/>
        </p:spPr>
      </p:sp>
      <p:sp>
        <p:nvSpPr>
          <p:cNvPr id="13" name="Shape 11"/>
          <p:cNvSpPr/>
          <p:nvPr/>
        </p:nvSpPr>
        <p:spPr>
          <a:xfrm>
            <a:off x="621792" y="3666744"/>
            <a:ext cx="402336" cy="402336"/>
          </a:xfrm>
          <a:prstGeom prst="ellipse">
            <a:avLst/>
          </a:prstGeom>
          <a:solidFill>
            <a:srgbClr val="7A1F2B"/>
          </a:solidFill>
          <a:ln/>
        </p:spPr>
      </p:sp>
      <p:sp>
        <p:nvSpPr>
          <p:cNvPr id="14" name="Text 12"/>
          <p:cNvSpPr/>
          <p:nvPr/>
        </p:nvSpPr>
        <p:spPr>
          <a:xfrm>
            <a:off x="621792" y="366674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170432" y="3447288"/>
            <a:ext cx="4572000" cy="841248"/>
          </a:xfrm>
          <a:prstGeom prst="rect">
            <a:avLst/>
          </a:prstGeom>
          <a:noFill/>
          <a:ln/>
        </p:spPr>
        <p:txBody>
          <a:bodyPr wrap="square" lIns="0" tIns="0" rIns="0" bIns="0" rtlCol="0" anchor="ctr"/>
          <a:lstStyle/>
          <a:p>
            <a:pPr indent="0" marL="0">
              <a:buNone/>
            </a:pPr>
            <a:r>
              <a:rPr lang="en-US" sz="1300" dirty="0">
                <a:solidFill>
                  <a:srgbClr val="2B2323"/>
                </a:solidFill>
                <a:latin typeface="Calibri" pitchFamily="34" charset="0"/>
                <a:ea typeface="Calibri" pitchFamily="34" charset="-122"/>
                <a:cs typeface="Calibri" pitchFamily="34" charset="-120"/>
              </a:rPr>
              <a:t>Better visibility into unresolved tickets</a:t>
            </a:r>
            <a:endParaRPr lang="en-US" sz="1300" dirty="0"/>
          </a:p>
        </p:txBody>
      </p:sp>
      <p:sp>
        <p:nvSpPr>
          <p:cNvPr id="16" name="Shape 14"/>
          <p:cNvSpPr/>
          <p:nvPr/>
        </p:nvSpPr>
        <p:spPr>
          <a:xfrm>
            <a:off x="457200" y="4416552"/>
            <a:ext cx="5440680" cy="841248"/>
          </a:xfrm>
          <a:prstGeom prst="roundRect">
            <a:avLst>
              <a:gd name="adj" fmla="val 8696"/>
            </a:avLst>
          </a:prstGeom>
          <a:solidFill>
            <a:srgbClr val="F6F1F0"/>
          </a:solidFill>
          <a:ln/>
        </p:spPr>
      </p:sp>
      <p:sp>
        <p:nvSpPr>
          <p:cNvPr id="17" name="Shape 15"/>
          <p:cNvSpPr/>
          <p:nvPr/>
        </p:nvSpPr>
        <p:spPr>
          <a:xfrm>
            <a:off x="621792" y="4636008"/>
            <a:ext cx="402336" cy="402336"/>
          </a:xfrm>
          <a:prstGeom prst="ellipse">
            <a:avLst/>
          </a:prstGeom>
          <a:solidFill>
            <a:srgbClr val="7A1F2B"/>
          </a:solidFill>
          <a:ln/>
        </p:spPr>
      </p:sp>
      <p:sp>
        <p:nvSpPr>
          <p:cNvPr id="18" name="Text 16"/>
          <p:cNvSpPr/>
          <p:nvPr/>
        </p:nvSpPr>
        <p:spPr>
          <a:xfrm>
            <a:off x="621792" y="463600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170432" y="4416552"/>
            <a:ext cx="4572000" cy="841248"/>
          </a:xfrm>
          <a:prstGeom prst="rect">
            <a:avLst/>
          </a:prstGeom>
          <a:noFill/>
          <a:ln/>
        </p:spPr>
        <p:txBody>
          <a:bodyPr wrap="square" lIns="0" tIns="0" rIns="0" bIns="0" rtlCol="0" anchor="ctr"/>
          <a:lstStyle/>
          <a:p>
            <a:pPr indent="0" marL="0">
              <a:buNone/>
            </a:pPr>
            <a:r>
              <a:rPr lang="en-US" sz="1300" dirty="0">
                <a:solidFill>
                  <a:srgbClr val="2B2323"/>
                </a:solidFill>
                <a:latin typeface="Calibri" pitchFamily="34" charset="0"/>
                <a:ea typeface="Calibri" pitchFamily="34" charset="-122"/>
                <a:cs typeface="Calibri" pitchFamily="34" charset="-120"/>
              </a:rPr>
              <a:t>Comparison of resolution performance across platforms</a:t>
            </a:r>
            <a:endParaRPr lang="en-US" sz="1300" dirty="0"/>
          </a:p>
        </p:txBody>
      </p:sp>
      <p:sp>
        <p:nvSpPr>
          <p:cNvPr id="20" name="Shape 18"/>
          <p:cNvSpPr/>
          <p:nvPr/>
        </p:nvSpPr>
        <p:spPr>
          <a:xfrm>
            <a:off x="457200" y="5385816"/>
            <a:ext cx="5440680" cy="841248"/>
          </a:xfrm>
          <a:prstGeom prst="roundRect">
            <a:avLst>
              <a:gd name="adj" fmla="val 8696"/>
            </a:avLst>
          </a:prstGeom>
          <a:solidFill>
            <a:srgbClr val="F6F1F0"/>
          </a:solidFill>
          <a:ln/>
        </p:spPr>
      </p:sp>
      <p:sp>
        <p:nvSpPr>
          <p:cNvPr id="21" name="Shape 19"/>
          <p:cNvSpPr/>
          <p:nvPr/>
        </p:nvSpPr>
        <p:spPr>
          <a:xfrm>
            <a:off x="621792" y="5605272"/>
            <a:ext cx="402336" cy="402336"/>
          </a:xfrm>
          <a:prstGeom prst="ellipse">
            <a:avLst/>
          </a:prstGeom>
          <a:solidFill>
            <a:srgbClr val="7A1F2B"/>
          </a:solidFill>
          <a:ln/>
        </p:spPr>
      </p:sp>
      <p:sp>
        <p:nvSpPr>
          <p:cNvPr id="22" name="Text 20"/>
          <p:cNvSpPr/>
          <p:nvPr/>
        </p:nvSpPr>
        <p:spPr>
          <a:xfrm>
            <a:off x="621792" y="5605272"/>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170432" y="5385816"/>
            <a:ext cx="4572000" cy="841248"/>
          </a:xfrm>
          <a:prstGeom prst="rect">
            <a:avLst/>
          </a:prstGeom>
          <a:noFill/>
          <a:ln/>
        </p:spPr>
        <p:txBody>
          <a:bodyPr wrap="square" lIns="0" tIns="0" rIns="0" bIns="0" rtlCol="0" anchor="ctr"/>
          <a:lstStyle/>
          <a:p>
            <a:pPr indent="0" marL="0">
              <a:buNone/>
            </a:pPr>
            <a:r>
              <a:rPr lang="en-US" sz="1300" dirty="0">
                <a:solidFill>
                  <a:srgbClr val="2B2323"/>
                </a:solidFill>
                <a:latin typeface="Calibri" pitchFamily="34" charset="0"/>
                <a:ea typeface="Calibri" pitchFamily="34" charset="-122"/>
                <a:cs typeface="Calibri" pitchFamily="34" charset="-120"/>
              </a:rPr>
              <a:t>Understanding regional ticket distribution</a:t>
            </a:r>
            <a:endParaRPr lang="en-US" sz="1300" dirty="0"/>
          </a:p>
        </p:txBody>
      </p:sp>
      <p:sp>
        <p:nvSpPr>
          <p:cNvPr id="24" name="Shape 22"/>
          <p:cNvSpPr/>
          <p:nvPr/>
        </p:nvSpPr>
        <p:spPr>
          <a:xfrm>
            <a:off x="6263640" y="1508760"/>
            <a:ext cx="5440680" cy="841248"/>
          </a:xfrm>
          <a:prstGeom prst="roundRect">
            <a:avLst>
              <a:gd name="adj" fmla="val 8696"/>
            </a:avLst>
          </a:prstGeom>
          <a:solidFill>
            <a:srgbClr val="F6F1F0"/>
          </a:solidFill>
          <a:ln/>
        </p:spPr>
      </p:sp>
      <p:sp>
        <p:nvSpPr>
          <p:cNvPr id="25" name="Shape 23"/>
          <p:cNvSpPr/>
          <p:nvPr/>
        </p:nvSpPr>
        <p:spPr>
          <a:xfrm>
            <a:off x="6428232" y="1728216"/>
            <a:ext cx="402336" cy="402336"/>
          </a:xfrm>
          <a:prstGeom prst="ellipse">
            <a:avLst/>
          </a:prstGeom>
          <a:solidFill>
            <a:srgbClr val="7A1F2B"/>
          </a:solidFill>
          <a:ln/>
        </p:spPr>
      </p:sp>
      <p:sp>
        <p:nvSpPr>
          <p:cNvPr id="26" name="Text 24"/>
          <p:cNvSpPr/>
          <p:nvPr/>
        </p:nvSpPr>
        <p:spPr>
          <a:xfrm>
            <a:off x="6428232" y="1728216"/>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6976872" y="1508760"/>
            <a:ext cx="4572000" cy="841248"/>
          </a:xfrm>
          <a:prstGeom prst="rect">
            <a:avLst/>
          </a:prstGeom>
          <a:noFill/>
          <a:ln/>
        </p:spPr>
        <p:txBody>
          <a:bodyPr wrap="square" lIns="0" tIns="0" rIns="0" bIns="0" rtlCol="0" anchor="ctr"/>
          <a:lstStyle/>
          <a:p>
            <a:pPr indent="0" marL="0">
              <a:buNone/>
            </a:pPr>
            <a:r>
              <a:rPr lang="en-US" sz="1300" dirty="0">
                <a:solidFill>
                  <a:srgbClr val="2B2323"/>
                </a:solidFill>
                <a:latin typeface="Calibri" pitchFamily="34" charset="0"/>
                <a:ea typeface="Calibri" pitchFamily="34" charset="-122"/>
                <a:cs typeface="Calibri" pitchFamily="34" charset="-120"/>
              </a:rPr>
              <a:t>Identification of frequently occurring product areas / issues</a:t>
            </a:r>
            <a:endParaRPr lang="en-US" sz="1300" dirty="0"/>
          </a:p>
        </p:txBody>
      </p:sp>
      <p:sp>
        <p:nvSpPr>
          <p:cNvPr id="28" name="Shape 26"/>
          <p:cNvSpPr/>
          <p:nvPr/>
        </p:nvSpPr>
        <p:spPr>
          <a:xfrm>
            <a:off x="6263640" y="2478024"/>
            <a:ext cx="5440680" cy="841248"/>
          </a:xfrm>
          <a:prstGeom prst="roundRect">
            <a:avLst>
              <a:gd name="adj" fmla="val 8696"/>
            </a:avLst>
          </a:prstGeom>
          <a:solidFill>
            <a:srgbClr val="F6F1F0"/>
          </a:solidFill>
          <a:ln/>
        </p:spPr>
      </p:sp>
      <p:sp>
        <p:nvSpPr>
          <p:cNvPr id="29" name="Shape 27"/>
          <p:cNvSpPr/>
          <p:nvPr/>
        </p:nvSpPr>
        <p:spPr>
          <a:xfrm>
            <a:off x="6428232" y="2697480"/>
            <a:ext cx="402336" cy="402336"/>
          </a:xfrm>
          <a:prstGeom prst="ellipse">
            <a:avLst/>
          </a:prstGeom>
          <a:solidFill>
            <a:srgbClr val="7A1F2B"/>
          </a:solidFill>
          <a:ln/>
        </p:spPr>
      </p:sp>
      <p:sp>
        <p:nvSpPr>
          <p:cNvPr id="30" name="Text 28"/>
          <p:cNvSpPr/>
          <p:nvPr/>
        </p:nvSpPr>
        <p:spPr>
          <a:xfrm>
            <a:off x="6428232" y="2697480"/>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1" name="Text 29"/>
          <p:cNvSpPr/>
          <p:nvPr/>
        </p:nvSpPr>
        <p:spPr>
          <a:xfrm>
            <a:off x="6976872" y="2478024"/>
            <a:ext cx="4572000" cy="841248"/>
          </a:xfrm>
          <a:prstGeom prst="rect">
            <a:avLst/>
          </a:prstGeom>
          <a:noFill/>
          <a:ln/>
        </p:spPr>
        <p:txBody>
          <a:bodyPr wrap="square" lIns="0" tIns="0" rIns="0" bIns="0" rtlCol="0" anchor="ctr"/>
          <a:lstStyle/>
          <a:p>
            <a:pPr indent="0" marL="0">
              <a:buNone/>
            </a:pPr>
            <a:r>
              <a:rPr lang="en-US" sz="1300" dirty="0">
                <a:solidFill>
                  <a:srgbClr val="2B2323"/>
                </a:solidFill>
                <a:latin typeface="Calibri" pitchFamily="34" charset="0"/>
                <a:ea typeface="Calibri" pitchFamily="34" charset="-122"/>
                <a:cs typeface="Calibri" pitchFamily="34" charset="-120"/>
              </a:rPr>
              <a:t>Monitoring reopened tickets</a:t>
            </a:r>
            <a:endParaRPr lang="en-US" sz="1300" dirty="0"/>
          </a:p>
        </p:txBody>
      </p:sp>
      <p:sp>
        <p:nvSpPr>
          <p:cNvPr id="32" name="Shape 30"/>
          <p:cNvSpPr/>
          <p:nvPr/>
        </p:nvSpPr>
        <p:spPr>
          <a:xfrm>
            <a:off x="6263640" y="3447288"/>
            <a:ext cx="5440680" cy="841248"/>
          </a:xfrm>
          <a:prstGeom prst="roundRect">
            <a:avLst>
              <a:gd name="adj" fmla="val 8696"/>
            </a:avLst>
          </a:prstGeom>
          <a:solidFill>
            <a:srgbClr val="F6F1F0"/>
          </a:solidFill>
          <a:ln/>
        </p:spPr>
      </p:sp>
      <p:sp>
        <p:nvSpPr>
          <p:cNvPr id="33" name="Shape 31"/>
          <p:cNvSpPr/>
          <p:nvPr/>
        </p:nvSpPr>
        <p:spPr>
          <a:xfrm>
            <a:off x="6428232" y="3666744"/>
            <a:ext cx="402336" cy="402336"/>
          </a:xfrm>
          <a:prstGeom prst="ellipse">
            <a:avLst/>
          </a:prstGeom>
          <a:solidFill>
            <a:srgbClr val="7A1F2B"/>
          </a:solidFill>
          <a:ln/>
        </p:spPr>
      </p:sp>
      <p:sp>
        <p:nvSpPr>
          <p:cNvPr id="34" name="Text 32"/>
          <p:cNvSpPr/>
          <p:nvPr/>
        </p:nvSpPr>
        <p:spPr>
          <a:xfrm>
            <a:off x="6428232" y="366674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5" name="Text 33"/>
          <p:cNvSpPr/>
          <p:nvPr/>
        </p:nvSpPr>
        <p:spPr>
          <a:xfrm>
            <a:off x="6976872" y="3447288"/>
            <a:ext cx="4572000" cy="841248"/>
          </a:xfrm>
          <a:prstGeom prst="rect">
            <a:avLst/>
          </a:prstGeom>
          <a:noFill/>
          <a:ln/>
        </p:spPr>
        <p:txBody>
          <a:bodyPr wrap="square" lIns="0" tIns="0" rIns="0" bIns="0" rtlCol="0" anchor="ctr"/>
          <a:lstStyle/>
          <a:p>
            <a:pPr indent="0" marL="0">
              <a:buNone/>
            </a:pPr>
            <a:r>
              <a:rPr lang="en-US" sz="1300" dirty="0">
                <a:solidFill>
                  <a:srgbClr val="2B2323"/>
                </a:solidFill>
                <a:latin typeface="Calibri" pitchFamily="34" charset="0"/>
                <a:ea typeface="Calibri" pitchFamily="34" charset="-122"/>
                <a:cs typeface="Calibri" pitchFamily="34" charset="-120"/>
              </a:rPr>
              <a:t>Understanding customer sentiment</a:t>
            </a:r>
            <a:endParaRPr lang="en-US" sz="1300" dirty="0"/>
          </a:p>
        </p:txBody>
      </p:sp>
      <p:sp>
        <p:nvSpPr>
          <p:cNvPr id="36" name="Shape 34"/>
          <p:cNvSpPr/>
          <p:nvPr/>
        </p:nvSpPr>
        <p:spPr>
          <a:xfrm>
            <a:off x="6263640" y="4416552"/>
            <a:ext cx="5440680" cy="841248"/>
          </a:xfrm>
          <a:prstGeom prst="roundRect">
            <a:avLst>
              <a:gd name="adj" fmla="val 8696"/>
            </a:avLst>
          </a:prstGeom>
          <a:solidFill>
            <a:srgbClr val="F6F1F0"/>
          </a:solidFill>
          <a:ln/>
        </p:spPr>
      </p:sp>
      <p:sp>
        <p:nvSpPr>
          <p:cNvPr id="37" name="Shape 35"/>
          <p:cNvSpPr/>
          <p:nvPr/>
        </p:nvSpPr>
        <p:spPr>
          <a:xfrm>
            <a:off x="6428232" y="4636008"/>
            <a:ext cx="402336" cy="402336"/>
          </a:xfrm>
          <a:prstGeom prst="ellipse">
            <a:avLst/>
          </a:prstGeom>
          <a:solidFill>
            <a:srgbClr val="7A1F2B"/>
          </a:solidFill>
          <a:ln/>
        </p:spPr>
      </p:sp>
      <p:sp>
        <p:nvSpPr>
          <p:cNvPr id="38" name="Text 36"/>
          <p:cNvSpPr/>
          <p:nvPr/>
        </p:nvSpPr>
        <p:spPr>
          <a:xfrm>
            <a:off x="6428232" y="463600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9" name="Text 37"/>
          <p:cNvSpPr/>
          <p:nvPr/>
        </p:nvSpPr>
        <p:spPr>
          <a:xfrm>
            <a:off x="6976872" y="4416552"/>
            <a:ext cx="4572000" cy="841248"/>
          </a:xfrm>
          <a:prstGeom prst="rect">
            <a:avLst/>
          </a:prstGeom>
          <a:noFill/>
          <a:ln/>
        </p:spPr>
        <p:txBody>
          <a:bodyPr wrap="square" lIns="0" tIns="0" rIns="0" bIns="0" rtlCol="0" anchor="ctr"/>
          <a:lstStyle/>
          <a:p>
            <a:pPr indent="0" marL="0">
              <a:buNone/>
            </a:pPr>
            <a:r>
              <a:rPr lang="en-US" sz="1300" dirty="0">
                <a:solidFill>
                  <a:srgbClr val="2B2323"/>
                </a:solidFill>
                <a:latin typeface="Calibri" pitchFamily="34" charset="0"/>
                <a:ea typeface="Calibri" pitchFamily="34" charset="-122"/>
                <a:cs typeface="Calibri" pitchFamily="34" charset="-120"/>
              </a:rPr>
              <a:t>Supporting data-driven operational decisions</a:t>
            </a:r>
            <a:endParaRPr lang="en-US" sz="1300" dirty="0"/>
          </a:p>
        </p:txBody>
      </p:sp>
      <p:sp>
        <p:nvSpPr>
          <p:cNvPr id="40" name="Shape 38"/>
          <p:cNvSpPr/>
          <p:nvPr/>
        </p:nvSpPr>
        <p:spPr>
          <a:xfrm>
            <a:off x="6263640" y="5385816"/>
            <a:ext cx="5440680" cy="841248"/>
          </a:xfrm>
          <a:prstGeom prst="roundRect">
            <a:avLst>
              <a:gd name="adj" fmla="val 8696"/>
            </a:avLst>
          </a:prstGeom>
          <a:solidFill>
            <a:srgbClr val="F6F1F0"/>
          </a:solidFill>
          <a:ln/>
        </p:spPr>
      </p:sp>
      <p:sp>
        <p:nvSpPr>
          <p:cNvPr id="41" name="Shape 39"/>
          <p:cNvSpPr/>
          <p:nvPr/>
        </p:nvSpPr>
        <p:spPr>
          <a:xfrm>
            <a:off x="6428232" y="5605272"/>
            <a:ext cx="402336" cy="402336"/>
          </a:xfrm>
          <a:prstGeom prst="ellipse">
            <a:avLst/>
          </a:prstGeom>
          <a:solidFill>
            <a:srgbClr val="7A1F2B"/>
          </a:solidFill>
          <a:ln/>
        </p:spPr>
      </p:sp>
      <p:sp>
        <p:nvSpPr>
          <p:cNvPr id="42" name="Text 40"/>
          <p:cNvSpPr/>
          <p:nvPr/>
        </p:nvSpPr>
        <p:spPr>
          <a:xfrm>
            <a:off x="6428232" y="5605272"/>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3" name="Text 41"/>
          <p:cNvSpPr/>
          <p:nvPr/>
        </p:nvSpPr>
        <p:spPr>
          <a:xfrm>
            <a:off x="6976872" y="5385816"/>
            <a:ext cx="4572000" cy="841248"/>
          </a:xfrm>
          <a:prstGeom prst="rect">
            <a:avLst/>
          </a:prstGeom>
          <a:noFill/>
          <a:ln/>
        </p:spPr>
        <p:txBody>
          <a:bodyPr wrap="square" lIns="0" tIns="0" rIns="0" bIns="0" rtlCol="0" anchor="ctr"/>
          <a:lstStyle/>
          <a:p>
            <a:pPr indent="0" marL="0">
              <a:buNone/>
            </a:pPr>
            <a:r>
              <a:rPr lang="en-US" sz="1300" dirty="0">
                <a:solidFill>
                  <a:srgbClr val="2B2323"/>
                </a:solidFill>
                <a:latin typeface="Calibri" pitchFamily="34" charset="0"/>
                <a:ea typeface="Calibri" pitchFamily="34" charset="-122"/>
                <a:cs typeface="Calibri" pitchFamily="34" charset="-120"/>
              </a:rPr>
              <a:t>Providing a centralized reporting interface</a:t>
            </a:r>
            <a:endParaRPr lang="en-US" sz="1300" dirty="0"/>
          </a:p>
        </p:txBody>
      </p:sp>
      <p:sp>
        <p:nvSpPr>
          <p:cNvPr id="44" name="Text 42"/>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45" name="Text 43"/>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Business &amp; Operational Value</a:t>
            </a:r>
            <a:endParaRPr lang="en-US" sz="900" dirty="0"/>
          </a:p>
        </p:txBody>
      </p:sp>
      <p:sp>
        <p:nvSpPr>
          <p:cNvPr id="46" name="Shape 44"/>
          <p:cNvSpPr/>
          <p:nvPr/>
        </p:nvSpPr>
        <p:spPr>
          <a:xfrm>
            <a:off x="11475720" y="6492240"/>
            <a:ext cx="310896" cy="310896"/>
          </a:xfrm>
          <a:prstGeom prst="ellipse">
            <a:avLst/>
          </a:prstGeom>
          <a:solidFill>
            <a:srgbClr val="7A1F2B"/>
          </a:solidFill>
          <a:ln/>
        </p:spPr>
      </p:sp>
      <p:sp>
        <p:nvSpPr>
          <p:cNvPr id="47" name="Text 45"/>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rtlCol="0" anchor="ctr"/>
          <a:lstStyle/>
          <a:p>
            <a:pPr indent="0" marL="0">
              <a:buNone/>
            </a:pPr>
            <a:r>
              <a:rPr lang="en-US" sz="1200" b="1" spc="200" kern="0" dirty="0">
                <a:solidFill>
                  <a:srgbClr val="C0263B"/>
                </a:solidFill>
                <a:latin typeface="Calibri" pitchFamily="34" charset="0"/>
                <a:ea typeface="Calibri" pitchFamily="34" charset="-122"/>
                <a:cs typeface="Calibri" pitchFamily="34" charset="-120"/>
              </a:rPr>
              <a:t>TOOLS</a:t>
            </a:r>
            <a:endParaRPr lang="en-US" sz="1200" dirty="0"/>
          </a:p>
        </p:txBody>
      </p:sp>
      <p:sp>
        <p:nvSpPr>
          <p:cNvPr id="3" name="Text 1"/>
          <p:cNvSpPr/>
          <p:nvPr/>
        </p:nvSpPr>
        <p:spPr>
          <a:xfrm>
            <a:off x="457200" y="603504"/>
            <a:ext cx="10789920" cy="640080"/>
          </a:xfrm>
          <a:prstGeom prst="rect">
            <a:avLst/>
          </a:prstGeom>
          <a:noFill/>
          <a:ln/>
        </p:spPr>
        <p:txBody>
          <a:bodyPr wrap="square" rtlCol="0" anchor="ctr"/>
          <a:lstStyle/>
          <a:p>
            <a:pPr indent="0" marL="0">
              <a:buNone/>
            </a:pPr>
            <a:r>
              <a:rPr lang="en-US" sz="3000" b="1" dirty="0">
                <a:solidFill>
                  <a:srgbClr val="7A1F2B"/>
                </a:solidFill>
                <a:latin typeface="Cambria" pitchFamily="34" charset="0"/>
                <a:ea typeface="Cambria" pitchFamily="34" charset="-122"/>
                <a:cs typeface="Cambria" pitchFamily="34" charset="-120"/>
              </a:rPr>
              <a:t>Technology &amp; Tools</a:t>
            </a:r>
            <a:endParaRPr lang="en-US" sz="3000" dirty="0"/>
          </a:p>
        </p:txBody>
      </p:sp>
      <p:sp>
        <p:nvSpPr>
          <p:cNvPr id="4" name="Shape 2"/>
          <p:cNvSpPr/>
          <p:nvPr/>
        </p:nvSpPr>
        <p:spPr>
          <a:xfrm>
            <a:off x="457200" y="1645920"/>
            <a:ext cx="2624328" cy="1554480"/>
          </a:xfrm>
          <a:prstGeom prst="roundRect">
            <a:avLst>
              <a:gd name="adj" fmla="val 5294"/>
            </a:avLst>
          </a:prstGeom>
          <a:solidFill>
            <a:srgbClr val="FBF6F6"/>
          </a:solidFill>
          <a:ln/>
          <a:effectLst>
            <a:outerShdw sx="100000" sy="100000" kx="0" ky="0" algn="bl" rotWithShape="0" blurRad="76200" dist="25400" dir="5400000">
              <a:srgbClr val="9C8A88">
                <a:alpha val="28000"/>
              </a:srgbClr>
            </a:outerShdw>
          </a:effectLst>
        </p:spPr>
      </p:sp>
      <p:sp>
        <p:nvSpPr>
          <p:cNvPr id="5" name="Shape 3"/>
          <p:cNvSpPr/>
          <p:nvPr/>
        </p:nvSpPr>
        <p:spPr>
          <a:xfrm>
            <a:off x="658368" y="1847088"/>
            <a:ext cx="512064" cy="512064"/>
          </a:xfrm>
          <a:prstGeom prst="ellipse">
            <a:avLst/>
          </a:prstGeom>
          <a:solidFill>
            <a:srgbClr val="7A1F2B"/>
          </a:solidFill>
          <a:ln/>
        </p:spPr>
      </p:sp>
      <p:sp>
        <p:nvSpPr>
          <p:cNvPr id="6" name="Text 4"/>
          <p:cNvSpPr/>
          <p:nvPr/>
        </p:nvSpPr>
        <p:spPr>
          <a:xfrm>
            <a:off x="658368" y="1847088"/>
            <a:ext cx="512064" cy="51206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PB</a:t>
            </a:r>
            <a:endParaRPr lang="en-US" sz="1300" dirty="0"/>
          </a:p>
        </p:txBody>
      </p:sp>
      <p:sp>
        <p:nvSpPr>
          <p:cNvPr id="7" name="Text 5"/>
          <p:cNvSpPr/>
          <p:nvPr/>
        </p:nvSpPr>
        <p:spPr>
          <a:xfrm>
            <a:off x="640080" y="2514600"/>
            <a:ext cx="2258568" cy="594360"/>
          </a:xfrm>
          <a:prstGeom prst="rect">
            <a:avLst/>
          </a:prstGeom>
          <a:noFill/>
          <a:ln/>
        </p:spPr>
        <p:txBody>
          <a:bodyPr wrap="square" lIns="0" tIns="0" rIns="0" bIns="0" rtlCol="0" anchor="ctr"/>
          <a:lstStyle/>
          <a:p>
            <a:pPr indent="0" marL="0">
              <a:buNone/>
            </a:pPr>
            <a:r>
              <a:rPr lang="en-US" sz="1200" b="1" dirty="0">
                <a:solidFill>
                  <a:srgbClr val="2B2323"/>
                </a:solidFill>
                <a:latin typeface="Calibri" pitchFamily="34" charset="0"/>
                <a:ea typeface="Calibri" pitchFamily="34" charset="-122"/>
                <a:cs typeface="Calibri" pitchFamily="34" charset="-120"/>
              </a:rPr>
              <a:t>Microsoft Power BI</a:t>
            </a:r>
            <a:endParaRPr lang="en-US" sz="1200" dirty="0"/>
          </a:p>
        </p:txBody>
      </p:sp>
      <p:sp>
        <p:nvSpPr>
          <p:cNvPr id="8" name="Shape 6"/>
          <p:cNvSpPr/>
          <p:nvPr/>
        </p:nvSpPr>
        <p:spPr>
          <a:xfrm>
            <a:off x="3264408" y="1645920"/>
            <a:ext cx="2624328" cy="1554480"/>
          </a:xfrm>
          <a:prstGeom prst="roundRect">
            <a:avLst>
              <a:gd name="adj" fmla="val 5294"/>
            </a:avLst>
          </a:prstGeom>
          <a:solidFill>
            <a:srgbClr val="FBF6F6"/>
          </a:solidFill>
          <a:ln/>
          <a:effectLst>
            <a:outerShdw sx="100000" sy="100000" kx="0" ky="0" algn="bl" rotWithShape="0" blurRad="76200" dist="25400" dir="5400000">
              <a:srgbClr val="9C8A88">
                <a:alpha val="28000"/>
              </a:srgbClr>
            </a:outerShdw>
          </a:effectLst>
        </p:spPr>
      </p:sp>
      <p:sp>
        <p:nvSpPr>
          <p:cNvPr id="9" name="Shape 7"/>
          <p:cNvSpPr/>
          <p:nvPr/>
        </p:nvSpPr>
        <p:spPr>
          <a:xfrm>
            <a:off x="3465576" y="1847088"/>
            <a:ext cx="512064" cy="512064"/>
          </a:xfrm>
          <a:prstGeom prst="ellipse">
            <a:avLst/>
          </a:prstGeom>
          <a:solidFill>
            <a:srgbClr val="7A1F2B"/>
          </a:solidFill>
          <a:ln/>
        </p:spPr>
      </p:sp>
      <p:sp>
        <p:nvSpPr>
          <p:cNvPr id="10" name="Text 8"/>
          <p:cNvSpPr/>
          <p:nvPr/>
        </p:nvSpPr>
        <p:spPr>
          <a:xfrm>
            <a:off x="3465576" y="1847088"/>
            <a:ext cx="512064" cy="51206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PD</a:t>
            </a:r>
            <a:endParaRPr lang="en-US" sz="1300" dirty="0"/>
          </a:p>
        </p:txBody>
      </p:sp>
      <p:sp>
        <p:nvSpPr>
          <p:cNvPr id="11" name="Text 9"/>
          <p:cNvSpPr/>
          <p:nvPr/>
        </p:nvSpPr>
        <p:spPr>
          <a:xfrm>
            <a:off x="3447288" y="2514600"/>
            <a:ext cx="2258568" cy="594360"/>
          </a:xfrm>
          <a:prstGeom prst="rect">
            <a:avLst/>
          </a:prstGeom>
          <a:noFill/>
          <a:ln/>
        </p:spPr>
        <p:txBody>
          <a:bodyPr wrap="square" lIns="0" tIns="0" rIns="0" bIns="0" rtlCol="0" anchor="ctr"/>
          <a:lstStyle/>
          <a:p>
            <a:pPr indent="0" marL="0">
              <a:buNone/>
            </a:pPr>
            <a:r>
              <a:rPr lang="en-US" sz="1200" b="1" dirty="0">
                <a:solidFill>
                  <a:srgbClr val="2B2323"/>
                </a:solidFill>
                <a:latin typeface="Calibri" pitchFamily="34" charset="0"/>
                <a:ea typeface="Calibri" pitchFamily="34" charset="-122"/>
                <a:cs typeface="Calibri" pitchFamily="34" charset="-120"/>
              </a:rPr>
              <a:t>Power BI Desktop</a:t>
            </a:r>
            <a:endParaRPr lang="en-US" sz="1200" dirty="0"/>
          </a:p>
        </p:txBody>
      </p:sp>
      <p:sp>
        <p:nvSpPr>
          <p:cNvPr id="12" name="Shape 10"/>
          <p:cNvSpPr/>
          <p:nvPr/>
        </p:nvSpPr>
        <p:spPr>
          <a:xfrm>
            <a:off x="6071616" y="1645920"/>
            <a:ext cx="2624328" cy="1554480"/>
          </a:xfrm>
          <a:prstGeom prst="roundRect">
            <a:avLst>
              <a:gd name="adj" fmla="val 5294"/>
            </a:avLst>
          </a:prstGeom>
          <a:solidFill>
            <a:srgbClr val="FBF6F6"/>
          </a:solidFill>
          <a:ln/>
          <a:effectLst>
            <a:outerShdw sx="100000" sy="100000" kx="0" ky="0" algn="bl" rotWithShape="0" blurRad="76200" dist="25400" dir="5400000">
              <a:srgbClr val="9C8A88">
                <a:alpha val="28000"/>
              </a:srgbClr>
            </a:outerShdw>
          </a:effectLst>
        </p:spPr>
      </p:sp>
      <p:sp>
        <p:nvSpPr>
          <p:cNvPr id="13" name="Shape 11"/>
          <p:cNvSpPr/>
          <p:nvPr/>
        </p:nvSpPr>
        <p:spPr>
          <a:xfrm>
            <a:off x="6272784" y="1847088"/>
            <a:ext cx="512064" cy="512064"/>
          </a:xfrm>
          <a:prstGeom prst="ellipse">
            <a:avLst/>
          </a:prstGeom>
          <a:solidFill>
            <a:srgbClr val="7A1F2B"/>
          </a:solidFill>
          <a:ln/>
        </p:spPr>
      </p:sp>
      <p:sp>
        <p:nvSpPr>
          <p:cNvPr id="14" name="Text 12"/>
          <p:cNvSpPr/>
          <p:nvPr/>
        </p:nvSpPr>
        <p:spPr>
          <a:xfrm>
            <a:off x="6272784" y="1847088"/>
            <a:ext cx="512064" cy="51206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DM</a:t>
            </a:r>
            <a:endParaRPr lang="en-US" sz="1300" dirty="0"/>
          </a:p>
        </p:txBody>
      </p:sp>
      <p:sp>
        <p:nvSpPr>
          <p:cNvPr id="15" name="Text 13"/>
          <p:cNvSpPr/>
          <p:nvPr/>
        </p:nvSpPr>
        <p:spPr>
          <a:xfrm>
            <a:off x="6254496" y="2514600"/>
            <a:ext cx="2258568" cy="594360"/>
          </a:xfrm>
          <a:prstGeom prst="rect">
            <a:avLst/>
          </a:prstGeom>
          <a:noFill/>
          <a:ln/>
        </p:spPr>
        <p:txBody>
          <a:bodyPr wrap="square" lIns="0" tIns="0" rIns="0" bIns="0" rtlCol="0" anchor="ctr"/>
          <a:lstStyle/>
          <a:p>
            <a:pPr indent="0" marL="0">
              <a:buNone/>
            </a:pPr>
            <a:r>
              <a:rPr lang="en-US" sz="1200" b="1" dirty="0">
                <a:solidFill>
                  <a:srgbClr val="2B2323"/>
                </a:solidFill>
                <a:latin typeface="Calibri" pitchFamily="34" charset="0"/>
                <a:ea typeface="Calibri" pitchFamily="34" charset="-122"/>
                <a:cs typeface="Calibri" pitchFamily="34" charset="-120"/>
              </a:rPr>
              <a:t>Power BI Data Model</a:t>
            </a:r>
            <a:endParaRPr lang="en-US" sz="1200" dirty="0"/>
          </a:p>
        </p:txBody>
      </p:sp>
      <p:sp>
        <p:nvSpPr>
          <p:cNvPr id="16" name="Shape 14"/>
          <p:cNvSpPr/>
          <p:nvPr/>
        </p:nvSpPr>
        <p:spPr>
          <a:xfrm>
            <a:off x="8878824" y="1645920"/>
            <a:ext cx="2624328" cy="1554480"/>
          </a:xfrm>
          <a:prstGeom prst="roundRect">
            <a:avLst>
              <a:gd name="adj" fmla="val 5294"/>
            </a:avLst>
          </a:prstGeom>
          <a:solidFill>
            <a:srgbClr val="FBF6F6"/>
          </a:solidFill>
          <a:ln/>
          <a:effectLst>
            <a:outerShdw sx="100000" sy="100000" kx="0" ky="0" algn="bl" rotWithShape="0" blurRad="76200" dist="25400" dir="5400000">
              <a:srgbClr val="9C8A88">
                <a:alpha val="28000"/>
              </a:srgbClr>
            </a:outerShdw>
          </a:effectLst>
        </p:spPr>
      </p:sp>
      <p:sp>
        <p:nvSpPr>
          <p:cNvPr id="17" name="Shape 15"/>
          <p:cNvSpPr/>
          <p:nvPr/>
        </p:nvSpPr>
        <p:spPr>
          <a:xfrm>
            <a:off x="9079992" y="1847088"/>
            <a:ext cx="512064" cy="512064"/>
          </a:xfrm>
          <a:prstGeom prst="ellipse">
            <a:avLst/>
          </a:prstGeom>
          <a:solidFill>
            <a:srgbClr val="7A1F2B"/>
          </a:solidFill>
          <a:ln/>
        </p:spPr>
      </p:sp>
      <p:sp>
        <p:nvSpPr>
          <p:cNvPr id="18" name="Text 16"/>
          <p:cNvSpPr/>
          <p:nvPr/>
        </p:nvSpPr>
        <p:spPr>
          <a:xfrm>
            <a:off x="9079992" y="1847088"/>
            <a:ext cx="512064" cy="51206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VZ</a:t>
            </a:r>
            <a:endParaRPr lang="en-US" sz="1300" dirty="0"/>
          </a:p>
        </p:txBody>
      </p:sp>
      <p:sp>
        <p:nvSpPr>
          <p:cNvPr id="19" name="Text 17"/>
          <p:cNvSpPr/>
          <p:nvPr/>
        </p:nvSpPr>
        <p:spPr>
          <a:xfrm>
            <a:off x="9061704" y="2514600"/>
            <a:ext cx="2258568" cy="594360"/>
          </a:xfrm>
          <a:prstGeom prst="rect">
            <a:avLst/>
          </a:prstGeom>
          <a:noFill/>
          <a:ln/>
        </p:spPr>
        <p:txBody>
          <a:bodyPr wrap="square" lIns="0" tIns="0" rIns="0" bIns="0" rtlCol="0" anchor="ctr"/>
          <a:lstStyle/>
          <a:p>
            <a:pPr indent="0" marL="0">
              <a:buNone/>
            </a:pPr>
            <a:r>
              <a:rPr lang="en-US" sz="1200" b="1" dirty="0">
                <a:solidFill>
                  <a:srgbClr val="2B2323"/>
                </a:solidFill>
                <a:latin typeface="Calibri" pitchFamily="34" charset="0"/>
                <a:ea typeface="Calibri" pitchFamily="34" charset="-122"/>
                <a:cs typeface="Calibri" pitchFamily="34" charset="-120"/>
              </a:rPr>
              <a:t>Power BI Visualizations</a:t>
            </a:r>
            <a:endParaRPr lang="en-US" sz="1200" dirty="0"/>
          </a:p>
        </p:txBody>
      </p:sp>
      <p:sp>
        <p:nvSpPr>
          <p:cNvPr id="20" name="Shape 18"/>
          <p:cNvSpPr/>
          <p:nvPr/>
        </p:nvSpPr>
        <p:spPr>
          <a:xfrm>
            <a:off x="457200" y="3429000"/>
            <a:ext cx="2624328" cy="1554480"/>
          </a:xfrm>
          <a:prstGeom prst="roundRect">
            <a:avLst>
              <a:gd name="adj" fmla="val 5294"/>
            </a:avLst>
          </a:prstGeom>
          <a:solidFill>
            <a:srgbClr val="FBF6F6"/>
          </a:solidFill>
          <a:ln/>
          <a:effectLst>
            <a:outerShdw sx="100000" sy="100000" kx="0" ky="0" algn="bl" rotWithShape="0" blurRad="76200" dist="25400" dir="5400000">
              <a:srgbClr val="9C8A88">
                <a:alpha val="28000"/>
              </a:srgbClr>
            </a:outerShdw>
          </a:effectLst>
        </p:spPr>
      </p:sp>
      <p:sp>
        <p:nvSpPr>
          <p:cNvPr id="21" name="Shape 19"/>
          <p:cNvSpPr/>
          <p:nvPr/>
        </p:nvSpPr>
        <p:spPr>
          <a:xfrm>
            <a:off x="658368" y="3630168"/>
            <a:ext cx="512064" cy="512064"/>
          </a:xfrm>
          <a:prstGeom prst="ellipse">
            <a:avLst/>
          </a:prstGeom>
          <a:solidFill>
            <a:srgbClr val="7A1F2B"/>
          </a:solidFill>
          <a:ln/>
        </p:spPr>
      </p:sp>
      <p:sp>
        <p:nvSpPr>
          <p:cNvPr id="22" name="Text 20"/>
          <p:cNvSpPr/>
          <p:nvPr/>
        </p:nvSpPr>
        <p:spPr>
          <a:xfrm>
            <a:off x="658368" y="3630168"/>
            <a:ext cx="512064" cy="51206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DX</a:t>
            </a:r>
            <a:endParaRPr lang="en-US" sz="1300" dirty="0"/>
          </a:p>
        </p:txBody>
      </p:sp>
      <p:sp>
        <p:nvSpPr>
          <p:cNvPr id="23" name="Text 21"/>
          <p:cNvSpPr/>
          <p:nvPr/>
        </p:nvSpPr>
        <p:spPr>
          <a:xfrm>
            <a:off x="640080" y="4297680"/>
            <a:ext cx="2258568" cy="594360"/>
          </a:xfrm>
          <a:prstGeom prst="rect">
            <a:avLst/>
          </a:prstGeom>
          <a:noFill/>
          <a:ln/>
        </p:spPr>
        <p:txBody>
          <a:bodyPr wrap="square" lIns="0" tIns="0" rIns="0" bIns="0" rtlCol="0" anchor="ctr"/>
          <a:lstStyle/>
          <a:p>
            <a:pPr indent="0" marL="0">
              <a:buNone/>
            </a:pPr>
            <a:r>
              <a:rPr lang="en-US" sz="1200" b="1" dirty="0">
                <a:solidFill>
                  <a:srgbClr val="2B2323"/>
                </a:solidFill>
                <a:latin typeface="Calibri" pitchFamily="34" charset="0"/>
                <a:ea typeface="Calibri" pitchFamily="34" charset="-122"/>
                <a:cs typeface="Calibri" pitchFamily="34" charset="-120"/>
              </a:rPr>
              <a:t>DAX / Measures</a:t>
            </a:r>
            <a:endParaRPr lang="en-US" sz="1200" dirty="0"/>
          </a:p>
        </p:txBody>
      </p:sp>
      <p:sp>
        <p:nvSpPr>
          <p:cNvPr id="24" name="Shape 22"/>
          <p:cNvSpPr/>
          <p:nvPr/>
        </p:nvSpPr>
        <p:spPr>
          <a:xfrm>
            <a:off x="3264408" y="3429000"/>
            <a:ext cx="2624328" cy="1554480"/>
          </a:xfrm>
          <a:prstGeom prst="roundRect">
            <a:avLst>
              <a:gd name="adj" fmla="val 5294"/>
            </a:avLst>
          </a:prstGeom>
          <a:solidFill>
            <a:srgbClr val="FBF6F6"/>
          </a:solidFill>
          <a:ln/>
          <a:effectLst>
            <a:outerShdw sx="100000" sy="100000" kx="0" ky="0" algn="bl" rotWithShape="0" blurRad="76200" dist="25400" dir="5400000">
              <a:srgbClr val="9C8A88">
                <a:alpha val="28000"/>
              </a:srgbClr>
            </a:outerShdw>
          </a:effectLst>
        </p:spPr>
      </p:sp>
      <p:sp>
        <p:nvSpPr>
          <p:cNvPr id="25" name="Shape 23"/>
          <p:cNvSpPr/>
          <p:nvPr/>
        </p:nvSpPr>
        <p:spPr>
          <a:xfrm>
            <a:off x="3465576" y="3630168"/>
            <a:ext cx="512064" cy="512064"/>
          </a:xfrm>
          <a:prstGeom prst="ellipse">
            <a:avLst/>
          </a:prstGeom>
          <a:solidFill>
            <a:srgbClr val="7A1F2B"/>
          </a:solidFill>
          <a:ln/>
        </p:spPr>
      </p:sp>
      <p:sp>
        <p:nvSpPr>
          <p:cNvPr id="26" name="Text 24"/>
          <p:cNvSpPr/>
          <p:nvPr/>
        </p:nvSpPr>
        <p:spPr>
          <a:xfrm>
            <a:off x="3465576" y="3630168"/>
            <a:ext cx="512064" cy="51206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FL</a:t>
            </a:r>
            <a:endParaRPr lang="en-US" sz="1300" dirty="0"/>
          </a:p>
        </p:txBody>
      </p:sp>
      <p:sp>
        <p:nvSpPr>
          <p:cNvPr id="27" name="Text 25"/>
          <p:cNvSpPr/>
          <p:nvPr/>
        </p:nvSpPr>
        <p:spPr>
          <a:xfrm>
            <a:off x="3447288" y="4297680"/>
            <a:ext cx="2258568" cy="594360"/>
          </a:xfrm>
          <a:prstGeom prst="rect">
            <a:avLst/>
          </a:prstGeom>
          <a:noFill/>
          <a:ln/>
        </p:spPr>
        <p:txBody>
          <a:bodyPr wrap="square" lIns="0" tIns="0" rIns="0" bIns="0" rtlCol="0" anchor="ctr"/>
          <a:lstStyle/>
          <a:p>
            <a:pPr indent="0" marL="0">
              <a:buNone/>
            </a:pPr>
            <a:r>
              <a:rPr lang="en-US" sz="1200" b="1" dirty="0">
                <a:solidFill>
                  <a:srgbClr val="2B2323"/>
                </a:solidFill>
                <a:latin typeface="Calibri" pitchFamily="34" charset="0"/>
                <a:ea typeface="Calibri" pitchFamily="34" charset="-122"/>
                <a:cs typeface="Calibri" pitchFamily="34" charset="-120"/>
              </a:rPr>
              <a:t>Filters &amp; Interactions</a:t>
            </a:r>
            <a:endParaRPr lang="en-US" sz="1200" dirty="0"/>
          </a:p>
        </p:txBody>
      </p:sp>
      <p:sp>
        <p:nvSpPr>
          <p:cNvPr id="28" name="Shape 26"/>
          <p:cNvSpPr/>
          <p:nvPr/>
        </p:nvSpPr>
        <p:spPr>
          <a:xfrm>
            <a:off x="6071616" y="3429000"/>
            <a:ext cx="2624328" cy="1554480"/>
          </a:xfrm>
          <a:prstGeom prst="roundRect">
            <a:avLst>
              <a:gd name="adj" fmla="val 5294"/>
            </a:avLst>
          </a:prstGeom>
          <a:solidFill>
            <a:srgbClr val="FBF6F6"/>
          </a:solidFill>
          <a:ln/>
          <a:effectLst>
            <a:outerShdw sx="100000" sy="100000" kx="0" ky="0" algn="bl" rotWithShape="0" blurRad="76200" dist="25400" dir="5400000">
              <a:srgbClr val="9C8A88">
                <a:alpha val="28000"/>
              </a:srgbClr>
            </a:outerShdw>
          </a:effectLst>
        </p:spPr>
      </p:sp>
      <p:sp>
        <p:nvSpPr>
          <p:cNvPr id="29" name="Shape 27"/>
          <p:cNvSpPr/>
          <p:nvPr/>
        </p:nvSpPr>
        <p:spPr>
          <a:xfrm>
            <a:off x="6272784" y="3630168"/>
            <a:ext cx="512064" cy="512064"/>
          </a:xfrm>
          <a:prstGeom prst="ellipse">
            <a:avLst/>
          </a:prstGeom>
          <a:solidFill>
            <a:srgbClr val="7A1F2B"/>
          </a:solidFill>
          <a:ln/>
        </p:spPr>
      </p:sp>
      <p:sp>
        <p:nvSpPr>
          <p:cNvPr id="30" name="Text 28"/>
          <p:cNvSpPr/>
          <p:nvPr/>
        </p:nvSpPr>
        <p:spPr>
          <a:xfrm>
            <a:off x="6272784" y="3630168"/>
            <a:ext cx="512064" cy="51206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FM</a:t>
            </a:r>
            <a:endParaRPr lang="en-US" sz="1300" dirty="0"/>
          </a:p>
        </p:txBody>
      </p:sp>
      <p:sp>
        <p:nvSpPr>
          <p:cNvPr id="31" name="Text 29"/>
          <p:cNvSpPr/>
          <p:nvPr/>
        </p:nvSpPr>
        <p:spPr>
          <a:xfrm>
            <a:off x="6254496" y="4297680"/>
            <a:ext cx="2258568" cy="594360"/>
          </a:xfrm>
          <a:prstGeom prst="rect">
            <a:avLst/>
          </a:prstGeom>
          <a:noFill/>
          <a:ln/>
        </p:spPr>
        <p:txBody>
          <a:bodyPr wrap="square" lIns="0" tIns="0" rIns="0" bIns="0" rtlCol="0" anchor="ctr"/>
          <a:lstStyle/>
          <a:p>
            <a:pPr indent="0" marL="0">
              <a:buNone/>
            </a:pPr>
            <a:r>
              <a:rPr lang="en-US" sz="1200" b="1" dirty="0">
                <a:solidFill>
                  <a:srgbClr val="2B2323"/>
                </a:solidFill>
                <a:latin typeface="Calibri" pitchFamily="34" charset="0"/>
                <a:ea typeface="Calibri" pitchFamily="34" charset="-122"/>
                <a:cs typeface="Calibri" pitchFamily="34" charset="-120"/>
              </a:rPr>
              <a:t>Fields &amp; Calculated Measures</a:t>
            </a:r>
            <a:endParaRPr lang="en-US" sz="1200" dirty="0"/>
          </a:p>
        </p:txBody>
      </p:sp>
      <p:sp>
        <p:nvSpPr>
          <p:cNvPr id="32" name="Text 30"/>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6E6262"/>
                </a:solidFill>
                <a:latin typeface="Calibri" pitchFamily="34" charset="0"/>
                <a:ea typeface="Calibri" pitchFamily="34" charset="-122"/>
                <a:cs typeface="Calibri" pitchFamily="34" charset="-120"/>
              </a:rPr>
              <a:t>SUPPORTLYTICS</a:t>
            </a:r>
            <a:endParaRPr lang="en-US" sz="900" dirty="0"/>
          </a:p>
        </p:txBody>
      </p:sp>
      <p:sp>
        <p:nvSpPr>
          <p:cNvPr id="33" name="Text 31"/>
          <p:cNvSpPr/>
          <p:nvPr/>
        </p:nvSpPr>
        <p:spPr>
          <a:xfrm>
            <a:off x="3291840" y="6547104"/>
            <a:ext cx="5943600" cy="274320"/>
          </a:xfrm>
          <a:prstGeom prst="rect">
            <a:avLst/>
          </a:prstGeom>
          <a:noFill/>
          <a:ln/>
        </p:spPr>
        <p:txBody>
          <a:bodyPr wrap="square" rtlCol="0" anchor="ctr"/>
          <a:lstStyle/>
          <a:p>
            <a:pPr indent="0" marL="0">
              <a:buNone/>
            </a:pPr>
            <a:r>
              <a:rPr lang="en-US" sz="900" dirty="0">
                <a:solidFill>
                  <a:srgbClr val="6E6262"/>
                </a:solidFill>
                <a:latin typeface="Calibri" pitchFamily="34" charset="0"/>
                <a:ea typeface="Calibri" pitchFamily="34" charset="-122"/>
                <a:cs typeface="Calibri" pitchFamily="34" charset="-120"/>
              </a:rPr>
              <a:t>Technology &amp; Tools</a:t>
            </a:r>
            <a:endParaRPr lang="en-US" sz="900" dirty="0"/>
          </a:p>
        </p:txBody>
      </p:sp>
      <p:sp>
        <p:nvSpPr>
          <p:cNvPr id="34" name="Shape 32"/>
          <p:cNvSpPr/>
          <p:nvPr/>
        </p:nvSpPr>
        <p:spPr>
          <a:xfrm>
            <a:off x="11475720" y="6492240"/>
            <a:ext cx="310896" cy="310896"/>
          </a:xfrm>
          <a:prstGeom prst="ellipse">
            <a:avLst/>
          </a:prstGeom>
          <a:solidFill>
            <a:srgbClr val="7A1F2B"/>
          </a:solidFill>
          <a:ln/>
        </p:spPr>
      </p:sp>
      <p:sp>
        <p:nvSpPr>
          <p:cNvPr id="35" name="Text 33"/>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4E1119"/>
        </a:solidFill>
      </p:bgPr>
    </p:bg>
    <p:spTree>
      <p:nvGrpSpPr>
        <p:cNvPr id="1" name=""/>
        <p:cNvGrpSpPr/>
        <p:nvPr/>
      </p:nvGrpSpPr>
      <p:grpSpPr>
        <a:xfrm>
          <a:off x="0" y="0"/>
          <a:ext cx="0" cy="0"/>
          <a:chOff x="0" y="0"/>
          <a:chExt cx="0" cy="0"/>
        </a:xfrm>
      </p:grpSpPr>
      <p:sp>
        <p:nvSpPr>
          <p:cNvPr id="2" name="Shape 0"/>
          <p:cNvSpPr/>
          <p:nvPr/>
        </p:nvSpPr>
        <p:spPr>
          <a:xfrm>
            <a:off x="-1645920" y="-1645920"/>
            <a:ext cx="4023360" cy="4023360"/>
          </a:xfrm>
          <a:prstGeom prst="ellipse">
            <a:avLst/>
          </a:prstGeom>
          <a:solidFill>
            <a:srgbClr val="7A1F2B"/>
          </a:solidFill>
          <a:ln/>
        </p:spPr>
      </p:sp>
      <p:sp>
        <p:nvSpPr>
          <p:cNvPr id="3" name="Shape 1"/>
          <p:cNvSpPr/>
          <p:nvPr/>
        </p:nvSpPr>
        <p:spPr>
          <a:xfrm>
            <a:off x="10058400" y="4754880"/>
            <a:ext cx="3840480" cy="3840480"/>
          </a:xfrm>
          <a:prstGeom prst="ellipse">
            <a:avLst/>
          </a:prstGeom>
          <a:solidFill>
            <a:srgbClr val="7A1F2B"/>
          </a:solidFill>
          <a:ln/>
        </p:spPr>
      </p:sp>
      <p:sp>
        <p:nvSpPr>
          <p:cNvPr id="4" name="Text 2"/>
          <p:cNvSpPr/>
          <p:nvPr/>
        </p:nvSpPr>
        <p:spPr>
          <a:xfrm>
            <a:off x="822960" y="640080"/>
            <a:ext cx="7315200" cy="320040"/>
          </a:xfrm>
          <a:prstGeom prst="rect">
            <a:avLst/>
          </a:prstGeom>
          <a:noFill/>
          <a:ln/>
        </p:spPr>
        <p:txBody>
          <a:bodyPr wrap="square" rtlCol="0" anchor="ctr"/>
          <a:lstStyle/>
          <a:p>
            <a:pPr indent="0" marL="0">
              <a:buNone/>
            </a:pPr>
            <a:r>
              <a:rPr lang="en-US" sz="1300" b="1" spc="250" kern="0" dirty="0">
                <a:solidFill>
                  <a:srgbClr val="E7B5BC"/>
                </a:solidFill>
                <a:latin typeface="Calibri" pitchFamily="34" charset="0"/>
                <a:ea typeface="Calibri" pitchFamily="34" charset="-122"/>
                <a:cs typeface="Calibri" pitchFamily="34" charset="-120"/>
              </a:rPr>
              <a:t>WRAPPING UP</a:t>
            </a:r>
            <a:endParaRPr lang="en-US" sz="1300" dirty="0"/>
          </a:p>
        </p:txBody>
      </p:sp>
      <p:sp>
        <p:nvSpPr>
          <p:cNvPr id="5" name="Text 3"/>
          <p:cNvSpPr/>
          <p:nvPr/>
        </p:nvSpPr>
        <p:spPr>
          <a:xfrm>
            <a:off x="777240" y="932688"/>
            <a:ext cx="8229600" cy="82296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Conclusion</a:t>
            </a:r>
            <a:endParaRPr lang="en-US" sz="3800" dirty="0"/>
          </a:p>
        </p:txBody>
      </p:sp>
      <p:sp>
        <p:nvSpPr>
          <p:cNvPr id="6" name="Text 4"/>
          <p:cNvSpPr/>
          <p:nvPr/>
        </p:nvSpPr>
        <p:spPr>
          <a:xfrm>
            <a:off x="822960" y="1874520"/>
            <a:ext cx="10332720" cy="3108960"/>
          </a:xfrm>
          <a:prstGeom prst="rect">
            <a:avLst/>
          </a:prstGeom>
          <a:noFill/>
          <a:ln/>
        </p:spPr>
        <p:txBody>
          <a:bodyPr wrap="square" lIns="0" tIns="0" rIns="0" bIns="0" rtlCol="0" anchor="t"/>
          <a:lstStyle/>
          <a:p>
            <a:pPr marL="342900" indent="-342900">
              <a:lnSpc>
                <a:spcPct val="105000"/>
              </a:lnSpc>
              <a:spcAft>
                <a:spcPts val="1300"/>
              </a:spcAft>
              <a:buSzPct val="100000"/>
              <a:buChar char="•"/>
            </a:pPr>
            <a:r>
              <a:rPr lang="en-US" sz="1450" dirty="0">
                <a:solidFill>
                  <a:srgbClr val="F0DEE0"/>
                </a:solidFill>
                <a:latin typeface="Calibri" pitchFamily="34" charset="0"/>
                <a:ea typeface="Calibri" pitchFamily="34" charset="-122"/>
                <a:cs typeface="Calibri" pitchFamily="34" charset="-120"/>
              </a:rPr>
              <a:t>SupportLytics transforms IT support ticket data into an interactive analytical dashboard.</a:t>
            </a:r>
            <a:endParaRPr lang="en-US" sz="1450" dirty="0"/>
          </a:p>
          <a:p>
            <a:pPr marL="342900" indent="-342900">
              <a:lnSpc>
                <a:spcPct val="105000"/>
              </a:lnSpc>
              <a:spcAft>
                <a:spcPts val="1300"/>
              </a:spcAft>
              <a:buSzPct val="100000"/>
              <a:buChar char="•"/>
            </a:pPr>
            <a:r>
              <a:rPr lang="en-US" sz="1450" dirty="0">
                <a:solidFill>
                  <a:srgbClr val="F0DEE0"/>
                </a:solidFill>
                <a:latin typeface="Calibri" pitchFamily="34" charset="0"/>
                <a:ea typeface="Calibri" pitchFamily="34" charset="-122"/>
                <a:cs typeface="Calibri" pitchFamily="34" charset="-120"/>
              </a:rPr>
              <a:t>The dashboard provides both high-level KPIs and detailed operational analysis.</a:t>
            </a:r>
            <a:endParaRPr lang="en-US" sz="1450" dirty="0"/>
          </a:p>
          <a:p>
            <a:pPr marL="342900" indent="-342900">
              <a:lnSpc>
                <a:spcPct val="105000"/>
              </a:lnSpc>
              <a:spcAft>
                <a:spcPts val="1300"/>
              </a:spcAft>
              <a:buSzPct val="100000"/>
              <a:buChar char="•"/>
            </a:pPr>
            <a:r>
              <a:rPr lang="en-US" sz="1450" dirty="0">
                <a:solidFill>
                  <a:srgbClr val="F0DEE0"/>
                </a:solidFill>
                <a:latin typeface="Calibri" pitchFamily="34" charset="0"/>
                <a:ea typeface="Calibri" pitchFamily="34" charset="-122"/>
                <a:cs typeface="Calibri" pitchFamily="34" charset="-120"/>
              </a:rPr>
              <a:t>Page 1 focuses on overall IT support performance; Page 2 focuses on detailed support operations.</a:t>
            </a:r>
            <a:endParaRPr lang="en-US" sz="1450" dirty="0"/>
          </a:p>
          <a:p>
            <a:pPr marL="342900" indent="-342900">
              <a:lnSpc>
                <a:spcPct val="105000"/>
              </a:lnSpc>
              <a:spcAft>
                <a:spcPts val="1300"/>
              </a:spcAft>
              <a:buSzPct val="100000"/>
              <a:buChar char="•"/>
            </a:pPr>
            <a:r>
              <a:rPr lang="en-US" sz="1450" dirty="0">
                <a:solidFill>
                  <a:srgbClr val="F0DEE0"/>
                </a:solidFill>
                <a:latin typeface="Calibri" pitchFamily="34" charset="0"/>
                <a:ea typeface="Calibri" pitchFamily="34" charset="-122"/>
                <a:cs typeface="Calibri" pitchFamily="34" charset="-120"/>
              </a:rPr>
              <a:t>The project covers ticket volume, status, priority, resolution time, CSAT, similarity score, platform, region, product area, issue type, support clusters, reopened tickets, and customer sentiment.</a:t>
            </a:r>
            <a:endParaRPr lang="en-US" sz="1450" dirty="0"/>
          </a:p>
          <a:p>
            <a:pPr marL="342900" indent="-342900">
              <a:lnSpc>
                <a:spcPct val="105000"/>
              </a:lnSpc>
              <a:spcAft>
                <a:spcPts val="1300"/>
              </a:spcAft>
              <a:buSzPct val="100000"/>
              <a:buChar char="•"/>
            </a:pPr>
            <a:r>
              <a:rPr lang="en-US" sz="1450" dirty="0">
                <a:solidFill>
                  <a:srgbClr val="F0DEE0"/>
                </a:solidFill>
                <a:latin typeface="Calibri" pitchFamily="34" charset="0"/>
                <a:ea typeface="Calibri" pitchFamily="34" charset="-122"/>
                <a:cs typeface="Calibri" pitchFamily="34" charset="-120"/>
              </a:rPr>
              <a:t>Power BI provides an effective way to visualize and analyze support-ticket data, making complex information easier to understand and communicate.</a:t>
            </a:r>
            <a:endParaRPr lang="en-US" sz="1450" dirty="0"/>
          </a:p>
        </p:txBody>
      </p:sp>
      <p:sp>
        <p:nvSpPr>
          <p:cNvPr id="7" name="Text 5"/>
          <p:cNvSpPr/>
          <p:nvPr/>
        </p:nvSpPr>
        <p:spPr>
          <a:xfrm>
            <a:off x="822960" y="5394960"/>
            <a:ext cx="91440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THANK YOU</a:t>
            </a:r>
            <a:endParaRPr lang="en-US" sz="3200" dirty="0"/>
          </a:p>
        </p:txBody>
      </p:sp>
      <p:sp>
        <p:nvSpPr>
          <p:cNvPr id="8" name="Text 6"/>
          <p:cNvSpPr/>
          <p:nvPr/>
        </p:nvSpPr>
        <p:spPr>
          <a:xfrm>
            <a:off x="457200" y="6547104"/>
            <a:ext cx="2743200" cy="274320"/>
          </a:xfrm>
          <a:prstGeom prst="rect">
            <a:avLst/>
          </a:prstGeom>
          <a:noFill/>
          <a:ln/>
        </p:spPr>
        <p:txBody>
          <a:bodyPr wrap="square" rtlCol="0" anchor="ctr"/>
          <a:lstStyle/>
          <a:p>
            <a:pPr indent="0" marL="0">
              <a:buNone/>
            </a:pPr>
            <a:r>
              <a:rPr lang="en-US" sz="900" spc="100" kern="0" dirty="0">
                <a:solidFill>
                  <a:srgbClr val="C9A9AD"/>
                </a:solidFill>
                <a:latin typeface="Calibri" pitchFamily="34" charset="0"/>
                <a:ea typeface="Calibri" pitchFamily="34" charset="-122"/>
                <a:cs typeface="Calibri" pitchFamily="34" charset="-120"/>
              </a:rPr>
              <a:t>SUPPORTLYTICS</a:t>
            </a:r>
            <a:endParaRPr lang="en-US" sz="900" dirty="0"/>
          </a:p>
        </p:txBody>
      </p:sp>
      <p:sp>
        <p:nvSpPr>
          <p:cNvPr id="9" name="Shape 7"/>
          <p:cNvSpPr/>
          <p:nvPr/>
        </p:nvSpPr>
        <p:spPr>
          <a:xfrm>
            <a:off x="11475720" y="6492240"/>
            <a:ext cx="310896" cy="310896"/>
          </a:xfrm>
          <a:prstGeom prst="ellipse">
            <a:avLst/>
          </a:prstGeom>
          <a:solidFill>
            <a:srgbClr val="FFFFFF"/>
          </a:solidFill>
          <a:ln/>
        </p:spPr>
      </p:sp>
      <p:sp>
        <p:nvSpPr>
          <p:cNvPr id="10" name="Text 8"/>
          <p:cNvSpPr/>
          <p:nvPr/>
        </p:nvSpPr>
        <p:spPr>
          <a:xfrm>
            <a:off x="11475720" y="6492240"/>
            <a:ext cx="310896" cy="310896"/>
          </a:xfrm>
          <a:prstGeom prst="rect">
            <a:avLst/>
          </a:prstGeom>
          <a:noFill/>
          <a:ln/>
        </p:spPr>
        <p:txBody>
          <a:bodyPr wrap="square" rtlCol="0" anchor="ctr"/>
          <a:lstStyle/>
          <a:p>
            <a:pPr algn="ctr" indent="0" marL="0">
              <a:buNone/>
            </a:pPr>
            <a:r>
              <a:rPr lang="en-US" sz="1000" b="1" dirty="0">
                <a:solidFill>
                  <a:srgbClr val="7A1F2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2026-08-17T11:36:53Z</dcterms:created>
  <dcterms:modified xsi:type="dcterms:W3CDTF">2026-08-17T11:36:53Z</dcterms:modified>
</cp:coreProperties>
</file>