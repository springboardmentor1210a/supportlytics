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Montserrat" panose="00000500000000000000" pitchFamily="2" charset="0"/>
      <p:regular r:id="rId14"/>
      <p:bold r:id="rId15"/>
      <p:italic r:id="rId16"/>
      <p:boldItalic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56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1816224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Supportlytics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73943" y="2315766"/>
            <a:ext cx="4767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Optimizing IT Support Team Performance Using Analytics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3943" y="2741488"/>
            <a:ext cx="4767114" cy="58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3 – Week 5–6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 Srikanth K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430" y="210109"/>
            <a:ext cx="8196114" cy="438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Milestone 3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73943" y="904801"/>
            <a:ext cx="819611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Module 5 – Performance Trend Analysis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73943" y="1320775"/>
            <a:ext cx="8196114" cy="124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average resolution time by priority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average resolution time by ticket type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countries with the fastest ticket resolution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Compare support queue performance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unresolved high-priority tickets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45943" y="868971"/>
            <a:ext cx="8196114" cy="2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Module 6 – Geographic &amp; Category-Level Insights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45943" y="1301466"/>
            <a:ext cx="8196114" cy="9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heatmaps of ticket concentration by region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issue categories geographically using lat/long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cluster size versus performance score</a:t>
            </a:r>
            <a:endParaRPr lang="en-US" sz="1000" dirty="0"/>
          </a:p>
          <a:p>
            <a:pPr marL="203200" indent="-203200" algn="l">
              <a:lnSpc>
                <a:spcPct val="132000"/>
              </a:lnSpc>
              <a:buSzPct val="100000"/>
              <a:buChar char="•"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 geographic and performance 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3943" y="4306491"/>
            <a:ext cx="8196114" cy="423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Process: Data Cleaning ↓ Country Feature Engineering ↓ Performance Analysis ↓ Geographical Analysis ↓ Business Insights ↓ Recommendations</a:t>
            </a:r>
            <a:endParaRPr lang="en-US" sz="10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8FC257B0-8AF8-9B9D-0EBA-9A4E27CD0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5" y="2304752"/>
            <a:ext cx="7890644" cy="29609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94990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Feature Engineering — Country Mapping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992014"/>
            <a:ext cx="819611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dataset lacked a Country field. We engineered a Country column by mapping each Region to representative countries to enable geographic analysis and visualizations.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993978" y="1567681"/>
            <a:ext cx="26807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Example mappings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93978" y="1866156"/>
            <a:ext cx="2680767" cy="1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North America: USA, Canada, Mexico</a:t>
            </a:r>
            <a:endParaRPr lang="en-US" sz="9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Europe: Germany, France, United Kingdom</a:t>
            </a:r>
            <a:endParaRPr lang="en-US" sz="9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Asia: India, Japan, Singapore</a:t>
            </a:r>
            <a:endParaRPr lang="en-US" sz="9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Africa: South Africa, Nigeria, Kenya</a:t>
            </a:r>
            <a:endParaRPr lang="en-US" sz="9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Australia: Australia, New Zealand</a:t>
            </a:r>
            <a:endParaRPr lang="en-US" sz="9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Unknown: Unknown       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993978" y="3226668"/>
            <a:ext cx="2680767" cy="778818"/>
          </a:xfrm>
          <a:prstGeom prst="roundRect">
            <a:avLst>
              <a:gd name="adj" fmla="val 22821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446" y="3399681"/>
            <a:ext cx="148084" cy="1184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78997" y="3349526"/>
            <a:ext cx="217728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 Country feature to power Module 6 visualizations and country-level comparisons.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993978" y="4122093"/>
            <a:ext cx="2680767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impact: region-wise and country-wise performance comparison, improved visualization fidelity.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C2B9F1-5475-D33C-F54A-18E8B27AF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06" y="1455314"/>
            <a:ext cx="3406462" cy="35094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247777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Module 5 — </a:t>
            </a:r>
            <a:r>
              <a:rPr lang="en-US" b="1" dirty="0">
                <a:solidFill>
                  <a:srgbClr val="2E3C4E"/>
                </a:solidFill>
                <a:latin typeface="Barlow Bold" pitchFamily="34" charset="0"/>
              </a:rPr>
              <a:t>Average Resolution Time Analysis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67556" y="622027"/>
            <a:ext cx="8653314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338956" y="6221239"/>
            <a:ext cx="4472657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Insert: Average Resolution Time by Ticket Type</a:t>
            </a:r>
            <a:endParaRPr lang="en-US" sz="500" dirty="0"/>
          </a:p>
        </p:txBody>
      </p:sp>
      <p:sp>
        <p:nvSpPr>
          <p:cNvPr id="10" name="Text 5"/>
          <p:cNvSpPr/>
          <p:nvPr/>
        </p:nvSpPr>
        <p:spPr>
          <a:xfrm>
            <a:off x="4524375" y="6171307"/>
            <a:ext cx="4472657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Insert: Average Resolution Time by Country</a:t>
            </a:r>
            <a:endParaRPr lang="en-US" sz="500" dirty="0"/>
          </a:p>
        </p:txBody>
      </p:sp>
      <p:sp>
        <p:nvSpPr>
          <p:cNvPr id="11" name="Shape 6"/>
          <p:cNvSpPr/>
          <p:nvPr/>
        </p:nvSpPr>
        <p:spPr>
          <a:xfrm>
            <a:off x="4752975" y="6290593"/>
            <a:ext cx="4015457" cy="182687"/>
          </a:xfrm>
          <a:prstGeom prst="roundRect">
            <a:avLst>
              <a:gd name="adj" fmla="val 50000"/>
            </a:avLst>
          </a:prstGeom>
          <a:solidFill>
            <a:srgbClr val="D4E9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617" y="6377806"/>
            <a:ext cx="84609" cy="676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72869" y="6337920"/>
            <a:ext cx="4185121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 below summarise actionable patterns from the visualizations.</a:t>
            </a:r>
            <a:endParaRPr lang="en-US" sz="500" dirty="0"/>
          </a:p>
        </p:txBody>
      </p:sp>
      <p:sp>
        <p:nvSpPr>
          <p:cNvPr id="14" name="Text 8"/>
          <p:cNvSpPr/>
          <p:nvPr/>
        </p:nvSpPr>
        <p:spPr>
          <a:xfrm>
            <a:off x="4752975" y="6511305"/>
            <a:ext cx="4015457" cy="36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tickets require more resolution time — SLA risk.</a:t>
            </a:r>
            <a:endParaRPr lang="en-US" sz="5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Request-type tickets are the largest operational workload.</a:t>
            </a:r>
            <a:endParaRPr lang="en-US" sz="5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countries show significantly faster resolution performance.</a:t>
            </a:r>
            <a:endParaRPr lang="en-US" sz="500" dirty="0"/>
          </a:p>
          <a:p>
            <a:pPr marL="101600" indent="-101600" algn="l">
              <a:lnSpc>
                <a:spcPct val="100000"/>
              </a:lnSpc>
              <a:buSzPct val="100000"/>
              <a:buChar char="•"/>
            </a:pPr>
            <a:r>
              <a:rPr lang="en-US" sz="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Regional comparison highlights operational efficiency differences.</a:t>
            </a:r>
            <a:endParaRPr lang="en-US" sz="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978E6D4-634E-CE1C-21AF-D57E18F81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50" y="668339"/>
            <a:ext cx="3763598" cy="27689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03897E-15CA-8455-E43B-80FAB8F83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543" y="704886"/>
            <a:ext cx="4370297" cy="2716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1B4B04-CE16-2326-7CE4-059AFA169495}"/>
              </a:ext>
            </a:extLst>
          </p:cNvPr>
          <p:cNvSpPr txBox="1"/>
          <p:nvPr/>
        </p:nvSpPr>
        <p:spPr>
          <a:xfrm>
            <a:off x="473943" y="3541690"/>
            <a:ext cx="35507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📊 Average Resolution Time by Priority</a:t>
            </a:r>
          </a:p>
          <a:p>
            <a:r>
              <a:rPr lang="en-IN" sz="1200" b="1" dirty="0"/>
              <a:t>Insights: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Resolution time is nearly consistent across all priority levels (≈120 hours).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High-priority tickets show slightly higher average resolution time, indicating additional handling effort. </a:t>
            </a:r>
          </a:p>
          <a:p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07DC1B-95FB-70CA-9CAF-FB5E6878E40F}"/>
              </a:ext>
            </a:extLst>
          </p:cNvPr>
          <p:cNvSpPr txBox="1"/>
          <p:nvPr/>
        </p:nvSpPr>
        <p:spPr>
          <a:xfrm>
            <a:off x="4752975" y="3541690"/>
            <a:ext cx="39170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🌍 Average Resolution Time by Country </a:t>
            </a:r>
          </a:p>
          <a:p>
            <a:r>
              <a:rPr lang="en-IN" sz="1200" b="1" dirty="0"/>
              <a:t>Insights:</a:t>
            </a:r>
            <a:endParaRPr lang="en-IN" sz="1200" dirty="0"/>
          </a:p>
          <a:p>
            <a:pPr lvl="0"/>
            <a:r>
              <a:rPr lang="en-IN" sz="1200" dirty="0"/>
              <a:t>Resolution time varies across countries, reflecting differences in regional support performance. </a:t>
            </a:r>
          </a:p>
          <a:p>
            <a:pPr lvl="0"/>
            <a:r>
              <a:rPr lang="en-IN" sz="1200" dirty="0"/>
              <a:t>Countries with lower average resolution times demonstrate more efficient ticket resolution and can serve as operational benchmarks. 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6517" y="154930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</a:rPr>
              <a:t>Support Queue Performance Comparison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3943" y="662657"/>
            <a:ext cx="8653314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245343" y="4452193"/>
            <a:ext cx="5726832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5913537" y="4654600"/>
            <a:ext cx="2761208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913537" y="4799707"/>
            <a:ext cx="2761208" cy="360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00000"/>
              </a:lnSpc>
              <a:buSzPct val="100000"/>
            </a:pPr>
            <a:endParaRPr lang="en-US" sz="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80246C-EBC3-2948-81C0-3091754BA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3" y="662657"/>
            <a:ext cx="4487643" cy="2399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FB4D07-852E-24C6-B8D9-0AACE19AF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616" y="703287"/>
            <a:ext cx="4282226" cy="23993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56A89D-B3C7-806F-1242-A015DB43B958}"/>
              </a:ext>
            </a:extLst>
          </p:cNvPr>
          <p:cNvSpPr txBox="1"/>
          <p:nvPr/>
        </p:nvSpPr>
        <p:spPr>
          <a:xfrm>
            <a:off x="66648" y="3149810"/>
            <a:ext cx="42590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📊 Average Resolution Time by Support Queue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General Support and Finance Team show nearly similar average resolution times.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Queue performance is consistent, indicating balanced workload distribution.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Monitoring queue performance helps optimize resource allocation.</a:t>
            </a:r>
          </a:p>
          <a:p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9DC361-6C61-7247-5B90-25004B0E0E8C}"/>
              </a:ext>
            </a:extLst>
          </p:cNvPr>
          <p:cNvSpPr txBox="1"/>
          <p:nvPr/>
        </p:nvSpPr>
        <p:spPr>
          <a:xfrm>
            <a:off x="4753915" y="3149810"/>
            <a:ext cx="42590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📊 High Priority Unresolved Issues by Ticket Type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Request and Incident tickets have the highest number of unresolved high-priority issues.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Problem tickets show comparatively fewer unresolved cases.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High unresolved ticket volumes highlight areas requiring immediate operational attention.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38584" y="112966"/>
            <a:ext cx="4767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</a:rPr>
              <a:t>Ticket Concentration by Region And Country 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800" b="1" dirty="0">
              <a:solidFill>
                <a:srgbClr val="2E3C4E"/>
              </a:solidFill>
              <a:latin typeface="Barlow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3943" y="1266006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45343" y="1851720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73943" y="3131195"/>
            <a:ext cx="4767114" cy="1394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A50F1F-6DD2-2860-3A4E-09E67CD79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1" y="671694"/>
            <a:ext cx="4630805" cy="26812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C196DEA-813B-F975-1EC7-4B2C5F6CB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949" y="807707"/>
            <a:ext cx="4876919" cy="22673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AA847A-C635-6972-8485-2E7DA683732B}"/>
              </a:ext>
            </a:extLst>
          </p:cNvPr>
          <p:cNvSpPr txBox="1"/>
          <p:nvPr/>
        </p:nvSpPr>
        <p:spPr>
          <a:xfrm>
            <a:off x="245343" y="3352915"/>
            <a:ext cx="43266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📊 Ticket Concentration by Region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Ticket volume is distributed across all regions with only minor variations.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North America records the highest ticket concentration, indicating greater support demand.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Regional ticket analysis helps optimize workload distribution and resource planning.</a:t>
            </a:r>
          </a:p>
          <a:p>
            <a:endParaRPr lang="en-IN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E8044E-3AD5-323A-0D6A-C96A8AACAFCC}"/>
              </a:ext>
            </a:extLst>
          </p:cNvPr>
          <p:cNvSpPr txBox="1"/>
          <p:nvPr/>
        </p:nvSpPr>
        <p:spPr>
          <a:xfrm>
            <a:off x="4644888" y="3320714"/>
            <a:ext cx="4432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🌍 Ticket Concentration by Country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Ticket distribution varies across countries, highlighting geographic differences in support demand.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Countries with higher ticket volumes may require additional support resources.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Geographic visualization enables better regional monitoring and strategic planning. 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343" y="130151"/>
            <a:ext cx="8196114" cy="39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Geographic Issue Category Mapping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73943" y="985317"/>
            <a:ext cx="8653314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45343" y="4490517"/>
            <a:ext cx="5681663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97401" y="1626171"/>
            <a:ext cx="267734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7401" y="1931938"/>
            <a:ext cx="2677344" cy="804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97401" y="2844031"/>
            <a:ext cx="267734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7401" y="3149798"/>
            <a:ext cx="2677344" cy="135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26000"/>
              </a:lnSpc>
              <a:buSzPct val="100000"/>
            </a:pP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867AC-1CA1-E668-E15E-F8CCBB7D3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" y="627289"/>
            <a:ext cx="4610636" cy="26092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CACAFD-E9F0-0E9F-D985-FE98796F0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615" y="684301"/>
            <a:ext cx="4078552" cy="249527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489FE8-07BC-C8BB-0263-752BE8124491}"/>
              </a:ext>
            </a:extLst>
          </p:cNvPr>
          <p:cNvSpPr txBox="1"/>
          <p:nvPr/>
        </p:nvSpPr>
        <p:spPr>
          <a:xfrm>
            <a:off x="70833" y="3296992"/>
            <a:ext cx="4681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🔥 Ticket Concentration Heatmap by Region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High and urgent priority tickets are consistently observed across most regions.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North America and Asia show relatively higher ticket concentrations for urgent issues.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heatmap helps identify regional hotspots for workload planning. </a:t>
            </a:r>
          </a:p>
          <a:p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C26250-800F-6658-E83B-E520036D80F6}"/>
              </a:ext>
            </a:extLst>
          </p:cNvPr>
          <p:cNvSpPr txBox="1"/>
          <p:nvPr/>
        </p:nvSpPr>
        <p:spPr>
          <a:xfrm>
            <a:off x="4994615" y="3179575"/>
            <a:ext cx="4033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🌍 Dominant Issue Category by Country</a:t>
            </a:r>
          </a:p>
          <a:p>
            <a:r>
              <a:rPr lang="en-IN" sz="1200" b="1" dirty="0"/>
              <a:t>Key Insights</a:t>
            </a:r>
            <a:endParaRPr lang="en-IN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Dominant issue categories vary across different countries.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Geographic mapping highlights regional patterns in customer support requests.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Country-level insights support targeted resource allocation and issue management. 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3856"/>
            <a:ext cx="8196114" cy="396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Cluster Performance Analysis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245343" y="4490517"/>
            <a:ext cx="5681663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97401" y="1717328"/>
            <a:ext cx="267734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97401" y="2023095"/>
            <a:ext cx="2677344" cy="62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6000"/>
              </a:lnSpc>
              <a:buSzPct val="100000"/>
              <a:buChar char="•"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97401" y="2752799"/>
            <a:ext cx="2677344" cy="198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97401" y="3058567"/>
            <a:ext cx="2677344" cy="135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3">
              <a:lnSpc>
                <a:spcPct val="126000"/>
              </a:lnSpc>
              <a:buSzPct val="100000"/>
            </a:pP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5FEA80-FC57-4461-0CFF-31B73C219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1443"/>
            <a:ext cx="9144000" cy="23771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D0153A-47A2-D6C3-3805-F5CE20CE946D}"/>
              </a:ext>
            </a:extLst>
          </p:cNvPr>
          <p:cNvSpPr txBox="1"/>
          <p:nvPr/>
        </p:nvSpPr>
        <p:spPr>
          <a:xfrm>
            <a:off x="473943" y="3116687"/>
            <a:ext cx="829657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📈 Cluster Performance Analysis</a:t>
            </a:r>
          </a:p>
          <a:p>
            <a:r>
              <a:rPr lang="en-IN" sz="1400" b="1" dirty="0"/>
              <a:t>Key Insights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Larger ticket clusters generally require more resolution effort and processing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Technical and General Support clusters handle the highest ticket volumes, indicating major operational workloads.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Cluster-level analysis helps optimize ticket routing, resource allocation, and support team performance. </a:t>
            </a:r>
          </a:p>
          <a:p>
            <a:endParaRPr lang="en-IN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68761" y="235126"/>
            <a:ext cx="733387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Milestone 3 — Summary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790221" y="1014539"/>
            <a:ext cx="2066181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8220" y="1321359"/>
            <a:ext cx="2066181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71047" y="1561951"/>
            <a:ext cx="206625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1047" y="1818903"/>
            <a:ext cx="2066255" cy="1421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35698" y="3609677"/>
            <a:ext cx="450160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35698" y="3866629"/>
            <a:ext cx="45016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74343" y="4471392"/>
            <a:ext cx="5224314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endParaRPr 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D49D89-A10B-EBDE-12E5-3DD71AFB1952}"/>
              </a:ext>
            </a:extLst>
          </p:cNvPr>
          <p:cNvSpPr txBox="1"/>
          <p:nvPr/>
        </p:nvSpPr>
        <p:spPr>
          <a:xfrm>
            <a:off x="579549" y="901521"/>
            <a:ext cx="41598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E3C4E"/>
                </a:solidFill>
                <a:latin typeface="Barlow Bold" pitchFamily="34" charset="0"/>
              </a:rPr>
              <a:t>Module 5 – Performance Trend Analysis</a:t>
            </a:r>
          </a:p>
          <a:p>
            <a:endParaRPr lang="en-IN" sz="1400" b="1" dirty="0">
              <a:solidFill>
                <a:srgbClr val="2E3C4E"/>
              </a:solidFill>
              <a:latin typeface="Barlow Bold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 err="1"/>
              <a:t>Analyzed</a:t>
            </a:r>
            <a:r>
              <a:rPr lang="en-IN" sz="1400" i="1" dirty="0"/>
              <a:t> average resolution time by </a:t>
            </a:r>
            <a:r>
              <a:rPr lang="en-IN" sz="1400" b="1" i="1" dirty="0"/>
              <a:t>priority</a:t>
            </a:r>
            <a:r>
              <a:rPr lang="en-IN" sz="1400" i="1" dirty="0"/>
              <a:t>, </a:t>
            </a:r>
            <a:r>
              <a:rPr lang="en-IN" sz="1400" b="1" i="1" dirty="0"/>
              <a:t>ticket type</a:t>
            </a:r>
            <a:r>
              <a:rPr lang="en-IN" sz="1400" i="1" dirty="0"/>
              <a:t>, </a:t>
            </a:r>
            <a:r>
              <a:rPr lang="en-IN" sz="1400" b="1" i="1" dirty="0"/>
              <a:t>country</a:t>
            </a:r>
            <a:r>
              <a:rPr lang="en-IN" sz="1400" i="1" dirty="0"/>
              <a:t>, and </a:t>
            </a:r>
            <a:r>
              <a:rPr lang="en-IN" sz="1400" b="1" i="1" dirty="0"/>
              <a:t>support queue</a:t>
            </a:r>
            <a:r>
              <a:rPr lang="en-IN" sz="1400" i="1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Identified </a:t>
            </a:r>
            <a:r>
              <a:rPr lang="en-IN" sz="1400" b="1" i="1" dirty="0"/>
              <a:t>high-priority unresolved tickets</a:t>
            </a:r>
            <a:r>
              <a:rPr lang="en-IN" sz="1400" i="1" dirty="0"/>
              <a:t> requiring operational attention.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Compared support team performance using multiple analytical visualizations.</a:t>
            </a:r>
          </a:p>
          <a:p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18FE2B-4E7D-942A-3063-5F15C0EE2ADF}"/>
              </a:ext>
            </a:extLst>
          </p:cNvPr>
          <p:cNvSpPr txBox="1"/>
          <p:nvPr/>
        </p:nvSpPr>
        <p:spPr>
          <a:xfrm>
            <a:off x="4815307" y="746099"/>
            <a:ext cx="372199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E3C4E"/>
                </a:solidFill>
                <a:latin typeface="Barlow Bold" pitchFamily="34" charset="0"/>
              </a:rPr>
              <a:t>Module 6 – Geographic &amp; Cluster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Engineered a new </a:t>
            </a:r>
            <a:r>
              <a:rPr lang="en-IN" sz="1400" b="1" i="1" dirty="0"/>
              <a:t>Country</a:t>
            </a:r>
            <a:r>
              <a:rPr lang="en-IN" sz="1400" i="1" dirty="0"/>
              <a:t> feature from the existing </a:t>
            </a:r>
            <a:r>
              <a:rPr lang="en-IN" sz="1400" b="1" i="1" dirty="0"/>
              <a:t>Region</a:t>
            </a:r>
            <a:r>
              <a:rPr lang="en-IN" sz="1400" i="1" dirty="0"/>
              <a:t> column.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Created </a:t>
            </a:r>
            <a:r>
              <a:rPr lang="en-IN" sz="1400" b="1" i="1" dirty="0"/>
              <a:t>ticket concentration</a:t>
            </a:r>
            <a:r>
              <a:rPr lang="en-IN" sz="1400" i="1" dirty="0"/>
              <a:t> visualizations by </a:t>
            </a:r>
            <a:r>
              <a:rPr lang="en-IN" sz="1400" b="1" i="1" dirty="0"/>
              <a:t>region</a:t>
            </a:r>
            <a:r>
              <a:rPr lang="en-IN" sz="1400" i="1" dirty="0"/>
              <a:t> and </a:t>
            </a:r>
            <a:r>
              <a:rPr lang="en-IN" sz="1400" b="1" i="1" dirty="0"/>
              <a:t>country</a:t>
            </a:r>
            <a:r>
              <a:rPr lang="en-IN" sz="1400" i="1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Developed </a:t>
            </a:r>
            <a:r>
              <a:rPr lang="en-IN" sz="1400" b="1" i="1" dirty="0"/>
              <a:t>geographic heatmaps</a:t>
            </a:r>
            <a:r>
              <a:rPr lang="en-IN" sz="1400" i="1" dirty="0"/>
              <a:t> and </a:t>
            </a:r>
            <a:r>
              <a:rPr lang="en-IN" sz="1400" b="1" i="1" dirty="0"/>
              <a:t>issue category mapping</a:t>
            </a:r>
            <a:r>
              <a:rPr lang="en-IN" sz="1400" i="1" dirty="0"/>
              <a:t> using latitude and longitude.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Evaluated the relationship between </a:t>
            </a:r>
            <a:r>
              <a:rPr lang="en-IN" sz="1400" b="1" i="1" dirty="0"/>
              <a:t>cluster size</a:t>
            </a:r>
            <a:r>
              <a:rPr lang="en-IN" sz="1400" i="1" dirty="0"/>
              <a:t> and </a:t>
            </a:r>
            <a:r>
              <a:rPr lang="en-IN" sz="1400" b="1" i="1" dirty="0"/>
              <a:t>average resolution time</a:t>
            </a:r>
            <a:r>
              <a:rPr lang="en-IN" sz="1400" i="1" dirty="0"/>
              <a:t> through cluster performance analysis.</a:t>
            </a:r>
          </a:p>
          <a:p>
            <a:endParaRPr lang="en-IN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DD27A1-BCEB-F098-4CE6-E9EDB2C8054F}"/>
              </a:ext>
            </a:extLst>
          </p:cNvPr>
          <p:cNvSpPr txBox="1"/>
          <p:nvPr/>
        </p:nvSpPr>
        <p:spPr>
          <a:xfrm>
            <a:off x="1017431" y="3303431"/>
            <a:ext cx="701898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rgbClr val="2E3C4E"/>
                </a:solidFill>
                <a:latin typeface="Barlow Bold" pitchFamily="34" charset="0"/>
              </a:rPr>
              <a:t>Key Outcomes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i="1" dirty="0"/>
              <a:t>Successfully completed all </a:t>
            </a:r>
            <a:r>
              <a:rPr lang="en-IN" sz="1200" b="1" i="1" dirty="0"/>
              <a:t>Module 5</a:t>
            </a:r>
            <a:r>
              <a:rPr lang="en-IN" sz="1200" i="1" dirty="0"/>
              <a:t> performance trend analyses.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i="1" dirty="0"/>
              <a:t>Successfully completed all </a:t>
            </a:r>
            <a:r>
              <a:rPr lang="en-IN" sz="1200" b="1" i="1" dirty="0"/>
              <a:t>Module 6</a:t>
            </a:r>
            <a:r>
              <a:rPr lang="en-IN" sz="1200" i="1" dirty="0"/>
              <a:t> geographic and cluster-based analyses.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i="1" dirty="0"/>
              <a:t>Generated meaningful visualizations and business insights to support data-driven decision-making.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i="1" dirty="0"/>
              <a:t>Improved understanding of support operations through comparative and geographic analytics. </a:t>
            </a:r>
          </a:p>
          <a:p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DD2C59-40F8-85FC-DB56-19EE88C824DD}"/>
              </a:ext>
            </a:extLst>
          </p:cNvPr>
          <p:cNvSpPr txBox="1"/>
          <p:nvPr/>
        </p:nvSpPr>
        <p:spPr>
          <a:xfrm>
            <a:off x="1603420" y="1700011"/>
            <a:ext cx="56795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 THANK YOU 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989874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814</Words>
  <Application>Microsoft Office PowerPoint</Application>
  <PresentationFormat>On-screen Show (16:9)</PresentationFormat>
  <Paragraphs>110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srikanth k</cp:lastModifiedBy>
  <cp:revision>2</cp:revision>
  <dcterms:created xsi:type="dcterms:W3CDTF">2026-08-06T11:10:56Z</dcterms:created>
  <dcterms:modified xsi:type="dcterms:W3CDTF">2026-08-06T12:31:27Z</dcterms:modified>
</cp:coreProperties>
</file>